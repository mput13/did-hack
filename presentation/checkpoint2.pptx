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решение" id="{06e431f8-b54f-916b-38a5-2b00fe66afff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Состояние и результаты" id="{6789391b-36d3-85d2-d603-7d831ee918b0}">
          <p14:sldIdLst>
            <p14:sldId id="262"/>
            <p14:sldId id="263"/>
            <p14:sldId id="264"/>
            <p14:sldId id="265"/>
          </p14:sldIdLst>
        </p14:section>
        <p14:section name="Как работали" id="{c3f27179-3de9-582b-8683-3bfeb0b29003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план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91.7</c:v>
                </c:pt>
                <c:pt idx="1">
                  <c:v>76.5</c:v>
                </c:pt>
                <c:pt idx="2">
                  <c:v>61.4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адаптацией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99.5</c:v>
                </c:pt>
                <c:pt idx="2">
                  <c:v>81.8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собранных образцов, %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Карта вероятностей</c:v>
                  </c:pt>
                  <c:pt idx="1">
                    <c:v>Подъём по сигналу</c:v>
                  </c:pt>
                  <c:pt idx="2">
                    <c:v>Фиксированный план</c:v>
                  </c:pt>
                  <c:pt idx="3">
                    <c:v>Спираль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99.7</c:v>
                </c:pt>
                <c:pt idx="1">
                  <c:v>90.2</c:v>
                </c:pt>
                <c:pt idx="2">
                  <c:v>84.1</c:v>
                </c:pt>
                <c:pt idx="3">
                  <c:v>75.8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Возврат на базу, %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Исследователь</c:v>
                  </c:pt>
                  <c:pt idx="1">
                    <c:v>С адаптацией</c:v>
                  </c:pt>
                  <c:pt idx="2">
                    <c:v>Фиксированный план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87.5</c:v>
                </c:pt>
                <c:pt idx="2">
                  <c:v>82.5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Только одометрия</c:v>
                </c:pt>
              </c:strCache>
            </c:strRef>
          </c:tx>
          <c:spPr>
            <a:solidFill>
              <a:srgbClr val="9AA0A6"/>
            </a:solidFill>
            <a:ln w="31750" cap="flat">
              <a:solidFill>
                <a:srgbClr val="9AA0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0A6"/>
              </a:solidFill>
              <a:ln w="9525" cap="flat">
                <a:solidFill>
                  <a:srgbClr val="9AA0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2.5</c:v>
                </c:pt>
                <c:pt idx="1">
                  <c:v>3.5</c:v>
                </c:pt>
                <c:pt idx="2">
                  <c:v>5.8</c:v>
                </c:pt>
                <c:pt idx="3">
                  <c:v>7.7</c:v>
                </c:pt>
                <c:pt idx="4">
                  <c:v>22.6</c:v>
                </c:pt>
                <c:pt idx="5">
                  <c:v>29.2</c:v>
                </c:pt>
                <c:pt idx="6">
                  <c:v>28.8</c:v>
                </c:pt>
                <c:pt idx="7">
                  <c:v>39.6</c:v>
                </c:pt>
                <c:pt idx="8">
                  <c:v>57.2</c:v>
                </c:pt>
                <c:pt idx="9">
                  <c:v>60.9</c:v>
                </c:pt>
                <c:pt idx="10">
                  <c:v>60.9</c:v>
                </c:pt>
                <c:pt idx="11">
                  <c:v>60.9</c:v>
                </c:pt>
                <c:pt idx="12">
                  <c:v>53.8</c:v>
                </c:pt>
                <c:pt idx="13">
                  <c:v>36.7</c:v>
                </c:pt>
                <c:pt idx="14">
                  <c:v>23.5</c:v>
                </c:pt>
                <c:pt idx="15">
                  <c:v>23.3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поправкой по лидару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1.9</c:v>
                </c:pt>
                <c:pt idx="1">
                  <c:v>1.6</c:v>
                </c:pt>
                <c:pt idx="2">
                  <c:v>1.7</c:v>
                </c:pt>
                <c:pt idx="3">
                  <c:v>1.7</c:v>
                </c:pt>
                <c:pt idx="4">
                  <c:v>2.2</c:v>
                </c:pt>
                <c:pt idx="5">
                  <c:v>2.8</c:v>
                </c:pt>
                <c:pt idx="6">
                  <c:v>2.1</c:v>
                </c:pt>
                <c:pt idx="7">
                  <c:v>2.2</c:v>
                </c:pt>
                <c:pt idx="8">
                  <c:v>2.1</c:v>
                </c:pt>
                <c:pt idx="9">
                  <c:v>2</c:v>
                </c:pt>
                <c:pt idx="10">
                  <c:v>1.9</c:v>
                </c:pt>
                <c:pt idx="11">
                  <c:v>1.9</c:v>
                </c:pt>
                <c:pt idx="12">
                  <c:v>2</c:v>
                </c:pt>
                <c:pt idx="13">
                  <c:v>1.5</c:v>
                </c:pt>
                <c:pt idx="14">
                  <c:v>1.3</c:v>
                </c:pt>
                <c:pt idx="15">
                  <c:v>0.9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168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168"/>
                    </a:solidFill>
                    <a:latin typeface="+mn-lt"/>
                  </a:rPr>
                  <a:t>время от начала движения, с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 на роботе TurtleBot3. Покажем, что уже работает и что показали опыты. На картинке настоящий прогон в Gazebo: собрано 5 образцов из 5, робот вернулся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арене спрятаны образцы, дорогой грунт и опасные зоны, и робот их не видит: камеры нет, а датчик говорит только, насколько близко образец. Цель — собрать больше образцов и вернуться на базу, пока не села батарея: её хватает на 24 метра. Гипотеза: агент, который учится по измерениям, соберёт больше, чем агент с планом, составленным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сценарий — пять шагов: запуск одной командой, карта по лидару, задача щелчком по карте или миссия, движение и результат. На кадрах настоящая миссия в Gazebo на трудном уровне: собрано 5 из 7, робот вернулся на базу. По дороге — штраф и сбой датчика: робот записал 14 гипотез, подтвердил 8. ЗДЕСЬ — ЖИВОЙ ПОКАЗ (docs/demo_script.md): пульт уже открыт; показать карту из одной точки, поставить маршрут из пяти-шести точек, нажать «Ехать», затем «Домой» и «Запустить миссию».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и симулятор — Gazebo для показа и быстрый для серий опытов. Справа агент: картина мира, планировщик, исполнитель и журнал гипотез. Между ними только каналы из условия задачи, поэтому нашего судью можно заменить судьёй организаторов, не трогая агента.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Мир и робот — из официальных пакетов без изменений: ROS 2 Jazzy, Gazebo и TurtleBot3 Burger. Агент, судья и быстрый симулятор — свои, на Python; всё ставится одной командой и закрыто автоматическими проверками: их 300.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стен дана сеткой с клеткой 5 сантиметров, и робот строит такую же сам по лидару: совпадение 96 процентов. Положение — одометрия, то есть счёт пути по колёсам, с поправкой по лидару: ошибка около двух сантиметров. Путь ищет алгоритм Дейкстры по цене клеток, ближе 17 сантиметров к стенам робот не едет; цену меняют карты вероятностей образцов и стоимости грунта.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то, что работает и проверено: стенд, навигация, поиск образцов, журнал гипотез, расследования и планировщик на языковой модели — 300 автоматических проверок и 3 606 прогонов. В работе — пульт и показ в Gazebo, роли модели, локальная модель и конструктор исследования. И прямо о нерешённом: адаптация к изменениям среды пока не прибавляет очков, память между прогонами результата не меняет, а правила судьи — наши допущения.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опыт: два агента на одних и тех же сценариях, которых при отладке не видели. Адаптивный собирает больше, в среднем на 17 процентных пунктов: выиграл в 72 сценариях из 120, проиграл в 3. А на базу оба возвращаются одинаково — эта часть гипотезы не подтвердилась.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вероятностей находит 99,7 процента образцов — больше, чем спираль и подъём по сигналу из условия. Агент-исследователь держит несколько объяснений странности и проверяет их опытом: из 177 выводов о причине неверны 3. На трудном уровне он вернулся на базу в 40 прогонах из 40, адаптивный — в 35.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симуляторе, поэтому перенос проверили в Gazebo с настоящей физикой. Сначала одометрия уходила больше чем на метр: первые тридцать секунд робот покачивается, и манёвры её сбивают. Теперь агент ждёт и сверяет положение с лидаром: ошибка около двух сантиметров. Результат совпал с быстрым симулятором с точностью до одного образца: на hard собрано 5 против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Стенд написан за полтора дня в диалоге с ИИ-ассистентом: он вёл работу как ведущий инженер и раздавал параллельные ветки вспомогательным агентам. Вторая модель давала второе мнение и нашла 8 слабых мест в расследованиях, все исправлены. Третья планирует внутри робота: 97 процентов годных планов с первого раза. И главное: ошибки находил стенд, а не глаз — четыре из них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чекпоинт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«Автономный ИИ-исследователь на роботе-платформе»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Второй чекпоинт: что работает и что показали опыты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8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463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Настоящий прогон в Gazebo: путь робота, собрано 5 из 5 образцов,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Задача и цель проекта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Робот ищет то, чего не видит: образцы, дорогой грунт и опасные зоны скрыты</a:t>
            </a:r>
            <a:endParaRPr lang="en-US" sz="1600" dirty="0"/>
          </a:p>
        </p:txBody>
      </p:sp>
      <p:sp>
        <p:nvSpPr>
          <p:cNvPr id="5" name="hidden-1-badge"/>
          <p:cNvSpPr txBox="1"/>
          <p:nvPr/>
        </p:nvSpPr>
        <p:spPr>
          <a:xfrm>
            <a:off x="548640" y="1737360"/>
            <a:ext cx="521208" cy="457200"/>
          </a:xfrm>
          <a:prstGeom prst="hexagon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hidden-1-head"/>
          <p:cNvSpPr txBox="1"/>
          <p:nvPr/>
        </p:nvSpPr>
        <p:spPr>
          <a:xfrm>
            <a:off x="128016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Образцы</a:t>
            </a:r>
            <a:endParaRPr lang="en-US" sz="1600" dirty="0"/>
          </a:p>
        </p:txBody>
      </p:sp>
      <p:sp>
        <p:nvSpPr>
          <p:cNvPr id="7" name="hidden-1-body"/>
          <p:cNvSpPr txBox="1"/>
          <p:nvPr/>
        </p:nvSpPr>
        <p:spPr>
          <a:xfrm>
            <a:off x="1280160" y="2002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найти и собрать, подъехав ближе 30 см</a:t>
            </a:r>
            <a:endParaRPr lang="en-US" sz="1400" dirty="0"/>
          </a:p>
        </p:txBody>
      </p:sp>
      <p:sp>
        <p:nvSpPr>
          <p:cNvPr id="8" name="hidden-2-badge"/>
          <p:cNvSpPr txBox="1"/>
          <p:nvPr/>
        </p:nvSpPr>
        <p:spPr>
          <a:xfrm>
            <a:off x="548640" y="2542032"/>
            <a:ext cx="521208" cy="457200"/>
          </a:xfrm>
          <a:prstGeom prst="hexagon">
            <a:avLst/>
          </a:prstGeom>
          <a:solidFill>
            <a:srgbClr val="E9B29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9" name="hidden-2-head"/>
          <p:cNvSpPr txBox="1"/>
          <p:nvPr/>
        </p:nvSpPr>
        <p:spPr>
          <a:xfrm>
            <a:off x="1280160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Дорогой грунт</a:t>
            </a:r>
            <a:endParaRPr lang="en-US" sz="1600" dirty="0"/>
          </a:p>
        </p:txBody>
      </p:sp>
      <p:sp>
        <p:nvSpPr>
          <p:cNvPr id="10" name="hidden-2-body"/>
          <p:cNvSpPr txBox="1"/>
          <p:nvPr/>
        </p:nvSpPr>
        <p:spPr>
          <a:xfrm>
            <a:off x="1280160" y="2807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 уходит в 2–4 раза быстрее</a:t>
            </a:r>
            <a:endParaRPr lang="en-US" sz="1400" dirty="0"/>
          </a:p>
        </p:txBody>
      </p:sp>
      <p:sp>
        <p:nvSpPr>
          <p:cNvPr id="11" name="hidden-3-badge"/>
          <p:cNvSpPr txBox="1"/>
          <p:nvPr/>
        </p:nvSpPr>
        <p:spPr>
          <a:xfrm>
            <a:off x="548640" y="3346704"/>
            <a:ext cx="521208" cy="457200"/>
          </a:xfrm>
          <a:prstGeom prst="hexag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hidden-3-head"/>
          <p:cNvSpPr txBox="1"/>
          <p:nvPr/>
        </p:nvSpPr>
        <p:spPr>
          <a:xfrm>
            <a:off x="1280160" y="33009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Опасные зоны</a:t>
            </a:r>
            <a:endParaRPr lang="en-US" sz="1600" dirty="0"/>
          </a:p>
        </p:txBody>
      </p:sp>
      <p:sp>
        <p:nvSpPr>
          <p:cNvPr id="13" name="hidden-3-body"/>
          <p:cNvSpPr txBox="1"/>
          <p:nvPr/>
        </p:nvSpPr>
        <p:spPr>
          <a:xfrm>
            <a:off x="128016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въехал — штраф и потеря заряда</a:t>
            </a:r>
            <a:endParaRPr lang="en-US" sz="1400" dirty="0"/>
          </a:p>
        </p:txBody>
      </p:sp>
      <p:sp>
        <p:nvSpPr>
          <p:cNvPr id="14" name="goal-card"/>
          <p:cNvSpPr/>
          <p:nvPr/>
        </p:nvSpPr>
        <p:spPr>
          <a:xfrm>
            <a:off x="548640" y="4160520"/>
            <a:ext cx="484632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/>
        </p:spPr>
      </p:sp>
      <p:sp>
        <p:nvSpPr>
          <p:cNvPr id="15" name="goal-text"/>
          <p:cNvSpPr txBox="1"/>
          <p:nvPr/>
        </p:nvSpPr>
        <p:spPr>
          <a:xfrm>
            <a:off x="777240" y="416052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Цель.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Собрать больше образцов и вернуться на базу, пока не села батарея: 60 единиц заряда — это 24 м пути.</a:t>
            </a:r>
            <a:endParaRPr lang="en-US" sz="1500" dirty="0"/>
          </a:p>
        </p:txBody>
      </p:sp>
      <p:sp>
        <p:nvSpPr>
          <p:cNvPr id="16" name="hypothesis"/>
          <p:cNvSpPr txBox="1"/>
          <p:nvPr/>
        </p:nvSpPr>
        <p:spPr>
          <a:xfrm>
            <a:off x="548640" y="53035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Гипотеза. 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который учится по измерениям и перестраивает маршрут, соберёт больше образцов, чем агент с планом, составленным до старта.</a:t>
            </a:r>
            <a:endParaRPr lang="en-US" sz="1400" dirty="0"/>
          </a:p>
        </p:txBody>
      </p:sp>
      <p:sp>
        <p:nvSpPr>
          <p:cNvPr id="17" name="view-1-head"/>
          <p:cNvSpPr txBox="1"/>
          <p:nvPr/>
        </p:nvSpPr>
        <p:spPr>
          <a:xfrm>
            <a:off x="571500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Как на самом деле</a:t>
            </a:r>
            <a:endParaRPr lang="en-US" sz="1400" dirty="0"/>
          </a:p>
        </p:txBody>
      </p:sp>
      <p:pic>
        <p:nvPicPr>
          <p:cNvPr id="18" name="view-1" descr="Арена со скрытой правдой: образцы, зоны дорогого грунта и опасная з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2011771"/>
            <a:ext cx="2834640" cy="2715585"/>
          </a:xfrm>
          <a:prstGeom prst="rect">
            <a:avLst/>
          </a:prstGeom>
        </p:spPr>
      </p:pic>
      <p:sp>
        <p:nvSpPr>
          <p:cNvPr id="19" name="view-1-caption"/>
          <p:cNvSpPr txBox="1"/>
          <p:nvPr/>
        </p:nvSpPr>
        <p:spPr>
          <a:xfrm>
            <a:off x="5715000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уровень hard: 7 образцов, 4 зоны грунта, опасные зоны</a:t>
            </a:r>
            <a:endParaRPr lang="en-US" sz="1200" dirty="0"/>
          </a:p>
        </p:txBody>
      </p:sp>
      <p:sp>
        <p:nvSpPr>
          <p:cNvPr id="20" name="view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видит робот</a:t>
            </a:r>
            <a:endParaRPr lang="en-US" sz="1400" dirty="0"/>
          </a:p>
        </p:txBody>
      </p:sp>
      <p:pic>
        <p:nvPicPr>
          <p:cNvPr id="21" name="view-2" descr="То же место глазами робота: точки лидара на стенах и окружность возможного положения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2" name="view-2-caption"/>
          <p:cNvSpPr txBox="1"/>
          <p:nvPr/>
        </p:nvSpPr>
        <p:spPr>
          <a:xfrm>
            <a:off x="8805672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по лидару и одно число датчика: образец где-то на синей окружности</a:t>
            </a:r>
            <a:endParaRPr lang="en-US" sz="1200" dirty="0"/>
          </a:p>
        </p:txBody>
      </p:sp>
      <p:sp>
        <p:nvSpPr>
          <p:cNvPr id="23" name="level-1-card"/>
          <p:cNvSpPr/>
          <p:nvPr/>
        </p:nvSpPr>
        <p:spPr>
          <a:xfrm>
            <a:off x="5715000" y="539496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4" name="level-1-name"/>
          <p:cNvSpPr txBox="1"/>
          <p:nvPr/>
        </p:nvSpPr>
        <p:spPr>
          <a:xfrm>
            <a:off x="5852160" y="54498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easy</a:t>
            </a:r>
            <a:endParaRPr lang="en-US" sz="1300" dirty="0"/>
          </a:p>
        </p:txBody>
      </p:sp>
      <p:sp>
        <p:nvSpPr>
          <p:cNvPr id="25" name="level-1-desc"/>
          <p:cNvSpPr txBox="1"/>
          <p:nvPr/>
        </p:nvSpPr>
        <p:spPr>
          <a:xfrm>
            <a:off x="5852160" y="5715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 образца, 1 зона грунта</a:t>
            </a:r>
            <a:endParaRPr lang="en-US" sz="1200" dirty="0"/>
          </a:p>
        </p:txBody>
      </p:sp>
      <p:sp>
        <p:nvSpPr>
          <p:cNvPr id="26" name="level-2-card"/>
          <p:cNvSpPr/>
          <p:nvPr/>
        </p:nvSpPr>
        <p:spPr>
          <a:xfrm>
            <a:off x="7543800" y="5394960"/>
            <a:ext cx="18288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7" name="level-2-name"/>
          <p:cNvSpPr txBox="1"/>
          <p:nvPr/>
        </p:nvSpPr>
        <p:spPr>
          <a:xfrm>
            <a:off x="7680960" y="54498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</p:txBody>
      </p:sp>
      <p:sp>
        <p:nvSpPr>
          <p:cNvPr id="28" name="level-2-desc"/>
          <p:cNvSpPr txBox="1"/>
          <p:nvPr/>
        </p:nvSpPr>
        <p:spPr>
          <a:xfrm>
            <a:off x="7680960" y="5715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 образцов, 3 зоны грунта</a:t>
            </a:r>
            <a:endParaRPr lang="en-US" sz="1200" dirty="0"/>
          </a:p>
        </p:txBody>
      </p:sp>
      <p:sp>
        <p:nvSpPr>
          <p:cNvPr id="29" name="level-3-card"/>
          <p:cNvSpPr/>
          <p:nvPr/>
        </p:nvSpPr>
        <p:spPr>
          <a:xfrm>
            <a:off x="9464040" y="5394960"/>
            <a:ext cx="21762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30" name="level-3-name"/>
          <p:cNvSpPr txBox="1"/>
          <p:nvPr/>
        </p:nvSpPr>
        <p:spPr>
          <a:xfrm>
            <a:off x="9601200" y="544982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hard</a:t>
            </a:r>
            <a:endParaRPr lang="en-US" sz="1300" dirty="0"/>
          </a:p>
        </p:txBody>
      </p:sp>
      <p:sp>
        <p:nvSpPr>
          <p:cNvPr id="31" name="level-3-desc"/>
          <p:cNvSpPr txBox="1"/>
          <p:nvPr/>
        </p:nvSpPr>
        <p:spPr>
          <a:xfrm>
            <a:off x="9601200" y="57150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 образцов, 4 зоны; среда меняется на ходу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Сценарий работы робота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Полный сценарий одной командой: запуск → карта → задача → движение → результат</a:t>
            </a:r>
            <a:endParaRPr lang="en-US" sz="1600" dirty="0"/>
          </a:p>
        </p:txBody>
      </p:sp>
      <p:sp>
        <p:nvSpPr>
          <p:cNvPr id="5" name="step-1-badge"/>
          <p:cNvSpPr txBox="1"/>
          <p:nvPr/>
        </p:nvSpPr>
        <p:spPr>
          <a:xfrm>
            <a:off x="54864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1-head"/>
          <p:cNvSpPr txBox="1"/>
          <p:nvPr/>
        </p:nvSpPr>
        <p:spPr>
          <a:xfrm>
            <a:off x="111556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Запуск</a:t>
            </a:r>
            <a:endParaRPr lang="en-US" sz="1600" dirty="0"/>
          </a:p>
        </p:txBody>
      </p:sp>
      <p:sp>
        <p:nvSpPr>
          <p:cNvPr id="7" name="step-1-body"/>
          <p:cNvSpPr txBox="1"/>
          <p:nvPr/>
        </p:nvSpPr>
        <p:spPr>
          <a:xfrm>
            <a:off x="54864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поднимает мир, робота, судью и пульт</a:t>
            </a:r>
            <a:endParaRPr lang="en-US" sz="1300" dirty="0"/>
          </a:p>
        </p:txBody>
      </p:sp>
      <p:sp>
        <p:nvSpPr>
          <p:cNvPr id="8" name="step-2-badge"/>
          <p:cNvSpPr txBox="1"/>
          <p:nvPr/>
        </p:nvSpPr>
        <p:spPr>
          <a:xfrm>
            <a:off x="280355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step-2-head"/>
          <p:cNvSpPr txBox="1"/>
          <p:nvPr/>
        </p:nvSpPr>
        <p:spPr>
          <a:xfrm>
            <a:off x="337047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10" name="step-2-body"/>
          <p:cNvSpPr txBox="1"/>
          <p:nvPr/>
        </p:nvSpPr>
        <p:spPr>
          <a:xfrm>
            <a:off x="280355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робот ещё стоит, а лидар уже видит 36% пола</a:t>
            </a:r>
            <a:endParaRPr lang="en-US" sz="1300" dirty="0"/>
          </a:p>
        </p:txBody>
      </p:sp>
      <p:sp>
        <p:nvSpPr>
          <p:cNvPr id="11" name="step-3-badge"/>
          <p:cNvSpPr txBox="1"/>
          <p:nvPr/>
        </p:nvSpPr>
        <p:spPr>
          <a:xfrm>
            <a:off x="505846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tep-3-head"/>
          <p:cNvSpPr txBox="1"/>
          <p:nvPr/>
        </p:nvSpPr>
        <p:spPr>
          <a:xfrm>
            <a:off x="562538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Задача</a:t>
            </a:r>
            <a:endParaRPr lang="en-US" sz="1600" dirty="0"/>
          </a:p>
        </p:txBody>
      </p:sp>
      <p:sp>
        <p:nvSpPr>
          <p:cNvPr id="13" name="step-3-body"/>
          <p:cNvSpPr txBox="1"/>
          <p:nvPr/>
        </p:nvSpPr>
        <p:spPr>
          <a:xfrm>
            <a:off x="505846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точка, маршрут щелчком по карте или миссия</a:t>
            </a:r>
            <a:endParaRPr lang="en-US" sz="1300" dirty="0"/>
          </a:p>
        </p:txBody>
      </p:sp>
      <p:sp>
        <p:nvSpPr>
          <p:cNvPr id="14" name="step-4-badge"/>
          <p:cNvSpPr txBox="1"/>
          <p:nvPr/>
        </p:nvSpPr>
        <p:spPr>
          <a:xfrm>
            <a:off x="731337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step-4-head"/>
          <p:cNvSpPr txBox="1"/>
          <p:nvPr/>
        </p:nvSpPr>
        <p:spPr>
          <a:xfrm>
            <a:off x="788029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Движение</a:t>
            </a:r>
            <a:endParaRPr lang="en-US" sz="1600" dirty="0"/>
          </a:p>
        </p:txBody>
      </p:sp>
      <p:sp>
        <p:nvSpPr>
          <p:cNvPr id="16" name="step-4-body"/>
          <p:cNvSpPr txBox="1"/>
          <p:nvPr/>
        </p:nvSpPr>
        <p:spPr>
          <a:xfrm>
            <a:off x="731337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 в обход столбов, положение — по лидару</a:t>
            </a:r>
            <a:endParaRPr lang="en-US" sz="1300" dirty="0"/>
          </a:p>
        </p:txBody>
      </p:sp>
      <p:sp>
        <p:nvSpPr>
          <p:cNvPr id="17" name="step-5-badge"/>
          <p:cNvSpPr txBox="1"/>
          <p:nvPr/>
        </p:nvSpPr>
        <p:spPr>
          <a:xfrm>
            <a:off x="9568282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8" name="step-5-head"/>
          <p:cNvSpPr txBox="1"/>
          <p:nvPr/>
        </p:nvSpPr>
        <p:spPr>
          <a:xfrm>
            <a:off x="10135210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Результат</a:t>
            </a:r>
            <a:endParaRPr lang="en-US" sz="1600" dirty="0"/>
          </a:p>
        </p:txBody>
      </p:sp>
      <p:sp>
        <p:nvSpPr>
          <p:cNvPr id="19" name="step-5-body"/>
          <p:cNvSpPr txBox="1"/>
          <p:nvPr/>
        </p:nvSpPr>
        <p:spPr>
          <a:xfrm>
            <a:off x="9568282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образцы собраны, робот на базе, счёт судьи</a:t>
            </a:r>
            <a:endParaRPr lang="en-US" sz="1300" dirty="0"/>
          </a:p>
        </p:txBody>
      </p:sp>
      <p:pic>
        <p:nvPicPr>
          <p:cNvPr id="20" name="frame-1" descr="Кадр прогона: поис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24912"/>
            <a:ext cx="2619756" cy="2509726"/>
          </a:xfrm>
          <a:prstGeom prst="rect">
            <a:avLst/>
          </a:prstGeom>
        </p:spPr>
      </p:pic>
      <p:sp>
        <p:nvSpPr>
          <p:cNvPr id="21" name="frame-1-state"/>
          <p:cNvSpPr txBox="1"/>
          <p:nvPr/>
        </p:nvSpPr>
        <p:spPr>
          <a:xfrm>
            <a:off x="411480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37 с · заряд 58 · собрано 0 из 7</a:t>
            </a:r>
            <a:endParaRPr lang="en-US" sz="1300" dirty="0"/>
          </a:p>
        </p:txBody>
      </p:sp>
      <p:sp>
        <p:nvSpPr>
          <p:cNvPr id="22" name="frame-1-quote"/>
          <p:cNvSpPr txBox="1"/>
          <p:nvPr/>
        </p:nvSpPr>
        <p:spPr>
          <a:xfrm>
            <a:off x="411480" y="5527246"/>
            <a:ext cx="28940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«H1: образец лежит около (−1,5; −1,4)»</a:t>
            </a:r>
            <a:endParaRPr lang="en-US" sz="1100" dirty="0"/>
          </a:p>
        </p:txBody>
      </p:sp>
      <p:pic>
        <p:nvPicPr>
          <p:cNvPr id="23" name="frame-4" descr="Кадр прогона: возвра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0556" y="2724912"/>
            <a:ext cx="2619756" cy="2509726"/>
          </a:xfrm>
          <a:prstGeom prst="rect">
            <a:avLst/>
          </a:prstGeom>
        </p:spPr>
      </p:pic>
      <p:sp>
        <p:nvSpPr>
          <p:cNvPr id="24" name="frame-4-state"/>
          <p:cNvSpPr txBox="1"/>
          <p:nvPr/>
        </p:nvSpPr>
        <p:spPr>
          <a:xfrm>
            <a:off x="8883396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129 с · заряд 8 · собрано 5 из 7</a:t>
            </a:r>
            <a:endParaRPr lang="en-US" sz="1300" dirty="0"/>
          </a:p>
        </p:txBody>
      </p:sp>
      <p:sp>
        <p:nvSpPr>
          <p:cNvPr id="25" name="frame-4-quote"/>
          <p:cNvSpPr txBox="1"/>
          <p:nvPr/>
        </p:nvSpPr>
        <p:spPr>
          <a:xfrm>
            <a:off x="8883396" y="5527246"/>
            <a:ext cx="28940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«Финиш: возврат на базу засчитан. Собрано 5 из 7»</a:t>
            </a:r>
            <a:endParaRPr lang="en-US" sz="1100" dirty="0"/>
          </a:p>
        </p:txBody>
      </p:sp>
      <p:pic>
        <p:nvPicPr>
          <p:cNvPr id="26" name="scenario-shot" descr="Веб-лаборатория: тот же прогон в проигрывателе, 75 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479" y="2724912"/>
            <a:ext cx="4943995" cy="2788920"/>
          </a:xfrm>
          <a:prstGeom prst="rect">
            <a:avLst/>
          </a:prstGeom>
        </p:spPr>
      </p:pic>
      <p:sp>
        <p:nvSpPr>
          <p:cNvPr id="27" name="scenario-shot-caption"/>
          <p:cNvSpPr txBox="1"/>
          <p:nvPr/>
        </p:nvSpPr>
        <p:spPr>
          <a:xfrm>
            <a:off x="3396996" y="555955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Веб-лаборатория: тот же прогон в проигрывателе, 75 с</a:t>
            </a:r>
            <a:endParaRPr lang="en-US" sz="1200" dirty="0"/>
          </a:p>
        </p:txBody>
      </p:sp>
      <p:sp>
        <p:nvSpPr>
          <p:cNvPr id="28" name="frames-legend"/>
          <p:cNvSpPr txBox="1"/>
          <p:nvPr/>
        </p:nvSpPr>
        <p:spPr>
          <a:xfrm>
            <a:off x="548640" y="587044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Кадры — настоящая миссия в Gazebo на трудном уровне: собрано 5 из 7, робот вернулся на базу. Синее — где агент ждёт образец, жёлтые кольца — где образцы на самом деле, зелёное — собрано, красное — штраф.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Архитектура решения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Стенд</a:t>
            </a:r>
            <a:endParaRPr lang="en-US" sz="1400" dirty="0"/>
          </a:p>
        </p:txBody>
      </p:sp>
      <p:sp>
        <p:nvSpPr>
          <p:cNvPr id="7" name="stand-1-box"/>
          <p:cNvSpPr/>
          <p:nvPr/>
        </p:nvSpPr>
        <p:spPr>
          <a:xfrm>
            <a:off x="731520" y="2148840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128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Генератор сценариев</a:t>
            </a:r>
            <a:endParaRPr lang="en-US" sz="15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4963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3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16936"/>
            <a:ext cx="329184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2980944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Судья</a:t>
            </a:r>
            <a:endParaRPr lang="en-US" sz="15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26440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заряд, датчик, штрафы, очки</a:t>
            </a:r>
            <a:endParaRPr lang="en-US" sz="13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76472"/>
            <a:ext cx="329184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40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Симулятор</a:t>
            </a:r>
            <a:endParaRPr lang="en-US" sz="15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23944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3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Агент</a:t>
            </a:r>
            <a:endParaRPr lang="en-US" sz="14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Картина мира</a:t>
            </a:r>
            <a:endParaRPr lang="en-US" sz="15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образцы, грунт, опасные зоны, положение</a:t>
            </a:r>
            <a:endParaRPr lang="en-US" sz="13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Планировщик</a:t>
            </a:r>
            <a:endParaRPr lang="en-US" sz="15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3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Исполнитель</a:t>
            </a:r>
            <a:endParaRPr lang="en-US" sz="15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3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Журнал гипотез</a:t>
            </a:r>
            <a:endParaRPr lang="en-US" sz="15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что предположил, как проверил, что вышло</a:t>
            </a:r>
            <a:endParaRPr lang="en-US" sz="1300" dirty="0"/>
          </a:p>
        </p:txBody>
      </p:sp>
      <p:sp>
        <p:nvSpPr>
          <p:cNvPr id="30" name="chan-didbatterydidscore-to"/>
          <p:cNvSpPr/>
          <p:nvPr/>
        </p:nvSpPr>
        <p:spPr>
          <a:xfrm>
            <a:off x="4297680" y="324612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didbatterydidscore-label"/>
          <p:cNvSpPr txBox="1"/>
          <p:nvPr/>
        </p:nvSpPr>
        <p:spPr>
          <a:xfrm>
            <a:off x="4297680" y="2807208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  /did/events</a:t>
            </a:r>
            <a:endParaRPr lang="en-US" sz="1100" dirty="0"/>
          </a:p>
        </p:txBody>
      </p:sp>
      <p:sp>
        <p:nvSpPr>
          <p:cNvPr id="32" name="chan-didcollectdidfinish-from"/>
          <p:cNvSpPr/>
          <p:nvPr/>
        </p:nvSpPr>
        <p:spPr>
          <a:xfrm>
            <a:off x="4297680" y="344728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didcollectdidfinish-label"/>
          <p:cNvSpPr txBox="1"/>
          <p:nvPr/>
        </p:nvSpPr>
        <p:spPr>
          <a:xfrm>
            <a:off x="4297680" y="348386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 /did/finish</a:t>
            </a:r>
            <a:endParaRPr lang="en-US" sz="1100" dirty="0"/>
          </a:p>
        </p:txBody>
      </p:sp>
      <p:sp>
        <p:nvSpPr>
          <p:cNvPr id="34" name="chan-scanodom-to"/>
          <p:cNvSpPr/>
          <p:nvPr/>
        </p:nvSpPr>
        <p:spPr>
          <a:xfrm>
            <a:off x="4297680" y="40873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scanodom-label"/>
          <p:cNvSpPr txBox="1"/>
          <p:nvPr/>
        </p:nvSpPr>
        <p:spPr>
          <a:xfrm>
            <a:off x="4297680" y="3849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 /odom</a:t>
            </a:r>
            <a:endParaRPr lang="en-US" sz="1100" dirty="0"/>
          </a:p>
        </p:txBody>
      </p:sp>
      <p:sp>
        <p:nvSpPr>
          <p:cNvPr id="36" name="chan-cmd_vel-from"/>
          <p:cNvSpPr/>
          <p:nvPr/>
        </p:nvSpPr>
        <p:spPr>
          <a:xfrm>
            <a:off x="4297680" y="42885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cmd_vel-label"/>
          <p:cNvSpPr txBox="1"/>
          <p:nvPr/>
        </p:nvSpPr>
        <p:spPr>
          <a:xfrm>
            <a:off x="4297680" y="432511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100" dirty="0"/>
          </a:p>
        </p:txBody>
      </p:sp>
      <p:sp>
        <p:nvSpPr>
          <p:cNvPr id="38" name="chain-1-box"/>
          <p:cNvSpPr/>
          <p:nvPr/>
        </p:nvSpPr>
        <p:spPr>
          <a:xfrm>
            <a:off x="548640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Запись прогона</a:t>
            </a:r>
            <a:endParaRPr lang="en-US" sz="15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300" dirty="0"/>
          </a:p>
        </p:txBody>
      </p:sp>
      <p:sp>
        <p:nvSpPr>
          <p:cNvPr id="41" name="chain-1-arrow"/>
          <p:cNvSpPr/>
          <p:nvPr/>
        </p:nvSpPr>
        <p:spPr>
          <a:xfrm>
            <a:off x="3886200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71416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72584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Серии опытов</a:t>
            </a:r>
            <a:endParaRPr lang="en-US" sz="15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72584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13 серий на одинаковых сценариях; 2,0 с на прогон</a:t>
            </a:r>
            <a:endParaRPr lang="en-US" sz="1300" dirty="0"/>
          </a:p>
        </p:txBody>
      </p:sp>
      <p:sp>
        <p:nvSpPr>
          <p:cNvPr id="45" name="chain-2-arrow"/>
          <p:cNvSpPr/>
          <p:nvPr/>
        </p:nvSpPr>
        <p:spPr>
          <a:xfrm>
            <a:off x="7808976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394192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595360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500" dirty="0"/>
          </a:p>
        </p:txBody>
      </p:sp>
      <p:sp>
        <p:nvSpPr>
          <p:cNvPr id="48" name="chain-3-sub"/>
          <p:cNvSpPr txBox="1"/>
          <p:nvPr/>
        </p:nvSpPr>
        <p:spPr>
          <a:xfrm>
            <a:off x="8595360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300" dirty="0"/>
          </a:p>
        </p:txBody>
      </p:sp>
      <p:sp>
        <p:nvSpPr>
          <p:cNvPr id="49" name="record-arrow"/>
          <p:cNvSpPr/>
          <p:nvPr/>
        </p:nvSpPr>
        <p:spPr>
          <a:xfrm>
            <a:off x="2171700" y="4672584"/>
            <a:ext cx="0" cy="25603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Используемые технологии и их назначение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Мир и робот — из официальных пакетов; агент, судья и стенд для опытов — свои</a:t>
            </a:r>
            <a:endParaRPr lang="en-US" sz="1600" dirty="0"/>
          </a:p>
        </p:txBody>
      </p:sp>
      <p:sp>
        <p:nvSpPr>
          <p:cNvPr id="5" name="tech-1-card"/>
          <p:cNvSpPr/>
          <p:nvPr/>
        </p:nvSpPr>
        <p:spPr>
          <a:xfrm>
            <a:off x="548640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6" name="tech-1-badge"/>
          <p:cNvSpPr txBox="1"/>
          <p:nvPr/>
        </p:nvSpPr>
        <p:spPr>
          <a:xfrm>
            <a:off x="749808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ROS</a:t>
            </a:r>
            <a:endParaRPr lang="en-US" sz="1400" dirty="0"/>
          </a:p>
        </p:txBody>
      </p:sp>
      <p:sp>
        <p:nvSpPr>
          <p:cNvPr id="7" name="tech-1-name"/>
          <p:cNvSpPr txBox="1"/>
          <p:nvPr/>
        </p:nvSpPr>
        <p:spPr>
          <a:xfrm>
            <a:off x="749808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ROS 2 Jazzy</a:t>
            </a:r>
            <a:endParaRPr lang="en-US" sz="1600" dirty="0"/>
          </a:p>
        </p:txBody>
      </p:sp>
      <p:sp>
        <p:nvSpPr>
          <p:cNvPr id="8" name="tech-1-does"/>
          <p:cNvSpPr txBox="1"/>
          <p:nvPr/>
        </p:nvSpPr>
        <p:spPr>
          <a:xfrm>
            <a:off x="749808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каналы сообщений между программами: /scan, /odom, /cmd_vel, /did/*</a:t>
            </a:r>
            <a:endParaRPr lang="en-US" sz="1400" dirty="0"/>
          </a:p>
        </p:txBody>
      </p:sp>
      <p:sp>
        <p:nvSpPr>
          <p:cNvPr id="9" name="tech-2-card"/>
          <p:cNvSpPr/>
          <p:nvPr/>
        </p:nvSpPr>
        <p:spPr>
          <a:xfrm>
            <a:off x="3378708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0" name="tech-2-badge"/>
          <p:cNvSpPr txBox="1"/>
          <p:nvPr/>
        </p:nvSpPr>
        <p:spPr>
          <a:xfrm>
            <a:off x="3579876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GZ</a:t>
            </a:r>
            <a:endParaRPr lang="en-US" sz="1400" dirty="0"/>
          </a:p>
        </p:txBody>
      </p:sp>
      <p:sp>
        <p:nvSpPr>
          <p:cNvPr id="11" name="tech-2-name"/>
          <p:cNvSpPr txBox="1"/>
          <p:nvPr/>
        </p:nvSpPr>
        <p:spPr>
          <a:xfrm>
            <a:off x="3579876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Gazebo Sim Harmonic</a:t>
            </a:r>
            <a:endParaRPr lang="en-US" sz="1600" dirty="0"/>
          </a:p>
        </p:txBody>
      </p:sp>
      <p:sp>
        <p:nvSpPr>
          <p:cNvPr id="12" name="tech-2-does"/>
          <p:cNvSpPr txBox="1"/>
          <p:nvPr/>
        </p:nvSpPr>
        <p:spPr>
          <a:xfrm>
            <a:off x="3579876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физика, колёса и лидар; мир и робот из официальных пакетов</a:t>
            </a:r>
            <a:endParaRPr lang="en-US" sz="1400" dirty="0"/>
          </a:p>
        </p:txBody>
      </p:sp>
      <p:sp>
        <p:nvSpPr>
          <p:cNvPr id="13" name="tech-3-card"/>
          <p:cNvSpPr/>
          <p:nvPr/>
        </p:nvSpPr>
        <p:spPr>
          <a:xfrm>
            <a:off x="6208776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4" name="tech-3-badge"/>
          <p:cNvSpPr txBox="1"/>
          <p:nvPr/>
        </p:nvSpPr>
        <p:spPr>
          <a:xfrm>
            <a:off x="6409944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TB3</a:t>
            </a:r>
            <a:endParaRPr lang="en-US" sz="1400" dirty="0"/>
          </a:p>
        </p:txBody>
      </p:sp>
      <p:sp>
        <p:nvSpPr>
          <p:cNvPr id="15" name="tech-3-name"/>
          <p:cNvSpPr txBox="1"/>
          <p:nvPr/>
        </p:nvSpPr>
        <p:spPr>
          <a:xfrm>
            <a:off x="6409944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TurtleBot3 Burger</a:t>
            </a:r>
            <a:endParaRPr lang="en-US" sz="1600" dirty="0"/>
          </a:p>
        </p:txBody>
      </p:sp>
      <p:sp>
        <p:nvSpPr>
          <p:cNvPr id="16" name="tech-3-does"/>
          <p:cNvSpPr txBox="1"/>
          <p:nvPr/>
        </p:nvSpPr>
        <p:spPr>
          <a:xfrm>
            <a:off x="6409944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робот: два колеса и лидар на 360°, камеры нет</a:t>
            </a:r>
            <a:endParaRPr lang="en-US" sz="1400" dirty="0"/>
          </a:p>
        </p:txBody>
      </p:sp>
      <p:sp>
        <p:nvSpPr>
          <p:cNvPr id="17" name="tech-4-card"/>
          <p:cNvSpPr/>
          <p:nvPr/>
        </p:nvSpPr>
        <p:spPr>
          <a:xfrm>
            <a:off x="9038844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8" name="tech-4-badge"/>
          <p:cNvSpPr txBox="1"/>
          <p:nvPr/>
        </p:nvSpPr>
        <p:spPr>
          <a:xfrm>
            <a:off x="9240012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pixi</a:t>
            </a:r>
            <a:endParaRPr lang="en-US" sz="1200" dirty="0"/>
          </a:p>
        </p:txBody>
      </p:sp>
      <p:sp>
        <p:nvSpPr>
          <p:cNvPr id="19" name="tech-4-name"/>
          <p:cNvSpPr txBox="1"/>
          <p:nvPr/>
        </p:nvSpPr>
        <p:spPr>
          <a:xfrm>
            <a:off x="9240012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pixi и RoboStack</a:t>
            </a:r>
            <a:endParaRPr lang="en-US" sz="1600" dirty="0"/>
          </a:p>
        </p:txBody>
      </p:sp>
      <p:sp>
        <p:nvSpPr>
          <p:cNvPr id="20" name="tech-4-does"/>
          <p:cNvSpPr txBox="1"/>
          <p:nvPr/>
        </p:nvSpPr>
        <p:spPr>
          <a:xfrm>
            <a:off x="9240012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окружение ставится одной командой, одинаково на Mac и Linux</a:t>
            </a:r>
            <a:endParaRPr lang="en-US" sz="1400" dirty="0"/>
          </a:p>
        </p:txBody>
      </p:sp>
      <p:sp>
        <p:nvSpPr>
          <p:cNvPr id="21" name="tech-5-card"/>
          <p:cNvSpPr/>
          <p:nvPr/>
        </p:nvSpPr>
        <p:spPr>
          <a:xfrm>
            <a:off x="548640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2" name="tech-5-badge"/>
          <p:cNvSpPr txBox="1"/>
          <p:nvPr/>
        </p:nvSpPr>
        <p:spPr>
          <a:xfrm>
            <a:off x="749808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Py</a:t>
            </a:r>
            <a:endParaRPr lang="en-US" sz="1400" dirty="0"/>
          </a:p>
        </p:txBody>
      </p:sp>
      <p:sp>
        <p:nvSpPr>
          <p:cNvPr id="23" name="tech-5-name"/>
          <p:cNvSpPr txBox="1"/>
          <p:nvPr/>
        </p:nvSpPr>
        <p:spPr>
          <a:xfrm>
            <a:off x="749808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Python, NumPy, SciPy</a:t>
            </a:r>
            <a:endParaRPr lang="en-US" sz="1600" dirty="0"/>
          </a:p>
        </p:txBody>
      </p:sp>
      <p:sp>
        <p:nvSpPr>
          <p:cNvPr id="24" name="tech-5-does"/>
          <p:cNvSpPr txBox="1"/>
          <p:nvPr/>
        </p:nvSpPr>
        <p:spPr>
          <a:xfrm>
            <a:off x="749808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судья, быстрый симулятор и статистика опытов</a:t>
            </a:r>
            <a:endParaRPr lang="en-US" sz="1400" dirty="0"/>
          </a:p>
        </p:txBody>
      </p:sp>
      <p:sp>
        <p:nvSpPr>
          <p:cNvPr id="25" name="tech-6-card"/>
          <p:cNvSpPr/>
          <p:nvPr/>
        </p:nvSpPr>
        <p:spPr>
          <a:xfrm>
            <a:off x="3378708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6" name="tech-6-badge"/>
          <p:cNvSpPr txBox="1"/>
          <p:nvPr/>
        </p:nvSpPr>
        <p:spPr>
          <a:xfrm>
            <a:off x="3579876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ИИ</a:t>
            </a:r>
            <a:endParaRPr lang="en-US" sz="1400" dirty="0"/>
          </a:p>
        </p:txBody>
      </p:sp>
      <p:sp>
        <p:nvSpPr>
          <p:cNvPr id="27" name="tech-6-name"/>
          <p:cNvSpPr txBox="1"/>
          <p:nvPr/>
        </p:nvSpPr>
        <p:spPr>
          <a:xfrm>
            <a:off x="3579876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</a:t>
            </a:r>
            <a:endParaRPr lang="en-US" sz="1600" dirty="0"/>
          </a:p>
        </p:txBody>
      </p:sp>
      <p:sp>
        <p:nvSpPr>
          <p:cNvPr id="28" name="tech-6-does"/>
          <p:cNvSpPr txBox="1"/>
          <p:nvPr/>
        </p:nvSpPr>
        <p:spPr>
          <a:xfrm>
            <a:off x="3579876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выбирает подцели; ответ проверяется, при сбое решает запасное правило</a:t>
            </a:r>
            <a:endParaRPr lang="en-US" sz="1400" dirty="0"/>
          </a:p>
        </p:txBody>
      </p:sp>
      <p:sp>
        <p:nvSpPr>
          <p:cNvPr id="29" name="tech-7-card"/>
          <p:cNvSpPr/>
          <p:nvPr/>
        </p:nvSpPr>
        <p:spPr>
          <a:xfrm>
            <a:off x="6208776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0" name="tech-7-badge"/>
          <p:cNvSpPr txBox="1"/>
          <p:nvPr/>
        </p:nvSpPr>
        <p:spPr>
          <a:xfrm>
            <a:off x="6409944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веб</a:t>
            </a:r>
            <a:endParaRPr lang="en-US" sz="1400" dirty="0"/>
          </a:p>
        </p:txBody>
      </p:sp>
      <p:sp>
        <p:nvSpPr>
          <p:cNvPr id="31" name="tech-7-name"/>
          <p:cNvSpPr txBox="1"/>
          <p:nvPr/>
        </p:nvSpPr>
        <p:spPr>
          <a:xfrm>
            <a:off x="6409944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</a:t>
            </a:r>
            <a:endParaRPr lang="en-US" sz="1600" dirty="0"/>
          </a:p>
        </p:txBody>
      </p:sp>
      <p:sp>
        <p:nvSpPr>
          <p:cNvPr id="32" name="tech-7-does"/>
          <p:cNvSpPr txBox="1"/>
          <p:nvPr/>
        </p:nvSpPr>
        <p:spPr>
          <a:xfrm>
            <a:off x="6409944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 опытов, проигрыватель прогонов и пульт в браузере</a:t>
            </a:r>
            <a:endParaRPr lang="en-US" sz="1400" dirty="0"/>
          </a:p>
        </p:txBody>
      </p:sp>
      <p:sp>
        <p:nvSpPr>
          <p:cNvPr id="33" name="tech-8-card"/>
          <p:cNvSpPr/>
          <p:nvPr/>
        </p:nvSpPr>
        <p:spPr>
          <a:xfrm>
            <a:off x="9038844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4" name="tech-8-badge"/>
          <p:cNvSpPr txBox="1"/>
          <p:nvPr/>
        </p:nvSpPr>
        <p:spPr>
          <a:xfrm>
            <a:off x="9240012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тест</a:t>
            </a:r>
            <a:endParaRPr lang="en-US" sz="1200" dirty="0"/>
          </a:p>
        </p:txBody>
      </p:sp>
      <p:sp>
        <p:nvSpPr>
          <p:cNvPr id="35" name="tech-8-name"/>
          <p:cNvSpPr txBox="1"/>
          <p:nvPr/>
        </p:nvSpPr>
        <p:spPr>
          <a:xfrm>
            <a:off x="9240012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pytest</a:t>
            </a:r>
            <a:endParaRPr lang="en-US" sz="1600" dirty="0"/>
          </a:p>
        </p:txBody>
      </p:sp>
      <p:sp>
        <p:nvSpPr>
          <p:cNvPr id="36" name="tech-8-does"/>
          <p:cNvSpPr txBox="1"/>
          <p:nvPr/>
        </p:nvSpPr>
        <p:spPr>
          <a:xfrm>
            <a:off x="9240012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300 автоматических проверок; запуск одной командой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Логика построения карты и движения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стен известна и перепроверяется лидаром; путь выбирается по цене клеток</a:t>
            </a:r>
            <a:endParaRPr lang="en-US" sz="1600" dirty="0"/>
          </a:p>
        </p:txBody>
      </p:sp>
      <p:sp>
        <p:nvSpPr>
          <p:cNvPr id="5" name="nav-1-badge"/>
          <p:cNvSpPr txBox="1"/>
          <p:nvPr/>
        </p:nvSpPr>
        <p:spPr>
          <a:xfrm>
            <a:off x="548640" y="171907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nav-1-head"/>
          <p:cNvSpPr txBox="1"/>
          <p:nvPr/>
        </p:nvSpPr>
        <p:spPr>
          <a:xfrm>
            <a:off x="123444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7" name="nav-1-body"/>
          <p:cNvSpPr txBox="1"/>
          <p:nvPr/>
        </p:nvSpPr>
        <p:spPr>
          <a:xfrm>
            <a:off x="123444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готовая сетка арены с клеткой 5 см и своя карта по лидару: совпадают на 96%</a:t>
            </a:r>
            <a:endParaRPr lang="en-US" sz="1400" dirty="0"/>
          </a:p>
        </p:txBody>
      </p:sp>
      <p:sp>
        <p:nvSpPr>
          <p:cNvPr id="8" name="nav-2-badge"/>
          <p:cNvSpPr txBox="1"/>
          <p:nvPr/>
        </p:nvSpPr>
        <p:spPr>
          <a:xfrm>
            <a:off x="548640" y="258775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nav-2-head"/>
          <p:cNvSpPr txBox="1"/>
          <p:nvPr/>
        </p:nvSpPr>
        <p:spPr>
          <a:xfrm>
            <a:off x="123444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</a:t>
            </a:r>
            <a:endParaRPr lang="en-US" sz="1600" dirty="0"/>
          </a:p>
        </p:txBody>
      </p:sp>
      <p:sp>
        <p:nvSpPr>
          <p:cNvPr id="10" name="nav-2-body"/>
          <p:cNvSpPr txBox="1"/>
          <p:nvPr/>
        </p:nvSpPr>
        <p:spPr>
          <a:xfrm>
            <a:off x="1234440" y="28712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одометрия и поправка по лидару: скан совмещается с картой, ошибка 1,7–1,9 см</a:t>
            </a:r>
            <a:endParaRPr lang="en-US" sz="1400" dirty="0"/>
          </a:p>
        </p:txBody>
      </p:sp>
      <p:sp>
        <p:nvSpPr>
          <p:cNvPr id="11" name="nav-3-badge"/>
          <p:cNvSpPr txBox="1"/>
          <p:nvPr/>
        </p:nvSpPr>
        <p:spPr>
          <a:xfrm>
            <a:off x="548640" y="345643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nav-3-head"/>
          <p:cNvSpPr txBox="1"/>
          <p:nvPr/>
        </p:nvSpPr>
        <p:spPr>
          <a:xfrm>
            <a:off x="1234440" y="3429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Путь</a:t>
            </a:r>
            <a:endParaRPr lang="en-US" sz="1600" dirty="0"/>
          </a:p>
        </p:txBody>
      </p:sp>
      <p:sp>
        <p:nvSpPr>
          <p:cNvPr id="13" name="nav-3-body"/>
          <p:cNvSpPr txBox="1"/>
          <p:nvPr/>
        </p:nvSpPr>
        <p:spPr>
          <a:xfrm>
            <a:off x="1234440" y="37398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алгоритм Дейкстры по цене клеток; ближе 17 см к стенам робот не едет</a:t>
            </a:r>
            <a:endParaRPr lang="en-US" sz="1400" dirty="0"/>
          </a:p>
        </p:txBody>
      </p:sp>
      <p:sp>
        <p:nvSpPr>
          <p:cNvPr id="14" name="nav-4-badge"/>
          <p:cNvSpPr txBox="1"/>
          <p:nvPr/>
        </p:nvSpPr>
        <p:spPr>
          <a:xfrm>
            <a:off x="548640" y="432511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nav-4-head"/>
          <p:cNvSpPr txBox="1"/>
          <p:nvPr/>
        </p:nvSpPr>
        <p:spPr>
          <a:xfrm>
            <a:off x="123444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Ведение</a:t>
            </a:r>
            <a:endParaRPr lang="en-US" sz="1600" dirty="0"/>
          </a:p>
        </p:txBody>
      </p:sp>
      <p:sp>
        <p:nvSpPr>
          <p:cNvPr id="16" name="nav-4-body"/>
          <p:cNvSpPr txBox="1"/>
          <p:nvPr/>
        </p:nvSpPr>
        <p:spPr>
          <a:xfrm>
            <a:off x="1234440" y="46085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руль на точку пути в 22 см впереди; скорости колёсам — 10 раз в секунду</a:t>
            </a:r>
            <a:endParaRPr lang="en-US" sz="1400" dirty="0"/>
          </a:p>
        </p:txBody>
      </p:sp>
      <p:sp>
        <p:nvSpPr>
          <p:cNvPr id="17" name="layers-card"/>
          <p:cNvSpPr/>
          <p:nvPr/>
        </p:nvSpPr>
        <p:spPr>
          <a:xfrm>
            <a:off x="548640" y="5230368"/>
            <a:ext cx="4892040" cy="987552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/>
        </p:spPr>
      </p:sp>
      <p:sp>
        <p:nvSpPr>
          <p:cNvPr id="18" name="layers-text"/>
          <p:cNvSpPr txBox="1"/>
          <p:nvPr/>
        </p:nvSpPr>
        <p:spPr>
          <a:xfrm>
            <a:off x="777240" y="5230368"/>
            <a:ext cx="4434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Поверх карты стен: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карта вероятностей образцов и карта стоимости грунта меняют цену клеток прямо в прогоне.</a:t>
            </a:r>
            <a:endParaRPr lang="en-US" sz="1400" dirty="0"/>
          </a:p>
        </p:txBody>
      </p:sp>
      <p:sp>
        <p:nvSpPr>
          <p:cNvPr id="19" name="map-1-head"/>
          <p:cNvSpPr txBox="1"/>
          <p:nvPr/>
        </p:nvSpPr>
        <p:spPr>
          <a:xfrm>
            <a:off x="576072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Карта, построенная роботом</a:t>
            </a:r>
            <a:endParaRPr lang="en-US" sz="1400" dirty="0"/>
          </a:p>
        </p:txBody>
      </p:sp>
      <p:pic>
        <p:nvPicPr>
          <p:cNvPr id="20" name="map-1" descr="Карта занятости, построенная по сканам лидара, и путь робо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011771"/>
            <a:ext cx="2834640" cy="2715585"/>
          </a:xfrm>
          <a:prstGeom prst="rect">
            <a:avLst/>
          </a:prstGeom>
        </p:spPr>
      </p:pic>
      <p:sp>
        <p:nvSpPr>
          <p:cNvPr id="21" name="map-1-caption"/>
          <p:cNvSpPr txBox="1"/>
          <p:nvPr/>
        </p:nvSpPr>
        <p:spPr>
          <a:xfrm>
            <a:off x="5760720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по 88 сканам из записи прогона в Gazebo; увидено 99,9% пола, оранжевое — путь робота</a:t>
            </a:r>
            <a:endParaRPr lang="en-US" sz="1200" dirty="0"/>
          </a:p>
        </p:txBody>
      </p:sp>
      <p:sp>
        <p:nvSpPr>
          <p:cNvPr id="22" name="map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Путь по сетке со стоимостями</a:t>
            </a:r>
            <a:endParaRPr lang="en-US" sz="1400" dirty="0"/>
          </a:p>
        </p:txBody>
      </p:sp>
      <p:pic>
        <p:nvPicPr>
          <p:cNvPr id="23" name="map-2" descr="Путь на базу по сетке: запретная полоса у стен и зоны дорогого гру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4" name="map-2-caption"/>
          <p:cNvSpPr txBox="1"/>
          <p:nvPr/>
        </p:nvSpPr>
        <p:spPr>
          <a:xfrm>
            <a:off x="8805672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оранжевое — путь на базу, 5,1 м; серое — запрет у стен; цветное — дорогой грунт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уже реализовано и что в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Основа работает и проверена опытами; показ в Gazebo и роли модели доделываются</a:t>
            </a:r>
            <a:endParaRPr lang="en-US" sz="1600" dirty="0"/>
          </a:p>
        </p:txBody>
      </p:sp>
      <p:sp>
        <p:nvSpPr>
          <p:cNvPr id="5" name="done-card"/>
          <p:cNvSpPr/>
          <p:nvPr/>
        </p:nvSpPr>
        <p:spPr>
          <a:xfrm>
            <a:off x="548640" y="1691640"/>
            <a:ext cx="644652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done-badge"/>
          <p:cNvSpPr txBox="1"/>
          <p:nvPr/>
        </p:nvSpPr>
        <p:spPr>
          <a:xfrm>
            <a:off x="777240" y="1892808"/>
            <a:ext cx="521208" cy="457200"/>
          </a:xfrm>
          <a:prstGeom prst="hexag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12</a:t>
            </a:r>
            <a:endParaRPr lang="en-US" sz="1500" dirty="0"/>
          </a:p>
        </p:txBody>
      </p:sp>
      <p:sp>
        <p:nvSpPr>
          <p:cNvPr id="7" name="done-head"/>
          <p:cNvSpPr txBox="1"/>
          <p:nvPr/>
        </p:nvSpPr>
        <p:spPr>
          <a:xfrm>
            <a:off x="1463040" y="1892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Реализовано и проверено</a:t>
            </a:r>
            <a:endParaRPr lang="en-US" sz="1800" dirty="0"/>
          </a:p>
        </p:txBody>
      </p:sp>
      <p:sp>
        <p:nvSpPr>
          <p:cNvPr id="8" name="done-stats"/>
          <p:cNvSpPr txBox="1"/>
          <p:nvPr/>
        </p:nvSpPr>
        <p:spPr>
          <a:xfrm>
            <a:off x="5120640" y="181965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проверок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3 606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прогонов</a:t>
            </a:r>
            <a:endParaRPr lang="en-US" sz="1400" dirty="0"/>
          </a:p>
        </p:txBody>
      </p:sp>
      <p:sp>
        <p:nvSpPr>
          <p:cNvPr id="9" name="done-list-1"/>
          <p:cNvSpPr txBox="1"/>
          <p:nvPr/>
        </p:nvSpPr>
        <p:spPr>
          <a:xfrm>
            <a:off x="777240" y="2560320"/>
            <a:ext cx="2926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Мир и робот в Gazebo из официальных пакетов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Судья и генератор сценариев трёх уровней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Каналы /did/* из условия задачи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Быстрый симулятор с тем же судьёй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Навигация по сетке со стоимостями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Поправка положения по лидару</a:t>
            </a:r>
            <a:endParaRPr lang="en-US" sz="1400" dirty="0"/>
          </a:p>
        </p:txBody>
      </p:sp>
      <p:sp>
        <p:nvSpPr>
          <p:cNvPr id="10" name="done-list-2"/>
          <p:cNvSpPr txBox="1"/>
          <p:nvPr/>
        </p:nvSpPr>
        <p:spPr>
          <a:xfrm>
            <a:off x="3840480" y="2560320"/>
            <a:ext cx="2926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Поиск образцов по карте вероятностей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Оценка грунта по расходу, возврат по запасу заряда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Журнал гипотез и расследования с выбором опыта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Память между прогонами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Планировщик на языковой модели: 97% годных планов с первого раза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Веб-лаборатория и запуск одной командой</a:t>
            </a:r>
            <a:endParaRPr lang="en-US" sz="1400" dirty="0"/>
          </a:p>
        </p:txBody>
      </p:sp>
      <p:sp>
        <p:nvSpPr>
          <p:cNvPr id="11" name="wip-card"/>
          <p:cNvSpPr/>
          <p:nvPr/>
        </p:nvSpPr>
        <p:spPr>
          <a:xfrm>
            <a:off x="7223760" y="1691640"/>
            <a:ext cx="4416552" cy="2176272"/>
          </a:xfrm>
          <a:prstGeom prst="roundRect">
            <a:avLst>
              <a:gd name="adj" fmla="val 3361"/>
            </a:avLst>
          </a:prstGeom>
          <a:solidFill>
            <a:schemeClr val="bg2"/>
          </a:solidFill>
          <a:ln/>
        </p:spPr>
      </p:sp>
      <p:sp>
        <p:nvSpPr>
          <p:cNvPr id="12" name="wip-badge"/>
          <p:cNvSpPr txBox="1"/>
          <p:nvPr/>
        </p:nvSpPr>
        <p:spPr>
          <a:xfrm>
            <a:off x="7452360" y="1874520"/>
            <a:ext cx="521208" cy="457200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3" name="wip-head"/>
          <p:cNvSpPr txBox="1"/>
          <p:nvPr/>
        </p:nvSpPr>
        <p:spPr>
          <a:xfrm>
            <a:off x="813816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 работе</a:t>
            </a:r>
            <a:endParaRPr lang="en-US" sz="1800" dirty="0"/>
          </a:p>
        </p:txBody>
      </p:sp>
      <p:sp>
        <p:nvSpPr>
          <p:cNvPr id="14" name="wip-list"/>
          <p:cNvSpPr txBox="1"/>
          <p:nvPr/>
        </p:nvSpPr>
        <p:spPr>
          <a:xfrm>
            <a:off x="7452360" y="2423160"/>
            <a:ext cx="3959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Пульт и показ полного сценария в Gazebo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Роли модели «автор» и «критик» в расследованиях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Локальная Qwen: счёт пока ниже правила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Конструктор исследования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Построение карты через SLAM (бонус)</a:t>
            </a:r>
            <a:endParaRPr lang="en-US" sz="1400" dirty="0"/>
          </a:p>
        </p:txBody>
      </p:sp>
      <p:sp>
        <p:nvSpPr>
          <p:cNvPr id="15" name="open-card"/>
          <p:cNvSpPr/>
          <p:nvPr/>
        </p:nvSpPr>
        <p:spPr>
          <a:xfrm>
            <a:off x="7223760" y="4096512"/>
            <a:ext cx="4416552" cy="2121408"/>
          </a:xfrm>
          <a:prstGeom prst="roundRect">
            <a:avLst>
              <a:gd name="adj" fmla="val 3448"/>
            </a:avLst>
          </a:prstGeom>
          <a:solidFill>
            <a:schemeClr val="tx2"/>
          </a:solidFill>
          <a:ln/>
        </p:spPr>
      </p:sp>
      <p:sp>
        <p:nvSpPr>
          <p:cNvPr id="16" name="open-badge"/>
          <p:cNvSpPr txBox="1"/>
          <p:nvPr/>
        </p:nvSpPr>
        <p:spPr>
          <a:xfrm>
            <a:off x="7452360" y="4261104"/>
            <a:ext cx="521208" cy="457200"/>
          </a:xfrm>
          <a:prstGeom prst="hexagon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open-head"/>
          <p:cNvSpPr txBox="1"/>
          <p:nvPr/>
        </p:nvSpPr>
        <p:spPr>
          <a:xfrm>
            <a:off x="8138160" y="4261104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Не решено — говорим прямо</a:t>
            </a:r>
            <a:endParaRPr lang="en-US" sz="1800" dirty="0"/>
          </a:p>
        </p:txBody>
      </p:sp>
      <p:sp>
        <p:nvSpPr>
          <p:cNvPr id="18" name="open-list"/>
          <p:cNvSpPr txBox="1"/>
          <p:nvPr/>
        </p:nvSpPr>
        <p:spPr>
          <a:xfrm>
            <a:off x="7452360" y="4809744"/>
            <a:ext cx="395935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Адаптация к изменениям среды пока не прибавляет очков</a:t>
            </a:r>
            <a:endParaRPr lang="en-US" sz="13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Обучение грунтам и память — об опасных зонах и между прогонами — вклада не показали</a:t>
            </a:r>
            <a:endParaRPr lang="en-US" sz="13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Правила судьи — наши допущения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серии опытов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Адаптивный агент собирает больше образцов на всех уровнях; на базу оба возвращаются одинаково</a:t>
            </a:r>
            <a:endParaRPr lang="en-US" sz="1600" dirty="0"/>
          </a:p>
        </p:txBody>
      </p:sp>
      <p:sp>
        <p:nvSpPr>
          <p:cNvPr id="5" name="e1-chart-title"/>
          <p:cNvSpPr txBox="1"/>
          <p:nvPr/>
        </p:nvSpPr>
        <p:spPr>
          <a:xfrm>
            <a:off x="548640" y="16916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Доля собранных образцов, %</a:t>
            </a:r>
            <a:endParaRPr lang="en-US" sz="1400" dirty="0"/>
          </a:p>
        </p:txBody>
      </p:sp>
      <p:graphicFrame>
        <p:nvGraphicFramePr>
          <p:cNvPr id="6" name="e1-chart" descr="Доля собранных образцов по уровням: фиксированный план и агент с адаптацией"/>
          <p:cNvGraphicFramePr/>
          <p:nvPr/>
        </p:nvGraphicFramePr>
        <p:xfrm>
          <a:off x="548640" y="196596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1-note"/>
          <p:cNvSpPr txBox="1"/>
          <p:nvPr/>
        </p:nvSpPr>
        <p:spPr>
          <a:xfrm>
            <a:off x="548640" y="583387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E1: 240 прогонов в быстром симуляторе, по 40 одинаковых сценариев на уровень; при отладке агент их не видел.</a:t>
            </a:r>
            <a:endParaRPr lang="en-US" sz="1100" dirty="0"/>
          </a:p>
        </p:txBody>
      </p:sp>
      <p:sp>
        <p:nvSpPr>
          <p:cNvPr id="8" name="e1-tile-1-card"/>
          <p:cNvSpPr/>
          <p:nvPr/>
        </p:nvSpPr>
        <p:spPr>
          <a:xfrm>
            <a:off x="7589520" y="169164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e1-tile-1-value"/>
          <p:cNvSpPr txBox="1"/>
          <p:nvPr/>
        </p:nvSpPr>
        <p:spPr>
          <a:xfrm>
            <a:off x="7818120" y="181965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+17 п. п.</a:t>
            </a:r>
            <a:endParaRPr lang="en-US" sz="3400" dirty="0"/>
          </a:p>
        </p:txBody>
      </p:sp>
      <p:sp>
        <p:nvSpPr>
          <p:cNvPr id="10" name="e1-tile-1-label"/>
          <p:cNvSpPr txBox="1"/>
          <p:nvPr/>
        </p:nvSpPr>
        <p:spPr>
          <a:xfrm>
            <a:off x="7818120" y="239598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собранных образцов в среднем; 95% интервал — от 14 до 21</a:t>
            </a:r>
            <a:endParaRPr lang="en-US" sz="1400" dirty="0"/>
          </a:p>
        </p:txBody>
      </p:sp>
      <p:sp>
        <p:nvSpPr>
          <p:cNvPr id="11" name="e1-tile-2-card"/>
          <p:cNvSpPr/>
          <p:nvPr/>
        </p:nvSpPr>
        <p:spPr>
          <a:xfrm>
            <a:off x="7589520" y="326898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2" name="e1-tile-2-value"/>
          <p:cNvSpPr txBox="1"/>
          <p:nvPr/>
        </p:nvSpPr>
        <p:spPr>
          <a:xfrm>
            <a:off x="7818120" y="339699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72 из 120</a:t>
            </a:r>
            <a:endParaRPr lang="en-US" sz="3400" dirty="0"/>
          </a:p>
        </p:txBody>
      </p:sp>
      <p:sp>
        <p:nvSpPr>
          <p:cNvPr id="13" name="e1-tile-2-label"/>
          <p:cNvSpPr txBox="1"/>
          <p:nvPr/>
        </p:nvSpPr>
        <p:spPr>
          <a:xfrm>
            <a:off x="7818120" y="397332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сценариев адаптивный агент выиграл; проиграл — 3</a:t>
            </a:r>
            <a:endParaRPr lang="en-US" sz="1400" dirty="0"/>
          </a:p>
        </p:txBody>
      </p:sp>
      <p:sp>
        <p:nvSpPr>
          <p:cNvPr id="14" name="e1-tile-3-card"/>
          <p:cNvSpPr/>
          <p:nvPr/>
        </p:nvSpPr>
        <p:spPr>
          <a:xfrm>
            <a:off x="7589520" y="484632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e1-tile-3-value"/>
          <p:cNvSpPr txBox="1"/>
          <p:nvPr/>
        </p:nvSpPr>
        <p:spPr>
          <a:xfrm>
            <a:off x="7818120" y="497433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98% и 99%</a:t>
            </a:r>
            <a:endParaRPr lang="en-US" sz="3400" dirty="0"/>
          </a:p>
        </p:txBody>
      </p:sp>
      <p:sp>
        <p:nvSpPr>
          <p:cNvPr id="16" name="e1-tile-3-label"/>
          <p:cNvSpPr txBox="1"/>
          <p:nvPr/>
        </p:nvSpPr>
        <p:spPr>
          <a:xfrm>
            <a:off x="7818120" y="555066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у адаптивного и у фиксированного: разницы нет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поиск и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вероятностей находит больше образцов, чем простые правила; исследователь чаще возвращается на базу</a:t>
            </a:r>
            <a:endParaRPr lang="en-US" sz="1600" dirty="0"/>
          </a:p>
        </p:txBody>
      </p:sp>
      <p:sp>
        <p:nvSpPr>
          <p:cNvPr id="5" name="e9-chart-title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Стратегии поиска: доля собранных образцов, %</a:t>
            </a:r>
            <a:endParaRPr lang="en-US" sz="1400" dirty="0"/>
          </a:p>
        </p:txBody>
      </p:sp>
      <p:graphicFrame>
        <p:nvGraphicFramePr>
          <p:cNvPr id="6" name="e9-chart" descr="Доля собранных образцов у четырёх стратегий поиска"/>
          <p:cNvGraphicFramePr/>
          <p:nvPr/>
        </p:nvGraphicFramePr>
        <p:xfrm>
          <a:off x="548640" y="1965960"/>
          <a:ext cx="53949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9-note"/>
          <p:cNvSpPr txBox="1"/>
          <p:nvPr/>
        </p:nvSpPr>
        <p:spPr>
          <a:xfrm>
            <a:off x="54864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E9: уровни easy и medium, по 80 прогонов на стратегию. Спираль и подъём по сигналу — простые правила из условия.</a:t>
            </a:r>
            <a:endParaRPr lang="en-US" sz="1100" dirty="0"/>
          </a:p>
        </p:txBody>
      </p:sp>
      <p:sp>
        <p:nvSpPr>
          <p:cNvPr id="8" name="e10-chart-title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Возврат на базу на трудном уровне, %</a:t>
            </a:r>
            <a:endParaRPr lang="en-US" sz="1400" dirty="0"/>
          </a:p>
        </p:txBody>
      </p:sp>
      <p:graphicFrame>
        <p:nvGraphicFramePr>
          <p:cNvPr id="9" name="e10-chart" descr="Возврат на базу на трудном уровне: исследователь, адаптивный агент, фиксированный план"/>
          <p:cNvGraphicFramePr/>
          <p:nvPr/>
        </p:nvGraphicFramePr>
        <p:xfrm>
          <a:off x="6355080" y="1965960"/>
          <a:ext cx="528523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10-tile-card"/>
          <p:cNvSpPr/>
          <p:nvPr/>
        </p:nvSpPr>
        <p:spPr>
          <a:xfrm>
            <a:off x="6355080" y="4343400"/>
            <a:ext cx="52852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e10-tile-value"/>
          <p:cNvSpPr txBox="1"/>
          <p:nvPr/>
        </p:nvSpPr>
        <p:spPr>
          <a:xfrm>
            <a:off x="6583680" y="4343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 из 177</a:t>
            </a:r>
            <a:endParaRPr lang="en-US" sz="3400" dirty="0"/>
          </a:p>
        </p:txBody>
      </p:sp>
      <p:sp>
        <p:nvSpPr>
          <p:cNvPr id="12" name="e10-tile-label"/>
          <p:cNvSpPr txBox="1"/>
          <p:nvPr/>
        </p:nvSpPr>
        <p:spPr>
          <a:xfrm>
            <a:off x="8732520" y="4343400"/>
            <a:ext cx="2724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выводов исследователя о причине неверны; ещё 14 верны частично. Найдено 68% настоящих сбоев</a:t>
            </a:r>
            <a:endParaRPr lang="en-US" sz="1400" dirty="0"/>
          </a:p>
        </p:txBody>
      </p:sp>
      <p:sp>
        <p:nvSpPr>
          <p:cNvPr id="13" name="e10-note"/>
          <p:cNvSpPr txBox="1"/>
          <p:nvPr/>
        </p:nvSpPr>
        <p:spPr>
          <a:xfrm>
            <a:off x="6355080" y="5669280"/>
            <a:ext cx="5285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E10: усложнённые правила — у одного симптома несколько причин; по 40 прогонов. Исследователь возвращается чаще адаптивного на 12,5 п. п. (95% интервал — от 2,5 до 22,5); по счёту разницы нет.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Gazebo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 поправкой по лидару прогоны в Gazebo повторяют быстрый симулятор с точностью до одного образца</a:t>
            </a:r>
            <a:endParaRPr lang="en-US" sz="1600" dirty="0"/>
          </a:p>
        </p:txBody>
      </p:sp>
      <p:sp>
        <p:nvSpPr>
          <p:cNvPr id="5" name="gz-table-title"/>
          <p:cNvSpPr txBox="1"/>
          <p:nvPr/>
        </p:nvSpPr>
        <p:spPr>
          <a:xfrm>
            <a:off x="548640" y="16916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Собрано образцов: один и тот же сценарий</a:t>
            </a:r>
            <a:endParaRPr lang="en-US" sz="1400" dirty="0"/>
          </a:p>
        </p:txBody>
      </p:sp>
      <p:graphicFrame>
        <p:nvGraphicFramePr>
          <p:cNvPr id="11" name="gz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39112"/>
          <a:ext cx="38862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0020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Уровень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Быстрый симулятор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Gazebo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easy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hard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6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z-table-note"/>
          <p:cNvSpPr txBox="1"/>
          <p:nvPr/>
        </p:nvSpPr>
        <p:spPr>
          <a:xfrm>
            <a:off x="548640" y="39593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 Gazebo во всех трёх прогонах робот вернулся на базу, столкновений нет.</a:t>
            </a:r>
            <a:endParaRPr lang="en-US" sz="1200" dirty="0"/>
          </a:p>
        </p:txBody>
      </p:sp>
      <p:sp>
        <p:nvSpPr>
          <p:cNvPr id="8" name="gz-cause-card"/>
          <p:cNvSpPr/>
          <p:nvPr/>
        </p:nvSpPr>
        <p:spPr>
          <a:xfrm>
            <a:off x="548640" y="4526280"/>
            <a:ext cx="3886200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9" name="gz-cause-text"/>
          <p:cNvSpPr txBox="1"/>
          <p:nvPr/>
        </p:nvSpPr>
        <p:spPr>
          <a:xfrm>
            <a:off x="749808" y="4526280"/>
            <a:ext cx="34838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Причина найдена.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Около 30 с после появления в мире робот покачивается, и манёвры в это время сбивали одометрию — больше чем на метр. Теперь агент ждёт до 35-й секунды.</a:t>
            </a:r>
            <a:endParaRPr lang="en-US" sz="1400" dirty="0"/>
          </a:p>
        </p:txBody>
      </p:sp>
      <p:sp>
        <p:nvSpPr>
          <p:cNvPr id="10" name="gz-chart-title"/>
          <p:cNvSpPr txBox="1"/>
          <p:nvPr/>
        </p:nvSpPr>
        <p:spPr>
          <a:xfrm>
            <a:off x="4754880" y="1691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Ошибка положения робота, см (уровень easy)</a:t>
            </a:r>
            <a:endParaRPr lang="en-US" sz="1400" dirty="0"/>
          </a:p>
        </p:txBody>
      </p:sp>
      <p:graphicFrame>
        <p:nvGraphicFramePr>
          <p:cNvPr id="11" name="gz-chart" descr="Ошибка положения во времени: одометрия уходит на десятки сантиметров, с поправкой по лидару остаётся около двух"/>
          <p:cNvGraphicFramePr/>
          <p:nvPr/>
        </p:nvGraphicFramePr>
        <p:xfrm>
          <a:off x="4754880" y="1965960"/>
          <a:ext cx="43434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gz-note"/>
          <p:cNvSpPr txBox="1"/>
          <p:nvPr/>
        </p:nvSpPr>
        <p:spPr>
          <a:xfrm>
            <a:off x="4754880" y="5669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Серия E8, 180 прогонов: при таком уходе одометрии возврат на базу — 100% с поправкой и 33% без неё.</a:t>
            </a:r>
            <a:endParaRPr lang="en-US" sz="1100" dirty="0"/>
          </a:p>
        </p:txBody>
      </p:sp>
      <p:sp>
        <p:nvSpPr>
          <p:cNvPr id="13" name="gz-tile-1-card"/>
          <p:cNvSpPr/>
          <p:nvPr/>
        </p:nvSpPr>
        <p:spPr>
          <a:xfrm>
            <a:off x="9372600" y="1691640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z-tile-1-value"/>
          <p:cNvSpPr txBox="1"/>
          <p:nvPr/>
        </p:nvSpPr>
        <p:spPr>
          <a:xfrm>
            <a:off x="9537192" y="180136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1,7–1,9 см</a:t>
            </a:r>
            <a:endParaRPr lang="en-US" sz="2400" dirty="0"/>
          </a:p>
        </p:txBody>
      </p:sp>
      <p:sp>
        <p:nvSpPr>
          <p:cNvPr id="15" name="gz-tile-1-label"/>
          <p:cNvSpPr txBox="1"/>
          <p:nvPr/>
        </p:nvSpPr>
        <p:spPr>
          <a:xfrm>
            <a:off x="9537192" y="2331720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ошибка положения с поправкой, медиана</a:t>
            </a:r>
            <a:endParaRPr lang="en-US" sz="1300" dirty="0"/>
          </a:p>
        </p:txBody>
      </p:sp>
      <p:sp>
        <p:nvSpPr>
          <p:cNvPr id="16" name="gz-tile-2-card"/>
          <p:cNvSpPr/>
          <p:nvPr/>
        </p:nvSpPr>
        <p:spPr>
          <a:xfrm>
            <a:off x="9372600" y="3259836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7" name="gz-tile-2-value"/>
          <p:cNvSpPr txBox="1"/>
          <p:nvPr/>
        </p:nvSpPr>
        <p:spPr>
          <a:xfrm>
            <a:off x="9537192" y="336956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4,8 см</a:t>
            </a:r>
            <a:endParaRPr lang="en-US" sz="2400" dirty="0"/>
          </a:p>
        </p:txBody>
      </p:sp>
      <p:sp>
        <p:nvSpPr>
          <p:cNvPr id="18" name="gz-tile-2-label"/>
          <p:cNvSpPr txBox="1"/>
          <p:nvPr/>
        </p:nvSpPr>
        <p:spPr>
          <a:xfrm>
            <a:off x="9537192" y="3899916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наибольшая ошибка за три прогона</a:t>
            </a:r>
            <a:endParaRPr lang="en-US" sz="1300" dirty="0"/>
          </a:p>
        </p:txBody>
      </p:sp>
      <p:sp>
        <p:nvSpPr>
          <p:cNvPr id="19" name="gz-tile-3-card"/>
          <p:cNvSpPr/>
          <p:nvPr/>
        </p:nvSpPr>
        <p:spPr>
          <a:xfrm>
            <a:off x="9372600" y="4828032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20" name="gz-tile-3-value"/>
          <p:cNvSpPr txBox="1"/>
          <p:nvPr/>
        </p:nvSpPr>
        <p:spPr>
          <a:xfrm>
            <a:off x="9537192" y="4937760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61 см</a:t>
            </a:r>
            <a:endParaRPr lang="en-US" sz="2400" dirty="0"/>
          </a:p>
        </p:txBody>
      </p:sp>
      <p:sp>
        <p:nvSpPr>
          <p:cNvPr id="21" name="gz-tile-3-label"/>
          <p:cNvSpPr txBox="1"/>
          <p:nvPr/>
        </p:nvSpPr>
        <p:spPr>
          <a:xfrm>
            <a:off x="9537192" y="5468112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уходила одометрия в тех же прогонах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использовали ИИ при разработке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Ассистент вёл разработку, вторая модель давала второе мнение, третья планирует внутри робота</a:t>
            </a:r>
            <a:endParaRPr lang="en-US" sz="1600" dirty="0"/>
          </a:p>
        </p:txBody>
      </p:sp>
      <p:sp>
        <p:nvSpPr>
          <p:cNvPr id="5" name="ai-1-card"/>
          <p:cNvSpPr/>
          <p:nvPr/>
        </p:nvSpPr>
        <p:spPr>
          <a:xfrm>
            <a:off x="548640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6" name="ai-1-badge"/>
          <p:cNvSpPr txBox="1"/>
          <p:nvPr/>
        </p:nvSpPr>
        <p:spPr>
          <a:xfrm>
            <a:off x="749808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ai-1-head"/>
          <p:cNvSpPr txBox="1"/>
          <p:nvPr/>
        </p:nvSpPr>
        <p:spPr>
          <a:xfrm>
            <a:off x="1417320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Ассистент — ведущий инженер</a:t>
            </a:r>
            <a:endParaRPr lang="en-US" sz="1600" dirty="0"/>
          </a:p>
        </p:txBody>
      </p:sp>
      <p:sp>
        <p:nvSpPr>
          <p:cNvPr id="8" name="ai-1-body"/>
          <p:cNvSpPr txBox="1"/>
          <p:nvPr/>
        </p:nvSpPr>
        <p:spPr>
          <a:xfrm>
            <a:off x="749808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Стенд написан за полтора дня в диалоге с Claude Code в среде T3 Code. Работа делилась на параллельные ветки, около десяти, и раздавалась вспомогательным агентам.</a:t>
            </a:r>
            <a:endParaRPr lang="en-US" sz="1400" dirty="0"/>
          </a:p>
        </p:txBody>
      </p:sp>
      <p:sp>
        <p:nvSpPr>
          <p:cNvPr id="9" name="ai-2-card"/>
          <p:cNvSpPr/>
          <p:nvPr/>
        </p:nvSpPr>
        <p:spPr>
          <a:xfrm>
            <a:off x="4322064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0" name="ai-2-badge"/>
          <p:cNvSpPr txBox="1"/>
          <p:nvPr/>
        </p:nvSpPr>
        <p:spPr>
          <a:xfrm>
            <a:off x="4523232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ai-2-head"/>
          <p:cNvSpPr txBox="1"/>
          <p:nvPr/>
        </p:nvSpPr>
        <p:spPr>
          <a:xfrm>
            <a:off x="5190744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Второе мнение</a:t>
            </a:r>
            <a:endParaRPr lang="en-US" sz="1600" dirty="0"/>
          </a:p>
        </p:txBody>
      </p:sp>
      <p:sp>
        <p:nvSpPr>
          <p:cNvPr id="12" name="ai-2-body"/>
          <p:cNvSpPr txBox="1"/>
          <p:nvPr/>
        </p:nvSpPr>
        <p:spPr>
          <a:xfrm>
            <a:off x="4523232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 сложным вопросам запрашивали второе мнение у другой модели — GPT-6 Astra. В расследованиях она нашла 8 слабых мест, все исправлены.</a:t>
            </a:r>
            <a:endParaRPr lang="en-US" sz="1400" dirty="0"/>
          </a:p>
        </p:txBody>
      </p:sp>
      <p:sp>
        <p:nvSpPr>
          <p:cNvPr id="13" name="ai-3-card"/>
          <p:cNvSpPr/>
          <p:nvPr/>
        </p:nvSpPr>
        <p:spPr>
          <a:xfrm>
            <a:off x="8095488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4" name="ai-3-badge"/>
          <p:cNvSpPr txBox="1"/>
          <p:nvPr/>
        </p:nvSpPr>
        <p:spPr>
          <a:xfrm>
            <a:off x="8296656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ai-3-head"/>
          <p:cNvSpPr txBox="1"/>
          <p:nvPr/>
        </p:nvSpPr>
        <p:spPr>
          <a:xfrm>
            <a:off x="8964168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ИИ внутри робота</a:t>
            </a:r>
            <a:endParaRPr lang="en-US" sz="1600" dirty="0"/>
          </a:p>
        </p:txBody>
      </p:sp>
      <p:sp>
        <p:nvSpPr>
          <p:cNvPr id="16" name="ai-3-body"/>
          <p:cNvSpPr txBox="1"/>
          <p:nvPr/>
        </p:nvSpPr>
        <p:spPr>
          <a:xfrm>
            <a:off x="8296656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выбирает подцели. GPT-6 Luna: 97% годных планов с первого раза, счёт 76 против 71 у правила. Локальная Qwen: 95% годных, но счёт 38.</a:t>
            </a:r>
            <a:endParaRPr lang="en-US" sz="1400" dirty="0"/>
          </a:p>
        </p:txBody>
      </p:sp>
      <p:sp>
        <p:nvSpPr>
          <p:cNvPr id="17" name="found-card"/>
          <p:cNvSpPr/>
          <p:nvPr/>
        </p:nvSpPr>
        <p:spPr>
          <a:xfrm>
            <a:off x="548640" y="4087368"/>
            <a:ext cx="11091672" cy="1664208"/>
          </a:xfrm>
          <a:prstGeom prst="roundRect">
            <a:avLst>
              <a:gd name="adj" fmla="val 4396"/>
            </a:avLst>
          </a:prstGeom>
          <a:solidFill>
            <a:schemeClr val="tx2"/>
          </a:solidFill>
          <a:ln/>
        </p:spPr>
      </p:sp>
      <p:sp>
        <p:nvSpPr>
          <p:cNvPr id="18" name="found-head"/>
          <p:cNvSpPr txBox="1"/>
          <p:nvPr/>
        </p:nvSpPr>
        <p:spPr>
          <a:xfrm>
            <a:off x="822960" y="4215384"/>
            <a:ext cx="10543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Ошибки, которые нашёл стенд, а не глаз</a:t>
            </a:r>
            <a:endParaRPr lang="en-US" sz="1600" dirty="0"/>
          </a:p>
        </p:txBody>
      </p:sp>
      <p:sp>
        <p:nvSpPr>
          <p:cNvPr id="19" name="found-list-1"/>
          <p:cNvSpPr txBox="1"/>
          <p:nvPr/>
        </p:nvSpPr>
        <p:spPr>
          <a:xfrm>
            <a:off x="822960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ложные следы в карте вероятностей после сбора образца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агент бросал работу с полной батареей: цена маршрута была смешана с зарядом на дорогу</a:t>
            </a:r>
            <a:endParaRPr lang="en-US" sz="1400" dirty="0"/>
          </a:p>
        </p:txBody>
      </p:sp>
      <p:sp>
        <p:nvSpPr>
          <p:cNvPr id="20" name="found-list-2"/>
          <p:cNvSpPr txBox="1"/>
          <p:nvPr/>
        </p:nvSpPr>
        <p:spPr>
          <a:xfrm>
            <a:off x="6277356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робот покачивается после появления в Gazebo — одометрия уходила на метр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сотня ложных сборов подряд при неверной поправке датчика</a:t>
            </a:r>
            <a:endParaRPr lang="en-US" sz="1400" dirty="0"/>
          </a:p>
        </p:txBody>
      </p:sp>
      <p:sp>
        <p:nvSpPr>
          <p:cNvPr id="21" name="process-line"/>
          <p:cNvSpPr txBox="1"/>
          <p:nvPr/>
        </p:nvSpPr>
        <p:spPr>
          <a:xfrm>
            <a:off x="548640" y="5824728"/>
            <a:ext cx="110916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Качество процесса: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300 автоматических проверок, воспроизводимые серии прогонов, история в git.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Навыки ассистента: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построение графиков, сборка презентаций, запуск других моделей.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чекпоинт 2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2026-10-08T02:59:00Z</dcterms:created>
  <dcterms:modified xsi:type="dcterms:W3CDTF">2026-10-08T02:59:00Z</dcterms:modified>
</cp:coreProperties>
</file>