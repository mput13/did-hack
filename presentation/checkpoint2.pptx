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 и решение" id="{b6a7ec5d-4c5c-875c-942e-a20dbd4fdf8f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Состояние и результаты" id="{b2979c5b-bf4e-769e-52b8-b1c9ee681364}">
          <p14:sldIdLst>
            <p14:sldId id="262"/>
            <p14:sldId id="263"/>
            <p14:sldId id="264"/>
            <p14:sldId id="265"/>
          </p14:sldIdLst>
        </p14:section>
        <p14:section name="Как работали" id="{6548c175-0567-f033-1d81-a8f15bac864d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Фиксированный план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18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easy</c:v>
                  </c:pt>
                  <c:pt idx="1">
                    <c:v>medium</c:v>
                  </c:pt>
                  <c:pt idx="2">
                    <c:v>hard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91.7</c:v>
                </c:pt>
                <c:pt idx="1">
                  <c:v>76.5</c:v>
                </c:pt>
                <c:pt idx="2">
                  <c:v>61.4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адаптацией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18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easy</c:v>
                  </c:pt>
                  <c:pt idx="1">
                    <c:v>medium</c:v>
                  </c:pt>
                  <c:pt idx="2">
                    <c:v>hard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99.5</c:v>
                </c:pt>
                <c:pt idx="2">
                  <c:v>81.8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1418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0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4181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собранных образцов, %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18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0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Карта вероятностей</c:v>
                  </c:pt>
                  <c:pt idx="1">
                    <c:v>Подъём по сигналу</c:v>
                  </c:pt>
                  <c:pt idx="2">
                    <c:v>Объезд по готовому маршруту</c:v>
                  </c:pt>
                  <c:pt idx="3">
                    <c:v>Спираль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99.7</c:v>
                </c:pt>
                <c:pt idx="1">
                  <c:v>90.2</c:v>
                </c:pt>
                <c:pt idx="2">
                  <c:v>84.1</c:v>
                </c:pt>
                <c:pt idx="3">
                  <c:v>75.8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1418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Возврат на базу, %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18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Фиксированный план</c:v>
                  </c:pt>
                  <c:pt idx="1">
                    <c:v>С адаптацией</c:v>
                  </c:pt>
                  <c:pt idx="2">
                    <c:v>Исследователь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82.5</c:v>
                </c:pt>
                <c:pt idx="1">
                  <c:v>87.5</c:v>
                </c:pt>
                <c:pt idx="2">
                  <c:v>97.5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1418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Только счётчик пути колёс</c:v>
                </c:pt>
              </c:strCache>
            </c:strRef>
          </c:tx>
          <c:spPr>
            <a:solidFill>
              <a:srgbClr val="9AA0A6"/>
            </a:solidFill>
            <a:ln w="31750" cap="flat">
              <a:solidFill>
                <a:srgbClr val="9AA0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0A6"/>
              </a:solidFill>
              <a:ln w="9525" cap="flat">
                <a:solidFill>
                  <a:srgbClr val="9AA0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  <c:pt idx="11">
                    <c:v>44</c:v>
                  </c:pt>
                  <c:pt idx="12">
                    <c:v>48</c:v>
                  </c:pt>
                  <c:pt idx="13">
                    <c:v>52</c:v>
                  </c:pt>
                  <c:pt idx="14">
                    <c:v>56</c:v>
                  </c:pt>
                  <c:pt idx="15">
                    <c:v>60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2.5</c:v>
                </c:pt>
                <c:pt idx="1">
                  <c:v>3.5</c:v>
                </c:pt>
                <c:pt idx="2">
                  <c:v>5.8</c:v>
                </c:pt>
                <c:pt idx="3">
                  <c:v>7.7</c:v>
                </c:pt>
                <c:pt idx="4">
                  <c:v>22.6</c:v>
                </c:pt>
                <c:pt idx="5">
                  <c:v>29.2</c:v>
                </c:pt>
                <c:pt idx="6">
                  <c:v>28.8</c:v>
                </c:pt>
                <c:pt idx="7">
                  <c:v>39.6</c:v>
                </c:pt>
                <c:pt idx="8">
                  <c:v>57.2</c:v>
                </c:pt>
                <c:pt idx="9">
                  <c:v>60.9</c:v>
                </c:pt>
                <c:pt idx="10">
                  <c:v>60.9</c:v>
                </c:pt>
                <c:pt idx="11">
                  <c:v>60.9</c:v>
                </c:pt>
                <c:pt idx="12">
                  <c:v>53.8</c:v>
                </c:pt>
                <c:pt idx="13">
                  <c:v>36.7</c:v>
                </c:pt>
                <c:pt idx="14">
                  <c:v>23.5</c:v>
                </c:pt>
                <c:pt idx="15">
                  <c:v>23.3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поправкой по лидару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  <c:pt idx="11">
                    <c:v>44</c:v>
                  </c:pt>
                  <c:pt idx="12">
                    <c:v>48</c:v>
                  </c:pt>
                  <c:pt idx="13">
                    <c:v>52</c:v>
                  </c:pt>
                  <c:pt idx="14">
                    <c:v>56</c:v>
                  </c:pt>
                  <c:pt idx="15">
                    <c:v>60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1.9</c:v>
                </c:pt>
                <c:pt idx="1">
                  <c:v>1.6</c:v>
                </c:pt>
                <c:pt idx="2">
                  <c:v>1.7</c:v>
                </c:pt>
                <c:pt idx="3">
                  <c:v>1.7</c:v>
                </c:pt>
                <c:pt idx="4">
                  <c:v>2.2</c:v>
                </c:pt>
                <c:pt idx="5">
                  <c:v>2.8</c:v>
                </c:pt>
                <c:pt idx="6">
                  <c:v>2.1</c:v>
                </c:pt>
                <c:pt idx="7">
                  <c:v>2.2</c:v>
                </c:pt>
                <c:pt idx="8">
                  <c:v>2.1</c:v>
                </c:pt>
                <c:pt idx="9">
                  <c:v>2</c:v>
                </c:pt>
                <c:pt idx="10">
                  <c:v>1.9</c:v>
                </c:pt>
                <c:pt idx="11">
                  <c:v>1.9</c:v>
                </c:pt>
                <c:pt idx="12">
                  <c:v>2</c:v>
                </c:pt>
                <c:pt idx="13">
                  <c:v>1.5</c:v>
                </c:pt>
                <c:pt idx="14">
                  <c:v>1.3</c:v>
                </c:pt>
                <c:pt idx="15">
                  <c:v>0.9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168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168"/>
                    </a:solidFill>
                    <a:latin typeface="+mn-lt"/>
                  </a:rPr>
                  <a:t>время от начала движения, с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0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4181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проект — автономный ИИ-исследователь на роботе TurtleBot3. Сегодня покажем, что уже работает, как устроено решение и что показали опыты. На картинке настоящий прогон в Gazebo: робот собрал 5 образцов из 5 и вернулся на базу.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арене спрятаны образцы, участки дорогого грунта и опасные зоны, и робот ничего из этого не видит: камеры у него нет. У него есть лидар, счётчик пути, остаток заряда и датчик, который говорит только, насколько близко образец, но не в какой стороне. Цель — собрать как можно больше образцов и вернуться на базу, пока не села батарея: её хватает на 24 метра пути. Наша гипотеза: агент, который учится по измерениям и перестраивает маршрут, соберёт больше, чем агент с планом, составленным заранее.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Робот стартует с базы и слушает датчик близости: каждое показание уточняет карту вероятностей, синее на кадрах. Когда место становится уверенным, он подъезжает и собирает образец. Если что-то идёт не так — штраф, лишний расход, шум датчика, — он записывает гипотезу и проверяет её: в этом прогоне гипотез 14, подтверждено 8. Заряд на дорогу домой он считает сам и возвращается на базу. ЗДЕСЬ — ЖИВОЙ ПОКАЗ: открыть пульт, щёлкнуть точку на карте, показать, как робот едет в Gazebo и как строится карта (около минуты).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стенд: генератор сценариев, судья со скрытой правдой и симулятор. Симуляторов два: Gazebo для показа и быстрый — для серий опытов. Справа агент: картина мира, планировщик, исполнитель и журнал гипотез. Между ними только каналы из условия задачи, поэтому нашего судью можно заменить судьёй организаторов, не трогая агента. Каждый прогон записывается, серии считаются на одинаковых сценариях, а смотреть всё можно в веб-лаборатории.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Мир и робот взяты из официальных пакетов без изменений: ROS 2 Jazzy, Gazebo и TurtleBot3 Burger. Окружение ставится одной командой через pixi и одинаково работает на Mac и Linux. Агент, судья и быстрый симулятор написаны на Python; языковая модель выбирает подцели, а её ответы проверяются. Всё закрыто автоматическими проверками: их 265.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стен дана заранее сеткой с клеткой 5 сантиметров, и робот строит такую же сам по лидару: карты совпадают на 96 процентов. Положение считается по колёсам и поправляется по лидару: скан совмещается с картой, ошибка около двух сантиметров. Путь ищет алгоритм Дейкстры по цене клеток, ближе 17 сантиметров к стенам робот не едет. Поверх лежат карта вероятностей образцов и карта стоимости грунта: они меняют цену клеток прямо во время прогона.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то, что уже работает и проверено: стенд, навигация, поиск образцов, журнал гипотез, расследования, память и планировщик на языковой модели. Это подтверждают 265 автоматических проверок и 2 586 прогонов в 11 сериях опытов. В работе — пульт и показ полного сценария в Gazebo, роли модели в расследованиях, локальная модель и конструктор исследования. И честно о нерешённом: адаптация к изменениям среды пока не прибавляет очков, а правила судьи — наши допущения.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опыт: два агента проходят одни и те же сценарии, которых при отладке не видели. Адаптивный собирает больше на всех уровнях, в среднем на 17 процентных пунктов: из 120 сценариев он выиграл в 72 и проиграл в 3. А вот вторая половина гипотезы не подтвердилась: на базу оба возвращаются почти всегда, разницы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стратегии поиска: спираль и подъём по сигналу из условия задачи против нашей карты вероятностей. Карта находит 99,7 процента образцов и тратит меньше заряда. Справа агент-исследователь: он держит несколько объяснений странности и проверяет их опытом. Причину он называет верно в 98 процентах случаев. На базу на трудном уровне он возвращается чаще, но эта разница пока в пределах погрешности.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Серии считаются в быстром симуляторе, поэтому мы проверили перенос в Gazebo с настоящей физикой. Сначала положение по колёсам уходило — до 2,2 метра. Причину нашли: первые тридцать секунд после появления в мире робот покачивается, и манёвры в это время сбивают счёт пути. Теперь агент ждёт и сверяет положение с лидаром: ошибка около двух сантиметров, максимум 4,8. Лёгкий и средний уровни совпали с быстрым симулятором полностью, на трудном собрано 5 образцов против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стенд написан за полтора дня в диалоге с ИИ-ассистентом. Он работал как ведущий инженер: делил работу на параллельные ветки, около десяти, и раздавал их вспомогательным агентам. По сложным вопросам мы запрашивали второе мнение у другой модели. Третья модель работает внутри робота как планировщик: 97 процентов её планов годны с первого раза. Главное — ошибки искал не глаз, а стенд: тесты и серии прогонов нашли четыре серьёзные ошибки, они на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6126480" cy="2148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5943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Автономный ИИ-исследователь · DID Hack 2026 · чекпоинт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6126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«Автономный ИИ-исследователь на роботе-платформе»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Второй чекпоинт: что работает и что показали опыты</a:t>
            </a:r>
            <a:endParaRPr lang="en-US" sz="2000" dirty="0"/>
          </a:p>
        </p:txBody>
      </p:sp>
      <p:sp>
        <p:nvSpPr>
          <p:cNvPr id="4" name="event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DID Hack 2026 · 8 октября</a:t>
            </a:r>
            <a:endParaRPr lang="en-US" sz="1600" dirty="0"/>
          </a:p>
        </p:txBody>
      </p:sp>
      <p:sp>
        <p:nvSpPr>
          <p:cNvPr id="5" name="team"/>
          <p:cNvSpPr txBox="1"/>
          <p:nvPr/>
        </p:nvSpPr>
        <p:spPr>
          <a:xfrm>
            <a:off x="640080" y="48463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Журавлёва Полина Петровна — разработчик (Back/ROS)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Ефремова Анастасия Михайловна — ML (LLM)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Путиловский Михаил Вячеславович — аналитик (исследователь)</a:t>
            </a:r>
            <a:endParaRPr lang="en-US" sz="1400" dirty="0"/>
          </a:p>
        </p:txBody>
      </p:sp>
      <p:pic>
        <p:nvPicPr>
          <p:cNvPr id="6" name="title-run" descr="Арена и путь робота в настоящем прогоне в Gaze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87573"/>
            <a:ext cx="4846320" cy="4642775"/>
          </a:xfrm>
          <a:prstGeom prst="rect">
            <a:avLst/>
          </a:prstGeom>
        </p:spPr>
      </p:pic>
      <p:sp>
        <p:nvSpPr>
          <p:cNvPr id="7" name="title-caption"/>
          <p:cNvSpPr txBox="1"/>
          <p:nvPr/>
        </p:nvSpPr>
        <p:spPr>
          <a:xfrm>
            <a:off x="6858000" y="5623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Настоящий прогон в Gazebo: путь робота, собрано 5 из 5 образцов, возврат на базу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Задача и цель проекта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Робот ищет то, чего не видит: образцы, дорогой грунт и опасные зоны скрыты</a:t>
            </a:r>
            <a:endParaRPr lang="en-US" sz="1600" dirty="0"/>
          </a:p>
        </p:txBody>
      </p:sp>
      <p:sp>
        <p:nvSpPr>
          <p:cNvPr id="5" name="hidden-1-badge"/>
          <p:cNvSpPr txBox="1"/>
          <p:nvPr/>
        </p:nvSpPr>
        <p:spPr>
          <a:xfrm>
            <a:off x="548640" y="1737360"/>
            <a:ext cx="521208" cy="457200"/>
          </a:xfrm>
          <a:prstGeom prst="hexagon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6" name="hidden-1-head"/>
          <p:cNvSpPr txBox="1"/>
          <p:nvPr/>
        </p:nvSpPr>
        <p:spPr>
          <a:xfrm>
            <a:off x="128016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Образцы</a:t>
            </a:r>
            <a:endParaRPr lang="en-US" sz="1600" dirty="0"/>
          </a:p>
        </p:txBody>
      </p:sp>
      <p:sp>
        <p:nvSpPr>
          <p:cNvPr id="7" name="hidden-1-body"/>
          <p:cNvSpPr txBox="1"/>
          <p:nvPr/>
        </p:nvSpPr>
        <p:spPr>
          <a:xfrm>
            <a:off x="1280160" y="2002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найти и собрать, подъехав ближе 30 см</a:t>
            </a:r>
            <a:endParaRPr lang="en-US" sz="1400" dirty="0"/>
          </a:p>
        </p:txBody>
      </p:sp>
      <p:sp>
        <p:nvSpPr>
          <p:cNvPr id="8" name="hidden-2-badge"/>
          <p:cNvSpPr txBox="1"/>
          <p:nvPr/>
        </p:nvSpPr>
        <p:spPr>
          <a:xfrm>
            <a:off x="548640" y="2542032"/>
            <a:ext cx="521208" cy="457200"/>
          </a:xfrm>
          <a:prstGeom prst="hexagon">
            <a:avLst/>
          </a:prstGeom>
          <a:solidFill>
            <a:srgbClr val="E9B29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hidden-2-head"/>
          <p:cNvSpPr txBox="1"/>
          <p:nvPr/>
        </p:nvSpPr>
        <p:spPr>
          <a:xfrm>
            <a:off x="1280160" y="2496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Дорогой грунт</a:t>
            </a:r>
            <a:endParaRPr lang="en-US" sz="1600" dirty="0"/>
          </a:p>
        </p:txBody>
      </p:sp>
      <p:sp>
        <p:nvSpPr>
          <p:cNvPr id="10" name="hidden-2-body"/>
          <p:cNvSpPr txBox="1"/>
          <p:nvPr/>
        </p:nvSpPr>
        <p:spPr>
          <a:xfrm>
            <a:off x="1280160" y="2807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заряд уходит в 2–4 раза быстрее</a:t>
            </a:r>
            <a:endParaRPr lang="en-US" sz="1400" dirty="0"/>
          </a:p>
        </p:txBody>
      </p:sp>
      <p:sp>
        <p:nvSpPr>
          <p:cNvPr id="11" name="hidden-3-badge"/>
          <p:cNvSpPr txBox="1"/>
          <p:nvPr/>
        </p:nvSpPr>
        <p:spPr>
          <a:xfrm>
            <a:off x="548640" y="3346704"/>
            <a:ext cx="521208" cy="457200"/>
          </a:xfrm>
          <a:prstGeom prst="hexagon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hidden-3-head"/>
          <p:cNvSpPr txBox="1"/>
          <p:nvPr/>
        </p:nvSpPr>
        <p:spPr>
          <a:xfrm>
            <a:off x="1280160" y="3300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Опасные зоны</a:t>
            </a:r>
            <a:endParaRPr lang="en-US" sz="1600" dirty="0"/>
          </a:p>
        </p:txBody>
      </p:sp>
      <p:sp>
        <p:nvSpPr>
          <p:cNvPr id="13" name="hidden-3-body"/>
          <p:cNvSpPr txBox="1"/>
          <p:nvPr/>
        </p:nvSpPr>
        <p:spPr>
          <a:xfrm>
            <a:off x="128016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въехал — штраф и потеря заряда</a:t>
            </a:r>
            <a:endParaRPr lang="en-US" sz="1400" dirty="0"/>
          </a:p>
        </p:txBody>
      </p:sp>
      <p:sp>
        <p:nvSpPr>
          <p:cNvPr id="14" name="goal-card"/>
          <p:cNvSpPr/>
          <p:nvPr/>
        </p:nvSpPr>
        <p:spPr>
          <a:xfrm>
            <a:off x="548640" y="4160520"/>
            <a:ext cx="48463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5" name="goal-text"/>
          <p:cNvSpPr txBox="1"/>
          <p:nvPr/>
        </p:nvSpPr>
        <p:spPr>
          <a:xfrm>
            <a:off x="777240" y="41605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Цель. </a:t>
            </a:r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Собрать больше образцов и вернуться на базу, пока не села батарея: 60 единиц заряда — это 24 м пути.</a:t>
            </a:r>
            <a:endParaRPr lang="en-US" sz="1500" dirty="0"/>
          </a:p>
        </p:txBody>
      </p:sp>
      <p:sp>
        <p:nvSpPr>
          <p:cNvPr id="16" name="hypothesis"/>
          <p:cNvSpPr txBox="1"/>
          <p:nvPr/>
        </p:nvSpPr>
        <p:spPr>
          <a:xfrm>
            <a:off x="548640" y="5303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Гипотеза. </a:t>
            </a:r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Агент, который учится по измерениям и перестраивает маршрут, соберёт больше образцов, чем агент с планом, составленным до старта.</a:t>
            </a:r>
            <a:endParaRPr lang="en-US" sz="1400" dirty="0"/>
          </a:p>
        </p:txBody>
      </p:sp>
      <p:sp>
        <p:nvSpPr>
          <p:cNvPr id="17" name="view-1-head"/>
          <p:cNvSpPr txBox="1"/>
          <p:nvPr/>
        </p:nvSpPr>
        <p:spPr>
          <a:xfrm>
            <a:off x="571500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Как на самом деле</a:t>
            </a:r>
            <a:endParaRPr lang="en-US" sz="1400" dirty="0"/>
          </a:p>
        </p:txBody>
      </p:sp>
      <p:pic>
        <p:nvPicPr>
          <p:cNvPr id="18" name="view-1" descr="Арена со скрытой правдой: образцы, зоны дорогого грунта и опасная зон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011771"/>
            <a:ext cx="2834640" cy="2715585"/>
          </a:xfrm>
          <a:prstGeom prst="rect">
            <a:avLst/>
          </a:prstGeom>
        </p:spPr>
      </p:pic>
      <p:sp>
        <p:nvSpPr>
          <p:cNvPr id="19" name="view-1-caption"/>
          <p:cNvSpPr txBox="1"/>
          <p:nvPr/>
        </p:nvSpPr>
        <p:spPr>
          <a:xfrm>
            <a:off x="5715000" y="4773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уровень hard: 7 образцов, 4 зоны грунта, опасные зоны</a:t>
            </a:r>
            <a:endParaRPr lang="en-US" sz="1200" dirty="0"/>
          </a:p>
        </p:txBody>
      </p:sp>
      <p:sp>
        <p:nvSpPr>
          <p:cNvPr id="20" name="view-2-head"/>
          <p:cNvSpPr txBox="1"/>
          <p:nvPr/>
        </p:nvSpPr>
        <p:spPr>
          <a:xfrm>
            <a:off x="8805672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Что видит робот</a:t>
            </a:r>
            <a:endParaRPr lang="en-US" sz="1400" dirty="0"/>
          </a:p>
        </p:txBody>
      </p:sp>
      <p:pic>
        <p:nvPicPr>
          <p:cNvPr id="21" name="view-2" descr="То же место глазами робота: точки лидара на стенах и окружность возможного положения образц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672" y="2011771"/>
            <a:ext cx="2834640" cy="2715585"/>
          </a:xfrm>
          <a:prstGeom prst="rect">
            <a:avLst/>
          </a:prstGeom>
        </p:spPr>
      </p:pic>
      <p:sp>
        <p:nvSpPr>
          <p:cNvPr id="22" name="view-2-caption"/>
          <p:cNvSpPr txBox="1"/>
          <p:nvPr/>
        </p:nvSpPr>
        <p:spPr>
          <a:xfrm>
            <a:off x="8805672" y="4773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стены по лидару и одно число датчика: образец где-то на синей окружности</a:t>
            </a:r>
            <a:endParaRPr lang="en-US" sz="1200" dirty="0"/>
          </a:p>
        </p:txBody>
      </p:sp>
      <p:sp>
        <p:nvSpPr>
          <p:cNvPr id="23" name="level-1-card"/>
          <p:cNvSpPr/>
          <p:nvPr/>
        </p:nvSpPr>
        <p:spPr>
          <a:xfrm>
            <a:off x="5715000" y="539496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4" name="level-1-name"/>
          <p:cNvSpPr txBox="1"/>
          <p:nvPr/>
        </p:nvSpPr>
        <p:spPr>
          <a:xfrm>
            <a:off x="5852160" y="5449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easy</a:t>
            </a:r>
            <a:endParaRPr lang="en-US" sz="1300" dirty="0"/>
          </a:p>
        </p:txBody>
      </p:sp>
      <p:sp>
        <p:nvSpPr>
          <p:cNvPr id="25" name="level-1-desc"/>
          <p:cNvSpPr txBox="1"/>
          <p:nvPr/>
        </p:nvSpPr>
        <p:spPr>
          <a:xfrm>
            <a:off x="5852160" y="5715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 образца, 1 зона грунта</a:t>
            </a:r>
            <a:endParaRPr lang="en-US" sz="1200" dirty="0"/>
          </a:p>
        </p:txBody>
      </p:sp>
      <p:sp>
        <p:nvSpPr>
          <p:cNvPr id="26" name="level-2-card"/>
          <p:cNvSpPr/>
          <p:nvPr/>
        </p:nvSpPr>
        <p:spPr>
          <a:xfrm>
            <a:off x="7543800" y="5394960"/>
            <a:ext cx="18288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7" name="level-2-name"/>
          <p:cNvSpPr txBox="1"/>
          <p:nvPr/>
        </p:nvSpPr>
        <p:spPr>
          <a:xfrm>
            <a:off x="7680960" y="5449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medium</a:t>
            </a:r>
            <a:endParaRPr lang="en-US" sz="1300" dirty="0"/>
          </a:p>
        </p:txBody>
      </p:sp>
      <p:sp>
        <p:nvSpPr>
          <p:cNvPr id="28" name="level-2-desc"/>
          <p:cNvSpPr txBox="1"/>
          <p:nvPr/>
        </p:nvSpPr>
        <p:spPr>
          <a:xfrm>
            <a:off x="7680960" y="5715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 образцов, 3 зоны грунта</a:t>
            </a:r>
            <a:endParaRPr lang="en-US" sz="1200" dirty="0"/>
          </a:p>
        </p:txBody>
      </p:sp>
      <p:sp>
        <p:nvSpPr>
          <p:cNvPr id="29" name="level-3-card"/>
          <p:cNvSpPr/>
          <p:nvPr/>
        </p:nvSpPr>
        <p:spPr>
          <a:xfrm>
            <a:off x="9464040" y="5394960"/>
            <a:ext cx="217627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0" name="level-3-name"/>
          <p:cNvSpPr txBox="1"/>
          <p:nvPr/>
        </p:nvSpPr>
        <p:spPr>
          <a:xfrm>
            <a:off x="9601200" y="5449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hard</a:t>
            </a:r>
            <a:endParaRPr lang="en-US" sz="1300" dirty="0"/>
          </a:p>
        </p:txBody>
      </p:sp>
      <p:sp>
        <p:nvSpPr>
          <p:cNvPr id="31" name="level-3-desc"/>
          <p:cNvSpPr txBox="1"/>
          <p:nvPr/>
        </p:nvSpPr>
        <p:spPr>
          <a:xfrm>
            <a:off x="9601200" y="57150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7 образцов, 4 зоны; среда меняется на ходу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Сценарий работы робота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Один настоящий прогон в Gazebo на трудном уровне: собрано 5 из 7, робот вернулся на базу</a:t>
            </a:r>
            <a:endParaRPr lang="en-US" sz="1600" dirty="0"/>
          </a:p>
        </p:txBody>
      </p:sp>
      <p:sp>
        <p:nvSpPr>
          <p:cNvPr id="5" name="step-1-badge"/>
          <p:cNvSpPr txBox="1"/>
          <p:nvPr/>
        </p:nvSpPr>
        <p:spPr>
          <a:xfrm>
            <a:off x="548640" y="1709928"/>
            <a:ext cx="458663" cy="402336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step-1-head"/>
          <p:cNvSpPr txBox="1"/>
          <p:nvPr/>
        </p:nvSpPr>
        <p:spPr>
          <a:xfrm>
            <a:off x="1115568" y="1691640"/>
            <a:ext cx="1505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Старт</a:t>
            </a:r>
            <a:endParaRPr lang="en-US" sz="1500" dirty="0"/>
          </a:p>
        </p:txBody>
      </p:sp>
      <p:sp>
        <p:nvSpPr>
          <p:cNvPr id="7" name="step-1-body"/>
          <p:cNvSpPr txBox="1"/>
          <p:nvPr/>
        </p:nvSpPr>
        <p:spPr>
          <a:xfrm>
            <a:off x="548640" y="21945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база, заряд 60; стены известны, образцы — нет</a:t>
            </a:r>
            <a:endParaRPr lang="en-US" sz="1200" dirty="0"/>
          </a:p>
        </p:txBody>
      </p:sp>
      <p:sp>
        <p:nvSpPr>
          <p:cNvPr id="8" name="step-2-badge"/>
          <p:cNvSpPr txBox="1"/>
          <p:nvPr/>
        </p:nvSpPr>
        <p:spPr>
          <a:xfrm>
            <a:off x="2803550" y="1709928"/>
            <a:ext cx="458663" cy="402336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tep-2-head"/>
          <p:cNvSpPr txBox="1"/>
          <p:nvPr/>
        </p:nvSpPr>
        <p:spPr>
          <a:xfrm>
            <a:off x="3370478" y="1691640"/>
            <a:ext cx="1505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Поиск</a:t>
            </a:r>
            <a:endParaRPr lang="en-US" sz="1500" dirty="0"/>
          </a:p>
        </p:txBody>
      </p:sp>
      <p:sp>
        <p:nvSpPr>
          <p:cNvPr id="10" name="step-2-body"/>
          <p:cNvSpPr txBox="1"/>
          <p:nvPr/>
        </p:nvSpPr>
        <p:spPr>
          <a:xfrm>
            <a:off x="2803550" y="21945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 датчику близости уточняет карту вероятностей</a:t>
            </a:r>
            <a:endParaRPr lang="en-US" sz="1200" dirty="0"/>
          </a:p>
        </p:txBody>
      </p:sp>
      <p:sp>
        <p:nvSpPr>
          <p:cNvPr id="11" name="step-3-badge"/>
          <p:cNvSpPr txBox="1"/>
          <p:nvPr/>
        </p:nvSpPr>
        <p:spPr>
          <a:xfrm>
            <a:off x="5058461" y="1709928"/>
            <a:ext cx="458663" cy="402336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tep-3-head"/>
          <p:cNvSpPr txBox="1"/>
          <p:nvPr/>
        </p:nvSpPr>
        <p:spPr>
          <a:xfrm>
            <a:off x="5625389" y="1691640"/>
            <a:ext cx="1505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Сбор</a:t>
            </a:r>
            <a:endParaRPr lang="en-US" sz="1500" dirty="0"/>
          </a:p>
        </p:txBody>
      </p:sp>
      <p:sp>
        <p:nvSpPr>
          <p:cNvPr id="13" name="step-3-body"/>
          <p:cNvSpPr txBox="1"/>
          <p:nvPr/>
        </p:nvSpPr>
        <p:spPr>
          <a:xfrm>
            <a:off x="5058461" y="21945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подъезжает ближе 30 см и забирает образец</a:t>
            </a:r>
            <a:endParaRPr lang="en-US" sz="1200" dirty="0"/>
          </a:p>
        </p:txBody>
      </p:sp>
      <p:sp>
        <p:nvSpPr>
          <p:cNvPr id="14" name="step-4-badge"/>
          <p:cNvSpPr txBox="1"/>
          <p:nvPr/>
        </p:nvSpPr>
        <p:spPr>
          <a:xfrm>
            <a:off x="7313371" y="1709928"/>
            <a:ext cx="458663" cy="402336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step-4-head"/>
          <p:cNvSpPr txBox="1"/>
          <p:nvPr/>
        </p:nvSpPr>
        <p:spPr>
          <a:xfrm>
            <a:off x="7880299" y="1691640"/>
            <a:ext cx="1505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Проверка гипотез</a:t>
            </a:r>
            <a:endParaRPr lang="en-US" sz="1500" dirty="0"/>
          </a:p>
        </p:txBody>
      </p:sp>
      <p:sp>
        <p:nvSpPr>
          <p:cNvPr id="16" name="step-4-body"/>
          <p:cNvSpPr txBox="1"/>
          <p:nvPr/>
        </p:nvSpPr>
        <p:spPr>
          <a:xfrm>
            <a:off x="7313371" y="21945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штраф, расход, шум: причина ищется опытом</a:t>
            </a:r>
            <a:endParaRPr lang="en-US" sz="1200" dirty="0"/>
          </a:p>
        </p:txBody>
      </p:sp>
      <p:sp>
        <p:nvSpPr>
          <p:cNvPr id="17" name="step-5-badge"/>
          <p:cNvSpPr txBox="1"/>
          <p:nvPr/>
        </p:nvSpPr>
        <p:spPr>
          <a:xfrm>
            <a:off x="9568282" y="1709928"/>
            <a:ext cx="458663" cy="402336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step-5-head"/>
          <p:cNvSpPr txBox="1"/>
          <p:nvPr/>
        </p:nvSpPr>
        <p:spPr>
          <a:xfrm>
            <a:off x="10135210" y="1691640"/>
            <a:ext cx="1505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Возврат</a:t>
            </a:r>
            <a:endParaRPr lang="en-US" sz="1500" dirty="0"/>
          </a:p>
        </p:txBody>
      </p:sp>
      <p:sp>
        <p:nvSpPr>
          <p:cNvPr id="19" name="step-5-body"/>
          <p:cNvSpPr txBox="1"/>
          <p:nvPr/>
        </p:nvSpPr>
        <p:spPr>
          <a:xfrm>
            <a:off x="9568282" y="21945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считает заряд на дорогу и едет на базу</a:t>
            </a:r>
            <a:endParaRPr lang="en-US" sz="1200" dirty="0"/>
          </a:p>
        </p:txBody>
      </p:sp>
      <p:pic>
        <p:nvPicPr>
          <p:cNvPr id="20" name="frame-1" descr="Кадр прогона: поис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2395728" cy="2295107"/>
          </a:xfrm>
          <a:prstGeom prst="rect">
            <a:avLst/>
          </a:prstGeom>
        </p:spPr>
      </p:pic>
      <p:sp>
        <p:nvSpPr>
          <p:cNvPr id="21" name="frame-1-state"/>
          <p:cNvSpPr txBox="1"/>
          <p:nvPr/>
        </p:nvSpPr>
        <p:spPr>
          <a:xfrm>
            <a:off x="457200" y="5084027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5-я секунда · заряд 58 · собрано 0 из 7</a:t>
            </a:r>
            <a:endParaRPr lang="en-US" sz="1200" dirty="0"/>
          </a:p>
        </p:txBody>
      </p:sp>
      <p:sp>
        <p:nvSpPr>
          <p:cNvPr id="22" name="frame-1-quote"/>
          <p:cNvSpPr txBox="1"/>
          <p:nvPr/>
        </p:nvSpPr>
        <p:spPr>
          <a:xfrm>
            <a:off x="457200" y="5349203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Журнал: «H1: образец лежит около (−1,5; −1,4)»</a:t>
            </a:r>
            <a:endParaRPr lang="en-US" sz="1100" dirty="0"/>
          </a:p>
        </p:txBody>
      </p:sp>
      <p:pic>
        <p:nvPicPr>
          <p:cNvPr id="23" name="frame-2" descr="Кадр прогона: сбор и штра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743200"/>
            <a:ext cx="2395728" cy="2295107"/>
          </a:xfrm>
          <a:prstGeom prst="rect">
            <a:avLst/>
          </a:prstGeom>
        </p:spPr>
      </p:pic>
      <p:sp>
        <p:nvSpPr>
          <p:cNvPr id="24" name="frame-2-state"/>
          <p:cNvSpPr txBox="1"/>
          <p:nvPr/>
        </p:nvSpPr>
        <p:spPr>
          <a:xfrm>
            <a:off x="3355848" y="5084027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27-я секунда · заряд 45 · собрано 2 из 7</a:t>
            </a:r>
            <a:endParaRPr lang="en-US" sz="1200" dirty="0"/>
          </a:p>
        </p:txBody>
      </p:sp>
      <p:sp>
        <p:nvSpPr>
          <p:cNvPr id="25" name="frame-2-quote"/>
          <p:cNvSpPr txBox="1"/>
          <p:nvPr/>
        </p:nvSpPr>
        <p:spPr>
          <a:xfrm>
            <a:off x="3355848" y="5349203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Журнал: «H6: около (0,2; −2,0) опасная зона радиусом около 0,5 м»</a:t>
            </a:r>
            <a:endParaRPr lang="en-US" sz="1100" dirty="0"/>
          </a:p>
        </p:txBody>
      </p:sp>
      <p:pic>
        <p:nvPicPr>
          <p:cNvPr id="26" name="frame-3" descr="Кадр прогона: сбой датчи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743200"/>
            <a:ext cx="2395728" cy="2295107"/>
          </a:xfrm>
          <a:prstGeom prst="rect">
            <a:avLst/>
          </a:prstGeom>
        </p:spPr>
      </p:pic>
      <p:sp>
        <p:nvSpPr>
          <p:cNvPr id="27" name="frame-3-state"/>
          <p:cNvSpPr txBox="1"/>
          <p:nvPr/>
        </p:nvSpPr>
        <p:spPr>
          <a:xfrm>
            <a:off x="6254496" y="5084027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35-я секунда · заряд 39 · собрано 2 из 7</a:t>
            </a:r>
            <a:endParaRPr lang="en-US" sz="1200" dirty="0"/>
          </a:p>
        </p:txBody>
      </p:sp>
      <p:sp>
        <p:nvSpPr>
          <p:cNvPr id="28" name="frame-3-quote"/>
          <p:cNvSpPr txBox="1"/>
          <p:nvPr/>
        </p:nvSpPr>
        <p:spPr>
          <a:xfrm>
            <a:off x="6254496" y="5349203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Журнал: «H8: датчик образцов неисправен, его показаниям нельзя верить…»</a:t>
            </a:r>
            <a:endParaRPr lang="en-US" sz="1100" dirty="0"/>
          </a:p>
        </p:txBody>
      </p:sp>
      <p:pic>
        <p:nvPicPr>
          <p:cNvPr id="29" name="frame-4" descr="Кадр прогона: возврат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2743200"/>
            <a:ext cx="2395728" cy="2295107"/>
          </a:xfrm>
          <a:prstGeom prst="rect">
            <a:avLst/>
          </a:prstGeom>
        </p:spPr>
      </p:pic>
      <p:sp>
        <p:nvSpPr>
          <p:cNvPr id="30" name="frame-4-state"/>
          <p:cNvSpPr txBox="1"/>
          <p:nvPr/>
        </p:nvSpPr>
        <p:spPr>
          <a:xfrm>
            <a:off x="9153144" y="5084027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98-я секунда · заряд 8 · собрано 5 из 7</a:t>
            </a:r>
            <a:endParaRPr lang="en-US" sz="1200" dirty="0"/>
          </a:p>
        </p:txBody>
      </p:sp>
      <p:sp>
        <p:nvSpPr>
          <p:cNvPr id="31" name="frame-4-quote"/>
          <p:cNvSpPr txBox="1"/>
          <p:nvPr/>
        </p:nvSpPr>
        <p:spPr>
          <a:xfrm>
            <a:off x="9153144" y="5349203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Журнал: «Финиш: возврат на базу засчитан. Собрано 5 из 7, заряд 8,1»</a:t>
            </a:r>
            <a:endParaRPr lang="en-US" sz="1100" dirty="0"/>
          </a:p>
        </p:txBody>
      </p:sp>
      <p:sp>
        <p:nvSpPr>
          <p:cNvPr id="32" name="frames-legend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Синее — где агент ждёт образец · жёлтые кольца — где образцы на самом деле · зелёные — собраны · красное — штраф и опасная зона в памяти агента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Архитектура решения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Агент и стенд общаются только через каналы из условия: судью можно заменить судьёй организаторов</a:t>
            </a:r>
            <a:endParaRPr lang="en-US" sz="1600" dirty="0"/>
          </a:p>
        </p:txBody>
      </p:sp>
      <p:sp>
        <p:nvSpPr>
          <p:cNvPr id="5" name="stand-card"/>
          <p:cNvSpPr/>
          <p:nvPr/>
        </p:nvSpPr>
        <p:spPr>
          <a:xfrm>
            <a:off x="548640" y="1691640"/>
            <a:ext cx="397764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6" name="stand-label"/>
          <p:cNvSpPr txBox="1"/>
          <p:nvPr/>
        </p:nvSpPr>
        <p:spPr>
          <a:xfrm>
            <a:off x="77724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Стенд</a:t>
            </a:r>
            <a:endParaRPr lang="en-US" sz="1400" dirty="0"/>
          </a:p>
        </p:txBody>
      </p:sp>
      <p:sp>
        <p:nvSpPr>
          <p:cNvPr id="7" name="stand-1-box"/>
          <p:cNvSpPr/>
          <p:nvPr/>
        </p:nvSpPr>
        <p:spPr>
          <a:xfrm>
            <a:off x="731520" y="2148840"/>
            <a:ext cx="36118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</p:sp>
      <p:sp>
        <p:nvSpPr>
          <p:cNvPr id="8" name="stand-1-head"/>
          <p:cNvSpPr txBox="1"/>
          <p:nvPr/>
        </p:nvSpPr>
        <p:spPr>
          <a:xfrm>
            <a:off x="896112" y="221284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Генератор сценариев</a:t>
            </a:r>
            <a:endParaRPr lang="en-US" sz="1500" dirty="0"/>
          </a:p>
        </p:txBody>
      </p:sp>
      <p:sp>
        <p:nvSpPr>
          <p:cNvPr id="9" name="stand-1-sub"/>
          <p:cNvSpPr txBox="1"/>
          <p:nvPr/>
        </p:nvSpPr>
        <p:spPr>
          <a:xfrm>
            <a:off x="896112" y="2496312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уровень и номер → расстановка</a:t>
            </a:r>
            <a:endParaRPr lang="en-US" sz="1200" dirty="0"/>
          </a:p>
        </p:txBody>
      </p:sp>
      <p:sp>
        <p:nvSpPr>
          <p:cNvPr id="10" name="stand-2-box"/>
          <p:cNvSpPr/>
          <p:nvPr/>
        </p:nvSpPr>
        <p:spPr>
          <a:xfrm>
            <a:off x="731520" y="2916936"/>
            <a:ext cx="361188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/>
        </p:spPr>
      </p:sp>
      <p:sp>
        <p:nvSpPr>
          <p:cNvPr id="11" name="stand-2-head"/>
          <p:cNvSpPr txBox="1"/>
          <p:nvPr/>
        </p:nvSpPr>
        <p:spPr>
          <a:xfrm>
            <a:off x="896112" y="2980944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Судья</a:t>
            </a:r>
            <a:endParaRPr lang="en-US" sz="1500" dirty="0"/>
          </a:p>
        </p:txBody>
      </p:sp>
      <p:sp>
        <p:nvSpPr>
          <p:cNvPr id="12" name="stand-2-sub"/>
          <p:cNvSpPr txBox="1"/>
          <p:nvPr/>
        </p:nvSpPr>
        <p:spPr>
          <a:xfrm>
            <a:off x="896112" y="326440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скрытая правда: заряд, датчик, штрафы, очки</a:t>
            </a:r>
            <a:endParaRPr lang="en-US" sz="1200" dirty="0"/>
          </a:p>
        </p:txBody>
      </p:sp>
      <p:sp>
        <p:nvSpPr>
          <p:cNvPr id="13" name="stand-3-box"/>
          <p:cNvSpPr/>
          <p:nvPr/>
        </p:nvSpPr>
        <p:spPr>
          <a:xfrm>
            <a:off x="731520" y="3776472"/>
            <a:ext cx="36118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</p:spPr>
      </p:sp>
      <p:sp>
        <p:nvSpPr>
          <p:cNvPr id="14" name="stand-3-head"/>
          <p:cNvSpPr txBox="1"/>
          <p:nvPr/>
        </p:nvSpPr>
        <p:spPr>
          <a:xfrm>
            <a:off x="896112" y="384048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Симулятор</a:t>
            </a:r>
            <a:endParaRPr lang="en-US" sz="1500" dirty="0"/>
          </a:p>
        </p:txBody>
      </p:sp>
      <p:sp>
        <p:nvSpPr>
          <p:cNvPr id="15" name="stand-3-sub"/>
          <p:cNvSpPr txBox="1"/>
          <p:nvPr/>
        </p:nvSpPr>
        <p:spPr>
          <a:xfrm>
            <a:off x="896112" y="4123944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Gazebo — показ · быстрый — серии, 0,1 с на прогон</a:t>
            </a:r>
            <a:endParaRPr lang="en-US" sz="1200" dirty="0"/>
          </a:p>
        </p:txBody>
      </p:sp>
      <p:sp>
        <p:nvSpPr>
          <p:cNvPr id="16" name="agent-card"/>
          <p:cNvSpPr/>
          <p:nvPr/>
        </p:nvSpPr>
        <p:spPr>
          <a:xfrm>
            <a:off x="6903720" y="1691640"/>
            <a:ext cx="4736592" cy="292608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17" name="agent-label"/>
          <p:cNvSpPr txBox="1"/>
          <p:nvPr/>
        </p:nvSpPr>
        <p:spPr>
          <a:xfrm>
            <a:off x="713232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Агент</a:t>
            </a:r>
            <a:endParaRPr lang="en-US" sz="1400" dirty="0"/>
          </a:p>
        </p:txBody>
      </p:sp>
      <p:sp>
        <p:nvSpPr>
          <p:cNvPr id="18" name="agent-1-box"/>
          <p:cNvSpPr/>
          <p:nvPr/>
        </p:nvSpPr>
        <p:spPr>
          <a:xfrm>
            <a:off x="7086600" y="2148840"/>
            <a:ext cx="2093976" cy="1115568"/>
          </a:xfrm>
          <a:prstGeom prst="roundRect">
            <a:avLst>
              <a:gd name="adj" fmla="val 6557"/>
            </a:avLst>
          </a:prstGeom>
          <a:solidFill>
            <a:schemeClr val="tx2"/>
          </a:solidFill>
          <a:ln/>
        </p:spPr>
      </p:sp>
      <p:sp>
        <p:nvSpPr>
          <p:cNvPr id="19" name="agent-1-head"/>
          <p:cNvSpPr txBox="1"/>
          <p:nvPr/>
        </p:nvSpPr>
        <p:spPr>
          <a:xfrm>
            <a:off x="7251192" y="2240280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Картина мира</a:t>
            </a:r>
            <a:endParaRPr lang="en-US" sz="1500" dirty="0"/>
          </a:p>
        </p:txBody>
      </p:sp>
      <p:sp>
        <p:nvSpPr>
          <p:cNvPr id="20" name="agent-1-sub"/>
          <p:cNvSpPr txBox="1"/>
          <p:nvPr/>
        </p:nvSpPr>
        <p:spPr>
          <a:xfrm>
            <a:off x="7251192" y="2560320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образцы, грунт, опасные зоны, положение</a:t>
            </a:r>
            <a:endParaRPr lang="en-US" sz="1200" dirty="0"/>
          </a:p>
        </p:txBody>
      </p:sp>
      <p:sp>
        <p:nvSpPr>
          <p:cNvPr id="21" name="agent-2-box"/>
          <p:cNvSpPr/>
          <p:nvPr/>
        </p:nvSpPr>
        <p:spPr>
          <a:xfrm>
            <a:off x="9363456" y="2148840"/>
            <a:ext cx="2093976" cy="1115568"/>
          </a:xfrm>
          <a:prstGeom prst="roundRect">
            <a:avLst>
              <a:gd name="adj" fmla="val 6557"/>
            </a:avLst>
          </a:prstGeom>
          <a:solidFill>
            <a:schemeClr val="tx2"/>
          </a:solidFill>
          <a:ln/>
        </p:spPr>
      </p:sp>
      <p:sp>
        <p:nvSpPr>
          <p:cNvPr id="22" name="agent-2-head"/>
          <p:cNvSpPr txBox="1"/>
          <p:nvPr/>
        </p:nvSpPr>
        <p:spPr>
          <a:xfrm>
            <a:off x="9528048" y="2240280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Планировщик</a:t>
            </a:r>
            <a:endParaRPr lang="en-US" sz="1500" dirty="0"/>
          </a:p>
        </p:txBody>
      </p:sp>
      <p:sp>
        <p:nvSpPr>
          <p:cNvPr id="23" name="agent-2-sub"/>
          <p:cNvSpPr txBox="1"/>
          <p:nvPr/>
        </p:nvSpPr>
        <p:spPr>
          <a:xfrm>
            <a:off x="9528048" y="2560320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правило или языковая модель</a:t>
            </a:r>
            <a:endParaRPr lang="en-US" sz="1200" dirty="0"/>
          </a:p>
        </p:txBody>
      </p:sp>
      <p:sp>
        <p:nvSpPr>
          <p:cNvPr id="24" name="agent-3-box"/>
          <p:cNvSpPr/>
          <p:nvPr/>
        </p:nvSpPr>
        <p:spPr>
          <a:xfrm>
            <a:off x="7086600" y="3392424"/>
            <a:ext cx="2093976" cy="1115568"/>
          </a:xfrm>
          <a:prstGeom prst="roundRect">
            <a:avLst>
              <a:gd name="adj" fmla="val 6557"/>
            </a:avLst>
          </a:prstGeom>
          <a:solidFill>
            <a:schemeClr val="tx2"/>
          </a:solidFill>
          <a:ln/>
        </p:spPr>
      </p:sp>
      <p:sp>
        <p:nvSpPr>
          <p:cNvPr id="25" name="agent-3-head"/>
          <p:cNvSpPr txBox="1"/>
          <p:nvPr/>
        </p:nvSpPr>
        <p:spPr>
          <a:xfrm>
            <a:off x="7251192" y="3483864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Исполнитель</a:t>
            </a:r>
            <a:endParaRPr lang="en-US" sz="1500" dirty="0"/>
          </a:p>
        </p:txBody>
      </p:sp>
      <p:sp>
        <p:nvSpPr>
          <p:cNvPr id="26" name="agent-3-sub"/>
          <p:cNvSpPr txBox="1"/>
          <p:nvPr/>
        </p:nvSpPr>
        <p:spPr>
          <a:xfrm>
            <a:off x="7251192" y="3803904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путь по сетке и скорость колёс</a:t>
            </a:r>
            <a:endParaRPr lang="en-US" sz="1200" dirty="0"/>
          </a:p>
        </p:txBody>
      </p:sp>
      <p:sp>
        <p:nvSpPr>
          <p:cNvPr id="27" name="agent-4-box"/>
          <p:cNvSpPr/>
          <p:nvPr/>
        </p:nvSpPr>
        <p:spPr>
          <a:xfrm>
            <a:off x="9363456" y="3392424"/>
            <a:ext cx="2093976" cy="1115568"/>
          </a:xfrm>
          <a:prstGeom prst="roundRect">
            <a:avLst>
              <a:gd name="adj" fmla="val 6557"/>
            </a:avLst>
          </a:prstGeom>
          <a:solidFill>
            <a:schemeClr val="tx2"/>
          </a:solidFill>
          <a:ln/>
        </p:spPr>
      </p:sp>
      <p:sp>
        <p:nvSpPr>
          <p:cNvPr id="28" name="agent-4-head"/>
          <p:cNvSpPr txBox="1"/>
          <p:nvPr/>
        </p:nvSpPr>
        <p:spPr>
          <a:xfrm>
            <a:off x="9528048" y="3483864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Журнал гипотез</a:t>
            </a:r>
            <a:endParaRPr lang="en-US" sz="1500" dirty="0"/>
          </a:p>
        </p:txBody>
      </p:sp>
      <p:sp>
        <p:nvSpPr>
          <p:cNvPr id="29" name="agent-4-sub"/>
          <p:cNvSpPr txBox="1"/>
          <p:nvPr/>
        </p:nvSpPr>
        <p:spPr>
          <a:xfrm>
            <a:off x="9528048" y="3803904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что предположил, как проверил, что вышло</a:t>
            </a:r>
            <a:endParaRPr lang="en-US" sz="1200" dirty="0"/>
          </a:p>
        </p:txBody>
      </p:sp>
      <p:sp>
        <p:nvSpPr>
          <p:cNvPr id="30" name="chan-didbatterydidscore-to"/>
          <p:cNvSpPr/>
          <p:nvPr/>
        </p:nvSpPr>
        <p:spPr>
          <a:xfrm>
            <a:off x="4617720" y="3246120"/>
            <a:ext cx="21945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31" name="chan-didbatterydidscore-label"/>
          <p:cNvSpPr txBox="1"/>
          <p:nvPr/>
        </p:nvSpPr>
        <p:spPr>
          <a:xfrm>
            <a:off x="4617720" y="28072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/did/battery  /did/score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/did/sample_sensor  /did/events</a:t>
            </a:r>
            <a:endParaRPr lang="en-US" sz="1100" dirty="0"/>
          </a:p>
        </p:txBody>
      </p:sp>
      <p:sp>
        <p:nvSpPr>
          <p:cNvPr id="32" name="chan-didcollectdidfinish-from"/>
          <p:cNvSpPr/>
          <p:nvPr/>
        </p:nvSpPr>
        <p:spPr>
          <a:xfrm>
            <a:off x="4617720" y="3447288"/>
            <a:ext cx="21945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</p:sp>
      <p:sp>
        <p:nvSpPr>
          <p:cNvPr id="33" name="chan-didcollectdidfinish-label"/>
          <p:cNvSpPr txBox="1"/>
          <p:nvPr/>
        </p:nvSpPr>
        <p:spPr>
          <a:xfrm>
            <a:off x="4617720" y="34838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/did/collect  /did/finish</a:t>
            </a:r>
            <a:endParaRPr lang="en-US" sz="1100" dirty="0"/>
          </a:p>
        </p:txBody>
      </p:sp>
      <p:sp>
        <p:nvSpPr>
          <p:cNvPr id="34" name="chan-scanodom-to"/>
          <p:cNvSpPr/>
          <p:nvPr/>
        </p:nvSpPr>
        <p:spPr>
          <a:xfrm>
            <a:off x="4617720" y="4087368"/>
            <a:ext cx="21945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35" name="chan-scanodom-label"/>
          <p:cNvSpPr txBox="1"/>
          <p:nvPr/>
        </p:nvSpPr>
        <p:spPr>
          <a:xfrm>
            <a:off x="4617720" y="38496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/scan  /odom</a:t>
            </a:r>
            <a:endParaRPr lang="en-US" sz="1100" dirty="0"/>
          </a:p>
        </p:txBody>
      </p:sp>
      <p:sp>
        <p:nvSpPr>
          <p:cNvPr id="36" name="chan-cmd_vel-from"/>
          <p:cNvSpPr/>
          <p:nvPr/>
        </p:nvSpPr>
        <p:spPr>
          <a:xfrm>
            <a:off x="4617720" y="4288536"/>
            <a:ext cx="21945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</p:sp>
      <p:sp>
        <p:nvSpPr>
          <p:cNvPr id="37" name="chan-cmd_vel-label"/>
          <p:cNvSpPr txBox="1"/>
          <p:nvPr/>
        </p:nvSpPr>
        <p:spPr>
          <a:xfrm>
            <a:off x="4617720" y="43251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/cmd_vel</a:t>
            </a:r>
            <a:endParaRPr lang="en-US" sz="1100" dirty="0"/>
          </a:p>
        </p:txBody>
      </p:sp>
      <p:sp>
        <p:nvSpPr>
          <p:cNvPr id="38" name="chain-1-box"/>
          <p:cNvSpPr/>
          <p:nvPr/>
        </p:nvSpPr>
        <p:spPr>
          <a:xfrm>
            <a:off x="548640" y="4983480"/>
            <a:ext cx="32461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9" name="chain-1-head"/>
          <p:cNvSpPr txBox="1"/>
          <p:nvPr/>
        </p:nvSpPr>
        <p:spPr>
          <a:xfrm>
            <a:off x="749808" y="509320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Запись прогона</a:t>
            </a:r>
            <a:endParaRPr lang="en-US" sz="1500" dirty="0"/>
          </a:p>
        </p:txBody>
      </p:sp>
      <p:sp>
        <p:nvSpPr>
          <p:cNvPr id="40" name="chain-1-sub"/>
          <p:cNvSpPr txBox="1"/>
          <p:nvPr/>
        </p:nvSpPr>
        <p:spPr>
          <a:xfrm>
            <a:off x="749808" y="5422392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путь, заряд, решения и гипотезы агента</a:t>
            </a:r>
            <a:endParaRPr lang="en-US" sz="1200" dirty="0"/>
          </a:p>
        </p:txBody>
      </p:sp>
      <p:sp>
        <p:nvSpPr>
          <p:cNvPr id="41" name="chain-1-arrow"/>
          <p:cNvSpPr/>
          <p:nvPr/>
        </p:nvSpPr>
        <p:spPr>
          <a:xfrm>
            <a:off x="3886200" y="5532120"/>
            <a:ext cx="49377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42" name="chain-2-box"/>
          <p:cNvSpPr/>
          <p:nvPr/>
        </p:nvSpPr>
        <p:spPr>
          <a:xfrm>
            <a:off x="4471416" y="4983480"/>
            <a:ext cx="32461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3" name="chain-2-head"/>
          <p:cNvSpPr txBox="1"/>
          <p:nvPr/>
        </p:nvSpPr>
        <p:spPr>
          <a:xfrm>
            <a:off x="4672584" y="509320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Серии опытов</a:t>
            </a:r>
            <a:endParaRPr lang="en-US" sz="1500" dirty="0"/>
          </a:p>
        </p:txBody>
      </p:sp>
      <p:sp>
        <p:nvSpPr>
          <p:cNvPr id="44" name="chain-2-sub"/>
          <p:cNvSpPr txBox="1"/>
          <p:nvPr/>
        </p:nvSpPr>
        <p:spPr>
          <a:xfrm>
            <a:off x="4672584" y="5422392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11 серий на одинаковых сценариях, сравнение по разностям</a:t>
            </a:r>
            <a:endParaRPr lang="en-US" sz="1200" dirty="0"/>
          </a:p>
        </p:txBody>
      </p:sp>
      <p:sp>
        <p:nvSpPr>
          <p:cNvPr id="45" name="chain-2-arrow"/>
          <p:cNvSpPr/>
          <p:nvPr/>
        </p:nvSpPr>
        <p:spPr>
          <a:xfrm>
            <a:off x="7808976" y="5532120"/>
            <a:ext cx="49377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none"/>
            <a:tailEnd type="triangle"/>
          </a:ln>
        </p:spPr>
      </p:sp>
      <p:sp>
        <p:nvSpPr>
          <p:cNvPr id="46" name="chain-3-box"/>
          <p:cNvSpPr/>
          <p:nvPr/>
        </p:nvSpPr>
        <p:spPr>
          <a:xfrm>
            <a:off x="8394192" y="4983480"/>
            <a:ext cx="32461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7" name="chain-3-head"/>
          <p:cNvSpPr txBox="1"/>
          <p:nvPr/>
        </p:nvSpPr>
        <p:spPr>
          <a:xfrm>
            <a:off x="8595360" y="509320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Веб-лаборатория и пульт</a:t>
            </a:r>
            <a:endParaRPr lang="en-US" sz="1500" dirty="0"/>
          </a:p>
        </p:txBody>
      </p:sp>
      <p:sp>
        <p:nvSpPr>
          <p:cNvPr id="48" name="chain-3-sub"/>
          <p:cNvSpPr txBox="1"/>
          <p:nvPr/>
        </p:nvSpPr>
        <p:spPr>
          <a:xfrm>
            <a:off x="8595360" y="5422392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графики, проигрыватель прогонов, управление показом</a:t>
            </a:r>
            <a:endParaRPr lang="en-US" sz="1200" dirty="0"/>
          </a:p>
        </p:txBody>
      </p:sp>
      <p:sp>
        <p:nvSpPr>
          <p:cNvPr id="49" name="record-arrow"/>
          <p:cNvSpPr/>
          <p:nvPr/>
        </p:nvSpPr>
        <p:spPr>
          <a:xfrm>
            <a:off x="2171700" y="4672584"/>
            <a:ext cx="0" cy="25603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Используемые технологии и их назначение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Мир и робот — из официальных пакетов; агент, судья и стенд для опытов — свои</a:t>
            </a:r>
            <a:endParaRPr lang="en-US" sz="1600" dirty="0"/>
          </a:p>
        </p:txBody>
      </p:sp>
      <p:sp>
        <p:nvSpPr>
          <p:cNvPr id="5" name="tech-1-card"/>
          <p:cNvSpPr/>
          <p:nvPr/>
        </p:nvSpPr>
        <p:spPr>
          <a:xfrm>
            <a:off x="548640" y="1691640"/>
            <a:ext cx="260146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6" name="tech-1-badge"/>
          <p:cNvSpPr txBox="1"/>
          <p:nvPr/>
        </p:nvSpPr>
        <p:spPr>
          <a:xfrm>
            <a:off x="749808" y="1892808"/>
            <a:ext cx="687995" cy="60350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ROS</a:t>
            </a:r>
            <a:endParaRPr lang="en-US" sz="1400" dirty="0"/>
          </a:p>
        </p:txBody>
      </p:sp>
      <p:sp>
        <p:nvSpPr>
          <p:cNvPr id="7" name="tech-1-name"/>
          <p:cNvSpPr txBox="1"/>
          <p:nvPr/>
        </p:nvSpPr>
        <p:spPr>
          <a:xfrm>
            <a:off x="749808" y="2624328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ROS 2 Jazzy</a:t>
            </a:r>
            <a:endParaRPr lang="en-US" sz="1600" dirty="0"/>
          </a:p>
        </p:txBody>
      </p:sp>
      <p:sp>
        <p:nvSpPr>
          <p:cNvPr id="8" name="tech-1-does"/>
          <p:cNvSpPr txBox="1"/>
          <p:nvPr/>
        </p:nvSpPr>
        <p:spPr>
          <a:xfrm>
            <a:off x="749808" y="2971800"/>
            <a:ext cx="21991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каналы сообщений между программами робота: /scan, /odom, /cmd_vel, /did/*</a:t>
            </a:r>
            <a:endParaRPr lang="en-US" sz="1300" dirty="0"/>
          </a:p>
        </p:txBody>
      </p:sp>
      <p:sp>
        <p:nvSpPr>
          <p:cNvPr id="9" name="tech-2-card"/>
          <p:cNvSpPr/>
          <p:nvPr/>
        </p:nvSpPr>
        <p:spPr>
          <a:xfrm>
            <a:off x="3378708" y="1691640"/>
            <a:ext cx="260146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0" name="tech-2-badge"/>
          <p:cNvSpPr txBox="1"/>
          <p:nvPr/>
        </p:nvSpPr>
        <p:spPr>
          <a:xfrm>
            <a:off x="3579876" y="1892808"/>
            <a:ext cx="687995" cy="60350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GZ</a:t>
            </a:r>
            <a:endParaRPr lang="en-US" sz="1400" dirty="0"/>
          </a:p>
        </p:txBody>
      </p:sp>
      <p:sp>
        <p:nvSpPr>
          <p:cNvPr id="11" name="tech-2-name"/>
          <p:cNvSpPr txBox="1"/>
          <p:nvPr/>
        </p:nvSpPr>
        <p:spPr>
          <a:xfrm>
            <a:off x="3579876" y="2624328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Gazebo Sim Harmonic</a:t>
            </a:r>
            <a:endParaRPr lang="en-US" sz="1600" dirty="0"/>
          </a:p>
        </p:txBody>
      </p:sp>
      <p:sp>
        <p:nvSpPr>
          <p:cNvPr id="12" name="tech-2-does"/>
          <p:cNvSpPr txBox="1"/>
          <p:nvPr/>
        </p:nvSpPr>
        <p:spPr>
          <a:xfrm>
            <a:off x="3579876" y="2971800"/>
            <a:ext cx="21991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физика, колёса и лидар; мир и робот взяты из официальных пакетов</a:t>
            </a:r>
            <a:endParaRPr lang="en-US" sz="1300" dirty="0"/>
          </a:p>
        </p:txBody>
      </p:sp>
      <p:sp>
        <p:nvSpPr>
          <p:cNvPr id="13" name="tech-3-card"/>
          <p:cNvSpPr/>
          <p:nvPr/>
        </p:nvSpPr>
        <p:spPr>
          <a:xfrm>
            <a:off x="6208776" y="1691640"/>
            <a:ext cx="260146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4" name="tech-3-badge"/>
          <p:cNvSpPr txBox="1"/>
          <p:nvPr/>
        </p:nvSpPr>
        <p:spPr>
          <a:xfrm>
            <a:off x="6409944" y="1892808"/>
            <a:ext cx="687995" cy="60350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TB3</a:t>
            </a:r>
            <a:endParaRPr lang="en-US" sz="1400" dirty="0"/>
          </a:p>
        </p:txBody>
      </p:sp>
      <p:sp>
        <p:nvSpPr>
          <p:cNvPr id="15" name="tech-3-name"/>
          <p:cNvSpPr txBox="1"/>
          <p:nvPr/>
        </p:nvSpPr>
        <p:spPr>
          <a:xfrm>
            <a:off x="6409944" y="2624328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TurtleBot3 Burger</a:t>
            </a:r>
            <a:endParaRPr lang="en-US" sz="1600" dirty="0"/>
          </a:p>
        </p:txBody>
      </p:sp>
      <p:sp>
        <p:nvSpPr>
          <p:cNvPr id="16" name="tech-3-does"/>
          <p:cNvSpPr txBox="1"/>
          <p:nvPr/>
        </p:nvSpPr>
        <p:spPr>
          <a:xfrm>
            <a:off x="6409944" y="2971800"/>
            <a:ext cx="21991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робот: два колеса и лидар на 360°, камеры нет</a:t>
            </a:r>
            <a:endParaRPr lang="en-US" sz="1300" dirty="0"/>
          </a:p>
        </p:txBody>
      </p:sp>
      <p:sp>
        <p:nvSpPr>
          <p:cNvPr id="17" name="tech-4-card"/>
          <p:cNvSpPr/>
          <p:nvPr/>
        </p:nvSpPr>
        <p:spPr>
          <a:xfrm>
            <a:off x="9038844" y="1691640"/>
            <a:ext cx="260146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8" name="tech-4-badge"/>
          <p:cNvSpPr txBox="1"/>
          <p:nvPr/>
        </p:nvSpPr>
        <p:spPr>
          <a:xfrm>
            <a:off x="9240012" y="1892808"/>
            <a:ext cx="687995" cy="60350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pixi</a:t>
            </a:r>
            <a:endParaRPr lang="en-US" sz="1200" dirty="0"/>
          </a:p>
        </p:txBody>
      </p:sp>
      <p:sp>
        <p:nvSpPr>
          <p:cNvPr id="19" name="tech-4-name"/>
          <p:cNvSpPr txBox="1"/>
          <p:nvPr/>
        </p:nvSpPr>
        <p:spPr>
          <a:xfrm>
            <a:off x="9240012" y="2624328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pixi и RoboStack</a:t>
            </a:r>
            <a:endParaRPr lang="en-US" sz="1600" dirty="0"/>
          </a:p>
        </p:txBody>
      </p:sp>
      <p:sp>
        <p:nvSpPr>
          <p:cNvPr id="20" name="tech-4-does"/>
          <p:cNvSpPr txBox="1"/>
          <p:nvPr/>
        </p:nvSpPr>
        <p:spPr>
          <a:xfrm>
            <a:off x="9240012" y="2971800"/>
            <a:ext cx="21991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всё окружение ставится одной командой, одинаково на Mac и Linux</a:t>
            </a:r>
            <a:endParaRPr lang="en-US" sz="1300" dirty="0"/>
          </a:p>
        </p:txBody>
      </p:sp>
      <p:sp>
        <p:nvSpPr>
          <p:cNvPr id="21" name="tech-5-card"/>
          <p:cNvSpPr/>
          <p:nvPr/>
        </p:nvSpPr>
        <p:spPr>
          <a:xfrm>
            <a:off x="548640" y="4069080"/>
            <a:ext cx="260146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2" name="tech-5-badge"/>
          <p:cNvSpPr txBox="1"/>
          <p:nvPr/>
        </p:nvSpPr>
        <p:spPr>
          <a:xfrm>
            <a:off x="749808" y="4270248"/>
            <a:ext cx="687995" cy="603504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Py</a:t>
            </a:r>
            <a:endParaRPr lang="en-US" sz="1400" dirty="0"/>
          </a:p>
        </p:txBody>
      </p:sp>
      <p:sp>
        <p:nvSpPr>
          <p:cNvPr id="23" name="tech-5-name"/>
          <p:cNvSpPr txBox="1"/>
          <p:nvPr/>
        </p:nvSpPr>
        <p:spPr>
          <a:xfrm>
            <a:off x="749808" y="5001768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Python, NumPy, SciPy</a:t>
            </a:r>
            <a:endParaRPr lang="en-US" sz="1600" dirty="0"/>
          </a:p>
        </p:txBody>
      </p:sp>
      <p:sp>
        <p:nvSpPr>
          <p:cNvPr id="24" name="tech-5-does"/>
          <p:cNvSpPr txBox="1"/>
          <p:nvPr/>
        </p:nvSpPr>
        <p:spPr>
          <a:xfrm>
            <a:off x="749808" y="5349240"/>
            <a:ext cx="21991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агент, судья, быстрый симулятор и статистика опытов</a:t>
            </a:r>
            <a:endParaRPr lang="en-US" sz="1300" dirty="0"/>
          </a:p>
        </p:txBody>
      </p:sp>
      <p:sp>
        <p:nvSpPr>
          <p:cNvPr id="25" name="tech-6-card"/>
          <p:cNvSpPr/>
          <p:nvPr/>
        </p:nvSpPr>
        <p:spPr>
          <a:xfrm>
            <a:off x="3378708" y="4069080"/>
            <a:ext cx="260146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6" name="tech-6-badge"/>
          <p:cNvSpPr txBox="1"/>
          <p:nvPr/>
        </p:nvSpPr>
        <p:spPr>
          <a:xfrm>
            <a:off x="3579876" y="4270248"/>
            <a:ext cx="687995" cy="603504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ИИ</a:t>
            </a:r>
            <a:endParaRPr lang="en-US" sz="1400" dirty="0"/>
          </a:p>
        </p:txBody>
      </p:sp>
      <p:sp>
        <p:nvSpPr>
          <p:cNvPr id="27" name="tech-6-name"/>
          <p:cNvSpPr txBox="1"/>
          <p:nvPr/>
        </p:nvSpPr>
        <p:spPr>
          <a:xfrm>
            <a:off x="3579876" y="5001768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Языковая модель</a:t>
            </a:r>
            <a:endParaRPr lang="en-US" sz="1600" dirty="0"/>
          </a:p>
        </p:txBody>
      </p:sp>
      <p:sp>
        <p:nvSpPr>
          <p:cNvPr id="28" name="tech-6-does"/>
          <p:cNvSpPr txBox="1"/>
          <p:nvPr/>
        </p:nvSpPr>
        <p:spPr>
          <a:xfrm>
            <a:off x="3579876" y="5349240"/>
            <a:ext cx="21991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выбирает подцели; ответ проверяется, при сбое решает запасное правило</a:t>
            </a:r>
            <a:endParaRPr lang="en-US" sz="1300" dirty="0"/>
          </a:p>
        </p:txBody>
      </p:sp>
      <p:sp>
        <p:nvSpPr>
          <p:cNvPr id="29" name="tech-7-card"/>
          <p:cNvSpPr/>
          <p:nvPr/>
        </p:nvSpPr>
        <p:spPr>
          <a:xfrm>
            <a:off x="6208776" y="4069080"/>
            <a:ext cx="260146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30" name="tech-7-badge"/>
          <p:cNvSpPr txBox="1"/>
          <p:nvPr/>
        </p:nvSpPr>
        <p:spPr>
          <a:xfrm>
            <a:off x="6409944" y="4270248"/>
            <a:ext cx="687995" cy="603504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</a:t>
            </a:r>
            <a:endParaRPr lang="en-US" sz="1400" dirty="0"/>
          </a:p>
        </p:txBody>
      </p:sp>
      <p:sp>
        <p:nvSpPr>
          <p:cNvPr id="31" name="tech-7-name"/>
          <p:cNvSpPr txBox="1"/>
          <p:nvPr/>
        </p:nvSpPr>
        <p:spPr>
          <a:xfrm>
            <a:off x="6409944" y="5001768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Веб-лаборатория</a:t>
            </a:r>
            <a:endParaRPr lang="en-US" sz="1600" dirty="0"/>
          </a:p>
        </p:txBody>
      </p:sp>
      <p:sp>
        <p:nvSpPr>
          <p:cNvPr id="32" name="tech-7-does"/>
          <p:cNvSpPr txBox="1"/>
          <p:nvPr/>
        </p:nvSpPr>
        <p:spPr>
          <a:xfrm>
            <a:off x="6409944" y="5349240"/>
            <a:ext cx="21991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графики опытов, проигрыватель прогонов и пульт в браузере</a:t>
            </a:r>
            <a:endParaRPr lang="en-US" sz="1300" dirty="0"/>
          </a:p>
        </p:txBody>
      </p:sp>
      <p:sp>
        <p:nvSpPr>
          <p:cNvPr id="33" name="tech-8-card"/>
          <p:cNvSpPr/>
          <p:nvPr/>
        </p:nvSpPr>
        <p:spPr>
          <a:xfrm>
            <a:off x="9038844" y="4069080"/>
            <a:ext cx="260146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34" name="tech-8-badge"/>
          <p:cNvSpPr txBox="1"/>
          <p:nvPr/>
        </p:nvSpPr>
        <p:spPr>
          <a:xfrm>
            <a:off x="9240012" y="4270248"/>
            <a:ext cx="687995" cy="603504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тест</a:t>
            </a:r>
            <a:endParaRPr lang="en-US" sz="1200" dirty="0"/>
          </a:p>
        </p:txBody>
      </p:sp>
      <p:sp>
        <p:nvSpPr>
          <p:cNvPr id="35" name="tech-8-name"/>
          <p:cNvSpPr txBox="1"/>
          <p:nvPr/>
        </p:nvSpPr>
        <p:spPr>
          <a:xfrm>
            <a:off x="9240012" y="5001768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pytest</a:t>
            </a:r>
            <a:endParaRPr lang="en-US" sz="1600" dirty="0"/>
          </a:p>
        </p:txBody>
      </p:sp>
      <p:sp>
        <p:nvSpPr>
          <p:cNvPr id="36" name="tech-8-does"/>
          <p:cNvSpPr txBox="1"/>
          <p:nvPr/>
        </p:nvSpPr>
        <p:spPr>
          <a:xfrm>
            <a:off x="9240012" y="5349240"/>
            <a:ext cx="21991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265 автоматических проверок; запуск одной командой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Логика построения карты и движения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Карта стен известна и перепроверяется лидаром; путь выбирается по цене клеток</a:t>
            </a:r>
            <a:endParaRPr lang="en-US" sz="1600" dirty="0"/>
          </a:p>
        </p:txBody>
      </p:sp>
      <p:sp>
        <p:nvSpPr>
          <p:cNvPr id="5" name="nav-1-badge"/>
          <p:cNvSpPr txBox="1"/>
          <p:nvPr/>
        </p:nvSpPr>
        <p:spPr>
          <a:xfrm>
            <a:off x="548640" y="1719072"/>
            <a:ext cx="479511" cy="42062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nav-1-head"/>
          <p:cNvSpPr txBox="1"/>
          <p:nvPr/>
        </p:nvSpPr>
        <p:spPr>
          <a:xfrm>
            <a:off x="1234440" y="1691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Карта</a:t>
            </a:r>
            <a:endParaRPr lang="en-US" sz="1600" dirty="0"/>
          </a:p>
        </p:txBody>
      </p:sp>
      <p:sp>
        <p:nvSpPr>
          <p:cNvPr id="7" name="nav-1-body"/>
          <p:cNvSpPr txBox="1"/>
          <p:nvPr/>
        </p:nvSpPr>
        <p:spPr>
          <a:xfrm>
            <a:off x="1234440" y="20025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готовая сетка арены с клеткой 5 см и своя карта по лидару: совпадают на 96%</a:t>
            </a:r>
            <a:endParaRPr lang="en-US" sz="1400" dirty="0"/>
          </a:p>
        </p:txBody>
      </p:sp>
      <p:sp>
        <p:nvSpPr>
          <p:cNvPr id="8" name="nav-2-badge"/>
          <p:cNvSpPr txBox="1"/>
          <p:nvPr/>
        </p:nvSpPr>
        <p:spPr>
          <a:xfrm>
            <a:off x="548640" y="2587752"/>
            <a:ext cx="479511" cy="42062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nav-2-head"/>
          <p:cNvSpPr txBox="1"/>
          <p:nvPr/>
        </p:nvSpPr>
        <p:spPr>
          <a:xfrm>
            <a:off x="1234440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Положение</a:t>
            </a:r>
            <a:endParaRPr lang="en-US" sz="1600" dirty="0"/>
          </a:p>
        </p:txBody>
      </p:sp>
      <p:sp>
        <p:nvSpPr>
          <p:cNvPr id="10" name="nav-2-body"/>
          <p:cNvSpPr txBox="1"/>
          <p:nvPr/>
        </p:nvSpPr>
        <p:spPr>
          <a:xfrm>
            <a:off x="1234440" y="28712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счётчик пути колёс и поправка по лидару: скан совмещается с картой, ошибка 1,7–1,9 см</a:t>
            </a:r>
            <a:endParaRPr lang="en-US" sz="1400" dirty="0"/>
          </a:p>
        </p:txBody>
      </p:sp>
      <p:sp>
        <p:nvSpPr>
          <p:cNvPr id="11" name="nav-3-badge"/>
          <p:cNvSpPr txBox="1"/>
          <p:nvPr/>
        </p:nvSpPr>
        <p:spPr>
          <a:xfrm>
            <a:off x="548640" y="3456432"/>
            <a:ext cx="479511" cy="42062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nav-3-head"/>
          <p:cNvSpPr txBox="1"/>
          <p:nvPr/>
        </p:nvSpPr>
        <p:spPr>
          <a:xfrm>
            <a:off x="123444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Путь</a:t>
            </a:r>
            <a:endParaRPr lang="en-US" sz="1600" dirty="0"/>
          </a:p>
        </p:txBody>
      </p:sp>
      <p:sp>
        <p:nvSpPr>
          <p:cNvPr id="13" name="nav-3-body"/>
          <p:cNvSpPr txBox="1"/>
          <p:nvPr/>
        </p:nvSpPr>
        <p:spPr>
          <a:xfrm>
            <a:off x="1234440" y="37398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алгоритм Дейкстры по цене клеток; ближе 17 см к стенам робот не едет</a:t>
            </a:r>
            <a:endParaRPr lang="en-US" sz="1400" dirty="0"/>
          </a:p>
        </p:txBody>
      </p:sp>
      <p:sp>
        <p:nvSpPr>
          <p:cNvPr id="14" name="nav-4-badge"/>
          <p:cNvSpPr txBox="1"/>
          <p:nvPr/>
        </p:nvSpPr>
        <p:spPr>
          <a:xfrm>
            <a:off x="548640" y="4325112"/>
            <a:ext cx="479511" cy="420624"/>
          </a:xfrm>
          <a:prstGeom prst="hexag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nav-4-head"/>
          <p:cNvSpPr txBox="1"/>
          <p:nvPr/>
        </p:nvSpPr>
        <p:spPr>
          <a:xfrm>
            <a:off x="1234440" y="4297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Ведение</a:t>
            </a:r>
            <a:endParaRPr lang="en-US" sz="1600" dirty="0"/>
          </a:p>
        </p:txBody>
      </p:sp>
      <p:sp>
        <p:nvSpPr>
          <p:cNvPr id="16" name="nav-4-body"/>
          <p:cNvSpPr txBox="1"/>
          <p:nvPr/>
        </p:nvSpPr>
        <p:spPr>
          <a:xfrm>
            <a:off x="1234440" y="46085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руль на точку пути в 22 см впереди; скорости колёсам — 10 раз в секунду</a:t>
            </a:r>
            <a:endParaRPr lang="en-US" sz="1400" dirty="0"/>
          </a:p>
        </p:txBody>
      </p:sp>
      <p:sp>
        <p:nvSpPr>
          <p:cNvPr id="17" name="layers-card"/>
          <p:cNvSpPr/>
          <p:nvPr/>
        </p:nvSpPr>
        <p:spPr>
          <a:xfrm>
            <a:off x="548640" y="5230368"/>
            <a:ext cx="4892040" cy="987552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18" name="layers-text"/>
          <p:cNvSpPr txBox="1"/>
          <p:nvPr/>
        </p:nvSpPr>
        <p:spPr>
          <a:xfrm>
            <a:off x="777240" y="5230368"/>
            <a:ext cx="4434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Поверх карты стен: 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карта вероятностей образцов и карта стоимости грунта меняют цену клеток прямо в прогоне.</a:t>
            </a:r>
            <a:endParaRPr lang="en-US" sz="1400" dirty="0"/>
          </a:p>
        </p:txBody>
      </p:sp>
      <p:sp>
        <p:nvSpPr>
          <p:cNvPr id="19" name="map-1-head"/>
          <p:cNvSpPr txBox="1"/>
          <p:nvPr/>
        </p:nvSpPr>
        <p:spPr>
          <a:xfrm>
            <a:off x="576072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Карта, построенная роботом</a:t>
            </a:r>
            <a:endParaRPr lang="en-US" sz="1400" dirty="0"/>
          </a:p>
        </p:txBody>
      </p:sp>
      <p:pic>
        <p:nvPicPr>
          <p:cNvPr id="20" name="map-1" descr="Карта занятости, построенная по сканам лидара, и путь робо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011771"/>
            <a:ext cx="2834640" cy="2715585"/>
          </a:xfrm>
          <a:prstGeom prst="rect">
            <a:avLst/>
          </a:prstGeom>
        </p:spPr>
      </p:pic>
      <p:sp>
        <p:nvSpPr>
          <p:cNvPr id="21" name="map-1-caption"/>
          <p:cNvSpPr txBox="1"/>
          <p:nvPr/>
        </p:nvSpPr>
        <p:spPr>
          <a:xfrm>
            <a:off x="5760720" y="47731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по 88 сканам лидара в Gazebo; увидено 99,9% пола, оранжевое — путь робота</a:t>
            </a:r>
            <a:endParaRPr lang="en-US" sz="1200" dirty="0"/>
          </a:p>
        </p:txBody>
      </p:sp>
      <p:sp>
        <p:nvSpPr>
          <p:cNvPr id="22" name="map-2-head"/>
          <p:cNvSpPr txBox="1"/>
          <p:nvPr/>
        </p:nvSpPr>
        <p:spPr>
          <a:xfrm>
            <a:off x="8805672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Путь по сетке со стоимостями</a:t>
            </a:r>
            <a:endParaRPr lang="en-US" sz="1400" dirty="0"/>
          </a:p>
        </p:txBody>
      </p:sp>
      <p:pic>
        <p:nvPicPr>
          <p:cNvPr id="23" name="map-2" descr="Путь на базу по сетке: запретная полоса у стен и зоны дорогого грунт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672" y="2011771"/>
            <a:ext cx="2834640" cy="2715585"/>
          </a:xfrm>
          <a:prstGeom prst="rect">
            <a:avLst/>
          </a:prstGeom>
        </p:spPr>
      </p:pic>
      <p:sp>
        <p:nvSpPr>
          <p:cNvPr id="24" name="map-2-caption"/>
          <p:cNvSpPr txBox="1"/>
          <p:nvPr/>
        </p:nvSpPr>
        <p:spPr>
          <a:xfrm>
            <a:off x="8805672" y="47731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оранжевое — путь на базу, 5,1 м; серое — запрет у стен; цветное — дорогой грунт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уже реализовано и что в работе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Основа работает и проверена опытами; показ в Gazebo и роли модели доделываются</a:t>
            </a:r>
            <a:endParaRPr lang="en-US" sz="1600" dirty="0"/>
          </a:p>
        </p:txBody>
      </p:sp>
      <p:sp>
        <p:nvSpPr>
          <p:cNvPr id="5" name="done-card"/>
          <p:cNvSpPr/>
          <p:nvPr/>
        </p:nvSpPr>
        <p:spPr>
          <a:xfrm>
            <a:off x="548640" y="1691640"/>
            <a:ext cx="644652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6" name="done-badge"/>
          <p:cNvSpPr txBox="1"/>
          <p:nvPr/>
        </p:nvSpPr>
        <p:spPr>
          <a:xfrm>
            <a:off x="777240" y="1892808"/>
            <a:ext cx="521208" cy="457200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12</a:t>
            </a:r>
            <a:endParaRPr lang="en-US" sz="1500" dirty="0"/>
          </a:p>
        </p:txBody>
      </p:sp>
      <p:sp>
        <p:nvSpPr>
          <p:cNvPr id="7" name="done-head"/>
          <p:cNvSpPr txBox="1"/>
          <p:nvPr/>
        </p:nvSpPr>
        <p:spPr>
          <a:xfrm>
            <a:off x="1463040" y="1892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Реализовано и проверено</a:t>
            </a:r>
            <a:endParaRPr lang="en-US" sz="1800" dirty="0"/>
          </a:p>
        </p:txBody>
      </p:sp>
      <p:sp>
        <p:nvSpPr>
          <p:cNvPr id="8" name="done-list-1"/>
          <p:cNvSpPr txBox="1"/>
          <p:nvPr/>
        </p:nvSpPr>
        <p:spPr>
          <a:xfrm>
            <a:off x="777240" y="256032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Мир и робот в Gazebo из официальных пакетов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Судья и генератор сценариев трёх уровней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Каналы /did/* из условия задачи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Быстрый симулятор с тем же судьёй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Навигация по сетке со стоимостями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Поправка положения по лидару</a:t>
            </a:r>
            <a:endParaRPr lang="en-US" sz="1300" dirty="0"/>
          </a:p>
        </p:txBody>
      </p:sp>
      <p:sp>
        <p:nvSpPr>
          <p:cNvPr id="9" name="done-list-2"/>
          <p:cNvSpPr txBox="1"/>
          <p:nvPr/>
        </p:nvSpPr>
        <p:spPr>
          <a:xfrm>
            <a:off x="3840480" y="256032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Поиск образцов по карте вероятностей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Оценка грунта по расходу, возврат по запасу заряда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Журнал гипотез и расследования с выбором опыта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Память между прогонами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Планировщик на языковой модели: 97% годных планов с первого раза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Веб-лаборатория и запуск одной командой</a:t>
            </a:r>
            <a:endParaRPr lang="en-US" sz="1300" dirty="0"/>
          </a:p>
        </p:txBody>
      </p:sp>
      <p:sp>
        <p:nvSpPr>
          <p:cNvPr id="10" name="done-stat-1-value"/>
          <p:cNvSpPr txBox="1"/>
          <p:nvPr/>
        </p:nvSpPr>
        <p:spPr>
          <a:xfrm>
            <a:off x="777240" y="53035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265</a:t>
            </a:r>
            <a:endParaRPr lang="en-US" sz="3000" dirty="0"/>
          </a:p>
        </p:txBody>
      </p:sp>
      <p:sp>
        <p:nvSpPr>
          <p:cNvPr id="11" name="done-stat-1-label"/>
          <p:cNvSpPr txBox="1"/>
          <p:nvPr/>
        </p:nvSpPr>
        <p:spPr>
          <a:xfrm>
            <a:off x="2148840" y="53035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автоматических проверок проходят</a:t>
            </a:r>
            <a:endParaRPr lang="en-US" sz="1300" dirty="0"/>
          </a:p>
        </p:txBody>
      </p:sp>
      <p:sp>
        <p:nvSpPr>
          <p:cNvPr id="12" name="done-stat-2-value"/>
          <p:cNvSpPr txBox="1"/>
          <p:nvPr/>
        </p:nvSpPr>
        <p:spPr>
          <a:xfrm>
            <a:off x="3840480" y="53035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2 586</a:t>
            </a:r>
            <a:endParaRPr lang="en-US" sz="3000" dirty="0"/>
          </a:p>
        </p:txBody>
      </p:sp>
      <p:sp>
        <p:nvSpPr>
          <p:cNvPr id="13" name="done-stat-2-label"/>
          <p:cNvSpPr txBox="1"/>
          <p:nvPr/>
        </p:nvSpPr>
        <p:spPr>
          <a:xfrm>
            <a:off x="5212080" y="53035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прогонов в 11 сериях опытов</a:t>
            </a:r>
            <a:endParaRPr lang="en-US" sz="1300" dirty="0"/>
          </a:p>
        </p:txBody>
      </p:sp>
      <p:sp>
        <p:nvSpPr>
          <p:cNvPr id="14" name="wip-card"/>
          <p:cNvSpPr/>
          <p:nvPr/>
        </p:nvSpPr>
        <p:spPr>
          <a:xfrm>
            <a:off x="7223760" y="1691640"/>
            <a:ext cx="441655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5" name="wip-badge"/>
          <p:cNvSpPr txBox="1"/>
          <p:nvPr/>
        </p:nvSpPr>
        <p:spPr>
          <a:xfrm>
            <a:off x="7452360" y="1874520"/>
            <a:ext cx="521208" cy="457200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6" name="wip-head"/>
          <p:cNvSpPr txBox="1"/>
          <p:nvPr/>
        </p:nvSpPr>
        <p:spPr>
          <a:xfrm>
            <a:off x="813816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 работе</a:t>
            </a:r>
            <a:endParaRPr lang="en-US" sz="1800" dirty="0"/>
          </a:p>
        </p:txBody>
      </p:sp>
      <p:sp>
        <p:nvSpPr>
          <p:cNvPr id="17" name="wip-list"/>
          <p:cNvSpPr txBox="1"/>
          <p:nvPr/>
        </p:nvSpPr>
        <p:spPr>
          <a:xfrm>
            <a:off x="7452360" y="2468880"/>
            <a:ext cx="39593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Пульт и показ полного сценария в Gazebo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Роли модели «автор» и «критик» в расследованиях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Локальная модель Qwen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Конструктор исследования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Построение карты через SLAM (бонус)</a:t>
            </a:r>
            <a:endParaRPr lang="en-US" sz="1300" dirty="0"/>
          </a:p>
        </p:txBody>
      </p:sp>
      <p:sp>
        <p:nvSpPr>
          <p:cNvPr id="18" name="open-card"/>
          <p:cNvSpPr/>
          <p:nvPr/>
        </p:nvSpPr>
        <p:spPr>
          <a:xfrm>
            <a:off x="7223760" y="4297680"/>
            <a:ext cx="4416552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19" name="open-badge"/>
          <p:cNvSpPr txBox="1"/>
          <p:nvPr/>
        </p:nvSpPr>
        <p:spPr>
          <a:xfrm>
            <a:off x="7452360" y="4462272"/>
            <a:ext cx="521208" cy="457200"/>
          </a:xfrm>
          <a:prstGeom prst="hexagon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open-head"/>
          <p:cNvSpPr txBox="1"/>
          <p:nvPr/>
        </p:nvSpPr>
        <p:spPr>
          <a:xfrm>
            <a:off x="8138160" y="4462272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Не решено — говорим прямо</a:t>
            </a:r>
            <a:endParaRPr lang="en-US" sz="1800" dirty="0"/>
          </a:p>
        </p:txBody>
      </p:sp>
      <p:sp>
        <p:nvSpPr>
          <p:cNvPr id="21" name="open-list"/>
          <p:cNvSpPr txBox="1"/>
          <p:nvPr/>
        </p:nvSpPr>
        <p:spPr>
          <a:xfrm>
            <a:off x="7452360" y="5029200"/>
            <a:ext cx="39593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Адаптация к изменениям среды пока не прибавляет очков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Обучение грунтам и память об опасных зонах вклада не показали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Правила судьи — наши допущения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Реальные результаты: серии опытов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Адаптивный агент собирает больше образцов на всех уровнях; на базу оба возвращаются одинаково</a:t>
            </a:r>
            <a:endParaRPr lang="en-US" sz="1600" dirty="0"/>
          </a:p>
        </p:txBody>
      </p:sp>
      <p:sp>
        <p:nvSpPr>
          <p:cNvPr id="5" name="e1-chart-title"/>
          <p:cNvSpPr txBox="1"/>
          <p:nvPr/>
        </p:nvSpPr>
        <p:spPr>
          <a:xfrm>
            <a:off x="548640" y="16916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Доля собранных образцов, %</a:t>
            </a:r>
            <a:endParaRPr lang="en-US" sz="1400" dirty="0"/>
          </a:p>
        </p:txBody>
      </p:sp>
      <p:graphicFrame>
        <p:nvGraphicFramePr>
          <p:cNvPr id="6" name="e1-chart" descr="Доля собранных образцов по уровням: фиксированный план и агент с адаптацией"/>
          <p:cNvGraphicFramePr/>
          <p:nvPr/>
        </p:nvGraphicFramePr>
        <p:xfrm>
          <a:off x="548640" y="1965960"/>
          <a:ext cx="6675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1-note"/>
          <p:cNvSpPr txBox="1"/>
          <p:nvPr/>
        </p:nvSpPr>
        <p:spPr>
          <a:xfrm>
            <a:off x="548640" y="583387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Опыт E1: 240 прогонов в быстром симуляторе, по 40 одинаковых сценариев на уровень; при отладке агент их не видел.</a:t>
            </a:r>
            <a:endParaRPr lang="en-US" sz="1100" dirty="0"/>
          </a:p>
        </p:txBody>
      </p:sp>
      <p:sp>
        <p:nvSpPr>
          <p:cNvPr id="8" name="e1-tile-1-card"/>
          <p:cNvSpPr/>
          <p:nvPr/>
        </p:nvSpPr>
        <p:spPr>
          <a:xfrm>
            <a:off x="7589520" y="1691640"/>
            <a:ext cx="405079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e1-tile-1-value"/>
          <p:cNvSpPr txBox="1"/>
          <p:nvPr/>
        </p:nvSpPr>
        <p:spPr>
          <a:xfrm>
            <a:off x="7818120" y="1819656"/>
            <a:ext cx="35935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+17 п. п.</a:t>
            </a:r>
            <a:endParaRPr lang="en-US" sz="3400" dirty="0"/>
          </a:p>
        </p:txBody>
      </p:sp>
      <p:sp>
        <p:nvSpPr>
          <p:cNvPr id="10" name="e1-tile-1-label"/>
          <p:cNvSpPr txBox="1"/>
          <p:nvPr/>
        </p:nvSpPr>
        <p:spPr>
          <a:xfrm>
            <a:off x="7818120" y="2395982"/>
            <a:ext cx="3593592" cy="575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собранных образцов в среднем; 95% интервал — от 14 до 21</a:t>
            </a:r>
            <a:endParaRPr lang="en-US" sz="1400" dirty="0"/>
          </a:p>
        </p:txBody>
      </p:sp>
      <p:sp>
        <p:nvSpPr>
          <p:cNvPr id="11" name="e1-tile-2-card"/>
          <p:cNvSpPr/>
          <p:nvPr/>
        </p:nvSpPr>
        <p:spPr>
          <a:xfrm>
            <a:off x="7589520" y="3268980"/>
            <a:ext cx="405079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2" name="e1-tile-2-value"/>
          <p:cNvSpPr txBox="1"/>
          <p:nvPr/>
        </p:nvSpPr>
        <p:spPr>
          <a:xfrm>
            <a:off x="7818120" y="3396996"/>
            <a:ext cx="35935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72 из 120</a:t>
            </a:r>
            <a:endParaRPr lang="en-US" sz="3400" dirty="0"/>
          </a:p>
        </p:txBody>
      </p:sp>
      <p:sp>
        <p:nvSpPr>
          <p:cNvPr id="13" name="e1-tile-2-label"/>
          <p:cNvSpPr txBox="1"/>
          <p:nvPr/>
        </p:nvSpPr>
        <p:spPr>
          <a:xfrm>
            <a:off x="7818120" y="3973322"/>
            <a:ext cx="3593592" cy="575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сценариев адаптивный агент выиграл; проиграл — 3</a:t>
            </a:r>
            <a:endParaRPr lang="en-US" sz="1400" dirty="0"/>
          </a:p>
        </p:txBody>
      </p:sp>
      <p:sp>
        <p:nvSpPr>
          <p:cNvPr id="14" name="e1-tile-3-card"/>
          <p:cNvSpPr/>
          <p:nvPr/>
        </p:nvSpPr>
        <p:spPr>
          <a:xfrm>
            <a:off x="7589520" y="4846320"/>
            <a:ext cx="405079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e1-tile-3-value"/>
          <p:cNvSpPr txBox="1"/>
          <p:nvPr/>
        </p:nvSpPr>
        <p:spPr>
          <a:xfrm>
            <a:off x="7818120" y="4974336"/>
            <a:ext cx="35935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98% и 99%</a:t>
            </a:r>
            <a:endParaRPr lang="en-US" sz="3400" dirty="0"/>
          </a:p>
        </p:txBody>
      </p:sp>
      <p:sp>
        <p:nvSpPr>
          <p:cNvPr id="16" name="e1-tile-3-label"/>
          <p:cNvSpPr txBox="1"/>
          <p:nvPr/>
        </p:nvSpPr>
        <p:spPr>
          <a:xfrm>
            <a:off x="7818120" y="5550662"/>
            <a:ext cx="3593592" cy="575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возврат на базу у адаптивного и у фиксированного: разницы нет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Реальные результаты: поиск и исследователь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Карта вероятностей находит почти все образцы; исследователь верно называет причину сбоев</a:t>
            </a:r>
            <a:endParaRPr lang="en-US" sz="1600" dirty="0"/>
          </a:p>
        </p:txBody>
      </p:sp>
      <p:sp>
        <p:nvSpPr>
          <p:cNvPr id="5" name="e9-chart-title"/>
          <p:cNvSpPr txBox="1"/>
          <p:nvPr/>
        </p:nvSpPr>
        <p:spPr>
          <a:xfrm>
            <a:off x="54864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Стратегии поиска: доля собранных образцов, %</a:t>
            </a:r>
            <a:endParaRPr lang="en-US" sz="1400" dirty="0"/>
          </a:p>
        </p:txBody>
      </p:sp>
      <p:graphicFrame>
        <p:nvGraphicFramePr>
          <p:cNvPr id="6" name="e9-chart" descr="Доля собранных образцов у четырёх стратегий поиска"/>
          <p:cNvGraphicFramePr/>
          <p:nvPr/>
        </p:nvGraphicFramePr>
        <p:xfrm>
          <a:off x="548640" y="196596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9-note"/>
          <p:cNvSpPr txBox="1"/>
          <p:nvPr/>
        </p:nvSpPr>
        <p:spPr>
          <a:xfrm>
            <a:off x="548640" y="5669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Опыт E9: уровни easy и medium, по 80 прогонов на стратегию. Спираль и подъём по сигналу — простые правила из условия.</a:t>
            </a:r>
            <a:endParaRPr lang="en-US" sz="1100" dirty="0"/>
          </a:p>
        </p:txBody>
      </p:sp>
      <p:sp>
        <p:nvSpPr>
          <p:cNvPr id="8" name="e10-chart-title"/>
          <p:cNvSpPr txBox="1"/>
          <p:nvPr/>
        </p:nvSpPr>
        <p:spPr>
          <a:xfrm>
            <a:off x="6355080" y="1691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Возврат на базу, трудный уровень, %</a:t>
            </a:r>
            <a:endParaRPr lang="en-US" sz="1400" dirty="0"/>
          </a:p>
        </p:txBody>
      </p:sp>
      <p:graphicFrame>
        <p:nvGraphicFramePr>
          <p:cNvPr id="9" name="e10-chart" descr="Возврат на базу на трудном уровне: фиксированный план, адаптивный агент, исследователь"/>
          <p:cNvGraphicFramePr/>
          <p:nvPr/>
        </p:nvGraphicFramePr>
        <p:xfrm>
          <a:off x="6355080" y="1965960"/>
          <a:ext cx="31546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e10-tile-card"/>
          <p:cNvSpPr/>
          <p:nvPr/>
        </p:nvSpPr>
        <p:spPr>
          <a:xfrm>
            <a:off x="9692640" y="1965960"/>
            <a:ext cx="1947672" cy="2926080"/>
          </a:xfrm>
          <a:prstGeom prst="roundRect">
            <a:avLst>
              <a:gd name="adj" fmla="val 3756"/>
            </a:avLst>
          </a:prstGeom>
          <a:solidFill>
            <a:schemeClr val="bg2"/>
          </a:solidFill>
          <a:ln/>
        </p:spPr>
      </p:sp>
      <p:sp>
        <p:nvSpPr>
          <p:cNvPr id="11" name="e10-tile-value"/>
          <p:cNvSpPr txBox="1"/>
          <p:nvPr/>
        </p:nvSpPr>
        <p:spPr>
          <a:xfrm>
            <a:off x="9921240" y="2093976"/>
            <a:ext cx="149047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98%</a:t>
            </a:r>
            <a:endParaRPr lang="en-US" sz="3400" dirty="0"/>
          </a:p>
        </p:txBody>
      </p:sp>
      <p:sp>
        <p:nvSpPr>
          <p:cNvPr id="12" name="e10-tile-label"/>
          <p:cNvSpPr txBox="1"/>
          <p:nvPr/>
        </p:nvSpPr>
        <p:spPr>
          <a:xfrm>
            <a:off x="9921240" y="2670302"/>
            <a:ext cx="1490472" cy="213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причин названо верно: исследователь держит несколько объяснений и проверяет их опытом</a:t>
            </a:r>
            <a:endParaRPr lang="en-US" sz="1400" dirty="0"/>
          </a:p>
        </p:txBody>
      </p:sp>
      <p:sp>
        <p:nvSpPr>
          <p:cNvPr id="13" name="e10-note"/>
          <p:cNvSpPr txBox="1"/>
          <p:nvPr/>
        </p:nvSpPr>
        <p:spPr>
          <a:xfrm>
            <a:off x="6355080" y="5669280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Опыт E10: усложнённые правила — у одного симптома несколько причин; по 40 прогонов. Разница в возврате с адаптивным агентом пока в пределах погрешности.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Реальные результаты: Gazebo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С поправкой по лидару прогоны в Gazebo повторяют быстрый симулятор</a:t>
            </a:r>
            <a:endParaRPr lang="en-US" sz="1600" dirty="0"/>
          </a:p>
        </p:txBody>
      </p:sp>
      <p:sp>
        <p:nvSpPr>
          <p:cNvPr id="5" name="gz-table-title"/>
          <p:cNvSpPr txBox="1"/>
          <p:nvPr/>
        </p:nvSpPr>
        <p:spPr>
          <a:xfrm>
            <a:off x="548640" y="16916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Собрано образцов: один и тот же сценарий</a:t>
            </a:r>
            <a:endParaRPr lang="en-US" sz="1400" dirty="0"/>
          </a:p>
        </p:txBody>
      </p:sp>
      <p:graphicFrame>
        <p:nvGraphicFramePr>
          <p:cNvPr id="11" name="gz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39112"/>
          <a:ext cx="38862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60020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Уровень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Быстрый симулятор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Gazebo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1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81C"/>
                          </a:solidFill>
                        </a:rPr>
                        <a:t>easy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81C"/>
                          </a:solidFill>
                        </a:rPr>
                        <a:t>3 из 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81C"/>
                          </a:solidFill>
                        </a:rPr>
                        <a:t>3 из 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81C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81C"/>
                          </a:solidFill>
                        </a:rPr>
                        <a:t>5 из 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81C"/>
                          </a:solidFill>
                        </a:rPr>
                        <a:t>5 из 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81C"/>
                          </a:solidFill>
                        </a:rPr>
                        <a:t>hard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81C"/>
                          </a:solidFill>
                        </a:rPr>
                        <a:t>6 из 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81C"/>
                          </a:solidFill>
                        </a:rPr>
                        <a:t>5 из 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gz-table-note"/>
          <p:cNvSpPr txBox="1"/>
          <p:nvPr/>
        </p:nvSpPr>
        <p:spPr>
          <a:xfrm>
            <a:off x="548640" y="39593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В Gazebo во всех трёх прогонах робот вернулся на базу, столкновений нет.</a:t>
            </a:r>
            <a:endParaRPr lang="en-US" sz="1200" dirty="0"/>
          </a:p>
        </p:txBody>
      </p:sp>
      <p:sp>
        <p:nvSpPr>
          <p:cNvPr id="8" name="gz-cause-card"/>
          <p:cNvSpPr/>
          <p:nvPr/>
        </p:nvSpPr>
        <p:spPr>
          <a:xfrm>
            <a:off x="548640" y="4526280"/>
            <a:ext cx="3886200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</p:spPr>
      </p:sp>
      <p:sp>
        <p:nvSpPr>
          <p:cNvPr id="9" name="gz-cause-text"/>
          <p:cNvSpPr txBox="1"/>
          <p:nvPr/>
        </p:nvSpPr>
        <p:spPr>
          <a:xfrm>
            <a:off x="749808" y="4526280"/>
            <a:ext cx="34838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Причина найдена. </a:t>
            </a:r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Около 30 с после появления в мире робот покачивается, и манёвры сбивали счёт пути — до 2,2 м. Теперь агент ждёт до 35-й секунды.</a:t>
            </a:r>
            <a:endParaRPr lang="en-US" sz="1300" dirty="0"/>
          </a:p>
        </p:txBody>
      </p:sp>
      <p:sp>
        <p:nvSpPr>
          <p:cNvPr id="10" name="gz-chart-title"/>
          <p:cNvSpPr txBox="1"/>
          <p:nvPr/>
        </p:nvSpPr>
        <p:spPr>
          <a:xfrm>
            <a:off x="4754880" y="1691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Ошибка положения робота, см (уровень easy)</a:t>
            </a:r>
            <a:endParaRPr lang="en-US" sz="1400" dirty="0"/>
          </a:p>
        </p:txBody>
      </p:sp>
      <p:graphicFrame>
        <p:nvGraphicFramePr>
          <p:cNvPr id="11" name="gz-chart" descr="Ошибка положения во времени: счётчик пути уходит на десятки сантиметров, с поправкой по лидару остаётся около двух"/>
          <p:cNvGraphicFramePr/>
          <p:nvPr/>
        </p:nvGraphicFramePr>
        <p:xfrm>
          <a:off x="4754880" y="1965960"/>
          <a:ext cx="43434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gz-note"/>
          <p:cNvSpPr txBox="1"/>
          <p:nvPr/>
        </p:nvSpPr>
        <p:spPr>
          <a:xfrm>
            <a:off x="4754880" y="56692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Серия E8, 180 прогонов: при таком уходе возврат на базу — 100% с поправкой и 33% без неё.</a:t>
            </a:r>
            <a:endParaRPr lang="en-US" sz="1100" dirty="0"/>
          </a:p>
        </p:txBody>
      </p:sp>
      <p:sp>
        <p:nvSpPr>
          <p:cNvPr id="13" name="gz-tile-1-card"/>
          <p:cNvSpPr/>
          <p:nvPr/>
        </p:nvSpPr>
        <p:spPr>
          <a:xfrm>
            <a:off x="9372600" y="1691640"/>
            <a:ext cx="226771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gz-tile-1-value"/>
          <p:cNvSpPr txBox="1"/>
          <p:nvPr/>
        </p:nvSpPr>
        <p:spPr>
          <a:xfrm>
            <a:off x="9537192" y="180136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1,7–1,9 см</a:t>
            </a:r>
            <a:endParaRPr lang="en-US" sz="2400" dirty="0"/>
          </a:p>
        </p:txBody>
      </p:sp>
      <p:sp>
        <p:nvSpPr>
          <p:cNvPr id="15" name="gz-tile-1-label"/>
          <p:cNvSpPr txBox="1"/>
          <p:nvPr/>
        </p:nvSpPr>
        <p:spPr>
          <a:xfrm>
            <a:off x="9537192" y="2331720"/>
            <a:ext cx="193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ошибка положения с поправкой, медиана</a:t>
            </a:r>
            <a:endParaRPr lang="en-US" sz="1200" dirty="0"/>
          </a:p>
        </p:txBody>
      </p:sp>
      <p:sp>
        <p:nvSpPr>
          <p:cNvPr id="16" name="gz-tile-2-card"/>
          <p:cNvSpPr/>
          <p:nvPr/>
        </p:nvSpPr>
        <p:spPr>
          <a:xfrm>
            <a:off x="9372600" y="3259836"/>
            <a:ext cx="226771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7" name="gz-tile-2-value"/>
          <p:cNvSpPr txBox="1"/>
          <p:nvPr/>
        </p:nvSpPr>
        <p:spPr>
          <a:xfrm>
            <a:off x="9537192" y="336956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4,8 см</a:t>
            </a:r>
            <a:endParaRPr lang="en-US" sz="2400" dirty="0"/>
          </a:p>
        </p:txBody>
      </p:sp>
      <p:sp>
        <p:nvSpPr>
          <p:cNvPr id="18" name="gz-tile-2-label"/>
          <p:cNvSpPr txBox="1"/>
          <p:nvPr/>
        </p:nvSpPr>
        <p:spPr>
          <a:xfrm>
            <a:off x="9537192" y="3899916"/>
            <a:ext cx="193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наибольшая ошибка за три прогона</a:t>
            </a:r>
            <a:endParaRPr lang="en-US" sz="1200" dirty="0"/>
          </a:p>
        </p:txBody>
      </p:sp>
      <p:sp>
        <p:nvSpPr>
          <p:cNvPr id="19" name="gz-tile-3-card"/>
          <p:cNvSpPr/>
          <p:nvPr/>
        </p:nvSpPr>
        <p:spPr>
          <a:xfrm>
            <a:off x="9372600" y="4828032"/>
            <a:ext cx="226771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0" name="gz-tile-3-value"/>
          <p:cNvSpPr txBox="1"/>
          <p:nvPr/>
        </p:nvSpPr>
        <p:spPr>
          <a:xfrm>
            <a:off x="9537192" y="49377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61 см</a:t>
            </a:r>
            <a:endParaRPr lang="en-US" sz="2400" dirty="0"/>
          </a:p>
        </p:txBody>
      </p:sp>
      <p:sp>
        <p:nvSpPr>
          <p:cNvPr id="21" name="gz-tile-3-label"/>
          <p:cNvSpPr txBox="1"/>
          <p:nvPr/>
        </p:nvSpPr>
        <p:spPr>
          <a:xfrm>
            <a:off x="9537192" y="5468112"/>
            <a:ext cx="193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уходил счётчик пути в тех же прогонах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использовали ИИ при разработке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Ассистент вёл разработку, вторая модель давала второе мнение, третья планирует внутри робота</a:t>
            </a:r>
            <a:endParaRPr lang="en-US" sz="1600" dirty="0"/>
          </a:p>
        </p:txBody>
      </p:sp>
      <p:sp>
        <p:nvSpPr>
          <p:cNvPr id="5" name="ai-1-card"/>
          <p:cNvSpPr/>
          <p:nvPr/>
        </p:nvSpPr>
        <p:spPr>
          <a:xfrm>
            <a:off x="548640" y="1691640"/>
            <a:ext cx="354482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ai-1-badge"/>
          <p:cNvSpPr txBox="1"/>
          <p:nvPr/>
        </p:nvSpPr>
        <p:spPr>
          <a:xfrm>
            <a:off x="749808" y="1874520"/>
            <a:ext cx="479511" cy="420624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ai-1-head"/>
          <p:cNvSpPr txBox="1"/>
          <p:nvPr/>
        </p:nvSpPr>
        <p:spPr>
          <a:xfrm>
            <a:off x="1417320" y="1874520"/>
            <a:ext cx="2493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Ассистент — ведущий инженер</a:t>
            </a:r>
            <a:endParaRPr lang="en-US" sz="1600" dirty="0"/>
          </a:p>
        </p:txBody>
      </p:sp>
      <p:sp>
        <p:nvSpPr>
          <p:cNvPr id="8" name="ai-1-body"/>
          <p:cNvSpPr txBox="1"/>
          <p:nvPr/>
        </p:nvSpPr>
        <p:spPr>
          <a:xfrm>
            <a:off x="749808" y="2441448"/>
            <a:ext cx="3142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Стенд написан за полтора дня в диалоге с Claude Code в среде T3 Code. Работа делилась на параллельные ветки, около десяти, и раздавалась вспомогательным агентам.</a:t>
            </a:r>
            <a:endParaRPr lang="en-US" sz="1300" dirty="0"/>
          </a:p>
        </p:txBody>
      </p:sp>
      <p:sp>
        <p:nvSpPr>
          <p:cNvPr id="9" name="ai-2-card"/>
          <p:cNvSpPr/>
          <p:nvPr/>
        </p:nvSpPr>
        <p:spPr>
          <a:xfrm>
            <a:off x="4322064" y="1691640"/>
            <a:ext cx="354482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ai-2-badge"/>
          <p:cNvSpPr txBox="1"/>
          <p:nvPr/>
        </p:nvSpPr>
        <p:spPr>
          <a:xfrm>
            <a:off x="4523232" y="1874520"/>
            <a:ext cx="479511" cy="420624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ai-2-head"/>
          <p:cNvSpPr txBox="1"/>
          <p:nvPr/>
        </p:nvSpPr>
        <p:spPr>
          <a:xfrm>
            <a:off x="5190744" y="1874520"/>
            <a:ext cx="2493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Второе мнение</a:t>
            </a:r>
            <a:endParaRPr lang="en-US" sz="1600" dirty="0"/>
          </a:p>
        </p:txBody>
      </p:sp>
      <p:sp>
        <p:nvSpPr>
          <p:cNvPr id="12" name="ai-2-body"/>
          <p:cNvSpPr txBox="1"/>
          <p:nvPr/>
        </p:nvSpPr>
        <p:spPr>
          <a:xfrm>
            <a:off x="4523232" y="2441448"/>
            <a:ext cx="3142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 сложным вопросам запрашивали второе мнение у другой модели — GPT-6 Astra.</a:t>
            </a:r>
            <a:endParaRPr lang="en-US" sz="1300" dirty="0"/>
          </a:p>
        </p:txBody>
      </p:sp>
      <p:sp>
        <p:nvSpPr>
          <p:cNvPr id="13" name="ai-3-card"/>
          <p:cNvSpPr/>
          <p:nvPr/>
        </p:nvSpPr>
        <p:spPr>
          <a:xfrm>
            <a:off x="8095488" y="1691640"/>
            <a:ext cx="354482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ai-3-badge"/>
          <p:cNvSpPr txBox="1"/>
          <p:nvPr/>
        </p:nvSpPr>
        <p:spPr>
          <a:xfrm>
            <a:off x="8296656" y="1874520"/>
            <a:ext cx="479511" cy="420624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ai-3-head"/>
          <p:cNvSpPr txBox="1"/>
          <p:nvPr/>
        </p:nvSpPr>
        <p:spPr>
          <a:xfrm>
            <a:off x="8964168" y="1874520"/>
            <a:ext cx="2493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ИИ внутри робота</a:t>
            </a:r>
            <a:endParaRPr lang="en-US" sz="1600" dirty="0"/>
          </a:p>
        </p:txBody>
      </p:sp>
      <p:sp>
        <p:nvSpPr>
          <p:cNvPr id="16" name="ai-3-body"/>
          <p:cNvSpPr txBox="1"/>
          <p:nvPr/>
        </p:nvSpPr>
        <p:spPr>
          <a:xfrm>
            <a:off x="8296656" y="2441448"/>
            <a:ext cx="3142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Языковая модель GPT-6 Luna выбирает подцели: 97% годных планов с первого раза — 56 из 58 запросов.</a:t>
            </a:r>
            <a:endParaRPr lang="en-US" sz="1300" dirty="0"/>
          </a:p>
        </p:txBody>
      </p:sp>
      <p:sp>
        <p:nvSpPr>
          <p:cNvPr id="17" name="found-card"/>
          <p:cNvSpPr/>
          <p:nvPr/>
        </p:nvSpPr>
        <p:spPr>
          <a:xfrm>
            <a:off x="548640" y="4023360"/>
            <a:ext cx="11091672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18" name="found-head"/>
          <p:cNvSpPr txBox="1"/>
          <p:nvPr/>
        </p:nvSpPr>
        <p:spPr>
          <a:xfrm>
            <a:off x="822960" y="4151376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Ошибки, которые нашёл стенд, а не глаз</a:t>
            </a:r>
            <a:endParaRPr lang="en-US" sz="1600" dirty="0"/>
          </a:p>
        </p:txBody>
      </p:sp>
      <p:sp>
        <p:nvSpPr>
          <p:cNvPr id="19" name="found-list-1"/>
          <p:cNvSpPr txBox="1"/>
          <p:nvPr/>
        </p:nvSpPr>
        <p:spPr>
          <a:xfrm>
            <a:off x="822960" y="4553712"/>
            <a:ext cx="50886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ложные следы в карте вероятностей после сбора образца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агент бросал работу с полной батареей: цена маршрута была смешана с зарядом на дорогу</a:t>
            </a:r>
            <a:endParaRPr lang="en-US" sz="1300" dirty="0"/>
          </a:p>
        </p:txBody>
      </p:sp>
      <p:sp>
        <p:nvSpPr>
          <p:cNvPr id="20" name="found-list-2"/>
          <p:cNvSpPr txBox="1"/>
          <p:nvPr/>
        </p:nvSpPr>
        <p:spPr>
          <a:xfrm>
            <a:off x="6277356" y="4553712"/>
            <a:ext cx="50886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робот покачивается после появления в Gazebo — счёт пути уходил на метр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сотня ложных сборов подряд при неверной поправке датчика</a:t>
            </a:r>
            <a:endParaRPr lang="en-US" sz="1300" dirty="0"/>
          </a:p>
        </p:txBody>
      </p:sp>
      <p:sp>
        <p:nvSpPr>
          <p:cNvPr id="21" name="process-line"/>
          <p:cNvSpPr txBox="1"/>
          <p:nvPr/>
        </p:nvSpPr>
        <p:spPr>
          <a:xfrm>
            <a:off x="548640" y="5733288"/>
            <a:ext cx="110916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Качество процесса: </a:t>
            </a:r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265 автоматических проверок, воспроизводимые серии прогонов, история в git. 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Навыки ассистента: </a:t>
            </a:r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построение графиков, сборка презентаций, запуск других моделей.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D Researcher">
  <a:themeElements>
    <a:clrScheme name="DID Researcher">
      <a:dk1>
        <a:srgbClr val="14181C"/>
      </a:dk1>
      <a:lt1>
        <a:srgbClr val="FFFFFF"/>
      </a:lt1>
      <a:dk2>
        <a:srgbClr val="2B3138"/>
      </a:dk2>
      <a:lt2>
        <a:srgbClr val="EEF0F2"/>
      </a:lt2>
      <a:accent1>
        <a:srgbClr val="EB6834"/>
      </a:accent1>
      <a:accent2>
        <a:srgbClr val="2A78D6"/>
      </a:accent2>
      <a:accent3>
        <a:srgbClr val="1BAF7A"/>
      </a:accent3>
      <a:accent4>
        <a:srgbClr val="EDA100"/>
      </a:accent4>
      <a:accent5>
        <a:srgbClr val="5B6168"/>
      </a:accent5>
      <a:accent6>
        <a:srgbClr val="D03B3B"/>
      </a:accent6>
      <a:hlink>
        <a:srgbClr val="2A78D6"/>
      </a:hlink>
      <a:folHlink>
        <a:srgbClr val="4A3AA7"/>
      </a:folHlink>
    </a:clrScheme>
    <a:fontScheme name="DID Research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Автономный ИИ-исследователь на роботе-платформе — чекпоинт 2</dc:title>
  <dc:subject>PptxGenJS Presentation</dc:subject>
  <dc:creator>Журавлёва, Ефремова, Путиловский</dc:creator>
  <cp:lastModifiedBy>Журавлёва, Ефремова, Путиловский</cp:lastModifiedBy>
  <cp:revision>1</cp:revision>
  <dcterms:created xsi:type="dcterms:W3CDTF">2026-10-08T01:15:11Z</dcterms:created>
  <dcterms:modified xsi:type="dcterms:W3CDTF">2026-10-08T01:15:11Z</dcterms:modified>
</cp:coreProperties>
</file>