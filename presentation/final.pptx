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ыступление" id="{ed795cfe-d202-7762-9e1e-2e66190d608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иложение: к вопросам жюри" id="{046552cb-6971-035b-889b-d24faf936e0c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ИИ-исследователь. Робот TurtleBot3 сам ищет скрытые образцы, замечает, что среда изменилась, и возвращается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Образцы, дорогой грунт и опасные зоны скрыты, камеры нет. Гипотеза: робот, который сверяет ожидания с датчиком и батареей, наберёт больше, чем робот с планом заранее. Подтвердилось: плюс тринадцать очков. А по реакции на грунт выигрыш не показан.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Агент и стенд с судьёй общаются только через каналы из условия. Тот же агент ездит в Gazebo и в быстром симуляторе, где мы ставим серии опытов. Языковая модель читает миссию и предлагает подцели; гипотезы робота и движение —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Трудный уровень, быстрый симулятор: 75 очков, а с распознаванием сбоя датчика — 81. Агент, которому заранее сообщили всё скрытое, набирает 92 с половиной. Четыре идеи выигрыша не показали, и это тоже результат. В Gazebo показной сценарий пройден пять раз из пяти.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Изменения никто не объявляет: робот сам распознаёт сбой датчика, новые опасные зоны и потерю положения. Языковая модель полезна, когда задание меняют словами: 45 миссий из 48 против нуля у правила. Гипотезы модель предлагает хорошо, а выводы делает хуже расчёта — поэтому проверяет расчёт.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Бонусные треки. Карта, которую робот строит сам через SLAM, совпадает с готовой на 96–99 процентов. Два робота с координацией заканчивают на 26 секунд раньше пары без связи. Опыт робот выбирает самый дешёвый из различающих объяснения.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Работали как лаборатория: человек задаёт цель и роли, агенты пишут код и ставят опыты. Каждую работу до приёма читает независимая модель. 19 работ из 20 она вернула на исправления.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главное. Остаётся не робот, а лаборатория: воспроизводимые опыты, журнал гипотез, независимая проверка и страница-объяснение. Так устроены роботы-учёные в науке; студенту такой стенд даёт метод. Теперь покажем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шаг: обзор исследователя, работа инженера или независимая проверка. Галочка — работа принята. В первых исследованиях проверка нашла 7 ошибок, и два вывода пришлось перевернуть. В обзорах литературы нашлись две выдуманные ссылки. P2 и R10 приняты как отрицательные результаты. Стрелка — следующая работа по той же теме.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Продолжение: защита в Gazebo, языковая модель и бонусные треки. Последний значок инженера перед галочкой — правка ведущего агента. Всего 34 круга ревью по 20 работам; 19 из них ревью вернуло на исправления.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Уровни с нулевого по третий выполнены. На четвёртом адаптация показана вживую и даёт очки там, где робот распознаёт сбой датчика; по реакции на грунт выигрыш не показан.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каждому критерию — чем он закрыт и где слабое место. Самые слабые места: по реакции на грунт выигрыш не показан, а гипотезы робота выдвигает программа, а не языковая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сравнения — на одинаковых сценариях, не использованных при настройке. Если интервал включает ноль, мы говорим «различие не показано».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симуляторе; в Gazebo прогонов единицы — это проверка работоспособности. На показе решает правило, а не модель. Гипотезы робота выдвигает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и симулятор. Справа агент. Между ними только каналы из условия, поэтому нашего судью можно заменить судьёй организаторов, не трогая 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финал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1.png"/><Relationship Id="rId4" Type="http://schemas.openxmlformats.org/officeDocument/2006/relationships/image" Target="../media/image-7-4.png"/><Relationship Id="rId5" Type="http://schemas.openxmlformats.org/officeDocument/2006/relationships/image" Target="../media/image-7-1.png"/><Relationship Id="rId6" Type="http://schemas.openxmlformats.org/officeDocument/2006/relationships/image" Target="../media/image-7-4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1.png"/><Relationship Id="rId5" Type="http://schemas.openxmlformats.org/officeDocument/2006/relationships/image" Target="../media/image-9-3.png"/><Relationship Id="rId6" Type="http://schemas.openxmlformats.org/officeDocument/2006/relationships/image" Target="../media/image-9-2.png"/><Relationship Id="rId7" Type="http://schemas.openxmlformats.org/officeDocument/2006/relationships/image" Target="../media/image-9-3.png"/><Relationship Id="rId8" Type="http://schemas.openxmlformats.org/officeDocument/2006/relationships/image" Target="../media/image-9-2.png"/><Relationship Id="rId9" Type="http://schemas.openxmlformats.org/officeDocument/2006/relationships/image" Target="../media/image-9-3.png"/><Relationship Id="rId10" Type="http://schemas.openxmlformats.org/officeDocument/2006/relationships/image" Target="../media/image-9-2.png"/><Relationship Id="rId11" Type="http://schemas.openxmlformats.org/officeDocument/2006/relationships/image" Target="../media/image-9-3.png"/><Relationship Id="rId12" Type="http://schemas.openxmlformats.org/officeDocument/2006/relationships/image" Target="../media/image-9-2.png"/><Relationship Id="rId13" Type="http://schemas.openxmlformats.org/officeDocument/2006/relationships/image" Target="../media/image-9-1.png"/><Relationship Id="rId14" Type="http://schemas.openxmlformats.org/officeDocument/2006/relationships/image" Target="../media/image-9-1.png"/><Relationship Id="rId15" Type="http://schemas.openxmlformats.org/officeDocument/2006/relationships/image" Target="../media/image-9-1.png"/><Relationship Id="rId16" Type="http://schemas.openxmlformats.org/officeDocument/2006/relationships/image" Target="../media/image-9-1.png"/><Relationship Id="rId17" Type="http://schemas.openxmlformats.org/officeDocument/2006/relationships/image" Target="../media/image-9-2.png"/><Relationship Id="rId18" Type="http://schemas.openxmlformats.org/officeDocument/2006/relationships/image" Target="../media/image-9-2.png"/><Relationship Id="rId19" Type="http://schemas.openxmlformats.org/officeDocument/2006/relationships/image" Target="../media/image-9-3.png"/><Relationship Id="rId20" Type="http://schemas.openxmlformats.org/officeDocument/2006/relationships/image" Target="../media/image-9-2.png"/><Relationship Id="rId21" Type="http://schemas.openxmlformats.org/officeDocument/2006/relationships/image" Target="../media/image-9-3.png"/><Relationship Id="rId22" Type="http://schemas.openxmlformats.org/officeDocument/2006/relationships/image" Target="../media/image-9-2.png"/><Relationship Id="rId23" Type="http://schemas.openxmlformats.org/officeDocument/2006/relationships/image" Target="../media/image-9-3.png"/><Relationship Id="rId24" Type="http://schemas.openxmlformats.org/officeDocument/2006/relationships/image" Target="../media/image-9-2.png"/><Relationship Id="rId25" Type="http://schemas.openxmlformats.org/officeDocument/2006/relationships/image" Target="../media/image-9-2.png"/><Relationship Id="rId26" Type="http://schemas.openxmlformats.org/officeDocument/2006/relationships/image" Target="../media/image-9-3.png"/><Relationship Id="rId27" Type="http://schemas.openxmlformats.org/officeDocument/2006/relationships/image" Target="../media/image-9-2.png"/><Relationship Id="rId28" Type="http://schemas.openxmlformats.org/officeDocument/2006/relationships/image" Target="../media/image-9-2.png"/><Relationship Id="rId29" Type="http://schemas.openxmlformats.org/officeDocument/2006/relationships/image" Target="../media/image-9-3.png"/><Relationship Id="rId30" Type="http://schemas.openxmlformats.org/officeDocument/2006/relationships/image" Target="../media/image-9-2.png"/><Relationship Id="rId31" Type="http://schemas.openxmlformats.org/officeDocument/2006/relationships/image" Target="../media/image-9-3.png"/><Relationship Id="rId32" Type="http://schemas.openxmlformats.org/officeDocument/2006/relationships/image" Target="../media/image-9-2.png"/><Relationship Id="rId33" Type="http://schemas.openxmlformats.org/officeDocument/2006/relationships/image" Target="../media/image-9-3.png"/><Relationship Id="rId34" Type="http://schemas.openxmlformats.org/officeDocument/2006/relationships/image" Target="../media/image-9-2.png"/><Relationship Id="rId35" Type="http://schemas.openxmlformats.org/officeDocument/2006/relationships/image" Target="../media/image-9-2.png"/><Relationship Id="rId36" Type="http://schemas.openxmlformats.org/officeDocument/2006/relationships/image" Target="../media/image-9-3.png"/><Relationship Id="rId37" Type="http://schemas.openxmlformats.org/officeDocument/2006/relationships/image" Target="../media/image-9-2.png"/><Relationship Id="rId38" Type="http://schemas.openxmlformats.org/officeDocument/2006/relationships/image" Target="../media/image-9-3.png"/><Relationship Id="rId39" Type="http://schemas.openxmlformats.org/officeDocument/2006/relationships/image" Target="../media/image-9-2.png"/><Relationship Id="rId40" Type="http://schemas.openxmlformats.org/officeDocument/2006/relationships/slideLayout" Target="../slideLayouts/slideLayout3.xml"/><Relationship Id="rId4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3.png"/><Relationship Id="rId6" Type="http://schemas.openxmlformats.org/officeDocument/2006/relationships/image" Target="../media/image-10-2.png"/><Relationship Id="rId7" Type="http://schemas.openxmlformats.org/officeDocument/2006/relationships/image" Target="../media/image-10-2.png"/><Relationship Id="rId8" Type="http://schemas.openxmlformats.org/officeDocument/2006/relationships/image" Target="../media/image-10-3.png"/><Relationship Id="rId9" Type="http://schemas.openxmlformats.org/officeDocument/2006/relationships/image" Target="../media/image-10-2.png"/><Relationship Id="rId10" Type="http://schemas.openxmlformats.org/officeDocument/2006/relationships/image" Target="../media/image-10-3.png"/><Relationship Id="rId11" Type="http://schemas.openxmlformats.org/officeDocument/2006/relationships/image" Target="../media/image-10-1.png"/><Relationship Id="rId12" Type="http://schemas.openxmlformats.org/officeDocument/2006/relationships/image" Target="../media/image-10-2.png"/><Relationship Id="rId13" Type="http://schemas.openxmlformats.org/officeDocument/2006/relationships/image" Target="../media/image-10-3.png"/><Relationship Id="rId14" Type="http://schemas.openxmlformats.org/officeDocument/2006/relationships/image" Target="../media/image-10-2.png"/><Relationship Id="rId15" Type="http://schemas.openxmlformats.org/officeDocument/2006/relationships/image" Target="../media/image-10-2.png"/><Relationship Id="rId16" Type="http://schemas.openxmlformats.org/officeDocument/2006/relationships/image" Target="../media/image-10-3.png"/><Relationship Id="rId17" Type="http://schemas.openxmlformats.org/officeDocument/2006/relationships/image" Target="../media/image-10-2.png"/><Relationship Id="rId18" Type="http://schemas.openxmlformats.org/officeDocument/2006/relationships/image" Target="../media/image-10-1.png"/><Relationship Id="rId19" Type="http://schemas.openxmlformats.org/officeDocument/2006/relationships/image" Target="../media/image-10-2.png"/><Relationship Id="rId20" Type="http://schemas.openxmlformats.org/officeDocument/2006/relationships/image" Target="../media/image-10-2.png"/><Relationship Id="rId21" Type="http://schemas.openxmlformats.org/officeDocument/2006/relationships/image" Target="../media/image-10-2.png"/><Relationship Id="rId22" Type="http://schemas.openxmlformats.org/officeDocument/2006/relationships/image" Target="../media/image-10-3.png"/><Relationship Id="rId23" Type="http://schemas.openxmlformats.org/officeDocument/2006/relationships/image" Target="../media/image-10-2.png"/><Relationship Id="rId24" Type="http://schemas.openxmlformats.org/officeDocument/2006/relationships/image" Target="../media/image-10-3.png"/><Relationship Id="rId25" Type="http://schemas.openxmlformats.org/officeDocument/2006/relationships/image" Target="../media/image-10-2.png"/><Relationship Id="rId26" Type="http://schemas.openxmlformats.org/officeDocument/2006/relationships/image" Target="../media/image-10-2.png"/><Relationship Id="rId27" Type="http://schemas.openxmlformats.org/officeDocument/2006/relationships/image" Target="../media/image-10-3.png"/><Relationship Id="rId28" Type="http://schemas.openxmlformats.org/officeDocument/2006/relationships/image" Target="../media/image-10-2.png"/><Relationship Id="rId29" Type="http://schemas.openxmlformats.org/officeDocument/2006/relationships/image" Target="../media/image-10-3.png"/><Relationship Id="rId30" Type="http://schemas.openxmlformats.org/officeDocument/2006/relationships/image" Target="../media/image-10-2.png"/><Relationship Id="rId31" Type="http://schemas.openxmlformats.org/officeDocument/2006/relationships/image" Target="../media/image-10-2.png"/><Relationship Id="rId32" Type="http://schemas.openxmlformats.org/officeDocument/2006/relationships/image" Target="../media/image-10-3.png"/><Relationship Id="rId33" Type="http://schemas.openxmlformats.org/officeDocument/2006/relationships/image" Target="../media/image-10-2.png"/><Relationship Id="rId34" Type="http://schemas.openxmlformats.org/officeDocument/2006/relationships/image" Target="../media/image-10-3.png"/><Relationship Id="rId35" Type="http://schemas.openxmlformats.org/officeDocument/2006/relationships/image" Target="../media/image-10-2.png"/><Relationship Id="rId36" Type="http://schemas.openxmlformats.org/officeDocument/2006/relationships/image" Target="../media/image-10-3.png"/><Relationship Id="rId37" Type="http://schemas.openxmlformats.org/officeDocument/2006/relationships/image" Target="../media/image-10-2.png"/><Relationship Id="rId38" Type="http://schemas.openxmlformats.org/officeDocument/2006/relationships/image" Target="../media/image-10-1.png"/><Relationship Id="rId39" Type="http://schemas.openxmlformats.org/officeDocument/2006/relationships/image" Target="../media/image-10-2.png"/><Relationship Id="rId40" Type="http://schemas.openxmlformats.org/officeDocument/2006/relationships/image" Target="../media/image-10-3.png"/><Relationship Id="rId41" Type="http://schemas.openxmlformats.org/officeDocument/2006/relationships/image" Target="../media/image-10-2.png"/><Relationship Id="rId42" Type="http://schemas.openxmlformats.org/officeDocument/2006/relationships/image" Target="../media/image-10-3.png"/><Relationship Id="rId43" Type="http://schemas.openxmlformats.org/officeDocument/2006/relationships/image" Target="../media/image-10-2.png"/><Relationship Id="rId44" Type="http://schemas.openxmlformats.org/officeDocument/2006/relationships/image" Target="../media/image-10-3.png"/><Relationship Id="rId45" Type="http://schemas.openxmlformats.org/officeDocument/2006/relationships/slideLayout" Target="../slideLayouts/slideLayout3.xml"/><Relationship Id="rId4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Автономный ИИ-исследователь на роботе-платформе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Робот сам ищет скрытые образцы, замечает, что среда изменилась, и возвращается на базу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финал · 9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920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TurtleBot3 Burger в Gazebo: путь робота в настоящем прогоне, собрано 5 образцов из 5,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Робот ищет то, чего не видит, — как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Образцы, дорогой грунт и опасные зоны скрыты; камеры нет — только лидар, заряд батареи и одно число датчика</a:t>
            </a:r>
            <a:endParaRPr lang="en-US" sz="1600" dirty="0"/>
          </a:p>
        </p:txBody>
      </p:sp>
      <p:sp>
        <p:nvSpPr>
          <p:cNvPr id="5" name="view-1-head"/>
          <p:cNvSpPr txBox="1"/>
          <p:nvPr/>
        </p:nvSpPr>
        <p:spPr>
          <a:xfrm>
            <a:off x="54864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 самом деле</a:t>
            </a:r>
            <a:endParaRPr lang="en-US" sz="1600" dirty="0"/>
          </a:p>
        </p:txBody>
      </p:sp>
      <p:pic>
        <p:nvPicPr>
          <p:cNvPr id="6" name="view-1" descr="Арена со скрытой правд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2536"/>
            <a:ext cx="1737360" cy="1664391"/>
          </a:xfrm>
          <a:prstGeom prst="rect">
            <a:avLst/>
          </a:prstGeom>
        </p:spPr>
      </p:pic>
      <p:sp>
        <p:nvSpPr>
          <p:cNvPr id="7" name="view-1-caption"/>
          <p:cNvSpPr txBox="1"/>
          <p:nvPr/>
        </p:nvSpPr>
        <p:spPr>
          <a:xfrm>
            <a:off x="548640" y="3703503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образцы, грунты, зоны</a:t>
            </a:r>
            <a:endParaRPr lang="en-US" sz="1200" dirty="0"/>
          </a:p>
        </p:txBody>
      </p:sp>
      <p:sp>
        <p:nvSpPr>
          <p:cNvPr id="8" name="view-2-head"/>
          <p:cNvSpPr txBox="1"/>
          <p:nvPr/>
        </p:nvSpPr>
        <p:spPr>
          <a:xfrm>
            <a:off x="246888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видит робот</a:t>
            </a:r>
            <a:endParaRPr lang="en-US" sz="1600" dirty="0"/>
          </a:p>
        </p:txBody>
      </p:sp>
      <p:pic>
        <p:nvPicPr>
          <p:cNvPr id="9" name="view-2" descr="То же место глазами робо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2002536"/>
            <a:ext cx="1737360" cy="1664391"/>
          </a:xfrm>
          <a:prstGeom prst="rect">
            <a:avLst/>
          </a:prstGeom>
        </p:spPr>
      </p:pic>
      <p:sp>
        <p:nvSpPr>
          <p:cNvPr id="10" name="view-2-caption"/>
          <p:cNvSpPr txBox="1"/>
          <p:nvPr/>
        </p:nvSpPr>
        <p:spPr>
          <a:xfrm>
            <a:off x="2468880" y="3703503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и число датчика</a:t>
            </a:r>
            <a:endParaRPr lang="en-US" sz="1200" dirty="0"/>
          </a:p>
        </p:txBody>
      </p:sp>
      <p:sp>
        <p:nvSpPr>
          <p:cNvPr id="11" name="hypothesis-card"/>
          <p:cNvSpPr/>
          <p:nvPr/>
        </p:nvSpPr>
        <p:spPr>
          <a:xfrm>
            <a:off x="4526280" y="1691640"/>
            <a:ext cx="7114032" cy="1572768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/>
        </p:spPr>
      </p:sp>
      <p:sp>
        <p:nvSpPr>
          <p:cNvPr id="12" name="hypothesis-text"/>
          <p:cNvSpPr txBox="1"/>
          <p:nvPr/>
        </p:nvSpPr>
        <p:spPr>
          <a:xfrm>
            <a:off x="4754880" y="1691640"/>
            <a:ext cx="665683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Исследовательская гипотеза.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600" dirty="0"/>
          </a:p>
        </p:txBody>
      </p:sp>
      <p:sp>
        <p:nvSpPr>
          <p:cNvPr id="13" name="cycle-label"/>
          <p:cNvSpPr txBox="1"/>
          <p:nvPr/>
        </p:nvSpPr>
        <p:spPr>
          <a:xfrm>
            <a:off x="4526280" y="3392424"/>
            <a:ext cx="1965960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Так же действует сам робот:</a:t>
            </a:r>
            <a:endParaRPr lang="en-US" sz="1600" dirty="0"/>
          </a:p>
        </p:txBody>
      </p:sp>
      <p:sp>
        <p:nvSpPr>
          <p:cNvPr id="14" name="cycle-1-card"/>
          <p:cNvSpPr/>
          <p:nvPr/>
        </p:nvSpPr>
        <p:spPr>
          <a:xfrm>
            <a:off x="6583680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accent1"/>
          </a:solidFill>
          <a:ln/>
        </p:spPr>
      </p:sp>
      <p:sp>
        <p:nvSpPr>
          <p:cNvPr id="15" name="cycle-1-text"/>
          <p:cNvSpPr txBox="1"/>
          <p:nvPr/>
        </p:nvSpPr>
        <p:spPr>
          <a:xfrm>
            <a:off x="6583680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гипотеза</a:t>
            </a:r>
            <a:endParaRPr lang="en-US" sz="1600" dirty="0"/>
          </a:p>
        </p:txBody>
      </p:sp>
      <p:sp>
        <p:nvSpPr>
          <p:cNvPr id="16" name="cycle-1-arrow"/>
          <p:cNvSpPr/>
          <p:nvPr/>
        </p:nvSpPr>
        <p:spPr>
          <a:xfrm>
            <a:off x="7678674" y="36576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17" name="cycle-2-card"/>
          <p:cNvSpPr/>
          <p:nvPr/>
        </p:nvSpPr>
        <p:spPr>
          <a:xfrm>
            <a:off x="7916418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bg2"/>
          </a:solidFill>
          <a:ln/>
        </p:spPr>
      </p:sp>
      <p:sp>
        <p:nvSpPr>
          <p:cNvPr id="18" name="cycle-2-text"/>
          <p:cNvSpPr txBox="1"/>
          <p:nvPr/>
        </p:nvSpPr>
        <p:spPr>
          <a:xfrm>
            <a:off x="7916418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действие</a:t>
            </a:r>
            <a:endParaRPr lang="en-US" sz="1600" dirty="0"/>
          </a:p>
        </p:txBody>
      </p:sp>
      <p:sp>
        <p:nvSpPr>
          <p:cNvPr id="19" name="cycle-2-arrow"/>
          <p:cNvSpPr/>
          <p:nvPr/>
        </p:nvSpPr>
        <p:spPr>
          <a:xfrm>
            <a:off x="9011412" y="36576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20" name="cycle-3-card"/>
          <p:cNvSpPr/>
          <p:nvPr/>
        </p:nvSpPr>
        <p:spPr>
          <a:xfrm>
            <a:off x="9249156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bg2"/>
          </a:solidFill>
          <a:ln/>
        </p:spPr>
      </p:sp>
      <p:sp>
        <p:nvSpPr>
          <p:cNvPr id="21" name="cycle-3-text"/>
          <p:cNvSpPr txBox="1"/>
          <p:nvPr/>
        </p:nvSpPr>
        <p:spPr>
          <a:xfrm>
            <a:off x="9249156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</a:t>
            </a:r>
            <a:endParaRPr lang="en-US" sz="1600" dirty="0"/>
          </a:p>
        </p:txBody>
      </p:sp>
      <p:sp>
        <p:nvSpPr>
          <p:cNvPr id="22" name="cycle-3-arrow"/>
          <p:cNvSpPr/>
          <p:nvPr/>
        </p:nvSpPr>
        <p:spPr>
          <a:xfrm>
            <a:off x="10344150" y="36576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23" name="cycle-4-card"/>
          <p:cNvSpPr/>
          <p:nvPr/>
        </p:nvSpPr>
        <p:spPr>
          <a:xfrm>
            <a:off x="10581894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bg2"/>
          </a:solidFill>
          <a:ln/>
        </p:spPr>
      </p:sp>
      <p:sp>
        <p:nvSpPr>
          <p:cNvPr id="24" name="cycle-4-text"/>
          <p:cNvSpPr txBox="1"/>
          <p:nvPr/>
        </p:nvSpPr>
        <p:spPr>
          <a:xfrm>
            <a:off x="10581894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вывод</a:t>
            </a:r>
            <a:endParaRPr lang="en-US" sz="1600" dirty="0"/>
          </a:p>
        </p:txBody>
      </p:sp>
      <p:sp>
        <p:nvSpPr>
          <p:cNvPr id="25" name="out-1-card"/>
          <p:cNvSpPr/>
          <p:nvPr/>
        </p:nvSpPr>
        <p:spPr>
          <a:xfrm>
            <a:off x="548640" y="4105839"/>
            <a:ext cx="3328416" cy="2112081"/>
          </a:xfrm>
          <a:prstGeom prst="roundRect">
            <a:avLst>
              <a:gd name="adj" fmla="val 3464"/>
            </a:avLst>
          </a:prstGeom>
          <a:solidFill>
            <a:schemeClr val="bg2"/>
          </a:solidFill>
          <a:ln/>
        </p:spPr>
      </p:sp>
      <p:sp>
        <p:nvSpPr>
          <p:cNvPr id="26" name="out-1-mark"/>
          <p:cNvSpPr/>
          <p:nvPr/>
        </p:nvSpPr>
        <p:spPr>
          <a:xfrm>
            <a:off x="548640" y="4215567"/>
            <a:ext cx="64008" cy="1892625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7" name="out-1-head"/>
          <p:cNvSpPr txBox="1"/>
          <p:nvPr/>
        </p:nvSpPr>
        <p:spPr>
          <a:xfrm>
            <a:off x="777240" y="4197279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Подтвердилось</a:t>
            </a:r>
            <a:endParaRPr lang="en-US" sz="1800" dirty="0"/>
          </a:p>
        </p:txBody>
      </p:sp>
      <p:sp>
        <p:nvSpPr>
          <p:cNvPr id="28" name="out-1-body"/>
          <p:cNvSpPr txBox="1"/>
          <p:nvPr/>
        </p:nvSpPr>
        <p:spPr>
          <a:xfrm>
            <a:off x="777240" y="4563039"/>
            <a:ext cx="2916936" cy="1343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Против плана заранее +13,3 очка [+7,4; +19,0]. Распознавание сбоя датчика — ещё +6,4 [+2,9; +9,8].</a:t>
            </a:r>
            <a:endParaRPr lang="en-US" sz="1600" dirty="0"/>
          </a:p>
        </p:txBody>
      </p:sp>
      <p:sp>
        <p:nvSpPr>
          <p:cNvPr id="29" name="out-1-where"/>
          <p:cNvSpPr txBox="1"/>
          <p:nvPr/>
        </p:nvSpPr>
        <p:spPr>
          <a:xfrm>
            <a:off x="777240" y="5925312"/>
            <a:ext cx="2916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трудный уровень</a:t>
            </a:r>
            <a:endParaRPr lang="en-US" sz="1200" dirty="0"/>
          </a:p>
        </p:txBody>
      </p:sp>
      <p:sp>
        <p:nvSpPr>
          <p:cNvPr id="30" name="out-2-card"/>
          <p:cNvSpPr/>
          <p:nvPr/>
        </p:nvSpPr>
        <p:spPr>
          <a:xfrm>
            <a:off x="4014216" y="4105839"/>
            <a:ext cx="4160520" cy="2112081"/>
          </a:xfrm>
          <a:prstGeom prst="roundRect">
            <a:avLst>
              <a:gd name="adj" fmla="val 3464"/>
            </a:avLst>
          </a:prstGeom>
          <a:solidFill>
            <a:schemeClr val="bg2"/>
          </a:solidFill>
          <a:ln/>
        </p:spPr>
      </p:sp>
      <p:sp>
        <p:nvSpPr>
          <p:cNvPr id="31" name="out-2-mark"/>
          <p:cNvSpPr/>
          <p:nvPr/>
        </p:nvSpPr>
        <p:spPr>
          <a:xfrm>
            <a:off x="4014216" y="4215567"/>
            <a:ext cx="64008" cy="1892625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2" name="out-2-head"/>
          <p:cNvSpPr txBox="1"/>
          <p:nvPr/>
        </p:nvSpPr>
        <p:spPr>
          <a:xfrm>
            <a:off x="4242816" y="4197279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Уточнилось</a:t>
            </a:r>
            <a:endParaRPr lang="en-US" sz="1800" dirty="0"/>
          </a:p>
        </p:txBody>
      </p:sp>
      <p:sp>
        <p:nvSpPr>
          <p:cNvPr id="33" name="out-2-body"/>
          <p:cNvSpPr txBox="1"/>
          <p:nvPr/>
        </p:nvSpPr>
        <p:spPr>
          <a:xfrm>
            <a:off x="4242816" y="4563039"/>
            <a:ext cx="3749040" cy="1343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Подсказка о местах образцов дала +14,5 очка, замена порядка обхода при известных местах — +1,6: в испытанных вариантах знание о среде весит больше порядка обхода.</a:t>
            </a:r>
            <a:endParaRPr lang="en-US" sz="1600" dirty="0"/>
          </a:p>
        </p:txBody>
      </p:sp>
      <p:sp>
        <p:nvSpPr>
          <p:cNvPr id="34" name="out-2-where"/>
          <p:cNvSpPr txBox="1"/>
          <p:nvPr/>
        </p:nvSpPr>
        <p:spPr>
          <a:xfrm>
            <a:off x="4242816" y="59253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трудный уровень</a:t>
            </a:r>
            <a:endParaRPr lang="en-US" sz="1200" dirty="0"/>
          </a:p>
        </p:txBody>
      </p:sp>
      <p:sp>
        <p:nvSpPr>
          <p:cNvPr id="35" name="out-3-card"/>
          <p:cNvSpPr/>
          <p:nvPr/>
        </p:nvSpPr>
        <p:spPr>
          <a:xfrm>
            <a:off x="8311896" y="4105839"/>
            <a:ext cx="3328416" cy="2112081"/>
          </a:xfrm>
          <a:prstGeom prst="roundRect">
            <a:avLst>
              <a:gd name="adj" fmla="val 3464"/>
            </a:avLst>
          </a:prstGeom>
          <a:solidFill>
            <a:schemeClr val="bg2"/>
          </a:solidFill>
          <a:ln/>
        </p:spPr>
      </p:sp>
      <p:sp>
        <p:nvSpPr>
          <p:cNvPr id="36" name="out-3-mark"/>
          <p:cNvSpPr/>
          <p:nvPr/>
        </p:nvSpPr>
        <p:spPr>
          <a:xfrm>
            <a:off x="8311896" y="4215567"/>
            <a:ext cx="64008" cy="1892625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7" name="out-3-head"/>
          <p:cNvSpPr txBox="1"/>
          <p:nvPr/>
        </p:nvSpPr>
        <p:spPr>
          <a:xfrm>
            <a:off x="8540496" y="4197279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Не подтвердилось</a:t>
            </a:r>
            <a:endParaRPr lang="en-US" sz="1800" dirty="0"/>
          </a:p>
        </p:txBody>
      </p:sp>
      <p:sp>
        <p:nvSpPr>
          <p:cNvPr id="38" name="out-3-body"/>
          <p:cNvSpPr txBox="1"/>
          <p:nvPr/>
        </p:nvSpPr>
        <p:spPr>
          <a:xfrm>
            <a:off x="8540496" y="4563039"/>
            <a:ext cx="2916936" cy="1343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Реакция на грунт и на его смену: выигрыш не показан (+1,0 [−3,6; +5,4] и +0,02). По возврату на базу разницы с планом заранее нет.</a:t>
            </a:r>
            <a:endParaRPr lang="en-US" sz="1600" dirty="0"/>
          </a:p>
        </p:txBody>
      </p:sp>
      <p:sp>
        <p:nvSpPr>
          <p:cNvPr id="39" name="out-3-where"/>
          <p:cNvSpPr txBox="1"/>
          <p:nvPr/>
        </p:nvSpPr>
        <p:spPr>
          <a:xfrm>
            <a:off x="8540496" y="5925312"/>
            <a:ext cx="2916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Один агент и один судья, два симулятора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нашего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83992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480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31464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64280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2828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11752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to-label"/>
          <p:cNvSpPr txBox="1"/>
          <p:nvPr/>
        </p:nvSpPr>
        <p:spPr>
          <a:xfrm>
            <a:off x="4297680" y="240487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заряд, датчик образцов,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штрафы, лидар, одометрия</a:t>
            </a:r>
            <a:endParaRPr lang="en-US" sz="1400" dirty="0"/>
          </a:p>
        </p:txBody>
      </p:sp>
      <p:sp>
        <p:nvSpPr>
          <p:cNvPr id="31" name="chan-to"/>
          <p:cNvSpPr/>
          <p:nvPr/>
        </p:nvSpPr>
        <p:spPr>
          <a:xfrm>
            <a:off x="4297680" y="300837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2" name="chan-from"/>
          <p:cNvSpPr/>
          <p:nvPr/>
        </p:nvSpPr>
        <p:spPr>
          <a:xfrm>
            <a:off x="4297680" y="3300984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from-label"/>
          <p:cNvSpPr txBox="1"/>
          <p:nvPr/>
        </p:nvSpPr>
        <p:spPr>
          <a:xfrm>
            <a:off x="4297680" y="339242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скорость колёс,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«собрать», «финиш»</a:t>
            </a:r>
            <a:endParaRPr lang="en-US" sz="1400" dirty="0"/>
          </a:p>
        </p:txBody>
      </p:sp>
      <p:sp>
        <p:nvSpPr>
          <p:cNvPr id="34" name="llm-card"/>
          <p:cNvSpPr/>
          <p:nvPr/>
        </p:nvSpPr>
        <p:spPr>
          <a:xfrm>
            <a:off x="548640" y="4800600"/>
            <a:ext cx="67208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35" name="llm-text"/>
          <p:cNvSpPr txBox="1"/>
          <p:nvPr/>
        </p:nvSpPr>
        <p:spPr>
          <a:xfrm>
            <a:off x="777240" y="4800600"/>
            <a:ext cx="6263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Место языковой модели.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Читает миссию, заданную словами, и предлагает подцели: разведать область, проверить место, вернуться. Ответ проверяется; при сбое решает правило. Гипотезы робота, путь и скорость колёс — программа.</a:t>
            </a:r>
            <a:endParaRPr lang="en-US" sz="1600" dirty="0"/>
          </a:p>
        </p:txBody>
      </p:sp>
      <p:sp>
        <p:nvSpPr>
          <p:cNvPr id="36" name="sim-card"/>
          <p:cNvSpPr/>
          <p:nvPr/>
        </p:nvSpPr>
        <p:spPr>
          <a:xfrm>
            <a:off x="7452360" y="4800600"/>
            <a:ext cx="41879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37" name="sim-text"/>
          <p:cNvSpPr txBox="1"/>
          <p:nvPr/>
        </p:nvSpPr>
        <p:spPr>
          <a:xfrm>
            <a:off x="7680960" y="4800600"/>
            <a:ext cx="37307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Зачем два симулятора. 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Gazebo — физика и показ. Быстрый — серии: 240 прогонов за 37 секунд, поэтому у каждого вывода есть интервал.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Трудный уровень: 81 очко; с полными подсказками — 92,5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Быстрый симулятор. Числа — из трёх опытов на разных наборах сценариев: между опытами столбцы не вычитать</a:t>
            </a:r>
            <a:endParaRPr lang="en-US" sz="1600" dirty="0"/>
          </a:p>
        </p:txBody>
      </p:sp>
      <p:sp>
        <p:nvSpPr>
          <p:cNvPr id="5" name="scores-head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Счёт по вариантам агента: три разных опыта</a:t>
            </a:r>
            <a:endParaRPr lang="en-US" sz="1600" dirty="0"/>
          </a:p>
        </p:txBody>
      </p:sp>
      <p:pic>
        <p:nvPicPr>
          <p:cNvPr id="6" name="scores-chart" descr="Счёт на трудном уровне, три опыта на разных наборах сценариев. Опыт E1: план заранее 59,3, адаптивный агент 72,7. Опыт P1, новые сценарии: адаптивный агент 74,9, с распознаванием сбоя датчика 81,3. Опыт A1, 160 других сценариев: адаптивный агент 73,3, агент с полными подсказками 92,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84248"/>
            <a:ext cx="5394960" cy="2743200"/>
          </a:xfrm>
          <a:prstGeom prst="rect">
            <a:avLst/>
          </a:prstGeom>
        </p:spPr>
      </p:pic>
      <p:sp>
        <p:nvSpPr>
          <p:cNvPr id="7" name="effects-head"/>
          <p:cNvSpPr txBox="1"/>
          <p:nvPr/>
        </p:nvSpPr>
        <p:spPr>
          <a:xfrm>
            <a:off x="6245352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дало каждое улучшение (серое — не показано)</a:t>
            </a:r>
            <a:endParaRPr lang="en-US" sz="1600" dirty="0"/>
          </a:p>
        </p:txBody>
      </p:sp>
      <p:pic>
        <p:nvPicPr>
          <p:cNvPr id="8" name="effects-chart" descr="Прибавка к счёту: адаптация +13,3; распознавание сбоя датчика +6,4; новые схемы планирования −0,4; пять правок по разбору потерь при базовых правилах −0,39; реакция на дорогой грунт +1,0; реакция на смену грунта +0,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984248"/>
            <a:ext cx="5394960" cy="2743200"/>
          </a:xfrm>
          <a:prstGeom prst="rect">
            <a:avLst/>
          </a:prstGeom>
        </p:spPr>
      </p:pic>
      <p:sp>
        <p:nvSpPr>
          <p:cNvPr id="9" name="gz-1-card"/>
          <p:cNvSpPr/>
          <p:nvPr/>
        </p:nvSpPr>
        <p:spPr>
          <a:xfrm>
            <a:off x="548640" y="4818888"/>
            <a:ext cx="3605784" cy="1399032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0" name="gz-1-value"/>
          <p:cNvSpPr txBox="1"/>
          <p:nvPr/>
        </p:nvSpPr>
        <p:spPr>
          <a:xfrm>
            <a:off x="749808" y="4837176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 из 5</a:t>
            </a:r>
            <a:endParaRPr lang="en-US" sz="2400" dirty="0"/>
          </a:p>
        </p:txBody>
      </p:sp>
      <p:sp>
        <p:nvSpPr>
          <p:cNvPr id="11" name="gz-1-label"/>
          <p:cNvSpPr txBox="1"/>
          <p:nvPr/>
        </p:nvSpPr>
        <p:spPr>
          <a:xfrm>
            <a:off x="749808" y="5212080"/>
            <a:ext cx="3240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засчитанных прогонов показа (четыре 8.10 и репетиция 9.10): 7 из 7 образцов, возврат, без штрафов, счёт 90,8–91,9</a:t>
            </a:r>
            <a:endParaRPr lang="en-US" sz="1300" dirty="0"/>
          </a:p>
        </p:txBody>
      </p:sp>
      <p:sp>
        <p:nvSpPr>
          <p:cNvPr id="12" name="gz-1-where"/>
          <p:cNvSpPr txBox="1"/>
          <p:nvPr/>
        </p:nvSpPr>
        <p:spPr>
          <a:xfrm>
            <a:off x="749808" y="58247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сценарий 2; ещё два не засчитаны: машина была перегружена</a:t>
            </a:r>
            <a:endParaRPr lang="en-US" sz="1200" dirty="0"/>
          </a:p>
        </p:txBody>
      </p:sp>
      <p:sp>
        <p:nvSpPr>
          <p:cNvPr id="13" name="gz-2-card"/>
          <p:cNvSpPr/>
          <p:nvPr/>
        </p:nvSpPr>
        <p:spPr>
          <a:xfrm>
            <a:off x="4291584" y="4818888"/>
            <a:ext cx="3605784" cy="1399032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4" name="gz-2-value"/>
          <p:cNvSpPr txBox="1"/>
          <p:nvPr/>
        </p:nvSpPr>
        <p:spPr>
          <a:xfrm>
            <a:off x="4492752" y="4837176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 из 9 → 7 из 7</a:t>
            </a:r>
            <a:endParaRPr lang="en-US" sz="2400" dirty="0"/>
          </a:p>
        </p:txBody>
      </p:sp>
      <p:sp>
        <p:nvSpPr>
          <p:cNvPr id="15" name="gz-2-label"/>
          <p:cNvSpPr txBox="1"/>
          <p:nvPr/>
        </p:nvSpPr>
        <p:spPr>
          <a:xfrm>
            <a:off x="4492752" y="5212080"/>
            <a:ext cx="3240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возврат на базу после защиты от потери положения</a:t>
            </a:r>
            <a:endParaRPr lang="en-US" sz="1300" dirty="0"/>
          </a:p>
        </p:txBody>
      </p:sp>
      <p:sp>
        <p:nvSpPr>
          <p:cNvPr id="16" name="gz-2-where"/>
          <p:cNvSpPr txBox="1"/>
          <p:nvPr/>
        </p:nvSpPr>
        <p:spPr>
          <a:xfrm>
            <a:off x="4492752" y="58247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трудный уровень</a:t>
            </a:r>
            <a:endParaRPr lang="en-US" sz="1200" dirty="0"/>
          </a:p>
        </p:txBody>
      </p:sp>
      <p:sp>
        <p:nvSpPr>
          <p:cNvPr id="17" name="gz-3-card"/>
          <p:cNvSpPr/>
          <p:nvPr/>
        </p:nvSpPr>
        <p:spPr>
          <a:xfrm>
            <a:off x="8034528" y="4818888"/>
            <a:ext cx="3605784" cy="1399032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8" name="gz-3-value"/>
          <p:cNvSpPr txBox="1"/>
          <p:nvPr/>
        </p:nvSpPr>
        <p:spPr>
          <a:xfrm>
            <a:off x="8235696" y="4837176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76,2 и 75,9</a:t>
            </a:r>
            <a:endParaRPr lang="en-US" sz="2400" dirty="0"/>
          </a:p>
        </p:txBody>
      </p:sp>
      <p:sp>
        <p:nvSpPr>
          <p:cNvPr id="19" name="gz-3-label"/>
          <p:cNvSpPr txBox="1"/>
          <p:nvPr/>
        </p:nvSpPr>
        <p:spPr>
          <a:xfrm>
            <a:off x="8235696" y="5212080"/>
            <a:ext cx="3240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в Gazebo и в быстром симуляторе: различие не показано</a:t>
            </a:r>
            <a:endParaRPr lang="en-US" sz="1300" dirty="0"/>
          </a:p>
        </p:txBody>
      </p:sp>
      <p:sp>
        <p:nvSpPr>
          <p:cNvPr id="20" name="gz-3-where"/>
          <p:cNvSpPr txBox="1"/>
          <p:nvPr/>
        </p:nvSpPr>
        <p:spPr>
          <a:xfrm>
            <a:off x="8235696" y="58247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 пар одинаковых трудных сценариев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Изменения робот замечает сам; модель читает миссию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Среда меняется без объявления. Гипотезы робота выдвигает и проверяет программа, а не модель</a:t>
            </a:r>
            <a:endParaRPr lang="en-US" sz="1600" dirty="0"/>
          </a:p>
        </p:txBody>
      </p:sp>
      <p:sp>
        <p:nvSpPr>
          <p:cNvPr id="5" name="adapt-head"/>
          <p:cNvSpPr txBox="1"/>
          <p:nvPr/>
        </p:nvSpPr>
        <p:spPr>
          <a:xfrm>
            <a:off x="5486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робот замечает сам</a:t>
            </a:r>
            <a:endParaRPr lang="en-US" sz="1600" dirty="0"/>
          </a:p>
        </p:txBody>
      </p:sp>
      <p:sp>
        <p:nvSpPr>
          <p:cNvPr id="6" name="adapt-1-card"/>
          <p:cNvSpPr/>
          <p:nvPr/>
        </p:nvSpPr>
        <p:spPr>
          <a:xfrm>
            <a:off x="548640" y="2057400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7" name="adapt-1-sign"/>
          <p:cNvSpPr txBox="1"/>
          <p:nvPr/>
        </p:nvSpPr>
        <p:spPr>
          <a:xfrm>
            <a:off x="749808" y="21305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Датчик образцов шумит</a:t>
            </a:r>
            <a:endParaRPr lang="en-US" sz="1600" dirty="0"/>
          </a:p>
        </p:txBody>
      </p:sp>
      <p:sp>
        <p:nvSpPr>
          <p:cNvPr id="8" name="adapt-1-act"/>
          <p:cNvSpPr txBox="1"/>
          <p:nvPr/>
        </p:nvSpPr>
        <p:spPr>
          <a:xfrm>
            <a:off x="749808" y="2441448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делает вывод «сбой» и ждёт</a:t>
            </a:r>
            <a:endParaRPr lang="en-US" sz="1600" dirty="0"/>
          </a:p>
        </p:txBody>
      </p:sp>
      <p:sp>
        <p:nvSpPr>
          <p:cNvPr id="9" name="adapt-1-num"/>
          <p:cNvSpPr txBox="1"/>
          <p:nvPr/>
        </p:nvSpPr>
        <p:spPr>
          <a:xfrm>
            <a:off x="429768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+6,4</a:t>
            </a:r>
            <a:endParaRPr lang="en-US" sz="2400" dirty="0"/>
          </a:p>
        </p:txBody>
      </p:sp>
      <p:sp>
        <p:nvSpPr>
          <p:cNvPr id="10" name="adapt-1-unit"/>
          <p:cNvSpPr txBox="1"/>
          <p:nvPr/>
        </p:nvSpPr>
        <p:spPr>
          <a:xfrm>
            <a:off x="4297680" y="24505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[+2,9; +9,8]</a:t>
            </a:r>
            <a:endParaRPr lang="en-US" sz="1300" dirty="0"/>
          </a:p>
        </p:txBody>
      </p:sp>
      <p:sp>
        <p:nvSpPr>
          <p:cNvPr id="11" name="adapt-1-where"/>
          <p:cNvSpPr txBox="1"/>
          <p:nvPr/>
        </p:nvSpPr>
        <p:spPr>
          <a:xfrm>
            <a:off x="4297680" y="2608326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</a:t>
            </a:r>
            <a:endParaRPr lang="en-US" sz="1200" dirty="0"/>
          </a:p>
        </p:txBody>
      </p:sp>
      <p:sp>
        <p:nvSpPr>
          <p:cNvPr id="12" name="adapt-2-card"/>
          <p:cNvSpPr/>
          <p:nvPr/>
        </p:nvSpPr>
        <p:spPr>
          <a:xfrm>
            <a:off x="548640" y="2928366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13" name="adapt-2-sign"/>
          <p:cNvSpPr txBox="1"/>
          <p:nvPr/>
        </p:nvSpPr>
        <p:spPr>
          <a:xfrm>
            <a:off x="749808" y="30015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Штрафы: новая опасная зона</a:t>
            </a:r>
            <a:endParaRPr lang="en-US" sz="1600" dirty="0"/>
          </a:p>
        </p:txBody>
      </p:sp>
      <p:sp>
        <p:nvSpPr>
          <p:cNvPr id="14" name="adapt-2-act"/>
          <p:cNvSpPr txBox="1"/>
          <p:nvPr/>
        </p:nvSpPr>
        <p:spPr>
          <a:xfrm>
            <a:off x="749808" y="3312414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запоминает зону и объезжает</a:t>
            </a:r>
            <a:endParaRPr lang="en-US" sz="1600" dirty="0"/>
          </a:p>
        </p:txBody>
      </p:sp>
      <p:sp>
        <p:nvSpPr>
          <p:cNvPr id="15" name="adapt-2-num"/>
          <p:cNvSpPr txBox="1"/>
          <p:nvPr/>
        </p:nvSpPr>
        <p:spPr>
          <a:xfrm>
            <a:off x="4297680" y="295579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+3,5</a:t>
            </a:r>
            <a:endParaRPr lang="en-US" sz="2400" dirty="0"/>
          </a:p>
        </p:txBody>
      </p:sp>
      <p:sp>
        <p:nvSpPr>
          <p:cNvPr id="16" name="adapt-2-unit"/>
          <p:cNvSpPr txBox="1"/>
          <p:nvPr/>
        </p:nvSpPr>
        <p:spPr>
          <a:xfrm>
            <a:off x="4297680" y="332155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[+0,4; +7,1]</a:t>
            </a:r>
            <a:endParaRPr lang="en-US" sz="1300" dirty="0"/>
          </a:p>
        </p:txBody>
      </p:sp>
      <p:sp>
        <p:nvSpPr>
          <p:cNvPr id="17" name="adapt-2-where"/>
          <p:cNvSpPr txBox="1"/>
          <p:nvPr/>
        </p:nvSpPr>
        <p:spPr>
          <a:xfrm>
            <a:off x="4297680" y="3479292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быстрый, 3 новые зоны</a:t>
            </a:r>
            <a:endParaRPr lang="en-US" sz="1200" dirty="0"/>
          </a:p>
        </p:txBody>
      </p:sp>
      <p:sp>
        <p:nvSpPr>
          <p:cNvPr id="18" name="adapt-3-card"/>
          <p:cNvSpPr/>
          <p:nvPr/>
        </p:nvSpPr>
        <p:spPr>
          <a:xfrm>
            <a:off x="548640" y="3799332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19" name="adapt-3-sign"/>
          <p:cNvSpPr txBox="1"/>
          <p:nvPr/>
        </p:nvSpPr>
        <p:spPr>
          <a:xfrm>
            <a:off x="749808" y="387248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 потеряно</a:t>
            </a:r>
            <a:endParaRPr lang="en-US" sz="1600" dirty="0"/>
          </a:p>
        </p:txBody>
      </p:sp>
      <p:sp>
        <p:nvSpPr>
          <p:cNvPr id="20" name="adapt-3-act"/>
          <p:cNvSpPr txBox="1"/>
          <p:nvPr/>
        </p:nvSpPr>
        <p:spPr>
          <a:xfrm>
            <a:off x="749808" y="4183380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ищет себя заново, едет на базу</a:t>
            </a:r>
            <a:endParaRPr lang="en-US" sz="1600" dirty="0"/>
          </a:p>
        </p:txBody>
      </p:sp>
      <p:sp>
        <p:nvSpPr>
          <p:cNvPr id="21" name="adapt-3-num"/>
          <p:cNvSpPr txBox="1"/>
          <p:nvPr/>
        </p:nvSpPr>
        <p:spPr>
          <a:xfrm>
            <a:off x="4297680" y="38267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7 из 7</a:t>
            </a:r>
            <a:endParaRPr lang="en-US" sz="2400" dirty="0"/>
          </a:p>
        </p:txBody>
      </p:sp>
      <p:sp>
        <p:nvSpPr>
          <p:cNvPr id="22" name="adapt-3-unit"/>
          <p:cNvSpPr txBox="1"/>
          <p:nvPr/>
        </p:nvSpPr>
        <p:spPr>
          <a:xfrm>
            <a:off x="4297680" y="41925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было 8 из 9 возвратов</a:t>
            </a:r>
            <a:endParaRPr lang="en-US" sz="1300" dirty="0"/>
          </a:p>
        </p:txBody>
      </p:sp>
      <p:sp>
        <p:nvSpPr>
          <p:cNvPr id="23" name="adapt-3-where"/>
          <p:cNvSpPr txBox="1"/>
          <p:nvPr/>
        </p:nvSpPr>
        <p:spPr>
          <a:xfrm>
            <a:off x="4297680" y="4350258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</a:t>
            </a:r>
            <a:endParaRPr lang="en-US" sz="1200" dirty="0"/>
          </a:p>
        </p:txBody>
      </p:sp>
      <p:sp>
        <p:nvSpPr>
          <p:cNvPr id="24" name="adapt-4-card"/>
          <p:cNvSpPr/>
          <p:nvPr/>
        </p:nvSpPr>
        <p:spPr>
          <a:xfrm>
            <a:off x="548640" y="4670298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25" name="adapt-4-sign"/>
          <p:cNvSpPr txBox="1"/>
          <p:nvPr/>
        </p:nvSpPr>
        <p:spPr>
          <a:xfrm>
            <a:off x="749808" y="474345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Грунт на пути подорожал</a:t>
            </a:r>
            <a:endParaRPr lang="en-US" sz="1600" dirty="0"/>
          </a:p>
        </p:txBody>
      </p:sp>
      <p:sp>
        <p:nvSpPr>
          <p:cNvPr id="26" name="adapt-4-act"/>
          <p:cNvSpPr txBox="1"/>
          <p:nvPr/>
        </p:nvSpPr>
        <p:spPr>
          <a:xfrm>
            <a:off x="749808" y="5054346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меряет расход, вносит в карту</a:t>
            </a:r>
            <a:endParaRPr lang="en-US" sz="1600" dirty="0"/>
          </a:p>
        </p:txBody>
      </p:sp>
      <p:sp>
        <p:nvSpPr>
          <p:cNvPr id="27" name="adapt-4-num"/>
          <p:cNvSpPr txBox="1"/>
          <p:nvPr/>
        </p:nvSpPr>
        <p:spPr>
          <a:xfrm>
            <a:off x="4297680" y="469773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+0,02</a:t>
            </a:r>
            <a:endParaRPr lang="en-US" sz="2400" dirty="0"/>
          </a:p>
        </p:txBody>
      </p:sp>
      <p:sp>
        <p:nvSpPr>
          <p:cNvPr id="28" name="adapt-4-unit"/>
          <p:cNvSpPr txBox="1"/>
          <p:nvPr/>
        </p:nvSpPr>
        <p:spPr>
          <a:xfrm>
            <a:off x="4297680" y="506349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[−0,03; +0,07]</a:t>
            </a:r>
            <a:endParaRPr lang="en-US" sz="1300" dirty="0"/>
          </a:p>
        </p:txBody>
      </p:sp>
      <p:sp>
        <p:nvSpPr>
          <p:cNvPr id="29" name="adapt-4-where"/>
          <p:cNvSpPr txBox="1"/>
          <p:nvPr/>
        </p:nvSpPr>
        <p:spPr>
          <a:xfrm>
            <a:off x="4297680" y="5221224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выигрыш не показан</a:t>
            </a:r>
            <a:endParaRPr lang="en-US" sz="1200" dirty="0"/>
          </a:p>
        </p:txBody>
      </p:sp>
      <p:sp>
        <p:nvSpPr>
          <p:cNvPr id="30" name="cal-card"/>
          <p:cNvSpPr/>
          <p:nvPr/>
        </p:nvSpPr>
        <p:spPr>
          <a:xfrm>
            <a:off x="548640" y="5541264"/>
            <a:ext cx="56692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/>
        </p:spPr>
      </p:sp>
      <p:sp>
        <p:nvSpPr>
          <p:cNvPr id="31" name="cal-text"/>
          <p:cNvSpPr txBox="1"/>
          <p:nvPr/>
        </p:nvSpPr>
        <p:spPr>
          <a:xfrm>
            <a:off x="749808" y="554126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Самокалибровка. </a:t>
            </a:r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При чужом законе датчика робот сам проверяет допущения: собрано 71% образцов вместо 1% и 61% вместо 23%. Быстрый симулятор; по умолчанию выключено.</a:t>
            </a:r>
            <a:endParaRPr lang="en-US" sz="1300" dirty="0"/>
          </a:p>
        </p:txBody>
      </p:sp>
      <p:sp>
        <p:nvSpPr>
          <p:cNvPr id="32" name="llm-head"/>
          <p:cNvSpPr txBox="1"/>
          <p:nvPr/>
        </p:nvSpPr>
        <p:spPr>
          <a:xfrm>
            <a:off x="6492240" y="16916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модель: три модели с сервера МАИ</a:t>
            </a:r>
            <a:endParaRPr lang="en-US" sz="1600" dirty="0"/>
          </a:p>
        </p:txBody>
      </p:sp>
      <p:sp>
        <p:nvSpPr>
          <p:cNvPr id="33" name="mission-card"/>
          <p:cNvSpPr/>
          <p:nvPr/>
        </p:nvSpPr>
        <p:spPr>
          <a:xfrm>
            <a:off x="6492240" y="2057400"/>
            <a:ext cx="5148072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34" name="mission-text"/>
          <p:cNvSpPr txBox="1"/>
          <p:nvPr/>
        </p:nvSpPr>
        <p:spPr>
          <a:xfrm>
            <a:off x="6720840" y="212140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Миссии, заданные словами (быстрый симулятор)</a:t>
            </a:r>
            <a:endParaRPr lang="en-US" sz="1600" dirty="0"/>
          </a:p>
        </p:txBody>
      </p:sp>
      <p:sp>
        <p:nvSpPr>
          <p:cNvPr id="35" name="mission-1-value"/>
          <p:cNvSpPr txBox="1"/>
          <p:nvPr/>
        </p:nvSpPr>
        <p:spPr>
          <a:xfrm>
            <a:off x="6720840" y="2404872"/>
            <a:ext cx="2619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45–46 из 48</a:t>
            </a:r>
            <a:endParaRPr lang="en-US" sz="3000" dirty="0"/>
          </a:p>
        </p:txBody>
      </p:sp>
      <p:sp>
        <p:nvSpPr>
          <p:cNvPr id="36" name="mission-1-who"/>
          <p:cNvSpPr txBox="1"/>
          <p:nvPr/>
        </p:nvSpPr>
        <p:spPr>
          <a:xfrm>
            <a:off x="6720840" y="2880360"/>
            <a:ext cx="26197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модель — на каждой из трёх</a:t>
            </a:r>
            <a:endParaRPr lang="en-US" sz="1300" dirty="0"/>
          </a:p>
        </p:txBody>
      </p:sp>
      <p:sp>
        <p:nvSpPr>
          <p:cNvPr id="37" name="mission-2-value"/>
          <p:cNvSpPr txBox="1"/>
          <p:nvPr/>
        </p:nvSpPr>
        <p:spPr>
          <a:xfrm>
            <a:off x="9386316" y="2404872"/>
            <a:ext cx="22997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2"/>
                </a:solidFill>
              </a:rPr>
              <a:t>0 из 48</a:t>
            </a:r>
            <a:endParaRPr lang="en-US" sz="3000" dirty="0"/>
          </a:p>
        </p:txBody>
      </p:sp>
      <p:sp>
        <p:nvSpPr>
          <p:cNvPr id="38" name="mission-2-who"/>
          <p:cNvSpPr txBox="1"/>
          <p:nvPr/>
        </p:nvSpPr>
        <p:spPr>
          <a:xfrm>
            <a:off x="9386316" y="2880360"/>
            <a:ext cx="22997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правило: текст не читает</a:t>
            </a:r>
            <a:endParaRPr lang="en-US" sz="1300" dirty="0"/>
          </a:p>
        </p:txBody>
      </p:sp>
      <p:sp>
        <p:nvSpPr>
          <p:cNvPr id="39" name="llm-1-card"/>
          <p:cNvSpPr/>
          <p:nvPr/>
        </p:nvSpPr>
        <p:spPr>
          <a:xfrm>
            <a:off x="6492240" y="324612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0" name="llm-1-value"/>
          <p:cNvSpPr txBox="1"/>
          <p:nvPr/>
        </p:nvSpPr>
        <p:spPr>
          <a:xfrm>
            <a:off x="6675120" y="328269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93–98%</a:t>
            </a:r>
            <a:endParaRPr lang="en-US" sz="2200" dirty="0"/>
          </a:p>
        </p:txBody>
      </p:sp>
      <p:sp>
        <p:nvSpPr>
          <p:cNvPr id="41" name="llm-1-label"/>
          <p:cNvSpPr txBox="1"/>
          <p:nvPr/>
        </p:nvSpPr>
        <p:spPr>
          <a:xfrm>
            <a:off x="7955280" y="330098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случаев: настоящая причина есть среди гипотез модели (разметка моделью); вывод верен в 24–39% против 86% у расчёта</a:t>
            </a:r>
            <a:endParaRPr lang="en-US" sz="1300" dirty="0"/>
          </a:p>
        </p:txBody>
      </p:sp>
      <p:sp>
        <p:nvSpPr>
          <p:cNvPr id="42" name="llm-1-where"/>
          <p:cNvSpPr txBox="1"/>
          <p:nvPr/>
        </p:nvSpPr>
        <p:spPr>
          <a:xfrm>
            <a:off x="6675120" y="392887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опыт «в тени» · модель предлагает, расчёт проверяет</a:t>
            </a:r>
            <a:endParaRPr lang="en-US" sz="1200" dirty="0"/>
          </a:p>
        </p:txBody>
      </p:sp>
      <p:sp>
        <p:nvSpPr>
          <p:cNvPr id="43" name="llm-2-card"/>
          <p:cNvSpPr/>
          <p:nvPr/>
        </p:nvSpPr>
        <p:spPr>
          <a:xfrm>
            <a:off x="6492240" y="426720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4" name="llm-2-value"/>
          <p:cNvSpPr txBox="1"/>
          <p:nvPr/>
        </p:nvSpPr>
        <p:spPr>
          <a:xfrm>
            <a:off x="6675120" y="430377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+38,5</a:t>
            </a:r>
            <a:endParaRPr lang="en-US" sz="2200" dirty="0"/>
          </a:p>
        </p:txBody>
      </p:sp>
      <p:sp>
        <p:nvSpPr>
          <p:cNvPr id="45" name="llm-2-label"/>
          <p:cNvSpPr txBox="1"/>
          <p:nvPr/>
        </p:nvSpPr>
        <p:spPr>
          <a:xfrm>
            <a:off x="7955280" y="432206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[+3,4; +79,3], если ехать по правилу, пока модель думает: 34,7 → 73,2; приняты 7% её ответов</a:t>
            </a:r>
            <a:endParaRPr lang="en-US" sz="1300" dirty="0"/>
          </a:p>
        </p:txBody>
      </p:sp>
      <p:sp>
        <p:nvSpPr>
          <p:cNvPr id="46" name="llm-2-where"/>
          <p:cNvSpPr txBox="1"/>
          <p:nvPr/>
        </p:nvSpPr>
        <p:spPr>
          <a:xfrm>
            <a:off x="6675120" y="494995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настоящая модель, 10 сценариев · по умолчанию выключено</a:t>
            </a:r>
            <a:endParaRPr lang="en-US" sz="1200" dirty="0"/>
          </a:p>
        </p:txBody>
      </p:sp>
      <p:sp>
        <p:nvSpPr>
          <p:cNvPr id="47" name="llm-3-card"/>
          <p:cNvSpPr/>
          <p:nvPr/>
        </p:nvSpPr>
        <p:spPr>
          <a:xfrm>
            <a:off x="6492240" y="528828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8" name="llm-3-value"/>
          <p:cNvSpPr txBox="1"/>
          <p:nvPr/>
        </p:nvSpPr>
        <p:spPr>
          <a:xfrm>
            <a:off x="6675120" y="532485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0,4 с</a:t>
            </a:r>
            <a:endParaRPr lang="en-US" sz="2200" dirty="0"/>
          </a:p>
        </p:txBody>
      </p:sp>
      <p:sp>
        <p:nvSpPr>
          <p:cNvPr id="49" name="llm-3-label"/>
          <p:cNvSpPr txBox="1"/>
          <p:nvPr/>
        </p:nvSpPr>
        <p:spPr>
          <a:xfrm>
            <a:off x="7955280" y="534314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отвечает быстрая модель Jev — сторож миссии (большая — 19–24 с); «ровно два образца»: 20 из 20, правило — 0 из 20</a:t>
            </a:r>
            <a:endParaRPr lang="en-US" sz="1300" dirty="0"/>
          </a:p>
        </p:txBody>
      </p:sp>
      <p:sp>
        <p:nvSpPr>
          <p:cNvPr id="50" name="llm-3-where"/>
          <p:cNvSpPr txBox="1"/>
          <p:nvPr/>
        </p:nvSpPr>
        <p:spPr>
          <a:xfrm>
            <a:off x="6675120" y="597103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 · равноценность большой не установлена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Бонусные треки: четыре закрыты числами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У каждого числа подписано, где оно измерено: Gazebo или быстрый симулятор</a:t>
            </a:r>
            <a:endParaRPr lang="en-US" sz="1600" dirty="0"/>
          </a:p>
        </p:txBody>
      </p:sp>
      <p:sp>
        <p:nvSpPr>
          <p:cNvPr id="5" name="bonus-1-card"/>
          <p:cNvSpPr/>
          <p:nvPr/>
        </p:nvSpPr>
        <p:spPr>
          <a:xfrm>
            <a:off x="548640" y="1691640"/>
            <a:ext cx="7754112" cy="893064"/>
          </a:xfrm>
          <a:prstGeom prst="roundRect">
            <a:avLst>
              <a:gd name="adj" fmla="val 8191"/>
            </a:avLst>
          </a:prstGeom>
          <a:solidFill>
            <a:schemeClr val="bg2"/>
          </a:solidFill>
          <a:ln/>
        </p:spPr>
      </p:sp>
      <p:sp>
        <p:nvSpPr>
          <p:cNvPr id="6" name="bonus-1-head"/>
          <p:cNvSpPr txBox="1"/>
          <p:nvPr/>
        </p:nvSpPr>
        <p:spPr>
          <a:xfrm>
            <a:off x="749808" y="1737360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SLAM вместо готовой карты</a:t>
            </a:r>
            <a:endParaRPr lang="en-US" sz="1600" dirty="0"/>
          </a:p>
        </p:txBody>
      </p:sp>
      <p:sp>
        <p:nvSpPr>
          <p:cNvPr id="7" name="bonus-1-body"/>
          <p:cNvSpPr txBox="1"/>
          <p:nvPr/>
        </p:nvSpPr>
        <p:spPr>
          <a:xfrm>
            <a:off x="749808" y="2020824"/>
            <a:ext cx="523951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готовой; столбов 9 из 9; начало координат совпадает с мировым с точностью около 5 см</a:t>
            </a:r>
            <a:endParaRPr lang="en-US" sz="1400" dirty="0"/>
          </a:p>
        </p:txBody>
      </p:sp>
      <p:sp>
        <p:nvSpPr>
          <p:cNvPr id="8" name="bonus-1-num"/>
          <p:cNvSpPr txBox="1"/>
          <p:nvPr/>
        </p:nvSpPr>
        <p:spPr>
          <a:xfrm>
            <a:off x="6153912" y="173736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95,8–98,7%</a:t>
            </a:r>
            <a:endParaRPr lang="en-US" sz="2600" dirty="0"/>
          </a:p>
        </p:txBody>
      </p:sp>
      <p:sp>
        <p:nvSpPr>
          <p:cNvPr id="9" name="bonus-1-where"/>
          <p:cNvSpPr txBox="1"/>
          <p:nvPr/>
        </p:nvSpPr>
        <p:spPr>
          <a:xfrm>
            <a:off x="6153912" y="2185416"/>
            <a:ext cx="1965960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5 прогонов</a:t>
            </a:r>
            <a:endParaRPr lang="en-US" sz="1200" dirty="0"/>
          </a:p>
        </p:txBody>
      </p:sp>
      <p:sp>
        <p:nvSpPr>
          <p:cNvPr id="10" name="bonus-2-card"/>
          <p:cNvSpPr/>
          <p:nvPr/>
        </p:nvSpPr>
        <p:spPr>
          <a:xfrm>
            <a:off x="548640" y="2694432"/>
            <a:ext cx="7754112" cy="893064"/>
          </a:xfrm>
          <a:prstGeom prst="roundRect">
            <a:avLst>
              <a:gd name="adj" fmla="val 8191"/>
            </a:avLst>
          </a:prstGeom>
          <a:solidFill>
            <a:schemeClr val="bg2"/>
          </a:solidFill>
          <a:ln/>
        </p:spPr>
      </p:sp>
      <p:sp>
        <p:nvSpPr>
          <p:cNvPr id="11" name="bonus-2-head"/>
          <p:cNvSpPr txBox="1"/>
          <p:nvPr/>
        </p:nvSpPr>
        <p:spPr>
          <a:xfrm>
            <a:off x="749808" y="274015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Два робота, которые координируются</a:t>
            </a:r>
            <a:endParaRPr lang="en-US" sz="1600" dirty="0"/>
          </a:p>
        </p:txBody>
      </p:sp>
      <p:sp>
        <p:nvSpPr>
          <p:cNvPr id="12" name="bonus-2-body"/>
          <p:cNvSpPr txBox="1"/>
          <p:nvPr/>
        </p:nvSpPr>
        <p:spPr>
          <a:xfrm>
            <a:off x="749808" y="3023616"/>
            <a:ext cx="523951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Против пары без связи: прогон 103,7 → 77,8 с, заряд 100,4 → 74,1; оба вернулись 80 из 80 против 75</a:t>
            </a:r>
            <a:endParaRPr lang="en-US" sz="1400" dirty="0"/>
          </a:p>
        </p:txBody>
      </p:sp>
      <p:sp>
        <p:nvSpPr>
          <p:cNvPr id="13" name="bonus-2-num"/>
          <p:cNvSpPr txBox="1"/>
          <p:nvPr/>
        </p:nvSpPr>
        <p:spPr>
          <a:xfrm>
            <a:off x="6153912" y="274015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−26 с</a:t>
            </a:r>
            <a:endParaRPr lang="en-US" sz="2600" dirty="0"/>
          </a:p>
        </p:txBody>
      </p:sp>
      <p:sp>
        <p:nvSpPr>
          <p:cNvPr id="14" name="bonus-2-where"/>
          <p:cNvSpPr txBox="1"/>
          <p:nvPr/>
        </p:nvSpPr>
        <p:spPr>
          <a:xfrm>
            <a:off x="6153912" y="3188208"/>
            <a:ext cx="1965960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80 сценариев</a:t>
            </a:r>
            <a:endParaRPr lang="en-US" sz="1200" dirty="0"/>
          </a:p>
        </p:txBody>
      </p:sp>
      <p:sp>
        <p:nvSpPr>
          <p:cNvPr id="15" name="bonus-3-card"/>
          <p:cNvSpPr/>
          <p:nvPr/>
        </p:nvSpPr>
        <p:spPr>
          <a:xfrm>
            <a:off x="548640" y="3697224"/>
            <a:ext cx="7754112" cy="1517904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6" name="bonus-3-head"/>
          <p:cNvSpPr txBox="1"/>
          <p:nvPr/>
        </p:nvSpPr>
        <p:spPr>
          <a:xfrm>
            <a:off x="749808" y="3742944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Научный агент: журнал гипотез и выбор опыта</a:t>
            </a:r>
            <a:endParaRPr lang="en-US" sz="1600" dirty="0"/>
          </a:p>
        </p:txBody>
      </p:sp>
      <p:sp>
        <p:nvSpPr>
          <p:cNvPr id="17" name="bonus-3-body"/>
          <p:cNvSpPr txBox="1"/>
          <p:nvPr/>
        </p:nvSpPr>
        <p:spPr>
          <a:xfrm>
            <a:off x="749808" y="4026408"/>
            <a:ext cx="52395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Журнал (опыт E17, 320 прогонов): подтверждённые гипотезы верны в 9 случаях из 10. Выбор опыта (опыт E27, 80 сценариев при двух наборах правил): берёт самый дешёвый из различающих объяснения — расход на расследование 0,54 → 0,08 ед.; влияние на счёт не показано</a:t>
            </a:r>
            <a:endParaRPr lang="en-US" sz="1400" dirty="0"/>
          </a:p>
        </p:txBody>
      </p:sp>
      <p:sp>
        <p:nvSpPr>
          <p:cNvPr id="18" name="bonus-3-num"/>
          <p:cNvSpPr txBox="1"/>
          <p:nvPr/>
        </p:nvSpPr>
        <p:spPr>
          <a:xfrm>
            <a:off x="6153912" y="374294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 из 10</a:t>
            </a:r>
            <a:endParaRPr lang="en-US" sz="2600" dirty="0"/>
          </a:p>
        </p:txBody>
      </p:sp>
      <p:sp>
        <p:nvSpPr>
          <p:cNvPr id="19" name="bonus-3-where"/>
          <p:cNvSpPr txBox="1"/>
          <p:nvPr/>
        </p:nvSpPr>
        <p:spPr>
          <a:xfrm>
            <a:off x="6153912" y="4191000"/>
            <a:ext cx="1965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симулятор; E17 — 320 прогонов, E27 — по 160 прогонов на вариант</a:t>
            </a:r>
            <a:endParaRPr lang="en-US" sz="1200" dirty="0"/>
          </a:p>
        </p:txBody>
      </p:sp>
      <p:sp>
        <p:nvSpPr>
          <p:cNvPr id="20" name="bonus-4-card"/>
          <p:cNvSpPr/>
          <p:nvPr/>
        </p:nvSpPr>
        <p:spPr>
          <a:xfrm>
            <a:off x="548640" y="5324856"/>
            <a:ext cx="7754112" cy="893064"/>
          </a:xfrm>
          <a:prstGeom prst="roundRect">
            <a:avLst>
              <a:gd name="adj" fmla="val 8191"/>
            </a:avLst>
          </a:prstGeom>
          <a:solidFill>
            <a:schemeClr val="bg2"/>
          </a:solidFill>
          <a:ln/>
        </p:spPr>
      </p:sp>
      <p:sp>
        <p:nvSpPr>
          <p:cNvPr id="21" name="bonus-4-head"/>
          <p:cNvSpPr txBox="1"/>
          <p:nvPr/>
        </p:nvSpPr>
        <p:spPr>
          <a:xfrm>
            <a:off x="749808" y="5370576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Команда с ИИ-агентами</a:t>
            </a:r>
            <a:endParaRPr lang="en-US" sz="1600" dirty="0"/>
          </a:p>
        </p:txBody>
      </p:sp>
      <p:sp>
        <p:nvSpPr>
          <p:cNvPr id="22" name="bonus-4-body"/>
          <p:cNvSpPr txBox="1"/>
          <p:nvPr/>
        </p:nvSpPr>
        <p:spPr>
          <a:xfrm>
            <a:off x="749808" y="5654040"/>
            <a:ext cx="523951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Столько ошибок независимая проверка нашла в коде первых исследований; два вывода перевёрнуты</a:t>
            </a:r>
            <a:endParaRPr lang="en-US" sz="1400" dirty="0"/>
          </a:p>
        </p:txBody>
      </p:sp>
      <p:sp>
        <p:nvSpPr>
          <p:cNvPr id="23" name="bonus-4-num"/>
          <p:cNvSpPr txBox="1"/>
          <p:nvPr/>
        </p:nvSpPr>
        <p:spPr>
          <a:xfrm>
            <a:off x="6153912" y="53705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 ошибок</a:t>
            </a:r>
            <a:endParaRPr lang="en-US" sz="2600" dirty="0"/>
          </a:p>
        </p:txBody>
      </p:sp>
      <p:sp>
        <p:nvSpPr>
          <p:cNvPr id="24" name="bonus-4-where"/>
          <p:cNvSpPr txBox="1"/>
          <p:nvPr/>
        </p:nvSpPr>
        <p:spPr>
          <a:xfrm>
            <a:off x="6153912" y="5818632"/>
            <a:ext cx="1965960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план, отчёты и история правок — в репозитории</a:t>
            </a:r>
            <a:endParaRPr lang="en-US" sz="1200" dirty="0"/>
          </a:p>
        </p:txBody>
      </p:sp>
      <p:pic>
        <p:nvPicPr>
          <p:cNvPr id="25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2" y="1691640"/>
            <a:ext cx="3017520" cy="2807208"/>
          </a:xfrm>
          <a:prstGeom prst="rect">
            <a:avLst/>
          </a:prstGeom>
        </p:spPr>
      </p:pic>
      <p:sp>
        <p:nvSpPr>
          <p:cNvPr id="26" name="slam-caption"/>
          <p:cNvSpPr txBox="1"/>
          <p:nvPr/>
        </p:nvSpPr>
        <p:spPr>
          <a:xfrm>
            <a:off x="8622792" y="459028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Карта, которую робот построил сам (SLAM Toolbox, Gazebo). Оранжевые кольца — настоящие места столбов; худший столб ушёл на 9,5 см. Синий квадрат — база.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подолгу работали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70 сообщений за полтора суток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проверка кода другой моделью: 34 круга по 20 работам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574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1,5 суток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7282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74320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94436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около 90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94436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892040" y="5239512"/>
            <a:ext cx="25603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5093208" y="52943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19 из 20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5093208" y="5724144"/>
            <a:ext cx="22311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 ревью вернуло на исправления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589520" y="5239512"/>
            <a:ext cx="405079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790688" y="529437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279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790688" y="57241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842248" y="529437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1022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842248" y="5724144"/>
            <a:ext cx="12801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213848" y="529437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30 000+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213848" y="5724144"/>
            <a:ext cx="13258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записанных 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Инфраструктура знаний: лаборатория, а не один робот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из сделанного переносится на другие задачи и как такие агенты встраиваются в науку и образование</a:t>
            </a:r>
            <a:endParaRPr lang="en-US" sz="1600" dirty="0"/>
          </a:p>
        </p:txBody>
      </p:sp>
      <p:sp>
        <p:nvSpPr>
          <p:cNvPr id="5" name="infra-head"/>
          <p:cNvSpPr txBox="1"/>
          <p:nvPr/>
        </p:nvSpPr>
        <p:spPr>
          <a:xfrm>
            <a:off x="548640" y="16916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переносится на другие задачи</a:t>
            </a:r>
            <a:endParaRPr lang="en-US" sz="1600" dirty="0"/>
          </a:p>
        </p:txBody>
      </p:sp>
      <p:sp>
        <p:nvSpPr>
          <p:cNvPr id="6" name="infra-1-card"/>
          <p:cNvSpPr/>
          <p:nvPr/>
        </p:nvSpPr>
        <p:spPr>
          <a:xfrm>
            <a:off x="548640" y="205740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7" name="infra-1-badge"/>
          <p:cNvSpPr txBox="1"/>
          <p:nvPr/>
        </p:nvSpPr>
        <p:spPr>
          <a:xfrm>
            <a:off x="731520" y="225056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infra-1-head"/>
          <p:cNvSpPr txBox="1"/>
          <p:nvPr/>
        </p:nvSpPr>
        <p:spPr>
          <a:xfrm>
            <a:off x="1389888" y="212140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Воспроизводимые опыты</a:t>
            </a:r>
            <a:endParaRPr lang="en-US" sz="1600" dirty="0"/>
          </a:p>
        </p:txBody>
      </p:sp>
      <p:sp>
        <p:nvSpPr>
          <p:cNvPr id="9" name="infra-1-body"/>
          <p:cNvSpPr txBox="1"/>
          <p:nvPr/>
        </p:nvSpPr>
        <p:spPr>
          <a:xfrm>
            <a:off x="1389888" y="239572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→ серия → разность с интервалом; 41 серия, более 30 тысяч прогонов</a:t>
            </a:r>
            <a:endParaRPr lang="en-US" sz="1300" dirty="0"/>
          </a:p>
        </p:txBody>
      </p:sp>
      <p:sp>
        <p:nvSpPr>
          <p:cNvPr id="10" name="infra-2-card"/>
          <p:cNvSpPr/>
          <p:nvPr/>
        </p:nvSpPr>
        <p:spPr>
          <a:xfrm>
            <a:off x="548640" y="293751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1" name="infra-2-badge"/>
          <p:cNvSpPr txBox="1"/>
          <p:nvPr/>
        </p:nvSpPr>
        <p:spPr>
          <a:xfrm>
            <a:off x="731520" y="313067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infra-2-head"/>
          <p:cNvSpPr txBox="1"/>
          <p:nvPr/>
        </p:nvSpPr>
        <p:spPr>
          <a:xfrm>
            <a:off x="1389888" y="300151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13" name="infra-2-body"/>
          <p:cNvSpPr txBox="1"/>
          <p:nvPr/>
        </p:nvSpPr>
        <p:spPr>
          <a:xfrm>
            <a:off x="1389888" y="327583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предположил, проверил, что вышло — и сверка со скрытой правдой</a:t>
            </a:r>
            <a:endParaRPr lang="en-US" sz="1300" dirty="0"/>
          </a:p>
        </p:txBody>
      </p:sp>
      <p:sp>
        <p:nvSpPr>
          <p:cNvPr id="14" name="infra-3-card"/>
          <p:cNvSpPr/>
          <p:nvPr/>
        </p:nvSpPr>
        <p:spPr>
          <a:xfrm>
            <a:off x="548640" y="381762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5" name="infra-3-badge"/>
          <p:cNvSpPr txBox="1"/>
          <p:nvPr/>
        </p:nvSpPr>
        <p:spPr>
          <a:xfrm>
            <a:off x="731520" y="401078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infra-3-head"/>
          <p:cNvSpPr txBox="1"/>
          <p:nvPr/>
        </p:nvSpPr>
        <p:spPr>
          <a:xfrm>
            <a:off x="1389888" y="388162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Независимая проверка</a:t>
            </a:r>
            <a:endParaRPr lang="en-US" sz="1600" dirty="0"/>
          </a:p>
        </p:txBody>
      </p:sp>
      <p:sp>
        <p:nvSpPr>
          <p:cNvPr id="17" name="infra-3-body"/>
          <p:cNvSpPr txBox="1"/>
          <p:nvPr/>
        </p:nvSpPr>
        <p:spPr>
          <a:xfrm>
            <a:off x="1389888" y="415594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код читает другая модель; отрицательные результаты записаны как результаты</a:t>
            </a:r>
            <a:endParaRPr lang="en-US" sz="1300" dirty="0"/>
          </a:p>
        </p:txBody>
      </p:sp>
      <p:sp>
        <p:nvSpPr>
          <p:cNvPr id="18" name="infra-4-card"/>
          <p:cNvSpPr/>
          <p:nvPr/>
        </p:nvSpPr>
        <p:spPr>
          <a:xfrm>
            <a:off x="548640" y="469773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9" name="infra-4-badge"/>
          <p:cNvSpPr txBox="1"/>
          <p:nvPr/>
        </p:nvSpPr>
        <p:spPr>
          <a:xfrm>
            <a:off x="731520" y="489089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infra-4-head"/>
          <p:cNvSpPr txBox="1"/>
          <p:nvPr/>
        </p:nvSpPr>
        <p:spPr>
          <a:xfrm>
            <a:off x="1389888" y="476173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Страница-объяснение</a:t>
            </a:r>
            <a:endParaRPr lang="en-US" sz="1600" dirty="0"/>
          </a:p>
        </p:txBody>
      </p:sp>
      <p:sp>
        <p:nvSpPr>
          <p:cNvPr id="21" name="infra-4-body"/>
          <p:cNvSpPr txBox="1"/>
          <p:nvPr/>
        </p:nvSpPr>
        <p:spPr>
          <a:xfrm>
            <a:off x="1389888" y="503605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те же результаты простым языком и с рисунками</a:t>
            </a:r>
            <a:endParaRPr lang="en-US" sz="1300" dirty="0"/>
          </a:p>
        </p:txBody>
      </p:sp>
      <p:sp>
        <p:nvSpPr>
          <p:cNvPr id="22" name="embed-head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Куда такие агенты встраиваются</a:t>
            </a:r>
            <a:endParaRPr lang="en-US" sz="1600" dirty="0"/>
          </a:p>
        </p:txBody>
      </p:sp>
      <p:sp>
        <p:nvSpPr>
          <p:cNvPr id="23" name="science-card"/>
          <p:cNvSpPr/>
          <p:nvPr/>
        </p:nvSpPr>
        <p:spPr>
          <a:xfrm>
            <a:off x="6355080" y="2057400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/>
        </p:spPr>
      </p:sp>
      <p:sp>
        <p:nvSpPr>
          <p:cNvPr id="24" name="science-head"/>
          <p:cNvSpPr txBox="1"/>
          <p:nvPr/>
        </p:nvSpPr>
        <p:spPr>
          <a:xfrm>
            <a:off x="6583680" y="216712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 науке</a:t>
            </a:r>
            <a:endParaRPr lang="en-US" sz="1600" dirty="0"/>
          </a:p>
        </p:txBody>
      </p:sp>
      <p:sp>
        <p:nvSpPr>
          <p:cNvPr id="25" name="science-body"/>
          <p:cNvSpPr txBox="1"/>
          <p:nvPr/>
        </p:nvSpPr>
        <p:spPr>
          <a:xfrm>
            <a:off x="6583680" y="2478024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Тот же замкнутый цикл «гипотеза → опыт → данные → вывод», что у робота-учёного Adam [1, 2], автономной лаборатории A-Lab [3] и The AI Scientist [4]. Агент берёт на себя рутину опыта и оставляет проверяемый след.</a:t>
            </a:r>
            <a:endParaRPr lang="en-US" sz="1400" dirty="0"/>
          </a:p>
        </p:txBody>
      </p:sp>
      <p:sp>
        <p:nvSpPr>
          <p:cNvPr id="26" name="edu-card"/>
          <p:cNvSpPr/>
          <p:nvPr/>
        </p:nvSpPr>
        <p:spPr>
          <a:xfrm>
            <a:off x="6355080" y="3826764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bg2"/>
          </a:solidFill>
          <a:ln/>
        </p:spPr>
      </p:sp>
      <p:sp>
        <p:nvSpPr>
          <p:cNvPr id="27" name="edu-head"/>
          <p:cNvSpPr txBox="1"/>
          <p:nvPr/>
        </p:nvSpPr>
        <p:spPr>
          <a:xfrm>
            <a:off x="6583680" y="393649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 образовании</a:t>
            </a:r>
            <a:endParaRPr lang="en-US" sz="1600" dirty="0"/>
          </a:p>
        </p:txBody>
      </p:sp>
      <p:sp>
        <p:nvSpPr>
          <p:cNvPr id="28" name="edu-body"/>
          <p:cNvSpPr txBox="1"/>
          <p:nvPr/>
        </p:nvSpPr>
        <p:spPr>
          <a:xfrm>
            <a:off x="6583680" y="4247388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Студент меняет гипотезу или правило агента и получает серию опытов с интервалом: 240 прогонов считаются за 37 секунд на одном компьютере. Учится методу, а не только коду.</a:t>
            </a:r>
            <a:endParaRPr lang="en-US" sz="1400" dirty="0"/>
          </a:p>
        </p:txBody>
      </p:sp>
      <p:sp>
        <p:nvSpPr>
          <p:cNvPr id="29" name="sources"/>
          <p:cNvSpPr txBox="1"/>
          <p:nvPr/>
        </p:nvSpPr>
        <p:spPr>
          <a:xfrm>
            <a:off x="548640" y="5614416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Источники: </a:t>
            </a:r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[1] King et al., Nature, 2004 · [2] King et al., Science, 2009 · [3] Szymanski et al., Nature, 2023 · [4] Lu et al., arXiv:2408.06292, 2024. Об ИИ в науке: OECD, Artificial Intelligence in Science, 2023; The Royal Society, Science in the Age of AI, 2024.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Ход исследований: робот и среда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19275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006547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333573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537850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64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5707685" y="1691640"/>
            <a:ext cx="13258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 Sol — ревью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723473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7563917" y="1691640"/>
            <a:ext cx="63825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6" name="legend-5-chip"/>
          <p:cNvSpPr txBox="1"/>
          <p:nvPr/>
        </p:nvSpPr>
        <p:spPr>
          <a:xfrm>
            <a:off x="8403336" y="169164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legend-5-word"/>
          <p:cNvSpPr txBox="1"/>
          <p:nvPr/>
        </p:nvSpPr>
        <p:spPr>
          <a:xfrm>
            <a:off x="8732520" y="1691640"/>
            <a:ext cx="209946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следующая работа по теме</a:t>
            </a:r>
            <a:endParaRPr lang="en-US" sz="1300" dirty="0"/>
          </a:p>
        </p:txBody>
      </p:sp>
      <p:sp>
        <p:nvSpPr>
          <p:cNvPr id="18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" name="lane-1-name"/>
          <p:cNvSpPr txBox="1"/>
          <p:nvPr/>
        </p:nvSpPr>
        <p:spPr>
          <a:xfrm>
            <a:off x="548640" y="2093976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20" name="lane-1-chip-1-tile"/>
          <p:cNvSpPr/>
          <p:nvPr/>
        </p:nvSpPr>
        <p:spPr>
          <a:xfrm>
            <a:off x="457200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248771"/>
            <a:ext cx="173736" cy="173736"/>
          </a:xfrm>
          <a:prstGeom prst="rect">
            <a:avLst/>
          </a:prstGeom>
        </p:spPr>
      </p:pic>
      <p:sp>
        <p:nvSpPr>
          <p:cNvPr id="22" name="lane-1-chip-2-tile"/>
          <p:cNvSpPr/>
          <p:nvPr/>
        </p:nvSpPr>
        <p:spPr>
          <a:xfrm>
            <a:off x="486460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756" y="2248771"/>
            <a:ext cx="173736" cy="173736"/>
          </a:xfrm>
          <a:prstGeom prst="rect">
            <a:avLst/>
          </a:prstGeom>
        </p:spPr>
      </p:pic>
      <p:sp>
        <p:nvSpPr>
          <p:cNvPr id="24" name="lane-1-chip-3-tile"/>
          <p:cNvSpPr/>
          <p:nvPr/>
        </p:nvSpPr>
        <p:spPr>
          <a:xfrm>
            <a:off x="515721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8364" y="2248771"/>
            <a:ext cx="173736" cy="173736"/>
          </a:xfrm>
          <a:prstGeom prst="rect">
            <a:avLst/>
          </a:prstGeom>
        </p:spPr>
      </p:pic>
      <p:sp>
        <p:nvSpPr>
          <p:cNvPr id="26" name="lane-1-chip-4-tile"/>
          <p:cNvSpPr/>
          <p:nvPr/>
        </p:nvSpPr>
        <p:spPr>
          <a:xfrm>
            <a:off x="544982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972" y="2248771"/>
            <a:ext cx="173736" cy="173736"/>
          </a:xfrm>
          <a:prstGeom prst="rect">
            <a:avLst/>
          </a:prstGeom>
        </p:spPr>
      </p:pic>
      <p:sp>
        <p:nvSpPr>
          <p:cNvPr id="28" name="lane-1-chip-5-tile"/>
          <p:cNvSpPr/>
          <p:nvPr/>
        </p:nvSpPr>
        <p:spPr>
          <a:xfrm>
            <a:off x="574243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3580" y="2248771"/>
            <a:ext cx="173736" cy="173736"/>
          </a:xfrm>
          <a:prstGeom prst="rect">
            <a:avLst/>
          </a:prstGeom>
        </p:spPr>
      </p:pic>
      <p:sp>
        <p:nvSpPr>
          <p:cNvPr id="30" name="lane-1-chip-6-tile"/>
          <p:cNvSpPr/>
          <p:nvPr/>
        </p:nvSpPr>
        <p:spPr>
          <a:xfrm>
            <a:off x="603504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76188" y="2248771"/>
            <a:ext cx="173736" cy="173736"/>
          </a:xfrm>
          <a:prstGeom prst="rect">
            <a:avLst/>
          </a:prstGeom>
        </p:spPr>
      </p:pic>
      <p:sp>
        <p:nvSpPr>
          <p:cNvPr id="32" name="lane-1-chip-7-tile"/>
          <p:cNvSpPr/>
          <p:nvPr/>
        </p:nvSpPr>
        <p:spPr>
          <a:xfrm>
            <a:off x="632764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8796" y="2248771"/>
            <a:ext cx="173736" cy="173736"/>
          </a:xfrm>
          <a:prstGeom prst="rect">
            <a:avLst/>
          </a:prstGeom>
        </p:spPr>
      </p:pic>
      <p:sp>
        <p:nvSpPr>
          <p:cNvPr id="34" name="lane-1-chip-8-tile"/>
          <p:cNvSpPr/>
          <p:nvPr/>
        </p:nvSpPr>
        <p:spPr>
          <a:xfrm>
            <a:off x="662025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61404" y="2248771"/>
            <a:ext cx="173736" cy="173736"/>
          </a:xfrm>
          <a:prstGeom prst="rect">
            <a:avLst/>
          </a:prstGeom>
        </p:spPr>
      </p:pic>
      <p:sp>
        <p:nvSpPr>
          <p:cNvPr id="36" name="lane-1-chip-9-tile"/>
          <p:cNvSpPr/>
          <p:nvPr/>
        </p:nvSpPr>
        <p:spPr>
          <a:xfrm>
            <a:off x="691286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7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54012" y="2248771"/>
            <a:ext cx="173736" cy="173736"/>
          </a:xfrm>
          <a:prstGeom prst="rect">
            <a:avLst/>
          </a:prstGeom>
        </p:spPr>
      </p:pic>
      <p:sp>
        <p:nvSpPr>
          <p:cNvPr id="38" name="lane-1-chip-10"/>
          <p:cNvSpPr txBox="1"/>
          <p:nvPr/>
        </p:nvSpPr>
        <p:spPr>
          <a:xfrm>
            <a:off x="720547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9" name="lane-1-result"/>
          <p:cNvSpPr txBox="1"/>
          <p:nvPr/>
        </p:nvSpPr>
        <p:spPr>
          <a:xfrm>
            <a:off x="7635240" y="2093976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40" name="lane-2-rule"/>
          <p:cNvSpPr/>
          <p:nvPr/>
        </p:nvSpPr>
        <p:spPr>
          <a:xfrm>
            <a:off x="548640" y="257730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1" name="lane-2-name"/>
          <p:cNvSpPr txBox="1"/>
          <p:nvPr/>
        </p:nvSpPr>
        <p:spPr>
          <a:xfrm>
            <a:off x="548640" y="2577302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2" name="lane-2-chip-1-tile"/>
          <p:cNvSpPr/>
          <p:nvPr/>
        </p:nvSpPr>
        <p:spPr>
          <a:xfrm>
            <a:off x="457200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13148" y="2732097"/>
            <a:ext cx="173736" cy="173736"/>
          </a:xfrm>
          <a:prstGeom prst="rect">
            <a:avLst/>
          </a:prstGeom>
        </p:spPr>
      </p:pic>
      <p:sp>
        <p:nvSpPr>
          <p:cNvPr id="44" name="lane-2-chip-2-tile"/>
          <p:cNvSpPr/>
          <p:nvPr/>
        </p:nvSpPr>
        <p:spPr>
          <a:xfrm>
            <a:off x="486460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05756" y="2732097"/>
            <a:ext cx="173736" cy="173736"/>
          </a:xfrm>
          <a:prstGeom prst="rect">
            <a:avLst/>
          </a:prstGeom>
        </p:spPr>
      </p:pic>
      <p:sp>
        <p:nvSpPr>
          <p:cNvPr id="46" name="lane-2-chip-3-tile"/>
          <p:cNvSpPr/>
          <p:nvPr/>
        </p:nvSpPr>
        <p:spPr>
          <a:xfrm>
            <a:off x="515721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98364" y="2732097"/>
            <a:ext cx="173736" cy="173736"/>
          </a:xfrm>
          <a:prstGeom prst="rect">
            <a:avLst/>
          </a:prstGeom>
        </p:spPr>
      </p:pic>
      <p:sp>
        <p:nvSpPr>
          <p:cNvPr id="48" name="lane-2-chip-4-tile"/>
          <p:cNvSpPr/>
          <p:nvPr/>
        </p:nvSpPr>
        <p:spPr>
          <a:xfrm>
            <a:off x="544982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90972" y="2732097"/>
            <a:ext cx="173736" cy="173736"/>
          </a:xfrm>
          <a:prstGeom prst="rect">
            <a:avLst/>
          </a:prstGeom>
        </p:spPr>
      </p:pic>
      <p:sp>
        <p:nvSpPr>
          <p:cNvPr id="50" name="lane-2-chip-5-tile"/>
          <p:cNvSpPr/>
          <p:nvPr/>
        </p:nvSpPr>
        <p:spPr>
          <a:xfrm>
            <a:off x="574243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1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83580" y="2732097"/>
            <a:ext cx="173736" cy="173736"/>
          </a:xfrm>
          <a:prstGeom prst="rect">
            <a:avLst/>
          </a:prstGeom>
        </p:spPr>
      </p:pic>
      <p:sp>
        <p:nvSpPr>
          <p:cNvPr id="52" name="lane-2-chip-6"/>
          <p:cNvSpPr txBox="1"/>
          <p:nvPr/>
        </p:nvSpPr>
        <p:spPr>
          <a:xfrm>
            <a:off x="603504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3" name="lane-2-result"/>
          <p:cNvSpPr txBox="1"/>
          <p:nvPr/>
        </p:nvSpPr>
        <p:spPr>
          <a:xfrm>
            <a:off x="7635240" y="2577302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4" name="lane-3-rule"/>
          <p:cNvSpPr/>
          <p:nvPr/>
        </p:nvSpPr>
        <p:spPr>
          <a:xfrm>
            <a:off x="548640" y="306062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5" name="lane-3-name"/>
          <p:cNvSpPr txBox="1"/>
          <p:nvPr/>
        </p:nvSpPr>
        <p:spPr>
          <a:xfrm>
            <a:off x="548640" y="3060627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 → P2. Где робот теряет очки</a:t>
            </a:r>
            <a:endParaRPr lang="en-US" sz="1600" dirty="0"/>
          </a:p>
        </p:txBody>
      </p:sp>
      <p:sp>
        <p:nvSpPr>
          <p:cNvPr id="56" name="lane-3-chip-1-tile"/>
          <p:cNvSpPr/>
          <p:nvPr/>
        </p:nvSpPr>
        <p:spPr>
          <a:xfrm>
            <a:off x="4572000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1" descr="/Users/a/MAI/DID/presentation/assets/logos/claud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13148" y="3215422"/>
            <a:ext cx="173736" cy="173736"/>
          </a:xfrm>
          <a:prstGeom prst="rect">
            <a:avLst/>
          </a:prstGeom>
        </p:spPr>
      </p:pic>
      <p:sp>
        <p:nvSpPr>
          <p:cNvPr id="58" name="lane-3-chip-2-tile"/>
          <p:cNvSpPr/>
          <p:nvPr/>
        </p:nvSpPr>
        <p:spPr>
          <a:xfrm>
            <a:off x="486460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2" descr="/Users/a/MAI/DID/presentation/assets/logos/openai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5756" y="3215422"/>
            <a:ext cx="173736" cy="173736"/>
          </a:xfrm>
          <a:prstGeom prst="rect">
            <a:avLst/>
          </a:prstGeom>
        </p:spPr>
      </p:pic>
      <p:sp>
        <p:nvSpPr>
          <p:cNvPr id="60" name="lane-3-chip-3-tile"/>
          <p:cNvSpPr/>
          <p:nvPr/>
        </p:nvSpPr>
        <p:spPr>
          <a:xfrm>
            <a:off x="515721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3" descr="/Users/a/MAI/DID/presentation/assets/logos/claud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8364" y="3215422"/>
            <a:ext cx="173736" cy="173736"/>
          </a:xfrm>
          <a:prstGeom prst="rect">
            <a:avLst/>
          </a:prstGeom>
        </p:spPr>
      </p:pic>
      <p:sp>
        <p:nvSpPr>
          <p:cNvPr id="62" name="lane-3-chip-4-tile"/>
          <p:cNvSpPr/>
          <p:nvPr/>
        </p:nvSpPr>
        <p:spPr>
          <a:xfrm>
            <a:off x="544982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3" name="lane-3-chip-4" descr="/Users/a/MAI/DID/presentation/assets/logos/openai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490972" y="3215422"/>
            <a:ext cx="173736" cy="173736"/>
          </a:xfrm>
          <a:prstGeom prst="rect">
            <a:avLst/>
          </a:prstGeom>
        </p:spPr>
      </p:pic>
      <p:sp>
        <p:nvSpPr>
          <p:cNvPr id="64" name="lane-3-chip-5"/>
          <p:cNvSpPr txBox="1"/>
          <p:nvPr/>
        </p:nvSpPr>
        <p:spPr>
          <a:xfrm>
            <a:off x="5742432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5" name="lane-3-next"/>
          <p:cNvSpPr txBox="1"/>
          <p:nvPr/>
        </p:nvSpPr>
        <p:spPr>
          <a:xfrm>
            <a:off x="6035040" y="3060627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66" name="lane-3-chip-7-tile"/>
          <p:cNvSpPr/>
          <p:nvPr/>
        </p:nvSpPr>
        <p:spPr>
          <a:xfrm>
            <a:off x="632764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3-chip-7" descr="/Users/a/MAI/DID/presentation/assets/logos/claud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68796" y="3215422"/>
            <a:ext cx="173736" cy="173736"/>
          </a:xfrm>
          <a:prstGeom prst="rect">
            <a:avLst/>
          </a:prstGeom>
        </p:spPr>
      </p:pic>
      <p:sp>
        <p:nvSpPr>
          <p:cNvPr id="68" name="lane-3-chip-8-tile"/>
          <p:cNvSpPr/>
          <p:nvPr/>
        </p:nvSpPr>
        <p:spPr>
          <a:xfrm>
            <a:off x="662025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3-chip-8" descr="/Users/a/MAI/DID/presentation/assets/logos/openai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1404" y="3215422"/>
            <a:ext cx="173736" cy="173736"/>
          </a:xfrm>
          <a:prstGeom prst="rect">
            <a:avLst/>
          </a:prstGeom>
        </p:spPr>
      </p:pic>
      <p:sp>
        <p:nvSpPr>
          <p:cNvPr id="70" name="lane-3-chip-9-tile"/>
          <p:cNvSpPr/>
          <p:nvPr/>
        </p:nvSpPr>
        <p:spPr>
          <a:xfrm>
            <a:off x="691286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3-chip-9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54012" y="3215422"/>
            <a:ext cx="173736" cy="173736"/>
          </a:xfrm>
          <a:prstGeom prst="rect">
            <a:avLst/>
          </a:prstGeom>
        </p:spPr>
      </p:pic>
      <p:sp>
        <p:nvSpPr>
          <p:cNvPr id="72" name="lane-3-chip-10"/>
          <p:cNvSpPr txBox="1"/>
          <p:nvPr/>
        </p:nvSpPr>
        <p:spPr>
          <a:xfrm>
            <a:off x="7205472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3-result"/>
          <p:cNvSpPr txBox="1"/>
          <p:nvPr/>
        </p:nvSpPr>
        <p:spPr>
          <a:xfrm>
            <a:off x="7635240" y="3060627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сбой датчика: +6,4; пять правок: не показано</a:t>
            </a:r>
            <a:endParaRPr lang="en-US" sz="1400" dirty="0"/>
          </a:p>
        </p:txBody>
      </p:sp>
      <p:sp>
        <p:nvSpPr>
          <p:cNvPr id="74" name="lane-4-rule"/>
          <p:cNvSpPr/>
          <p:nvPr/>
        </p:nvSpPr>
        <p:spPr>
          <a:xfrm>
            <a:off x="548640" y="354395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5" name="lane-4-name"/>
          <p:cNvSpPr txBox="1"/>
          <p:nvPr/>
        </p:nvSpPr>
        <p:spPr>
          <a:xfrm>
            <a:off x="548640" y="3543953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76" name="lane-4-chip-1-tile"/>
          <p:cNvSpPr/>
          <p:nvPr/>
        </p:nvSpPr>
        <p:spPr>
          <a:xfrm>
            <a:off x="457200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1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613148" y="3698748"/>
            <a:ext cx="173736" cy="173736"/>
          </a:xfrm>
          <a:prstGeom prst="rect">
            <a:avLst/>
          </a:prstGeom>
        </p:spPr>
      </p:pic>
      <p:sp>
        <p:nvSpPr>
          <p:cNvPr id="78" name="lane-4-chip-2-tile"/>
          <p:cNvSpPr/>
          <p:nvPr/>
        </p:nvSpPr>
        <p:spPr>
          <a:xfrm>
            <a:off x="486460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9" name="lane-4-chip-2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905756" y="3698748"/>
            <a:ext cx="173736" cy="173736"/>
          </a:xfrm>
          <a:prstGeom prst="rect">
            <a:avLst/>
          </a:prstGeom>
        </p:spPr>
      </p:pic>
      <p:sp>
        <p:nvSpPr>
          <p:cNvPr id="80" name="lane-4-chip-3-tile"/>
          <p:cNvSpPr/>
          <p:nvPr/>
        </p:nvSpPr>
        <p:spPr>
          <a:xfrm>
            <a:off x="515721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1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98364" y="3698748"/>
            <a:ext cx="173736" cy="173736"/>
          </a:xfrm>
          <a:prstGeom prst="rect">
            <a:avLst/>
          </a:prstGeom>
        </p:spPr>
      </p:pic>
      <p:sp>
        <p:nvSpPr>
          <p:cNvPr id="82" name="lane-4-chip-4"/>
          <p:cNvSpPr txBox="1"/>
          <p:nvPr/>
        </p:nvSpPr>
        <p:spPr>
          <a:xfrm>
            <a:off x="544982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3" name="lane-4-result"/>
          <p:cNvSpPr txBox="1"/>
          <p:nvPr/>
        </p:nvSpPr>
        <p:spPr>
          <a:xfrm>
            <a:off x="7635240" y="3543953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с подсказками — 92,5</a:t>
            </a:r>
            <a:endParaRPr lang="en-US" sz="1400" dirty="0"/>
          </a:p>
        </p:txBody>
      </p:sp>
      <p:sp>
        <p:nvSpPr>
          <p:cNvPr id="84" name="lane-5-rule"/>
          <p:cNvSpPr/>
          <p:nvPr/>
        </p:nvSpPr>
        <p:spPr>
          <a:xfrm>
            <a:off x="548640" y="40272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5" name="lane-5-name"/>
          <p:cNvSpPr txBox="1"/>
          <p:nvPr/>
        </p:nvSpPr>
        <p:spPr>
          <a:xfrm>
            <a:off x="548640" y="4027279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6" name="lane-5-chip-1-tile"/>
          <p:cNvSpPr/>
          <p:nvPr/>
        </p:nvSpPr>
        <p:spPr>
          <a:xfrm>
            <a:off x="457200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7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13148" y="4182074"/>
            <a:ext cx="173736" cy="173736"/>
          </a:xfrm>
          <a:prstGeom prst="rect">
            <a:avLst/>
          </a:prstGeom>
        </p:spPr>
      </p:pic>
      <p:sp>
        <p:nvSpPr>
          <p:cNvPr id="88" name="lane-5-chip-2-tile"/>
          <p:cNvSpPr/>
          <p:nvPr/>
        </p:nvSpPr>
        <p:spPr>
          <a:xfrm>
            <a:off x="4864608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9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905756" y="4182074"/>
            <a:ext cx="173736" cy="173736"/>
          </a:xfrm>
          <a:prstGeom prst="rect">
            <a:avLst/>
          </a:prstGeom>
        </p:spPr>
      </p:pic>
      <p:sp>
        <p:nvSpPr>
          <p:cNvPr id="90" name="lane-5-chip-3-tile"/>
          <p:cNvSpPr/>
          <p:nvPr/>
        </p:nvSpPr>
        <p:spPr>
          <a:xfrm>
            <a:off x="5157216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1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98364" y="4182074"/>
            <a:ext cx="173736" cy="173736"/>
          </a:xfrm>
          <a:prstGeom prst="rect">
            <a:avLst/>
          </a:prstGeom>
        </p:spPr>
      </p:pic>
      <p:sp>
        <p:nvSpPr>
          <p:cNvPr id="92" name="lane-5-chip-4-tile"/>
          <p:cNvSpPr/>
          <p:nvPr/>
        </p:nvSpPr>
        <p:spPr>
          <a:xfrm>
            <a:off x="5449824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3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490972" y="4182074"/>
            <a:ext cx="173736" cy="173736"/>
          </a:xfrm>
          <a:prstGeom prst="rect">
            <a:avLst/>
          </a:prstGeom>
        </p:spPr>
      </p:pic>
      <p:sp>
        <p:nvSpPr>
          <p:cNvPr id="94" name="lane-5-chip-5"/>
          <p:cNvSpPr txBox="1"/>
          <p:nvPr/>
        </p:nvSpPr>
        <p:spPr>
          <a:xfrm>
            <a:off x="5742432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5" name="lane-5-result"/>
          <p:cNvSpPr txBox="1"/>
          <p:nvPr/>
        </p:nvSpPr>
        <p:spPr>
          <a:xfrm>
            <a:off x="7635240" y="4027279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6" name="lane-6-rule"/>
          <p:cNvSpPr/>
          <p:nvPr/>
        </p:nvSpPr>
        <p:spPr>
          <a:xfrm>
            <a:off x="548640" y="451060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7" name="lane-6-name"/>
          <p:cNvSpPr txBox="1"/>
          <p:nvPr/>
        </p:nvSpPr>
        <p:spPr>
          <a:xfrm>
            <a:off x="548640" y="4510605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R12. Выбор различающего опыта</a:t>
            </a:r>
            <a:endParaRPr lang="en-US" sz="1600" dirty="0"/>
          </a:p>
        </p:txBody>
      </p:sp>
      <p:sp>
        <p:nvSpPr>
          <p:cNvPr id="98" name="lane-6-chip-1-tile"/>
          <p:cNvSpPr/>
          <p:nvPr/>
        </p:nvSpPr>
        <p:spPr>
          <a:xfrm>
            <a:off x="457200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9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613148" y="4665399"/>
            <a:ext cx="173736" cy="173736"/>
          </a:xfrm>
          <a:prstGeom prst="rect">
            <a:avLst/>
          </a:prstGeom>
        </p:spPr>
      </p:pic>
      <p:sp>
        <p:nvSpPr>
          <p:cNvPr id="100" name="lane-6-chip-2-tile"/>
          <p:cNvSpPr/>
          <p:nvPr/>
        </p:nvSpPr>
        <p:spPr>
          <a:xfrm>
            <a:off x="4864608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1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05756" y="4665399"/>
            <a:ext cx="173736" cy="173736"/>
          </a:xfrm>
          <a:prstGeom prst="rect">
            <a:avLst/>
          </a:prstGeom>
        </p:spPr>
      </p:pic>
      <p:sp>
        <p:nvSpPr>
          <p:cNvPr id="102" name="lane-6-chip-3-tile"/>
          <p:cNvSpPr/>
          <p:nvPr/>
        </p:nvSpPr>
        <p:spPr>
          <a:xfrm>
            <a:off x="5157216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3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98364" y="4665399"/>
            <a:ext cx="173736" cy="173736"/>
          </a:xfrm>
          <a:prstGeom prst="rect">
            <a:avLst/>
          </a:prstGeom>
        </p:spPr>
      </p:pic>
      <p:sp>
        <p:nvSpPr>
          <p:cNvPr id="104" name="lane-6-chip-4"/>
          <p:cNvSpPr txBox="1"/>
          <p:nvPr/>
        </p:nvSpPr>
        <p:spPr>
          <a:xfrm>
            <a:off x="5449824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5" name="lane-6-result"/>
          <p:cNvSpPr txBox="1"/>
          <p:nvPr/>
        </p:nvSpPr>
        <p:spPr>
          <a:xfrm>
            <a:off x="7635240" y="4510605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расход на расследование 0,54 → 0,08 ед.</a:t>
            </a:r>
            <a:endParaRPr lang="en-US" sz="1400" dirty="0"/>
          </a:p>
        </p:txBody>
      </p:sp>
      <p:sp>
        <p:nvSpPr>
          <p:cNvPr id="106" name="lane-7-rule"/>
          <p:cNvSpPr/>
          <p:nvPr/>
        </p:nvSpPr>
        <p:spPr>
          <a:xfrm>
            <a:off x="548640" y="499393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7" name="lane-7-name"/>
          <p:cNvSpPr txBox="1"/>
          <p:nvPr/>
        </p:nvSpPr>
        <p:spPr>
          <a:xfrm>
            <a:off x="548640" y="4993930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08" name="lane-7-chip-1-tile"/>
          <p:cNvSpPr/>
          <p:nvPr/>
        </p:nvSpPr>
        <p:spPr>
          <a:xfrm>
            <a:off x="457200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9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613148" y="5148725"/>
            <a:ext cx="173736" cy="173736"/>
          </a:xfrm>
          <a:prstGeom prst="rect">
            <a:avLst/>
          </a:prstGeom>
        </p:spPr>
      </p:pic>
      <p:sp>
        <p:nvSpPr>
          <p:cNvPr id="110" name="lane-7-chip-2-tile"/>
          <p:cNvSpPr/>
          <p:nvPr/>
        </p:nvSpPr>
        <p:spPr>
          <a:xfrm>
            <a:off x="486460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1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905756" y="5148725"/>
            <a:ext cx="173736" cy="173736"/>
          </a:xfrm>
          <a:prstGeom prst="rect">
            <a:avLst/>
          </a:prstGeom>
        </p:spPr>
      </p:pic>
      <p:sp>
        <p:nvSpPr>
          <p:cNvPr id="112" name="lane-7-chip-3-tile"/>
          <p:cNvSpPr/>
          <p:nvPr/>
        </p:nvSpPr>
        <p:spPr>
          <a:xfrm>
            <a:off x="515721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3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198364" y="5148725"/>
            <a:ext cx="173736" cy="173736"/>
          </a:xfrm>
          <a:prstGeom prst="rect">
            <a:avLst/>
          </a:prstGeom>
        </p:spPr>
      </p:pic>
      <p:sp>
        <p:nvSpPr>
          <p:cNvPr id="114" name="lane-7-chip-4-tile"/>
          <p:cNvSpPr/>
          <p:nvPr/>
        </p:nvSpPr>
        <p:spPr>
          <a:xfrm>
            <a:off x="5449824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5" name="lane-7-chip-4" descr="/Users/a/MAI/DID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490972" y="5148725"/>
            <a:ext cx="173736" cy="173736"/>
          </a:xfrm>
          <a:prstGeom prst="rect">
            <a:avLst/>
          </a:prstGeom>
        </p:spPr>
      </p:pic>
      <p:sp>
        <p:nvSpPr>
          <p:cNvPr id="116" name="lane-7-chip-5-tile"/>
          <p:cNvSpPr/>
          <p:nvPr/>
        </p:nvSpPr>
        <p:spPr>
          <a:xfrm>
            <a:off x="5742432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7" name="lane-7-chip-5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783580" y="5148725"/>
            <a:ext cx="173736" cy="173736"/>
          </a:xfrm>
          <a:prstGeom prst="rect">
            <a:avLst/>
          </a:prstGeom>
        </p:spPr>
      </p:pic>
      <p:sp>
        <p:nvSpPr>
          <p:cNvPr id="118" name="lane-7-chip-6"/>
          <p:cNvSpPr txBox="1"/>
          <p:nvPr/>
        </p:nvSpPr>
        <p:spPr>
          <a:xfrm>
            <a:off x="603504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9" name="lane-7-result"/>
          <p:cNvSpPr txBox="1"/>
          <p:nvPr/>
        </p:nvSpPr>
        <p:spPr>
          <a:xfrm>
            <a:off x="7635240" y="4993930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чужой закон датчика: собрано 71% вместо 1%</a:t>
            </a:r>
            <a:endParaRPr lang="en-US" sz="1400" dirty="0"/>
          </a:p>
        </p:txBody>
      </p:sp>
      <p:sp>
        <p:nvSpPr>
          <p:cNvPr id="120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1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 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Ход исследований: модель и бонусы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19275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006547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333573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537850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64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5707685" y="1691640"/>
            <a:ext cx="13258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 Sol — ревью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723473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7563917" y="1691640"/>
            <a:ext cx="63825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6" name="legend-5-chip"/>
          <p:cNvSpPr txBox="1"/>
          <p:nvPr/>
        </p:nvSpPr>
        <p:spPr>
          <a:xfrm>
            <a:off x="8403336" y="169164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legend-5-word"/>
          <p:cNvSpPr txBox="1"/>
          <p:nvPr/>
        </p:nvSpPr>
        <p:spPr>
          <a:xfrm>
            <a:off x="8732520" y="1691640"/>
            <a:ext cx="209946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следующая работа по теме</a:t>
            </a:r>
            <a:endParaRPr lang="en-US" sz="1300" dirty="0"/>
          </a:p>
        </p:txBody>
      </p:sp>
      <p:sp>
        <p:nvSpPr>
          <p:cNvPr id="18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" name="lane-1-name"/>
          <p:cNvSpPr txBox="1"/>
          <p:nvPr/>
        </p:nvSpPr>
        <p:spPr>
          <a:xfrm>
            <a:off x="548640" y="2093976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 → G3. Потеря положения в Gazebo</a:t>
            </a:r>
            <a:endParaRPr lang="en-US" sz="1600" dirty="0"/>
          </a:p>
        </p:txBody>
      </p:sp>
      <p:sp>
        <p:nvSpPr>
          <p:cNvPr id="20" name="lane-1-chip-1-tile"/>
          <p:cNvSpPr/>
          <p:nvPr/>
        </p:nvSpPr>
        <p:spPr>
          <a:xfrm>
            <a:off x="457200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1" descr="/Users/a/MAI/DID/presentation/assets/logos/clau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248771"/>
            <a:ext cx="173736" cy="173736"/>
          </a:xfrm>
          <a:prstGeom prst="rect">
            <a:avLst/>
          </a:prstGeom>
        </p:spPr>
      </p:pic>
      <p:sp>
        <p:nvSpPr>
          <p:cNvPr id="22" name="lane-1-chip-2-tile"/>
          <p:cNvSpPr/>
          <p:nvPr/>
        </p:nvSpPr>
        <p:spPr>
          <a:xfrm>
            <a:off x="486460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756" y="2248771"/>
            <a:ext cx="173736" cy="173736"/>
          </a:xfrm>
          <a:prstGeom prst="rect">
            <a:avLst/>
          </a:prstGeom>
        </p:spPr>
      </p:pic>
      <p:sp>
        <p:nvSpPr>
          <p:cNvPr id="24" name="lane-1-chip-3-tile"/>
          <p:cNvSpPr/>
          <p:nvPr/>
        </p:nvSpPr>
        <p:spPr>
          <a:xfrm>
            <a:off x="515721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8364" y="2248771"/>
            <a:ext cx="173736" cy="173736"/>
          </a:xfrm>
          <a:prstGeom prst="rect">
            <a:avLst/>
          </a:prstGeom>
        </p:spPr>
      </p:pic>
      <p:sp>
        <p:nvSpPr>
          <p:cNvPr id="26" name="lane-1-chip-4"/>
          <p:cNvSpPr txBox="1"/>
          <p:nvPr/>
        </p:nvSpPr>
        <p:spPr>
          <a:xfrm>
            <a:off x="544982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lane-1-next"/>
          <p:cNvSpPr txBox="1"/>
          <p:nvPr/>
        </p:nvSpPr>
        <p:spPr>
          <a:xfrm>
            <a:off x="5742432" y="2093976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lane-1-chip-6-tile"/>
          <p:cNvSpPr/>
          <p:nvPr/>
        </p:nvSpPr>
        <p:spPr>
          <a:xfrm>
            <a:off x="603504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clau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6188" y="2248771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32764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openai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796" y="2248771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62025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clau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1404" y="2248771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91286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opena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54012" y="2248771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720547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635240" y="2093976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в Gazebo: 8 из 9 → 7 из 7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57730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577302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 → L3. Модель: миссии и гипотезы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57200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3148" y="2732097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86460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05756" y="2732097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515721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opena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98364" y="2732097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44982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claud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90972" y="2732097"/>
            <a:ext cx="173736" cy="173736"/>
          </a:xfrm>
          <a:prstGeom prst="rect">
            <a:avLst/>
          </a:prstGeom>
        </p:spPr>
      </p:pic>
      <p:sp>
        <p:nvSpPr>
          <p:cNvPr id="48" name="lane-2-chip-5"/>
          <p:cNvSpPr txBox="1"/>
          <p:nvPr/>
        </p:nvSpPr>
        <p:spPr>
          <a:xfrm>
            <a:off x="574243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49" name="lane-2-next"/>
          <p:cNvSpPr txBox="1"/>
          <p:nvPr/>
        </p:nvSpPr>
        <p:spPr>
          <a:xfrm>
            <a:off x="6035040" y="2577302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50" name="lane-2-chip-7-tile"/>
          <p:cNvSpPr/>
          <p:nvPr/>
        </p:nvSpPr>
        <p:spPr>
          <a:xfrm>
            <a:off x="632764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1" name="lane-2-chip-7" descr="/Users/a/MAI/DID/presentation/assets/logos/claud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68796" y="2732097"/>
            <a:ext cx="173736" cy="173736"/>
          </a:xfrm>
          <a:prstGeom prst="rect">
            <a:avLst/>
          </a:prstGeom>
        </p:spPr>
      </p:pic>
      <p:sp>
        <p:nvSpPr>
          <p:cNvPr id="52" name="lane-2-chip-8-tile"/>
          <p:cNvSpPr/>
          <p:nvPr/>
        </p:nvSpPr>
        <p:spPr>
          <a:xfrm>
            <a:off x="662025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3" name="lane-2-chip-8" descr="/Users/a/MAI/DID/presentation/assets/logos/opena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1404" y="2732097"/>
            <a:ext cx="173736" cy="173736"/>
          </a:xfrm>
          <a:prstGeom prst="rect">
            <a:avLst/>
          </a:prstGeom>
        </p:spPr>
      </p:pic>
      <p:sp>
        <p:nvSpPr>
          <p:cNvPr id="54" name="lane-2-chip-9-tile"/>
          <p:cNvSpPr/>
          <p:nvPr/>
        </p:nvSpPr>
        <p:spPr>
          <a:xfrm>
            <a:off x="691286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2-chip-9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54012" y="2732097"/>
            <a:ext cx="173736" cy="173736"/>
          </a:xfrm>
          <a:prstGeom prst="rect">
            <a:avLst/>
          </a:prstGeom>
        </p:spPr>
      </p:pic>
      <p:sp>
        <p:nvSpPr>
          <p:cNvPr id="56" name="lane-2-chip-10"/>
          <p:cNvSpPr txBox="1"/>
          <p:nvPr/>
        </p:nvSpPr>
        <p:spPr>
          <a:xfrm>
            <a:off x="720547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7" name="lane-2-result"/>
          <p:cNvSpPr txBox="1"/>
          <p:nvPr/>
        </p:nvSpPr>
        <p:spPr>
          <a:xfrm>
            <a:off x="7635240" y="2577302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миссии словами 45–46 из 48, правило — 0</a:t>
            </a:r>
            <a:endParaRPr lang="en-US" sz="1400" dirty="0"/>
          </a:p>
        </p:txBody>
      </p:sp>
      <p:sp>
        <p:nvSpPr>
          <p:cNvPr id="58" name="lane-3-rule"/>
          <p:cNvSpPr/>
          <p:nvPr/>
        </p:nvSpPr>
        <p:spPr>
          <a:xfrm>
            <a:off x="548640" y="306062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9" name="lane-3-name"/>
          <p:cNvSpPr txBox="1"/>
          <p:nvPr/>
        </p:nvSpPr>
        <p:spPr>
          <a:xfrm>
            <a:off x="548640" y="3060627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R3. Цена ожидания модели</a:t>
            </a:r>
            <a:endParaRPr lang="en-US" sz="1600" dirty="0"/>
          </a:p>
        </p:txBody>
      </p:sp>
      <p:sp>
        <p:nvSpPr>
          <p:cNvPr id="60" name="lane-3-chip-1-tile"/>
          <p:cNvSpPr/>
          <p:nvPr/>
        </p:nvSpPr>
        <p:spPr>
          <a:xfrm>
            <a:off x="4572000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13148" y="3215422"/>
            <a:ext cx="173736" cy="173736"/>
          </a:xfrm>
          <a:prstGeom prst="rect">
            <a:avLst/>
          </a:prstGeom>
        </p:spPr>
      </p:pic>
      <p:sp>
        <p:nvSpPr>
          <p:cNvPr id="62" name="lane-3-chip-2-tile"/>
          <p:cNvSpPr/>
          <p:nvPr/>
        </p:nvSpPr>
        <p:spPr>
          <a:xfrm>
            <a:off x="486460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3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5756" y="3215422"/>
            <a:ext cx="173736" cy="173736"/>
          </a:xfrm>
          <a:prstGeom prst="rect">
            <a:avLst/>
          </a:prstGeom>
        </p:spPr>
      </p:pic>
      <p:sp>
        <p:nvSpPr>
          <p:cNvPr id="64" name="lane-3-chip-3-tile"/>
          <p:cNvSpPr/>
          <p:nvPr/>
        </p:nvSpPr>
        <p:spPr>
          <a:xfrm>
            <a:off x="515721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5" name="lane-3-chip-3" descr="/Users/a/MAI/DID/presentation/assets/logos/claud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8364" y="3215422"/>
            <a:ext cx="173736" cy="173736"/>
          </a:xfrm>
          <a:prstGeom prst="rect">
            <a:avLst/>
          </a:prstGeom>
        </p:spPr>
      </p:pic>
      <p:sp>
        <p:nvSpPr>
          <p:cNvPr id="66" name="lane-3-chip-4"/>
          <p:cNvSpPr txBox="1"/>
          <p:nvPr/>
        </p:nvSpPr>
        <p:spPr>
          <a:xfrm>
            <a:off x="544982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7" name="lane-3-result"/>
          <p:cNvSpPr txBox="1"/>
          <p:nvPr/>
        </p:nvSpPr>
        <p:spPr>
          <a:xfrm>
            <a:off x="7635240" y="3060627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имитатор, задержка 15 с; стоять: −73 очка</a:t>
            </a:r>
            <a:endParaRPr lang="en-US" sz="1400" dirty="0"/>
          </a:p>
        </p:txBody>
      </p:sp>
      <p:sp>
        <p:nvSpPr>
          <p:cNvPr id="68" name="lane-4-rule"/>
          <p:cNvSpPr/>
          <p:nvPr/>
        </p:nvSpPr>
        <p:spPr>
          <a:xfrm>
            <a:off x="548640" y="354395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9" name="lane-4-name"/>
          <p:cNvSpPr txBox="1"/>
          <p:nvPr/>
        </p:nvSpPr>
        <p:spPr>
          <a:xfrm>
            <a:off x="548640" y="3543953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R16. Не стоять, пока модель думает</a:t>
            </a:r>
            <a:endParaRPr lang="en-US" sz="1600" dirty="0"/>
          </a:p>
        </p:txBody>
      </p:sp>
      <p:sp>
        <p:nvSpPr>
          <p:cNvPr id="70" name="lane-4-chip-1-tile"/>
          <p:cNvSpPr/>
          <p:nvPr/>
        </p:nvSpPr>
        <p:spPr>
          <a:xfrm>
            <a:off x="457200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1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13148" y="3698748"/>
            <a:ext cx="173736" cy="173736"/>
          </a:xfrm>
          <a:prstGeom prst="rect">
            <a:avLst/>
          </a:prstGeom>
        </p:spPr>
      </p:pic>
      <p:sp>
        <p:nvSpPr>
          <p:cNvPr id="72" name="lane-4-chip-2-tile"/>
          <p:cNvSpPr/>
          <p:nvPr/>
        </p:nvSpPr>
        <p:spPr>
          <a:xfrm>
            <a:off x="486460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3" name="lane-4-chip-2" descr="/Users/a/MAI/DID/presentation/assets/logos/opena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05756" y="3698748"/>
            <a:ext cx="173736" cy="173736"/>
          </a:xfrm>
          <a:prstGeom prst="rect">
            <a:avLst/>
          </a:prstGeom>
        </p:spPr>
      </p:pic>
      <p:sp>
        <p:nvSpPr>
          <p:cNvPr id="74" name="lane-4-chip-3-tile"/>
          <p:cNvSpPr/>
          <p:nvPr/>
        </p:nvSpPr>
        <p:spPr>
          <a:xfrm>
            <a:off x="515721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198364" y="3698748"/>
            <a:ext cx="173736" cy="173736"/>
          </a:xfrm>
          <a:prstGeom prst="rect">
            <a:avLst/>
          </a:prstGeom>
        </p:spPr>
      </p:pic>
      <p:sp>
        <p:nvSpPr>
          <p:cNvPr id="76" name="lane-4-chip-4-tile"/>
          <p:cNvSpPr/>
          <p:nvPr/>
        </p:nvSpPr>
        <p:spPr>
          <a:xfrm>
            <a:off x="544982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4" descr="/Users/a/MAI/DID/presentation/assets/logos/openai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90972" y="3698748"/>
            <a:ext cx="173736" cy="173736"/>
          </a:xfrm>
          <a:prstGeom prst="rect">
            <a:avLst/>
          </a:prstGeom>
        </p:spPr>
      </p:pic>
      <p:sp>
        <p:nvSpPr>
          <p:cNvPr id="78" name="lane-4-chip-5-tile"/>
          <p:cNvSpPr/>
          <p:nvPr/>
        </p:nvSpPr>
        <p:spPr>
          <a:xfrm>
            <a:off x="5742432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9" name="lane-4-chip-5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83580" y="3698748"/>
            <a:ext cx="173736" cy="173736"/>
          </a:xfrm>
          <a:prstGeom prst="rect">
            <a:avLst/>
          </a:prstGeom>
        </p:spPr>
      </p:pic>
      <p:sp>
        <p:nvSpPr>
          <p:cNvPr id="80" name="lane-4-chip-6"/>
          <p:cNvSpPr txBox="1"/>
          <p:nvPr/>
        </p:nvSpPr>
        <p:spPr>
          <a:xfrm>
            <a:off x="603504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1" name="lane-4-next"/>
          <p:cNvSpPr txBox="1"/>
          <p:nvPr/>
        </p:nvSpPr>
        <p:spPr>
          <a:xfrm>
            <a:off x="6327648" y="3543953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82" name="lane-4-chip-8-tile"/>
          <p:cNvSpPr/>
          <p:nvPr/>
        </p:nvSpPr>
        <p:spPr>
          <a:xfrm>
            <a:off x="662025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3" name="lane-4-chip-8" descr="/Users/a/MAI/DID/presentation/assets/logos/claud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61404" y="3698748"/>
            <a:ext cx="173736" cy="173736"/>
          </a:xfrm>
          <a:prstGeom prst="rect">
            <a:avLst/>
          </a:prstGeom>
        </p:spPr>
      </p:pic>
      <p:sp>
        <p:nvSpPr>
          <p:cNvPr id="84" name="lane-4-chip-9-tile"/>
          <p:cNvSpPr/>
          <p:nvPr/>
        </p:nvSpPr>
        <p:spPr>
          <a:xfrm>
            <a:off x="691286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5" name="lane-4-chip-9" descr="/Users/a/MAI/DID/presentation/assets/logos/openai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954012" y="3698748"/>
            <a:ext cx="173736" cy="173736"/>
          </a:xfrm>
          <a:prstGeom prst="rect">
            <a:avLst/>
          </a:prstGeom>
        </p:spPr>
      </p:pic>
      <p:sp>
        <p:nvSpPr>
          <p:cNvPr id="86" name="lane-4-chip-10"/>
          <p:cNvSpPr txBox="1"/>
          <p:nvPr/>
        </p:nvSpPr>
        <p:spPr>
          <a:xfrm>
            <a:off x="7205472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7" name="lane-4-result"/>
          <p:cNvSpPr txBox="1"/>
          <p:nvPr/>
        </p:nvSpPr>
        <p:spPr>
          <a:xfrm>
            <a:off x="7635240" y="3543953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настоящей модели: 34,7 → 73,2 очка</a:t>
            </a:r>
            <a:endParaRPr lang="en-US" sz="1400" dirty="0"/>
          </a:p>
        </p:txBody>
      </p:sp>
      <p:sp>
        <p:nvSpPr>
          <p:cNvPr id="88" name="lane-5-rule"/>
          <p:cNvSpPr/>
          <p:nvPr/>
        </p:nvSpPr>
        <p:spPr>
          <a:xfrm>
            <a:off x="548640" y="40272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9" name="lane-5-name"/>
          <p:cNvSpPr txBox="1"/>
          <p:nvPr/>
        </p:nvSpPr>
        <p:spPr>
          <a:xfrm>
            <a:off x="548640" y="4027279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J1. Jev — быстрый сторож миссии</a:t>
            </a:r>
            <a:endParaRPr lang="en-US" sz="1600" dirty="0"/>
          </a:p>
        </p:txBody>
      </p:sp>
      <p:sp>
        <p:nvSpPr>
          <p:cNvPr id="90" name="lane-5-chip-1-tile"/>
          <p:cNvSpPr/>
          <p:nvPr/>
        </p:nvSpPr>
        <p:spPr>
          <a:xfrm>
            <a:off x="457200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1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13148" y="4182074"/>
            <a:ext cx="173736" cy="173736"/>
          </a:xfrm>
          <a:prstGeom prst="rect">
            <a:avLst/>
          </a:prstGeom>
        </p:spPr>
      </p:pic>
      <p:sp>
        <p:nvSpPr>
          <p:cNvPr id="92" name="lane-5-chip-2-tile"/>
          <p:cNvSpPr/>
          <p:nvPr/>
        </p:nvSpPr>
        <p:spPr>
          <a:xfrm>
            <a:off x="4864608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3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905756" y="4182074"/>
            <a:ext cx="173736" cy="173736"/>
          </a:xfrm>
          <a:prstGeom prst="rect">
            <a:avLst/>
          </a:prstGeom>
        </p:spPr>
      </p:pic>
      <p:sp>
        <p:nvSpPr>
          <p:cNvPr id="94" name="lane-5-chip-3-tile"/>
          <p:cNvSpPr/>
          <p:nvPr/>
        </p:nvSpPr>
        <p:spPr>
          <a:xfrm>
            <a:off x="5157216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5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98364" y="4182074"/>
            <a:ext cx="173736" cy="173736"/>
          </a:xfrm>
          <a:prstGeom prst="rect">
            <a:avLst/>
          </a:prstGeom>
        </p:spPr>
      </p:pic>
      <p:sp>
        <p:nvSpPr>
          <p:cNvPr id="96" name="lane-5-chip-4-tile"/>
          <p:cNvSpPr/>
          <p:nvPr/>
        </p:nvSpPr>
        <p:spPr>
          <a:xfrm>
            <a:off x="5449824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7" name="lane-5-chip-4" descr="/Users/a/MAI/DID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490972" y="4182074"/>
            <a:ext cx="173736" cy="173736"/>
          </a:xfrm>
          <a:prstGeom prst="rect">
            <a:avLst/>
          </a:prstGeom>
        </p:spPr>
      </p:pic>
      <p:sp>
        <p:nvSpPr>
          <p:cNvPr id="98" name="lane-5-chip-5-tile"/>
          <p:cNvSpPr/>
          <p:nvPr/>
        </p:nvSpPr>
        <p:spPr>
          <a:xfrm>
            <a:off x="5742432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9" name="lane-5-chip-5" descr="/Users/a/MAI/DID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783580" y="4182074"/>
            <a:ext cx="173736" cy="173736"/>
          </a:xfrm>
          <a:prstGeom prst="rect">
            <a:avLst/>
          </a:prstGeom>
        </p:spPr>
      </p:pic>
      <p:sp>
        <p:nvSpPr>
          <p:cNvPr id="100" name="lane-5-chip-6"/>
          <p:cNvSpPr txBox="1"/>
          <p:nvPr/>
        </p:nvSpPr>
        <p:spPr>
          <a:xfrm>
            <a:off x="603504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1" name="lane-5-result"/>
          <p:cNvSpPr txBox="1"/>
          <p:nvPr/>
        </p:nvSpPr>
        <p:spPr>
          <a:xfrm>
            <a:off x="7635240" y="4027279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ответ 0,4 с; ревью защиты денег и ключа</a:t>
            </a:r>
            <a:endParaRPr lang="en-US" sz="1400" dirty="0"/>
          </a:p>
        </p:txBody>
      </p:sp>
      <p:sp>
        <p:nvSpPr>
          <p:cNvPr id="102" name="lane-6-rule"/>
          <p:cNvSpPr/>
          <p:nvPr/>
        </p:nvSpPr>
        <p:spPr>
          <a:xfrm>
            <a:off x="548640" y="451060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3" name="lane-6-name"/>
          <p:cNvSpPr txBox="1"/>
          <p:nvPr/>
        </p:nvSpPr>
        <p:spPr>
          <a:xfrm>
            <a:off x="548640" y="4510605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104" name="lane-6-chip-1-tile"/>
          <p:cNvSpPr/>
          <p:nvPr/>
        </p:nvSpPr>
        <p:spPr>
          <a:xfrm>
            <a:off x="457200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5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613148" y="4665399"/>
            <a:ext cx="173736" cy="173736"/>
          </a:xfrm>
          <a:prstGeom prst="rect">
            <a:avLst/>
          </a:prstGeom>
        </p:spPr>
      </p:pic>
      <p:sp>
        <p:nvSpPr>
          <p:cNvPr id="106" name="lane-6-chip-2-tile"/>
          <p:cNvSpPr/>
          <p:nvPr/>
        </p:nvSpPr>
        <p:spPr>
          <a:xfrm>
            <a:off x="4864608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7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905756" y="4665399"/>
            <a:ext cx="173736" cy="173736"/>
          </a:xfrm>
          <a:prstGeom prst="rect">
            <a:avLst/>
          </a:prstGeom>
        </p:spPr>
      </p:pic>
      <p:sp>
        <p:nvSpPr>
          <p:cNvPr id="108" name="lane-6-chip-3-tile"/>
          <p:cNvSpPr/>
          <p:nvPr/>
        </p:nvSpPr>
        <p:spPr>
          <a:xfrm>
            <a:off x="5157216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9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198364" y="4665399"/>
            <a:ext cx="173736" cy="173736"/>
          </a:xfrm>
          <a:prstGeom prst="rect">
            <a:avLst/>
          </a:prstGeom>
        </p:spPr>
      </p:pic>
      <p:sp>
        <p:nvSpPr>
          <p:cNvPr id="110" name="lane-6-chip-4-tile"/>
          <p:cNvSpPr/>
          <p:nvPr/>
        </p:nvSpPr>
        <p:spPr>
          <a:xfrm>
            <a:off x="5449824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1" name="lane-6-chip-4" descr="/Users/a/MAI/DID/presentation/assets/logos/openai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490972" y="4665399"/>
            <a:ext cx="173736" cy="173736"/>
          </a:xfrm>
          <a:prstGeom prst="rect">
            <a:avLst/>
          </a:prstGeom>
        </p:spPr>
      </p:pic>
      <p:sp>
        <p:nvSpPr>
          <p:cNvPr id="112" name="lane-6-chip-5-tile"/>
          <p:cNvSpPr/>
          <p:nvPr/>
        </p:nvSpPr>
        <p:spPr>
          <a:xfrm>
            <a:off x="5742432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3" name="lane-6-chip-5" descr="/Users/a/MAI/DID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783580" y="4665399"/>
            <a:ext cx="173736" cy="173736"/>
          </a:xfrm>
          <a:prstGeom prst="rect">
            <a:avLst/>
          </a:prstGeom>
        </p:spPr>
      </p:pic>
      <p:sp>
        <p:nvSpPr>
          <p:cNvPr id="114" name="lane-6-chip-6"/>
          <p:cNvSpPr txBox="1"/>
          <p:nvPr/>
        </p:nvSpPr>
        <p:spPr>
          <a:xfrm>
            <a:off x="603504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5" name="lane-6-result"/>
          <p:cNvSpPr txBox="1"/>
          <p:nvPr/>
        </p:nvSpPr>
        <p:spPr>
          <a:xfrm>
            <a:off x="7635240" y="4510605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против пары без связи прогон короче на 26 с</a:t>
            </a:r>
            <a:endParaRPr lang="en-US" sz="1400" dirty="0"/>
          </a:p>
        </p:txBody>
      </p:sp>
      <p:sp>
        <p:nvSpPr>
          <p:cNvPr id="116" name="lane-7-rule"/>
          <p:cNvSpPr/>
          <p:nvPr/>
        </p:nvSpPr>
        <p:spPr>
          <a:xfrm>
            <a:off x="548640" y="499393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7" name="lane-7-name"/>
          <p:cNvSpPr txBox="1"/>
          <p:nvPr/>
        </p:nvSpPr>
        <p:spPr>
          <a:xfrm>
            <a:off x="548640" y="4993930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18" name="lane-7-chip-1-tile"/>
          <p:cNvSpPr/>
          <p:nvPr/>
        </p:nvSpPr>
        <p:spPr>
          <a:xfrm>
            <a:off x="457200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9" name="lane-7-chip-1" descr="/Users/a/MAI/DID/presentation/assets/logos/gemin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613148" y="5148725"/>
            <a:ext cx="173736" cy="173736"/>
          </a:xfrm>
          <a:prstGeom prst="rect">
            <a:avLst/>
          </a:prstGeom>
        </p:spPr>
      </p:pic>
      <p:sp>
        <p:nvSpPr>
          <p:cNvPr id="120" name="lane-7-chip-2-tile"/>
          <p:cNvSpPr/>
          <p:nvPr/>
        </p:nvSpPr>
        <p:spPr>
          <a:xfrm>
            <a:off x="486460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1" name="lane-7-chip-2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905756" y="5148725"/>
            <a:ext cx="173736" cy="173736"/>
          </a:xfrm>
          <a:prstGeom prst="rect">
            <a:avLst/>
          </a:prstGeom>
        </p:spPr>
      </p:pic>
      <p:sp>
        <p:nvSpPr>
          <p:cNvPr id="122" name="lane-7-chip-3-tile"/>
          <p:cNvSpPr/>
          <p:nvPr/>
        </p:nvSpPr>
        <p:spPr>
          <a:xfrm>
            <a:off x="515721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3" name="lane-7-chip-3" descr="/Users/a/MAI/DID/presentation/assets/logos/openai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98364" y="5148725"/>
            <a:ext cx="173736" cy="173736"/>
          </a:xfrm>
          <a:prstGeom prst="rect">
            <a:avLst/>
          </a:prstGeom>
        </p:spPr>
      </p:pic>
      <p:sp>
        <p:nvSpPr>
          <p:cNvPr id="124" name="lane-7-chip-4-tile"/>
          <p:cNvSpPr/>
          <p:nvPr/>
        </p:nvSpPr>
        <p:spPr>
          <a:xfrm>
            <a:off x="5449824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5" name="lane-7-chip-4" descr="/Users/a/MAI/DID/presentation/assets/logos/claude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490972" y="5148725"/>
            <a:ext cx="173736" cy="173736"/>
          </a:xfrm>
          <a:prstGeom prst="rect">
            <a:avLst/>
          </a:prstGeom>
        </p:spPr>
      </p:pic>
      <p:sp>
        <p:nvSpPr>
          <p:cNvPr id="126" name="lane-7-chip-5-tile"/>
          <p:cNvSpPr/>
          <p:nvPr/>
        </p:nvSpPr>
        <p:spPr>
          <a:xfrm>
            <a:off x="5742432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7" name="lane-7-chip-5" descr="/Users/a/MAI/DID/presentation/assets/logos/openai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783580" y="5148725"/>
            <a:ext cx="173736" cy="173736"/>
          </a:xfrm>
          <a:prstGeom prst="rect">
            <a:avLst/>
          </a:prstGeom>
        </p:spPr>
      </p:pic>
      <p:sp>
        <p:nvSpPr>
          <p:cNvPr id="128" name="lane-7-chip-6-tile"/>
          <p:cNvSpPr/>
          <p:nvPr/>
        </p:nvSpPr>
        <p:spPr>
          <a:xfrm>
            <a:off x="603504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9" name="lane-7-chip-6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076188" y="5148725"/>
            <a:ext cx="173736" cy="173736"/>
          </a:xfrm>
          <a:prstGeom prst="rect">
            <a:avLst/>
          </a:prstGeom>
        </p:spPr>
      </p:pic>
      <p:sp>
        <p:nvSpPr>
          <p:cNvPr id="130" name="lane-7-chip-7-tile"/>
          <p:cNvSpPr/>
          <p:nvPr/>
        </p:nvSpPr>
        <p:spPr>
          <a:xfrm>
            <a:off x="632764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1" name="lane-7-chip-7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368796" y="5148725"/>
            <a:ext cx="173736" cy="173736"/>
          </a:xfrm>
          <a:prstGeom prst="rect">
            <a:avLst/>
          </a:prstGeom>
        </p:spPr>
      </p:pic>
      <p:sp>
        <p:nvSpPr>
          <p:cNvPr id="132" name="lane-7-chip-8"/>
          <p:cNvSpPr txBox="1"/>
          <p:nvPr/>
        </p:nvSpPr>
        <p:spPr>
          <a:xfrm>
            <a:off x="662025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33" name="lane-7-result"/>
          <p:cNvSpPr txBox="1"/>
          <p:nvPr/>
        </p:nvSpPr>
        <p:spPr>
          <a:xfrm>
            <a:off x="7635240" y="4993930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134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35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Счёт.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34 круга ревью по 20 работам. 19 из них ревью вернуло на исправления; с первого раза принято одно измерение без правок кода робота.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Уровни 0–4: адаптация — с оговоркой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Сверка с условием задачи: что есть на каждом уровне и что нужно сказать честно</a:t>
            </a:r>
            <a:endParaRPr lang="en-US" sz="1600" dirty="0"/>
          </a:p>
        </p:txBody>
      </p:sp>
      <p:sp>
        <p:nvSpPr>
          <p:cNvPr id="5" name="levels-head-1"/>
          <p:cNvSpPr txBox="1"/>
          <p:nvPr/>
        </p:nvSpPr>
        <p:spPr>
          <a:xfrm>
            <a:off x="548640" y="1691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Уровень</a:t>
            </a:r>
            <a:endParaRPr lang="en-US" sz="1300" dirty="0"/>
          </a:p>
        </p:txBody>
      </p:sp>
      <p:sp>
        <p:nvSpPr>
          <p:cNvPr id="6" name="levels-head-2"/>
          <p:cNvSpPr txBox="1"/>
          <p:nvPr/>
        </p:nvSpPr>
        <p:spPr>
          <a:xfrm>
            <a:off x="3017520" y="169164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7" name="levels-head-3"/>
          <p:cNvSpPr txBox="1"/>
          <p:nvPr/>
        </p:nvSpPr>
        <p:spPr>
          <a:xfrm>
            <a:off x="397764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есть</a:t>
            </a:r>
            <a:endParaRPr lang="en-US" sz="1300" dirty="0"/>
          </a:p>
        </p:txBody>
      </p:sp>
      <p:sp>
        <p:nvSpPr>
          <p:cNvPr id="8" name="levels-head-4"/>
          <p:cNvSpPr txBox="1"/>
          <p:nvPr/>
        </p:nvSpPr>
        <p:spPr>
          <a:xfrm>
            <a:off x="8366760" y="1691640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Оговорка</a:t>
            </a:r>
            <a:endParaRPr lang="en-US" sz="1300" dirty="0"/>
          </a:p>
        </p:txBody>
      </p:sp>
      <p:sp>
        <p:nvSpPr>
          <p:cNvPr id="9" name="levels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levels-1-1"/>
          <p:cNvSpPr txBox="1"/>
          <p:nvPr/>
        </p:nvSpPr>
        <p:spPr>
          <a:xfrm>
            <a:off x="548640" y="200253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0. Запуск среды</a:t>
            </a:r>
            <a:endParaRPr lang="en-US" sz="1500" dirty="0"/>
          </a:p>
        </p:txBody>
      </p:sp>
      <p:sp>
        <p:nvSpPr>
          <p:cNvPr id="11" name="levels-1-2"/>
          <p:cNvSpPr txBox="1"/>
          <p:nvPr/>
        </p:nvSpPr>
        <p:spPr>
          <a:xfrm>
            <a:off x="3017520" y="200253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2" name="levels-1-3"/>
          <p:cNvSpPr txBox="1"/>
          <p:nvPr/>
        </p:nvSpPr>
        <p:spPr>
          <a:xfrm>
            <a:off x="3977640" y="200253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Одна команда поднимает мир, робота и судью; есть ручное управление и проверка, что данные идут</a:t>
            </a:r>
            <a:endParaRPr lang="en-US" sz="1500" dirty="0"/>
          </a:p>
        </p:txBody>
      </p:sp>
      <p:sp>
        <p:nvSpPr>
          <p:cNvPr id="13" name="levels-1-4"/>
          <p:cNvSpPr txBox="1"/>
          <p:nvPr/>
        </p:nvSpPr>
        <p:spPr>
          <a:xfrm>
            <a:off x="8366760" y="200253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—</a:t>
            </a:r>
            <a:endParaRPr lang="en-US" sz="1500" dirty="0"/>
          </a:p>
        </p:txBody>
      </p:sp>
      <p:sp>
        <p:nvSpPr>
          <p:cNvPr id="14" name="levels-rule-2"/>
          <p:cNvSpPr/>
          <p:nvPr/>
        </p:nvSpPr>
        <p:spPr>
          <a:xfrm>
            <a:off x="548640" y="284561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levels-2-1"/>
          <p:cNvSpPr txBox="1"/>
          <p:nvPr/>
        </p:nvSpPr>
        <p:spPr>
          <a:xfrm>
            <a:off x="548640" y="284561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Навигация</a:t>
            </a:r>
            <a:endParaRPr lang="en-US" sz="1500" dirty="0"/>
          </a:p>
        </p:txBody>
      </p:sp>
      <p:sp>
        <p:nvSpPr>
          <p:cNvPr id="16" name="levels-2-2"/>
          <p:cNvSpPr txBox="1"/>
          <p:nvPr/>
        </p:nvSpPr>
        <p:spPr>
          <a:xfrm>
            <a:off x="3017520" y="284561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levels-2-3"/>
          <p:cNvSpPr txBox="1"/>
          <p:nvPr/>
        </p:nvSpPr>
        <p:spPr>
          <a:xfrm>
            <a:off x="3977640" y="284561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Путь по сетке карты с ценой клеток, запас 17 см от стен; команды скорости — как в условии</a:t>
            </a:r>
            <a:endParaRPr lang="en-US" sz="1500" dirty="0"/>
          </a:p>
        </p:txBody>
      </p:sp>
      <p:sp>
        <p:nvSpPr>
          <p:cNvPr id="18" name="levels-2-4"/>
          <p:cNvSpPr txBox="1"/>
          <p:nvPr/>
        </p:nvSpPr>
        <p:spPr>
          <a:xfrm>
            <a:off x="8366760" y="284561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Nav2 не используется: условие это разрешает</a:t>
            </a:r>
            <a:endParaRPr lang="en-US" sz="1500" dirty="0"/>
          </a:p>
        </p:txBody>
      </p:sp>
      <p:sp>
        <p:nvSpPr>
          <p:cNvPr id="19" name="levels-rule-3"/>
          <p:cNvSpPr/>
          <p:nvPr/>
        </p:nvSpPr>
        <p:spPr>
          <a:xfrm>
            <a:off x="548640" y="368869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levels-3-1"/>
          <p:cNvSpPr txBox="1"/>
          <p:nvPr/>
        </p:nvSpPr>
        <p:spPr>
          <a:xfrm>
            <a:off x="548640" y="3688690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Планировщик на языковой модели</a:t>
            </a:r>
            <a:endParaRPr lang="en-US" sz="1500" dirty="0"/>
          </a:p>
        </p:txBody>
      </p:sp>
      <p:sp>
        <p:nvSpPr>
          <p:cNvPr id="21" name="levels-3-2"/>
          <p:cNvSpPr txBox="1"/>
          <p:nvPr/>
        </p:nvSpPr>
        <p:spPr>
          <a:xfrm>
            <a:off x="3017520" y="3688690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2" name="levels-3-3"/>
          <p:cNvSpPr txBox="1"/>
          <p:nvPr/>
        </p:nvSpPr>
        <p:spPr>
          <a:xfrm>
            <a:off x="3977640" y="3688690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Модель по тексту миссии и сводке состояния возвращает подцели; исполняет программа. Миссии словами: 45–46 из 48</a:t>
            </a:r>
            <a:endParaRPr lang="en-US" sz="1500" dirty="0"/>
          </a:p>
        </p:txBody>
      </p:sp>
      <p:sp>
        <p:nvSpPr>
          <p:cNvPr id="23" name="levels-3-4"/>
          <p:cNvSpPr txBox="1"/>
          <p:nvPr/>
        </p:nvSpPr>
        <p:spPr>
          <a:xfrm>
            <a:off x="8366760" y="3688690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Режим «ехать, пока модель думает»: на настоящей модели измерен на 10 сценариях; по умолчанию выключен</a:t>
            </a:r>
            <a:endParaRPr lang="en-US" sz="1500" dirty="0"/>
          </a:p>
        </p:txBody>
      </p:sp>
      <p:sp>
        <p:nvSpPr>
          <p:cNvPr id="24" name="levels-rule-4"/>
          <p:cNvSpPr/>
          <p:nvPr/>
        </p:nvSpPr>
        <p:spPr>
          <a:xfrm>
            <a:off x="548640" y="453176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levels-4-1"/>
          <p:cNvSpPr txBox="1"/>
          <p:nvPr/>
        </p:nvSpPr>
        <p:spPr>
          <a:xfrm>
            <a:off x="548640" y="453176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Научный цикл</a:t>
            </a:r>
            <a:endParaRPr lang="en-US" sz="1500" dirty="0"/>
          </a:p>
        </p:txBody>
      </p:sp>
      <p:sp>
        <p:nvSpPr>
          <p:cNvPr id="26" name="levels-4-2"/>
          <p:cNvSpPr txBox="1"/>
          <p:nvPr/>
        </p:nvSpPr>
        <p:spPr>
          <a:xfrm>
            <a:off x="3017520" y="453176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7" name="levels-4-3"/>
          <p:cNvSpPr txBox="1"/>
          <p:nvPr/>
        </p:nvSpPr>
        <p:spPr>
          <a:xfrm>
            <a:off x="3977640" y="453176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Журнал гипотез; расследования «вопрос — опыт — вывод»; опыт — самый дешёвый из различающих объяснения</a:t>
            </a:r>
            <a:endParaRPr lang="en-US" sz="1500" dirty="0"/>
          </a:p>
        </p:txBody>
      </p:sp>
      <p:sp>
        <p:nvSpPr>
          <p:cNvPr id="28" name="levels-4-4"/>
          <p:cNvSpPr txBox="1"/>
          <p:nvPr/>
        </p:nvSpPr>
        <p:spPr>
          <a:xfrm>
            <a:off x="8366760" y="453176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Гипотезы робота выдвигает и проверяет программа; модель — только в опыте «в тени»</a:t>
            </a:r>
            <a:endParaRPr lang="en-US" sz="1500" dirty="0"/>
          </a:p>
        </p:txBody>
      </p:sp>
      <p:sp>
        <p:nvSpPr>
          <p:cNvPr id="29" name="levels-rule-5"/>
          <p:cNvSpPr/>
          <p:nvPr/>
        </p:nvSpPr>
        <p:spPr>
          <a:xfrm>
            <a:off x="548640" y="53748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levels-5-1"/>
          <p:cNvSpPr txBox="1"/>
          <p:nvPr/>
        </p:nvSpPr>
        <p:spPr>
          <a:xfrm>
            <a:off x="548640" y="537484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Адаптация</a:t>
            </a:r>
            <a:endParaRPr lang="en-US" sz="1500" dirty="0"/>
          </a:p>
        </p:txBody>
      </p:sp>
      <p:sp>
        <p:nvSpPr>
          <p:cNvPr id="31" name="levels-5-2"/>
          <p:cNvSpPr txBox="1"/>
          <p:nvPr/>
        </p:nvSpPr>
        <p:spPr>
          <a:xfrm>
            <a:off x="3017520" y="537484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частично</a:t>
            </a:r>
            <a:endParaRPr lang="en-US" sz="1300" dirty="0"/>
          </a:p>
        </p:txBody>
      </p:sp>
      <p:sp>
        <p:nvSpPr>
          <p:cNvPr id="32" name="levels-5-3"/>
          <p:cNvSpPr txBox="1"/>
          <p:nvPr/>
        </p:nvSpPr>
        <p:spPr>
          <a:xfrm>
            <a:off x="3977640" y="537484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Показ: на 42-й секунде шумит датчик — вывод «сбой», ждёт 36 с; на 31-й дорожает грунт — меряет расход (в 3 прогонах из 5)</a:t>
            </a:r>
            <a:endParaRPr lang="en-US" sz="1500" dirty="0"/>
          </a:p>
        </p:txBody>
      </p:sp>
      <p:sp>
        <p:nvSpPr>
          <p:cNvPr id="33" name="levels-5-4"/>
          <p:cNvSpPr txBox="1"/>
          <p:nvPr/>
        </p:nvSpPr>
        <p:spPr>
          <a:xfrm>
            <a:off x="8366760" y="537484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Очки даёт распознавание сбоя датчика (+6,4); по грунту выигрыш не показан (+1,0 [−3,6; +5,4])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Критерии оценки: чем закрыт каждый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Веса — из условия задачи; в правом столбце — слабое место, о котором мы знаем</a:t>
            </a:r>
            <a:endParaRPr lang="en-US" sz="1600" dirty="0"/>
          </a:p>
        </p:txBody>
      </p:sp>
      <p:sp>
        <p:nvSpPr>
          <p:cNvPr id="5" name="criteria-head-1"/>
          <p:cNvSpPr txBox="1"/>
          <p:nvPr/>
        </p:nvSpPr>
        <p:spPr>
          <a:xfrm>
            <a:off x="548640" y="1691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Критерий и вес</a:t>
            </a:r>
            <a:endParaRPr lang="en-US" sz="1300" dirty="0"/>
          </a:p>
        </p:txBody>
      </p:sp>
      <p:sp>
        <p:nvSpPr>
          <p:cNvPr id="6" name="criteria-head-2"/>
          <p:cNvSpPr txBox="1"/>
          <p:nvPr/>
        </p:nvSpPr>
        <p:spPr>
          <a:xfrm>
            <a:off x="3566160" y="1691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Чем закрыт</a:t>
            </a:r>
            <a:endParaRPr lang="en-US" sz="1300" dirty="0"/>
          </a:p>
        </p:txBody>
      </p:sp>
      <p:sp>
        <p:nvSpPr>
          <p:cNvPr id="7" name="criteria-head-3"/>
          <p:cNvSpPr txBox="1"/>
          <p:nvPr/>
        </p:nvSpPr>
        <p:spPr>
          <a:xfrm>
            <a:off x="8183880" y="1691640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Слабое место</a:t>
            </a:r>
            <a:endParaRPr lang="en-US" sz="1300" dirty="0"/>
          </a:p>
        </p:txBody>
      </p:sp>
      <p:sp>
        <p:nvSpPr>
          <p:cNvPr id="8" name="criteria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" name="criteria-1-1"/>
          <p:cNvSpPr txBox="1"/>
          <p:nvPr/>
        </p:nvSpPr>
        <p:spPr>
          <a:xfrm>
            <a:off x="548640" y="200253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Работоспособность агента · 30%</a:t>
            </a:r>
            <a:endParaRPr lang="en-US" sz="1400" dirty="0"/>
          </a:p>
        </p:txBody>
      </p:sp>
      <p:sp>
        <p:nvSpPr>
          <p:cNvPr id="10" name="criteria-1-2"/>
          <p:cNvSpPr txBox="1"/>
          <p:nvPr/>
        </p:nvSpPr>
        <p:spPr>
          <a:xfrm>
            <a:off x="3566160" y="200253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Трудный уровень: 81,3 очка; с полными подсказками — 92,5 (другие сценарии); показной сценарий в Gazebo — 5 из 5, счёт 90,8–91,9</a:t>
            </a:r>
            <a:endParaRPr lang="en-US" sz="1400" dirty="0"/>
          </a:p>
        </p:txBody>
      </p:sp>
      <p:sp>
        <p:nvSpPr>
          <p:cNvPr id="11" name="criteria-1-3"/>
          <p:cNvSpPr txBox="1"/>
          <p:nvPr/>
        </p:nvSpPr>
        <p:spPr>
          <a:xfrm>
            <a:off x="8183880" y="200253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Недобор смешанный; пять правок при базовых правилах выигрыша не показали</a:t>
            </a:r>
            <a:endParaRPr lang="en-US" sz="1400" dirty="0"/>
          </a:p>
        </p:txBody>
      </p:sp>
      <p:sp>
        <p:nvSpPr>
          <p:cNvPr id="12" name="criteria-rule-2"/>
          <p:cNvSpPr/>
          <p:nvPr/>
        </p:nvSpPr>
        <p:spPr>
          <a:xfrm>
            <a:off x="548640" y="27051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" name="criteria-2-1"/>
          <p:cNvSpPr txBox="1"/>
          <p:nvPr/>
        </p:nvSpPr>
        <p:spPr>
          <a:xfrm>
            <a:off x="548640" y="2705100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Адаптивность · 25%</a:t>
            </a:r>
            <a:endParaRPr lang="en-US" sz="1400" dirty="0"/>
          </a:p>
        </p:txBody>
      </p:sp>
      <p:sp>
        <p:nvSpPr>
          <p:cNvPr id="14" name="criteria-2-2"/>
          <p:cNvSpPr txBox="1"/>
          <p:nvPr/>
        </p:nvSpPr>
        <p:spPr>
          <a:xfrm>
            <a:off x="3566160" y="2705100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Генератор сценариев; робот сам распознаёт сбой датчика (+6,4), новые зоны (+3,5), потерю положения; показ адаптации есть</a:t>
            </a:r>
            <a:endParaRPr lang="en-US" sz="1400" dirty="0"/>
          </a:p>
        </p:txBody>
      </p:sp>
      <p:sp>
        <p:nvSpPr>
          <p:cNvPr id="15" name="criteria-2-3"/>
          <p:cNvSpPr txBox="1"/>
          <p:nvPr/>
        </p:nvSpPr>
        <p:spPr>
          <a:xfrm>
            <a:off x="8183880" y="2705100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реакции на грунт и его смену выигрыш не показан</a:t>
            </a:r>
            <a:endParaRPr lang="en-US" sz="1400" dirty="0"/>
          </a:p>
        </p:txBody>
      </p:sp>
      <p:sp>
        <p:nvSpPr>
          <p:cNvPr id="16" name="criteria-rule-3"/>
          <p:cNvSpPr/>
          <p:nvPr/>
        </p:nvSpPr>
        <p:spPr>
          <a:xfrm>
            <a:off x="548640" y="340766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criteria-3-1"/>
          <p:cNvSpPr txBox="1"/>
          <p:nvPr/>
        </p:nvSpPr>
        <p:spPr>
          <a:xfrm>
            <a:off x="548640" y="3407664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Планирование на языковой модели · 15%</a:t>
            </a:r>
            <a:endParaRPr lang="en-US" sz="1400" dirty="0"/>
          </a:p>
        </p:txBody>
      </p:sp>
      <p:sp>
        <p:nvSpPr>
          <p:cNvPr id="18" name="criteria-3-2"/>
          <p:cNvSpPr txBox="1"/>
          <p:nvPr/>
        </p:nvSpPr>
        <p:spPr>
          <a:xfrm>
            <a:off x="3566160" y="3407664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Три модели МАИ; проверка ответа и запасное правило; миссии словами 45–46 из 48, у правила 0 из 48</a:t>
            </a:r>
            <a:endParaRPr lang="en-US" sz="1400" dirty="0"/>
          </a:p>
        </p:txBody>
      </p:sp>
      <p:sp>
        <p:nvSpPr>
          <p:cNvPr id="19" name="criteria-3-3"/>
          <p:cNvSpPr txBox="1"/>
          <p:nvPr/>
        </p:nvSpPr>
        <p:spPr>
          <a:xfrm>
            <a:off x="8183880" y="3407664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обычной миссии выигрыш от модели не показан; ответ идёт 15 с и дольше</a:t>
            </a:r>
            <a:endParaRPr lang="en-US" sz="1400" dirty="0"/>
          </a:p>
        </p:txBody>
      </p:sp>
      <p:sp>
        <p:nvSpPr>
          <p:cNvPr id="20" name="criteria-rule-4"/>
          <p:cNvSpPr/>
          <p:nvPr/>
        </p:nvSpPr>
        <p:spPr>
          <a:xfrm>
            <a:off x="548640" y="411022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1" name="criteria-4-1"/>
          <p:cNvSpPr txBox="1"/>
          <p:nvPr/>
        </p:nvSpPr>
        <p:spPr>
          <a:xfrm>
            <a:off x="548640" y="4110228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Научный подход · 15%</a:t>
            </a:r>
            <a:endParaRPr lang="en-US" sz="1400" dirty="0"/>
          </a:p>
        </p:txBody>
      </p:sp>
      <p:sp>
        <p:nvSpPr>
          <p:cNvPr id="22" name="criteria-4-2"/>
          <p:cNvSpPr txBox="1"/>
          <p:nvPr/>
        </p:nvSpPr>
        <p:spPr>
          <a:xfrm>
            <a:off x="3566160" y="4110228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Журнал сверен со скрытой правдой: верны 9 из 10 подтверждённых; выбор опыта с учётом цены: расход 0,54 → 0,08 ед.</a:t>
            </a:r>
            <a:endParaRPr lang="en-US" sz="1400" dirty="0"/>
          </a:p>
        </p:txBody>
      </p:sp>
      <p:sp>
        <p:nvSpPr>
          <p:cNvPr id="23" name="criteria-4-3"/>
          <p:cNvSpPr txBox="1"/>
          <p:nvPr/>
        </p:nvSpPr>
        <p:spPr>
          <a:xfrm>
            <a:off x="8183880" y="4110228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Гипотезы робота выдвигает программа; тот же выбор даёт правило «самый дешёвый»</a:t>
            </a:r>
            <a:endParaRPr lang="en-US" sz="1400" dirty="0"/>
          </a:p>
        </p:txBody>
      </p:sp>
      <p:sp>
        <p:nvSpPr>
          <p:cNvPr id="24" name="criteria-rule-5"/>
          <p:cNvSpPr/>
          <p:nvPr/>
        </p:nvSpPr>
        <p:spPr>
          <a:xfrm>
            <a:off x="548640" y="481279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criteria-5-1"/>
          <p:cNvSpPr txBox="1"/>
          <p:nvPr/>
        </p:nvSpPr>
        <p:spPr>
          <a:xfrm>
            <a:off x="548640" y="4812792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Ассистент и процесс · 5%</a:t>
            </a:r>
            <a:endParaRPr lang="en-US" sz="1400" dirty="0"/>
          </a:p>
        </p:txBody>
      </p:sp>
      <p:sp>
        <p:nvSpPr>
          <p:cNvPr id="26" name="criteria-5-2"/>
          <p:cNvSpPr txBox="1"/>
          <p:nvPr/>
        </p:nvSpPr>
        <p:spPr>
          <a:xfrm>
            <a:off x="3566160" y="4812792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1022 автоматические проверки; показ и серии опытов — одной командой; репетиция показа проведена</a:t>
            </a:r>
            <a:endParaRPr lang="en-US" sz="1400" dirty="0"/>
          </a:p>
        </p:txBody>
      </p:sp>
      <p:sp>
        <p:nvSpPr>
          <p:cNvPr id="27" name="criteria-5-3"/>
          <p:cNvSpPr txBox="1"/>
          <p:nvPr/>
        </p:nvSpPr>
        <p:spPr>
          <a:xfrm>
            <a:off x="8183880" y="4812792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Ускорение от скиллов ассистента не измерялось</a:t>
            </a:r>
            <a:endParaRPr lang="en-US" sz="1400" dirty="0"/>
          </a:p>
        </p:txBody>
      </p:sp>
      <p:sp>
        <p:nvSpPr>
          <p:cNvPr id="28" name="criteria-rule-6"/>
          <p:cNvSpPr/>
          <p:nvPr/>
        </p:nvSpPr>
        <p:spPr>
          <a:xfrm>
            <a:off x="548640" y="551535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9" name="criteria-6-1"/>
          <p:cNvSpPr txBox="1"/>
          <p:nvPr/>
        </p:nvSpPr>
        <p:spPr>
          <a:xfrm>
            <a:off x="548640" y="551535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Презентация и «ИИ как инфраструктура знаний» · 10%</a:t>
            </a:r>
            <a:endParaRPr lang="en-US" sz="1400" dirty="0"/>
          </a:p>
        </p:txBody>
      </p:sp>
      <p:sp>
        <p:nvSpPr>
          <p:cNvPr id="30" name="criteria-6-2"/>
          <p:cNvSpPr txBox="1"/>
          <p:nvPr/>
        </p:nvSpPr>
        <p:spPr>
          <a:xfrm>
            <a:off x="3566160" y="551535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Эта презентация со слайдами о работе с ИИ, страница-объяснение и страница опытов</a:t>
            </a:r>
            <a:endParaRPr lang="en-US" sz="1400" dirty="0"/>
          </a:p>
        </p:txBody>
      </p:sp>
      <p:sp>
        <p:nvSpPr>
          <p:cNvPr id="31" name="criteria-6-3"/>
          <p:cNvSpPr txBox="1"/>
          <p:nvPr/>
        </p:nvSpPr>
        <p:spPr>
          <a:xfrm>
            <a:off x="8183880" y="551535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Связь с наукой — по литературе, не по внедрению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Опыты: числа и интервалы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 скобках — 95% интервал разности на одних сценариях. Всё измерено в быстром симуляторе</a:t>
            </a:r>
            <a:endParaRPr lang="en-US" sz="1600" dirty="0"/>
          </a:p>
        </p:txBody>
      </p:sp>
      <p:sp>
        <p:nvSpPr>
          <p:cNvPr id="5" name="exp-head-1"/>
          <p:cNvSpPr txBox="1"/>
          <p:nvPr/>
        </p:nvSpPr>
        <p:spPr>
          <a:xfrm>
            <a:off x="548640" y="16916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сравнивали</a:t>
            </a:r>
            <a:endParaRPr lang="en-US" sz="1300" dirty="0"/>
          </a:p>
        </p:txBody>
      </p:sp>
      <p:sp>
        <p:nvSpPr>
          <p:cNvPr id="6" name="exp-head-2"/>
          <p:cNvSpPr txBox="1"/>
          <p:nvPr/>
        </p:nvSpPr>
        <p:spPr>
          <a:xfrm>
            <a:off x="3611880" y="1691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Где измерено</a:t>
            </a:r>
            <a:endParaRPr lang="en-US" sz="1300" dirty="0"/>
          </a:p>
        </p:txBody>
      </p:sp>
      <p:sp>
        <p:nvSpPr>
          <p:cNvPr id="7" name="exp-head-3"/>
          <p:cNvSpPr txBox="1"/>
          <p:nvPr/>
        </p:nvSpPr>
        <p:spPr>
          <a:xfrm>
            <a:off x="5943600" y="16916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Число и интервал</a:t>
            </a:r>
            <a:endParaRPr lang="en-US" sz="1300" dirty="0"/>
          </a:p>
        </p:txBody>
      </p:sp>
      <p:sp>
        <p:nvSpPr>
          <p:cNvPr id="8" name="exp-head-4"/>
          <p:cNvSpPr txBox="1"/>
          <p:nvPr/>
        </p:nvSpPr>
        <p:spPr>
          <a:xfrm>
            <a:off x="9372600" y="1691640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Вывод</a:t>
            </a:r>
            <a:endParaRPr lang="en-US" sz="1300" dirty="0"/>
          </a:p>
        </p:txBody>
      </p:sp>
      <p:sp>
        <p:nvSpPr>
          <p:cNvPr id="9" name="exp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exp-1-1"/>
          <p:cNvSpPr txBox="1"/>
          <p:nvPr/>
        </p:nvSpPr>
        <p:spPr>
          <a:xfrm>
            <a:off x="548640" y="2002536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Адаптация против плана заранее</a:t>
            </a:r>
            <a:endParaRPr lang="en-US" sz="1300" dirty="0"/>
          </a:p>
        </p:txBody>
      </p:sp>
      <p:sp>
        <p:nvSpPr>
          <p:cNvPr id="11" name="exp-1-2"/>
          <p:cNvSpPr txBox="1"/>
          <p:nvPr/>
        </p:nvSpPr>
        <p:spPr>
          <a:xfrm>
            <a:off x="3611880" y="2002536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2" name="exp-1-3"/>
          <p:cNvSpPr txBox="1"/>
          <p:nvPr/>
        </p:nvSpPr>
        <p:spPr>
          <a:xfrm>
            <a:off x="5943600" y="2002536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72,7 против 59,3: +13,3 [+7,4; +19,0]</a:t>
            </a:r>
            <a:endParaRPr lang="en-US" sz="1300" dirty="0"/>
          </a:p>
        </p:txBody>
      </p:sp>
      <p:sp>
        <p:nvSpPr>
          <p:cNvPr id="13" name="exp-1-4"/>
          <p:cNvSpPr txBox="1"/>
          <p:nvPr/>
        </p:nvSpPr>
        <p:spPr>
          <a:xfrm>
            <a:off x="9372600" y="2002536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4" name="exp-rule-2"/>
          <p:cNvSpPr/>
          <p:nvPr/>
        </p:nvSpPr>
        <p:spPr>
          <a:xfrm>
            <a:off x="548640" y="232679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exp-2-1"/>
          <p:cNvSpPr txBox="1"/>
          <p:nvPr/>
        </p:nvSpPr>
        <p:spPr>
          <a:xfrm>
            <a:off x="548640" y="2326796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Распознавание сбоя датчика</a:t>
            </a:r>
            <a:endParaRPr lang="en-US" sz="1300" dirty="0"/>
          </a:p>
        </p:txBody>
      </p:sp>
      <p:sp>
        <p:nvSpPr>
          <p:cNvPr id="16" name="exp-2-2"/>
          <p:cNvSpPr txBox="1"/>
          <p:nvPr/>
        </p:nvSpPr>
        <p:spPr>
          <a:xfrm>
            <a:off x="3611880" y="2326796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7" name="exp-2-3"/>
          <p:cNvSpPr txBox="1"/>
          <p:nvPr/>
        </p:nvSpPr>
        <p:spPr>
          <a:xfrm>
            <a:off x="5943600" y="2326796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74,9 → 81,3: +6,4 [+2,9; +9,8]</a:t>
            </a:r>
            <a:endParaRPr lang="en-US" sz="1300" dirty="0"/>
          </a:p>
        </p:txBody>
      </p:sp>
      <p:sp>
        <p:nvSpPr>
          <p:cNvPr id="18" name="exp-2-4"/>
          <p:cNvSpPr txBox="1"/>
          <p:nvPr/>
        </p:nvSpPr>
        <p:spPr>
          <a:xfrm>
            <a:off x="9372600" y="2326796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9" name="exp-rule-3"/>
          <p:cNvSpPr/>
          <p:nvPr/>
        </p:nvSpPr>
        <p:spPr>
          <a:xfrm>
            <a:off x="548640" y="265105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exp-3-1"/>
          <p:cNvSpPr txBox="1"/>
          <p:nvPr/>
        </p:nvSpPr>
        <p:spPr>
          <a:xfrm>
            <a:off x="548640" y="265105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Новые схемы планирования</a:t>
            </a:r>
            <a:endParaRPr lang="en-US" sz="1300" dirty="0"/>
          </a:p>
        </p:txBody>
      </p:sp>
      <p:sp>
        <p:nvSpPr>
          <p:cNvPr id="21" name="exp-3-2"/>
          <p:cNvSpPr txBox="1"/>
          <p:nvPr/>
        </p:nvSpPr>
        <p:spPr>
          <a:xfrm>
            <a:off x="3611880" y="265105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22" name="exp-3-3"/>
          <p:cNvSpPr txBox="1"/>
          <p:nvPr/>
        </p:nvSpPr>
        <p:spPr>
          <a:xfrm>
            <a:off x="5943600" y="265105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72,9 против 73,3: −0,4 [−2,7; +1,9]</a:t>
            </a:r>
            <a:endParaRPr lang="en-US" sz="1300" dirty="0"/>
          </a:p>
        </p:txBody>
      </p:sp>
      <p:sp>
        <p:nvSpPr>
          <p:cNvPr id="23" name="exp-3-4"/>
          <p:cNvSpPr txBox="1"/>
          <p:nvPr/>
        </p:nvSpPr>
        <p:spPr>
          <a:xfrm>
            <a:off x="9372600" y="265105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различие не показано</a:t>
            </a:r>
            <a:endParaRPr lang="en-US" sz="1300" dirty="0"/>
          </a:p>
        </p:txBody>
      </p:sp>
      <p:sp>
        <p:nvSpPr>
          <p:cNvPr id="24" name="exp-rule-4"/>
          <p:cNvSpPr/>
          <p:nvPr/>
        </p:nvSpPr>
        <p:spPr>
          <a:xfrm>
            <a:off x="548640" y="297531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exp-4-1"/>
          <p:cNvSpPr txBox="1"/>
          <p:nvPr/>
        </p:nvSpPr>
        <p:spPr>
          <a:xfrm>
            <a:off x="548640" y="297531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Пять правок, базовые правила</a:t>
            </a:r>
            <a:endParaRPr lang="en-US" sz="1300" dirty="0"/>
          </a:p>
        </p:txBody>
      </p:sp>
      <p:sp>
        <p:nvSpPr>
          <p:cNvPr id="26" name="exp-4-2"/>
          <p:cNvSpPr txBox="1"/>
          <p:nvPr/>
        </p:nvSpPr>
        <p:spPr>
          <a:xfrm>
            <a:off x="3611880" y="297531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27" name="exp-4-3"/>
          <p:cNvSpPr txBox="1"/>
          <p:nvPr/>
        </p:nvSpPr>
        <p:spPr>
          <a:xfrm>
            <a:off x="5943600" y="297531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−0,39 [−1,18; +0,01]</a:t>
            </a:r>
            <a:endParaRPr lang="en-US" sz="1300" dirty="0"/>
          </a:p>
        </p:txBody>
      </p:sp>
      <p:sp>
        <p:nvSpPr>
          <p:cNvPr id="28" name="exp-4-4"/>
          <p:cNvSpPr txBox="1"/>
          <p:nvPr/>
        </p:nvSpPr>
        <p:spPr>
          <a:xfrm>
            <a:off x="9372600" y="297531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выигрыш не показан</a:t>
            </a:r>
            <a:endParaRPr lang="en-US" sz="1300" dirty="0"/>
          </a:p>
        </p:txBody>
      </p:sp>
      <p:sp>
        <p:nvSpPr>
          <p:cNvPr id="29" name="exp-rule-5"/>
          <p:cNvSpPr/>
          <p:nvPr/>
        </p:nvSpPr>
        <p:spPr>
          <a:xfrm>
            <a:off x="548640" y="329957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exp-5-1"/>
          <p:cNvSpPr txBox="1"/>
          <p:nvPr/>
        </p:nvSpPr>
        <p:spPr>
          <a:xfrm>
            <a:off x="548640" y="329957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Реакция на грунт и на его смену</a:t>
            </a:r>
            <a:endParaRPr lang="en-US" sz="1300" dirty="0"/>
          </a:p>
        </p:txBody>
      </p:sp>
      <p:sp>
        <p:nvSpPr>
          <p:cNvPr id="31" name="exp-5-2"/>
          <p:cNvSpPr txBox="1"/>
          <p:nvPr/>
        </p:nvSpPr>
        <p:spPr>
          <a:xfrm>
            <a:off x="3611880" y="329957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40 сценариев</a:t>
            </a:r>
            <a:endParaRPr lang="en-US" sz="1300" dirty="0"/>
          </a:p>
        </p:txBody>
      </p:sp>
      <p:sp>
        <p:nvSpPr>
          <p:cNvPr id="32" name="exp-5-3"/>
          <p:cNvSpPr txBox="1"/>
          <p:nvPr/>
        </p:nvSpPr>
        <p:spPr>
          <a:xfrm>
            <a:off x="5943600" y="329957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+1,0 [−3,6; +5,4] и +0,02 [−0,03; +0,07]</a:t>
            </a:r>
            <a:endParaRPr lang="en-US" sz="1300" dirty="0"/>
          </a:p>
        </p:txBody>
      </p:sp>
      <p:sp>
        <p:nvSpPr>
          <p:cNvPr id="33" name="exp-5-4"/>
          <p:cNvSpPr txBox="1"/>
          <p:nvPr/>
        </p:nvSpPr>
        <p:spPr>
          <a:xfrm>
            <a:off x="9372600" y="329957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выигрыш не показан</a:t>
            </a:r>
            <a:endParaRPr lang="en-US" sz="1300" dirty="0"/>
          </a:p>
        </p:txBody>
      </p:sp>
      <p:sp>
        <p:nvSpPr>
          <p:cNvPr id="34" name="exp-rule-6"/>
          <p:cNvSpPr/>
          <p:nvPr/>
        </p:nvSpPr>
        <p:spPr>
          <a:xfrm>
            <a:off x="548640" y="362383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5" name="exp-6-1"/>
          <p:cNvSpPr txBox="1"/>
          <p:nvPr/>
        </p:nvSpPr>
        <p:spPr>
          <a:xfrm>
            <a:off x="548640" y="362383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Агент с полными подсказками</a:t>
            </a:r>
            <a:endParaRPr lang="en-US" sz="1300" dirty="0"/>
          </a:p>
        </p:txBody>
      </p:sp>
      <p:sp>
        <p:nvSpPr>
          <p:cNvPr id="36" name="exp-6-2"/>
          <p:cNvSpPr txBox="1"/>
          <p:nvPr/>
        </p:nvSpPr>
        <p:spPr>
          <a:xfrm>
            <a:off x="3611880" y="362383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37" name="exp-6-3"/>
          <p:cNvSpPr txBox="1"/>
          <p:nvPr/>
        </p:nvSpPr>
        <p:spPr>
          <a:xfrm>
            <a:off x="5943600" y="362383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92,5 против 73,3 без подсказок</a:t>
            </a:r>
            <a:endParaRPr lang="en-US" sz="1300" dirty="0"/>
          </a:p>
        </p:txBody>
      </p:sp>
      <p:sp>
        <p:nvSpPr>
          <p:cNvPr id="38" name="exp-6-4"/>
          <p:cNvSpPr txBox="1"/>
          <p:nvPr/>
        </p:nvSpPr>
        <p:spPr>
          <a:xfrm>
            <a:off x="9372600" y="362383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оптимум не установлен</a:t>
            </a:r>
            <a:endParaRPr lang="en-US" sz="1300" dirty="0"/>
          </a:p>
        </p:txBody>
      </p:sp>
      <p:sp>
        <p:nvSpPr>
          <p:cNvPr id="39" name="exp-rule-7"/>
          <p:cNvSpPr/>
          <p:nvPr/>
        </p:nvSpPr>
        <p:spPr>
          <a:xfrm>
            <a:off x="548640" y="394809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0" name="exp-7-1"/>
          <p:cNvSpPr txBox="1"/>
          <p:nvPr/>
        </p:nvSpPr>
        <p:spPr>
          <a:xfrm>
            <a:off x="548640" y="394809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Выбор опыта с учётом цены</a:t>
            </a:r>
            <a:endParaRPr lang="en-US" sz="1300" dirty="0"/>
          </a:p>
        </p:txBody>
      </p:sp>
      <p:sp>
        <p:nvSpPr>
          <p:cNvPr id="41" name="exp-7-2"/>
          <p:cNvSpPr txBox="1"/>
          <p:nvPr/>
        </p:nvSpPr>
        <p:spPr>
          <a:xfrm>
            <a:off x="3611880" y="394809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сцен., 2 набора правил</a:t>
            </a:r>
            <a:endParaRPr lang="en-US" sz="1300" dirty="0"/>
          </a:p>
        </p:txBody>
      </p:sp>
      <p:sp>
        <p:nvSpPr>
          <p:cNvPr id="42" name="exp-7-3"/>
          <p:cNvSpPr txBox="1"/>
          <p:nvPr/>
        </p:nvSpPr>
        <p:spPr>
          <a:xfrm>
            <a:off x="5943600" y="394809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расход 0,54 → 0,08; причина 86 → 92%</a:t>
            </a:r>
            <a:endParaRPr lang="en-US" sz="1300" dirty="0"/>
          </a:p>
        </p:txBody>
      </p:sp>
      <p:sp>
        <p:nvSpPr>
          <p:cNvPr id="43" name="exp-7-4"/>
          <p:cNvSpPr txBox="1"/>
          <p:nvPr/>
        </p:nvSpPr>
        <p:spPr>
          <a:xfrm>
            <a:off x="9372600" y="394809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 счёт — не показано</a:t>
            </a:r>
            <a:endParaRPr lang="en-US" sz="1300" dirty="0"/>
          </a:p>
        </p:txBody>
      </p:sp>
      <p:sp>
        <p:nvSpPr>
          <p:cNvPr id="44" name="exp-rule-8"/>
          <p:cNvSpPr/>
          <p:nvPr/>
        </p:nvSpPr>
        <p:spPr>
          <a:xfrm>
            <a:off x="548640" y="427235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5" name="exp-8-1"/>
          <p:cNvSpPr txBox="1"/>
          <p:nvPr/>
        </p:nvSpPr>
        <p:spPr>
          <a:xfrm>
            <a:off x="548640" y="427235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Самокалибровка датчика</a:t>
            </a:r>
            <a:endParaRPr lang="en-US" sz="1300" dirty="0"/>
          </a:p>
        </p:txBody>
      </p:sp>
      <p:sp>
        <p:nvSpPr>
          <p:cNvPr id="46" name="exp-8-2"/>
          <p:cNvSpPr txBox="1"/>
          <p:nvPr/>
        </p:nvSpPr>
        <p:spPr>
          <a:xfrm>
            <a:off x="3611880" y="427235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47" name="exp-8-3"/>
          <p:cNvSpPr txBox="1"/>
          <p:nvPr/>
        </p:nvSpPr>
        <p:spPr>
          <a:xfrm>
            <a:off x="5943600" y="427235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собрано 1% → 71% и 23% → 61%</a:t>
            </a:r>
            <a:endParaRPr lang="en-US" sz="1300" dirty="0"/>
          </a:p>
        </p:txBody>
      </p:sp>
      <p:sp>
        <p:nvSpPr>
          <p:cNvPr id="48" name="exp-8-4"/>
          <p:cNvSpPr txBox="1"/>
          <p:nvPr/>
        </p:nvSpPr>
        <p:spPr>
          <a:xfrm>
            <a:off x="9372600" y="427235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умолчанию выключено</a:t>
            </a:r>
            <a:endParaRPr lang="en-US" sz="1300" dirty="0"/>
          </a:p>
        </p:txBody>
      </p:sp>
      <p:sp>
        <p:nvSpPr>
          <p:cNvPr id="49" name="exp-rule-9"/>
          <p:cNvSpPr/>
          <p:nvPr/>
        </p:nvSpPr>
        <p:spPr>
          <a:xfrm>
            <a:off x="548640" y="45966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0" name="exp-9-1"/>
          <p:cNvSpPr txBox="1"/>
          <p:nvPr/>
        </p:nvSpPr>
        <p:spPr>
          <a:xfrm>
            <a:off x="548640" y="459661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Миссии словами, три модели МАИ</a:t>
            </a:r>
            <a:endParaRPr lang="en-US" sz="1300" dirty="0"/>
          </a:p>
        </p:txBody>
      </p:sp>
      <p:sp>
        <p:nvSpPr>
          <p:cNvPr id="51" name="exp-9-2"/>
          <p:cNvSpPr txBox="1"/>
          <p:nvPr/>
        </p:nvSpPr>
        <p:spPr>
          <a:xfrm>
            <a:off x="3611880" y="459661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48 прогонов на модель</a:t>
            </a:r>
            <a:endParaRPr lang="en-US" sz="1300" dirty="0"/>
          </a:p>
        </p:txBody>
      </p:sp>
      <p:sp>
        <p:nvSpPr>
          <p:cNvPr id="52" name="exp-9-3"/>
          <p:cNvSpPr txBox="1"/>
          <p:nvPr/>
        </p:nvSpPr>
        <p:spPr>
          <a:xfrm>
            <a:off x="5943600" y="459661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45–46 из 48; правило — 0 из 48</a:t>
            </a:r>
            <a:endParaRPr lang="en-US" sz="1300" dirty="0"/>
          </a:p>
        </p:txBody>
      </p:sp>
      <p:sp>
        <p:nvSpPr>
          <p:cNvPr id="53" name="exp-9-4"/>
          <p:cNvSpPr txBox="1"/>
          <p:nvPr/>
        </p:nvSpPr>
        <p:spPr>
          <a:xfrm>
            <a:off x="9372600" y="459661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54" name="exp-rule-10"/>
          <p:cNvSpPr/>
          <p:nvPr/>
        </p:nvSpPr>
        <p:spPr>
          <a:xfrm>
            <a:off x="548640" y="49208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5" name="exp-10-1"/>
          <p:cNvSpPr txBox="1"/>
          <p:nvPr/>
        </p:nvSpPr>
        <p:spPr>
          <a:xfrm>
            <a:off x="548640" y="492087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Модель — автор и критик гипотез</a:t>
            </a:r>
            <a:endParaRPr lang="en-US" sz="1300" dirty="0"/>
          </a:p>
        </p:txBody>
      </p:sp>
      <p:sp>
        <p:nvSpPr>
          <p:cNvPr id="56" name="exp-10-2"/>
          <p:cNvSpPr txBox="1"/>
          <p:nvPr/>
        </p:nvSpPr>
        <p:spPr>
          <a:xfrm>
            <a:off x="3611880" y="492087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 сценариев</a:t>
            </a:r>
            <a:endParaRPr lang="en-US" sz="1300" dirty="0"/>
          </a:p>
        </p:txBody>
      </p:sp>
      <p:sp>
        <p:nvSpPr>
          <p:cNvPr id="57" name="exp-10-3"/>
          <p:cNvSpPr txBox="1"/>
          <p:nvPr/>
        </p:nvSpPr>
        <p:spPr>
          <a:xfrm>
            <a:off x="5943600" y="492087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65,0 против 65,0</a:t>
            </a:r>
            <a:endParaRPr lang="en-US" sz="1300" dirty="0"/>
          </a:p>
        </p:txBody>
      </p:sp>
      <p:sp>
        <p:nvSpPr>
          <p:cNvPr id="58" name="exp-10-4"/>
          <p:cNvSpPr txBox="1"/>
          <p:nvPr/>
        </p:nvSpPr>
        <p:spPr>
          <a:xfrm>
            <a:off x="9372600" y="492087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ничего не меняет</a:t>
            </a:r>
            <a:endParaRPr lang="en-US" sz="1300" dirty="0"/>
          </a:p>
        </p:txBody>
      </p:sp>
      <p:sp>
        <p:nvSpPr>
          <p:cNvPr id="59" name="exp-rule-11"/>
          <p:cNvSpPr/>
          <p:nvPr/>
        </p:nvSpPr>
        <p:spPr>
          <a:xfrm>
            <a:off x="548640" y="524513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0" name="exp-11-1"/>
          <p:cNvSpPr txBox="1"/>
          <p:nvPr/>
        </p:nvSpPr>
        <p:spPr>
          <a:xfrm>
            <a:off x="548640" y="524513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Стоять, пока модель думает 15 с</a:t>
            </a:r>
            <a:endParaRPr lang="en-US" sz="1300" dirty="0"/>
          </a:p>
        </p:txBody>
      </p:sp>
      <p:sp>
        <p:nvSpPr>
          <p:cNvPr id="61" name="exp-11-2"/>
          <p:cNvSpPr txBox="1"/>
          <p:nvPr/>
        </p:nvSpPr>
        <p:spPr>
          <a:xfrm>
            <a:off x="3611880" y="524513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имитатор (R3), 20 сцен.</a:t>
            </a:r>
            <a:endParaRPr lang="en-US" sz="1300" dirty="0"/>
          </a:p>
        </p:txBody>
      </p:sp>
      <p:sp>
        <p:nvSpPr>
          <p:cNvPr id="62" name="exp-11-3"/>
          <p:cNvSpPr txBox="1"/>
          <p:nvPr/>
        </p:nvSpPr>
        <p:spPr>
          <a:xfrm>
            <a:off x="5943600" y="524513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75,7 → 2,3: −73,4 [−98,5; −49,2]</a:t>
            </a:r>
            <a:endParaRPr lang="en-US" sz="1300" dirty="0"/>
          </a:p>
        </p:txBody>
      </p:sp>
      <p:sp>
        <p:nvSpPr>
          <p:cNvPr id="63" name="exp-11-4"/>
          <p:cNvSpPr txBox="1"/>
          <p:nvPr/>
        </p:nvSpPr>
        <p:spPr>
          <a:xfrm>
            <a:off x="9372600" y="524513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ждать на месте нельзя</a:t>
            </a:r>
            <a:endParaRPr lang="en-US" sz="1300" dirty="0"/>
          </a:p>
        </p:txBody>
      </p:sp>
      <p:sp>
        <p:nvSpPr>
          <p:cNvPr id="64" name="exp-rule-12"/>
          <p:cNvSpPr/>
          <p:nvPr/>
        </p:nvSpPr>
        <p:spPr>
          <a:xfrm>
            <a:off x="548640" y="556939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exp-12-1"/>
          <p:cNvSpPr txBox="1"/>
          <p:nvPr/>
        </p:nvSpPr>
        <p:spPr>
          <a:xfrm>
            <a:off x="548640" y="556939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Ехать, пока модель думает</a:t>
            </a:r>
            <a:endParaRPr lang="en-US" sz="1300" dirty="0"/>
          </a:p>
        </p:txBody>
      </p:sp>
      <p:sp>
        <p:nvSpPr>
          <p:cNvPr id="66" name="exp-12-2"/>
          <p:cNvSpPr txBox="1"/>
          <p:nvPr/>
        </p:nvSpPr>
        <p:spPr>
          <a:xfrm>
            <a:off x="3611880" y="556939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имитатор / модель, 10 сцен.</a:t>
            </a:r>
            <a:endParaRPr lang="en-US" sz="1300" dirty="0"/>
          </a:p>
        </p:txBody>
      </p:sp>
      <p:sp>
        <p:nvSpPr>
          <p:cNvPr id="67" name="exp-12-3"/>
          <p:cNvSpPr txBox="1"/>
          <p:nvPr/>
        </p:nvSpPr>
        <p:spPr>
          <a:xfrm>
            <a:off x="5943600" y="556939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+42,0 [+25,1; +59,6] / +38,5 [+3,4; +79,3]</a:t>
            </a:r>
            <a:endParaRPr lang="en-US" sz="1300" dirty="0"/>
          </a:p>
        </p:txBody>
      </p:sp>
      <p:sp>
        <p:nvSpPr>
          <p:cNvPr id="68" name="exp-12-4"/>
          <p:cNvSpPr txBox="1"/>
          <p:nvPr/>
        </p:nvSpPr>
        <p:spPr>
          <a:xfrm>
            <a:off x="9372600" y="556939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умолчанию выключено</a:t>
            </a:r>
            <a:endParaRPr lang="en-US" sz="1300" dirty="0"/>
          </a:p>
        </p:txBody>
      </p:sp>
      <p:sp>
        <p:nvSpPr>
          <p:cNvPr id="69" name="exp-rule-13"/>
          <p:cNvSpPr/>
          <p:nvPr/>
        </p:nvSpPr>
        <p:spPr>
          <a:xfrm>
            <a:off x="548640" y="58936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0" name="exp-13-1"/>
          <p:cNvSpPr txBox="1"/>
          <p:nvPr/>
        </p:nvSpPr>
        <p:spPr>
          <a:xfrm>
            <a:off x="548640" y="5893660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Два робота: со связью и без</a:t>
            </a:r>
            <a:endParaRPr lang="en-US" sz="1300" dirty="0"/>
          </a:p>
        </p:txBody>
      </p:sp>
      <p:sp>
        <p:nvSpPr>
          <p:cNvPr id="71" name="exp-13-2"/>
          <p:cNvSpPr txBox="1"/>
          <p:nvPr/>
        </p:nvSpPr>
        <p:spPr>
          <a:xfrm>
            <a:off x="3611880" y="5893660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сценариев</a:t>
            </a:r>
            <a:endParaRPr lang="en-US" sz="1300" dirty="0"/>
          </a:p>
        </p:txBody>
      </p:sp>
      <p:sp>
        <p:nvSpPr>
          <p:cNvPr id="72" name="exp-13-3"/>
          <p:cNvSpPr txBox="1"/>
          <p:nvPr/>
        </p:nvSpPr>
        <p:spPr>
          <a:xfrm>
            <a:off x="5943600" y="5893660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 −25,9 с [−30,5; −21,2]</a:t>
            </a:r>
            <a:endParaRPr lang="en-US" sz="1300" dirty="0"/>
          </a:p>
        </p:txBody>
      </p:sp>
      <p:sp>
        <p:nvSpPr>
          <p:cNvPr id="73" name="exp-13-4"/>
          <p:cNvSpPr txBox="1"/>
          <p:nvPr/>
        </p:nvSpPr>
        <p:spPr>
          <a:xfrm>
            <a:off x="9372600" y="5893660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Ограничения и что не сделано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мы знаем о слабых местах и о чём нельзя говорить сильнее, чем показывают данные</a:t>
            </a:r>
            <a:endParaRPr lang="en-US" sz="1600" dirty="0"/>
          </a:p>
        </p:txBody>
      </p:sp>
      <p:sp>
        <p:nvSpPr>
          <p:cNvPr id="5" name="limits-1-card"/>
          <p:cNvSpPr/>
          <p:nvPr/>
        </p:nvSpPr>
        <p:spPr>
          <a:xfrm>
            <a:off x="548640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limits-1-head"/>
          <p:cNvSpPr txBox="1"/>
          <p:nvPr/>
        </p:nvSpPr>
        <p:spPr>
          <a:xfrm>
            <a:off x="822960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Измерения</a:t>
            </a:r>
            <a:endParaRPr lang="en-US" sz="1800" dirty="0"/>
          </a:p>
        </p:txBody>
      </p:sp>
      <p:sp>
        <p:nvSpPr>
          <p:cNvPr id="7" name="limits-1-list"/>
          <p:cNvSpPr txBox="1"/>
          <p:nvPr/>
        </p:nvSpPr>
        <p:spPr>
          <a:xfrm>
            <a:off x="822960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Серии — в быстром симуляторе; в Gazebo единицы прогонов: это проверка работоспособности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Гипотезы модели «в тени» размечала модель, а не человек; 38% гипотез, опровергнутых роботом, отвергнуты зря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Расход заряда и закон датчика — наши допущения; у самокалибровки при верных правилах отсутствие потерь не доказано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SLAM: счёт миссии по своей карте с готовой не сравнивался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Два робота: в Gazebo один прогон</a:t>
            </a:r>
            <a:endParaRPr lang="en-US" sz="1600" dirty="0"/>
          </a:p>
        </p:txBody>
      </p:sp>
      <p:sp>
        <p:nvSpPr>
          <p:cNvPr id="8" name="limits-2-card"/>
          <p:cNvSpPr/>
          <p:nvPr/>
        </p:nvSpPr>
        <p:spPr>
          <a:xfrm>
            <a:off x="6231636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tx2"/>
          </a:solidFill>
          <a:ln/>
        </p:spPr>
      </p:sp>
      <p:sp>
        <p:nvSpPr>
          <p:cNvPr id="9" name="limits-2-head"/>
          <p:cNvSpPr txBox="1"/>
          <p:nvPr/>
        </p:nvSpPr>
        <p:spPr>
          <a:xfrm>
            <a:off x="6505956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Не сделано</a:t>
            </a:r>
            <a:endParaRPr lang="en-US" sz="1800" dirty="0"/>
          </a:p>
        </p:txBody>
      </p:sp>
      <p:sp>
        <p:nvSpPr>
          <p:cNvPr id="10" name="limits-2-list"/>
          <p:cNvSpPr txBox="1"/>
          <p:nvPr/>
        </p:nvSpPr>
        <p:spPr>
          <a:xfrm>
            <a:off x="6505956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Модель на показе не решает: цена ожидания (−73) измерена на имитаторе модели, задержка 15 с; режим «ехать, пока она думает» на настоящей модели проверен на 10 сценариях и выключен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Гипотезы робота выдвигает и проверяет программа; модель делает это только в опыте «в тени»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По реакции на грунт и на его смену выигрыш не показан; исправление оставлено выключенным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Jev: равноценность большой модели не установлена; платные вызовы закрыты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Недобор остаётся смешанным: первый въезд в невидимую зону, несобранные образцы, расход заряда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Архитектура: каналы между стендом и агентом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Имена и типы каналов — как в условии задачи; агент не видит ничего, кроме них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3014472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78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61944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825240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892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72712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1"/>
          <p:cNvSpPr/>
          <p:nvPr/>
        </p:nvSpPr>
        <p:spPr>
          <a:xfrm>
            <a:off x="4297680" y="292608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1-label"/>
          <p:cNvSpPr txBox="1"/>
          <p:nvPr/>
        </p:nvSpPr>
        <p:spPr>
          <a:xfrm>
            <a:off x="4297680" y="2267712"/>
            <a:ext cx="2697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/did/events</a:t>
            </a:r>
            <a:endParaRPr lang="en-US" sz="1200" dirty="0"/>
          </a:p>
        </p:txBody>
      </p:sp>
      <p:sp>
        <p:nvSpPr>
          <p:cNvPr id="32" name="chan-2"/>
          <p:cNvSpPr/>
          <p:nvPr/>
        </p:nvSpPr>
        <p:spPr>
          <a:xfrm>
            <a:off x="4297680" y="312724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2-label"/>
          <p:cNvSpPr txBox="1"/>
          <p:nvPr/>
        </p:nvSpPr>
        <p:spPr>
          <a:xfrm>
            <a:off x="4297680" y="316382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/did/finish</a:t>
            </a:r>
            <a:endParaRPr lang="en-US" sz="1200" dirty="0"/>
          </a:p>
        </p:txBody>
      </p:sp>
      <p:sp>
        <p:nvSpPr>
          <p:cNvPr id="34" name="chan-3"/>
          <p:cNvSpPr/>
          <p:nvPr/>
        </p:nvSpPr>
        <p:spPr>
          <a:xfrm>
            <a:off x="4297680" y="38587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3-label"/>
          <p:cNvSpPr txBox="1"/>
          <p:nvPr/>
        </p:nvSpPr>
        <p:spPr>
          <a:xfrm>
            <a:off x="4297680" y="360273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/odom</a:t>
            </a:r>
            <a:endParaRPr lang="en-US" sz="1200" dirty="0"/>
          </a:p>
        </p:txBody>
      </p:sp>
      <p:sp>
        <p:nvSpPr>
          <p:cNvPr id="36" name="chan-4"/>
          <p:cNvSpPr/>
          <p:nvPr/>
        </p:nvSpPr>
        <p:spPr>
          <a:xfrm>
            <a:off x="4297680" y="40599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4-label"/>
          <p:cNvSpPr txBox="1"/>
          <p:nvPr/>
        </p:nvSpPr>
        <p:spPr>
          <a:xfrm>
            <a:off x="4297680" y="409651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200" dirty="0"/>
          </a:p>
        </p:txBody>
      </p:sp>
      <p:sp>
        <p:nvSpPr>
          <p:cNvPr id="38" name="chain-1-box"/>
          <p:cNvSpPr/>
          <p:nvPr/>
        </p:nvSpPr>
        <p:spPr>
          <a:xfrm>
            <a:off x="548640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Запись прогона</a:t>
            </a:r>
            <a:endParaRPr lang="en-US" sz="16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400" dirty="0"/>
          </a:p>
        </p:txBody>
      </p:sp>
      <p:sp>
        <p:nvSpPr>
          <p:cNvPr id="41" name="chain-1-arrow"/>
          <p:cNvSpPr/>
          <p:nvPr/>
        </p:nvSpPr>
        <p:spPr>
          <a:xfrm>
            <a:off x="4023360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02836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04004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Серии опытов</a:t>
            </a:r>
            <a:endParaRPr lang="en-US" sz="16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04004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41 серия на одинаковых сценариях; разности с интервалами</a:t>
            </a:r>
            <a:endParaRPr lang="en-US" sz="1400" dirty="0"/>
          </a:p>
        </p:txBody>
      </p:sp>
      <p:sp>
        <p:nvSpPr>
          <p:cNvPr id="45" name="chain-2-arrow"/>
          <p:cNvSpPr/>
          <p:nvPr/>
        </p:nvSpPr>
        <p:spPr>
          <a:xfrm>
            <a:off x="7877556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257032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458200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600" dirty="0"/>
          </a:p>
        </p:txBody>
      </p:sp>
      <p:sp>
        <p:nvSpPr>
          <p:cNvPr id="48" name="chain-3-sub"/>
          <p:cNvSpPr txBox="1"/>
          <p:nvPr/>
        </p:nvSpPr>
        <p:spPr>
          <a:xfrm>
            <a:off x="8458200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400" dirty="0"/>
          </a:p>
        </p:txBody>
      </p:sp>
      <p:sp>
        <p:nvSpPr>
          <p:cNvPr id="49" name="record-arrow"/>
          <p:cNvSpPr/>
          <p:nvPr/>
        </p:nvSpPr>
        <p:spPr>
          <a:xfrm>
            <a:off x="2240280" y="4754880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финал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2026-10-08T23:02:30Z</dcterms:created>
  <dcterms:modified xsi:type="dcterms:W3CDTF">2026-10-08T23:02:30Z</dcterms:modified>
</cp:coreProperties>
</file>