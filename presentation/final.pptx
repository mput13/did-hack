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ыступление" id="{1c5d1273-e943-9b9f-0c7e-2a6869aefa1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Приложение: к вопросам жюри" id="{02547484-8bc2-372e-ae60-60f964a75cb4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проект — автономный ИИ-исследователь. Робот TurtleBot3 сам ищет скрытые образцы, замечает, что среда изменилась, и возвращается на базу.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Образцы, дорогой грунт и опасные зоны скрыты, камеры нет. Гипотеза: робот, который сверяет ожидания с датчиком и батареей, наберёт больше, чем робот с планом заранее. Подтвердилось: плюс тринадцать очков. А реакция на грунт очков не дала.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Агент и стенд с судьёй общаются только через каналы из условия. Тот же агент ездит в Gazebo и в быстром симуляторе, где мы ставим серии опытов. Языковая модель читает миссию и предлагает подцели; гипотезы робота и движение — программа.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Трудный уровень, быстрый симулятор: 75 очков, а с распознаванием сбоя датчика — 81 при потолке 92 с половиной. Четыре идеи выигрыша не показали, и это тоже результат. В Gazebo показной сценарий пройден пять раз из пяти.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Изменения никто не объявляет: робот сам распознаёт сбой датчика, новые опасные зоны и потерю положения. Языковая модель полезна, когда задание меняют словами: 45 миссий из 48 против нуля у правила. Гипотезы модель предлагает хорошо, а выводы делает хуже расчёта — поэтому проверяет расчёт.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Бонусные треки. Карта, которую робот строит сам через SLAM, совпадает с готовой на 96–99 процентов. Два робота с координацией заканчивают на 26 секунд раньше пары без связи. Опыт робот выбирает самый дешёвый из различающих объяснения.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Работали как лаборатория: человек задаёт цель и роли, агенты пишут код и ставят опыты. Каждую работу до приёма читает независимая модель. Ни одна не прошла ревью с первого раза.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главное. Остаётся не робот, а лаборатория: воспроизводимые опыты, журнал гипотез, независимая проверка и страница-объяснение. Так устроены роботы-учёные в науке; студенту такой стенд даёт метод. Теперь покажем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строка — одно исследование, каждый значок — шаг: обзор исследователя, работа инженера или независимая проверка. Галочка — работа принята. В первых исследованиях проверка нашла 7 ошибок, и два вывода пришлось перевернуть. В обзорах литературы нашлись две выдуманные ссылки. P2 и R10 приняты как отрицательные результаты. Стрелка — следующая работа по той же 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Продолжение: защита в Gazebo, языковая модель и бонусные треки. Последний значок инженера перед галочкой — правка ведущего агента. Всего 27 кругов ревью по 15 работам, и ни одна работа не прошла ревью с первого раза.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Уровни с нулевого по третий выполнены. На четвёртом адаптация показана вживую и даёт очки там, где робот распознаёт сбой датчика; реакция на грунт выигрыша не дала.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каждому критерию — чем он закрыт и где слабое место. Самые слабые места: реакция на грунт очков не даёт, а гипотезы робота выдвигает программа, а не языковая модель.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сравнения — на одинаковых сценариях, не использованных при настройке. Если интервал включает ноль, мы говорим «различие не показано».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Серии считаются в быстром симуляторе; в Gazebo прогонов единицы — это проверка работоспособности. На показе решает правило, а не модель. Гипотезы робота выдвигает программа.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стенд: генератор сценариев, судья и симулятор. Справа агент. Между ними только каналы из условия, поэтому нашего судью можно заменить судьёй организаторов, не трогая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612648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5943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Автономный ИИ-исследователь · DID Hack 2026 · финал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image" Target="../media/image-7-1.png"/><Relationship Id="rId6" Type="http://schemas.openxmlformats.org/officeDocument/2006/relationships/image" Target="../media/image-7-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image" Target="../media/image-9-3.png"/><Relationship Id="rId6" Type="http://schemas.openxmlformats.org/officeDocument/2006/relationships/image" Target="../media/image-9-2.png"/><Relationship Id="rId7" Type="http://schemas.openxmlformats.org/officeDocument/2006/relationships/image" Target="../media/image-9-3.png"/><Relationship Id="rId8" Type="http://schemas.openxmlformats.org/officeDocument/2006/relationships/image" Target="../media/image-9-2.png"/><Relationship Id="rId9" Type="http://schemas.openxmlformats.org/officeDocument/2006/relationships/image" Target="../media/image-9-3.png"/><Relationship Id="rId10" Type="http://schemas.openxmlformats.org/officeDocument/2006/relationships/image" Target="../media/image-9-2.png"/><Relationship Id="rId11" Type="http://schemas.openxmlformats.org/officeDocument/2006/relationships/image" Target="../media/image-9-3.png"/><Relationship Id="rId12" Type="http://schemas.openxmlformats.org/officeDocument/2006/relationships/image" Target="../media/image-9-2.png"/><Relationship Id="rId13" Type="http://schemas.openxmlformats.org/officeDocument/2006/relationships/image" Target="../media/image-9-1.png"/><Relationship Id="rId14" Type="http://schemas.openxmlformats.org/officeDocument/2006/relationships/image" Target="../media/image-9-1.png"/><Relationship Id="rId15" Type="http://schemas.openxmlformats.org/officeDocument/2006/relationships/image" Target="../media/image-9-1.png"/><Relationship Id="rId16" Type="http://schemas.openxmlformats.org/officeDocument/2006/relationships/image" Target="../media/image-9-1.png"/><Relationship Id="rId17" Type="http://schemas.openxmlformats.org/officeDocument/2006/relationships/image" Target="../media/image-9-2.png"/><Relationship Id="rId18" Type="http://schemas.openxmlformats.org/officeDocument/2006/relationships/image" Target="../media/image-9-2.png"/><Relationship Id="rId19" Type="http://schemas.openxmlformats.org/officeDocument/2006/relationships/image" Target="../media/image-9-3.png"/><Relationship Id="rId20" Type="http://schemas.openxmlformats.org/officeDocument/2006/relationships/image" Target="../media/image-9-2.png"/><Relationship Id="rId21" Type="http://schemas.openxmlformats.org/officeDocument/2006/relationships/image" Target="../media/image-9-3.png"/><Relationship Id="rId22" Type="http://schemas.openxmlformats.org/officeDocument/2006/relationships/image" Target="../media/image-9-2.png"/><Relationship Id="rId23" Type="http://schemas.openxmlformats.org/officeDocument/2006/relationships/image" Target="../media/image-9-3.png"/><Relationship Id="rId24" Type="http://schemas.openxmlformats.org/officeDocument/2006/relationships/image" Target="../media/image-9-2.png"/><Relationship Id="rId25" Type="http://schemas.openxmlformats.org/officeDocument/2006/relationships/image" Target="../media/image-9-2.png"/><Relationship Id="rId26" Type="http://schemas.openxmlformats.org/officeDocument/2006/relationships/image" Target="../media/image-9-3.png"/><Relationship Id="rId27" Type="http://schemas.openxmlformats.org/officeDocument/2006/relationships/image" Target="../media/image-9-2.png"/><Relationship Id="rId28" Type="http://schemas.openxmlformats.org/officeDocument/2006/relationships/image" Target="../media/image-9-2.png"/><Relationship Id="rId29" Type="http://schemas.openxmlformats.org/officeDocument/2006/relationships/image" Target="../media/image-9-3.png"/><Relationship Id="rId30" Type="http://schemas.openxmlformats.org/officeDocument/2006/relationships/image" Target="../media/image-9-2.png"/><Relationship Id="rId31" Type="http://schemas.openxmlformats.org/officeDocument/2006/relationships/image" Target="../media/image-9-3.png"/><Relationship Id="rId32" Type="http://schemas.openxmlformats.org/officeDocument/2006/relationships/image" Target="../media/image-9-2.png"/><Relationship Id="rId33" Type="http://schemas.openxmlformats.org/officeDocument/2006/relationships/image" Target="../media/image-9-3.png"/><Relationship Id="rId34" Type="http://schemas.openxmlformats.org/officeDocument/2006/relationships/image" Target="../media/image-9-2.png"/><Relationship Id="rId35" Type="http://schemas.openxmlformats.org/officeDocument/2006/relationships/image" Target="../media/image-9-2.png"/><Relationship Id="rId36" Type="http://schemas.openxmlformats.org/officeDocument/2006/relationships/image" Target="../media/image-9-3.png"/><Relationship Id="rId37" Type="http://schemas.openxmlformats.org/officeDocument/2006/relationships/image" Target="../media/image-9-2.png"/><Relationship Id="rId38" Type="http://schemas.openxmlformats.org/officeDocument/2006/relationships/image" Target="../media/image-9-3.png"/><Relationship Id="rId39" Type="http://schemas.openxmlformats.org/officeDocument/2006/relationships/image" Target="../media/image-9-2.png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3.png"/><Relationship Id="rId6" Type="http://schemas.openxmlformats.org/officeDocument/2006/relationships/image" Target="../media/image-10-2.png"/><Relationship Id="rId7" Type="http://schemas.openxmlformats.org/officeDocument/2006/relationships/image" Target="../media/image-10-2.png"/><Relationship Id="rId8" Type="http://schemas.openxmlformats.org/officeDocument/2006/relationships/image" Target="../media/image-10-3.png"/><Relationship Id="rId9" Type="http://schemas.openxmlformats.org/officeDocument/2006/relationships/image" Target="../media/image-10-2.png"/><Relationship Id="rId10" Type="http://schemas.openxmlformats.org/officeDocument/2006/relationships/image" Target="../media/image-10-3.png"/><Relationship Id="rId11" Type="http://schemas.openxmlformats.org/officeDocument/2006/relationships/image" Target="../media/image-10-1.png"/><Relationship Id="rId12" Type="http://schemas.openxmlformats.org/officeDocument/2006/relationships/image" Target="../media/image-10-2.png"/><Relationship Id="rId13" Type="http://schemas.openxmlformats.org/officeDocument/2006/relationships/image" Target="../media/image-10-3.png"/><Relationship Id="rId14" Type="http://schemas.openxmlformats.org/officeDocument/2006/relationships/image" Target="../media/image-10-2.png"/><Relationship Id="rId15" Type="http://schemas.openxmlformats.org/officeDocument/2006/relationships/image" Target="../media/image-10-2.png"/><Relationship Id="rId16" Type="http://schemas.openxmlformats.org/officeDocument/2006/relationships/image" Target="../media/image-10-3.png"/><Relationship Id="rId17" Type="http://schemas.openxmlformats.org/officeDocument/2006/relationships/image" Target="../media/image-10-2.png"/><Relationship Id="rId18" Type="http://schemas.openxmlformats.org/officeDocument/2006/relationships/image" Target="../media/image-10-1.png"/><Relationship Id="rId19" Type="http://schemas.openxmlformats.org/officeDocument/2006/relationships/image" Target="../media/image-10-2.png"/><Relationship Id="rId20" Type="http://schemas.openxmlformats.org/officeDocument/2006/relationships/image" Target="../media/image-10-2.png"/><Relationship Id="rId21" Type="http://schemas.openxmlformats.org/officeDocument/2006/relationships/image" Target="../media/image-10-2.png"/><Relationship Id="rId22" Type="http://schemas.openxmlformats.org/officeDocument/2006/relationships/image" Target="../media/image-10-3.png"/><Relationship Id="rId23" Type="http://schemas.openxmlformats.org/officeDocument/2006/relationships/image" Target="../media/image-10-2.png"/><Relationship Id="rId24" Type="http://schemas.openxmlformats.org/officeDocument/2006/relationships/image" Target="../media/image-10-3.png"/><Relationship Id="rId25" Type="http://schemas.openxmlformats.org/officeDocument/2006/relationships/image" Target="../media/image-10-2.png"/><Relationship Id="rId26" Type="http://schemas.openxmlformats.org/officeDocument/2006/relationships/image" Target="../media/image-10-2.png"/><Relationship Id="rId27" Type="http://schemas.openxmlformats.org/officeDocument/2006/relationships/image" Target="../media/image-10-3.png"/><Relationship Id="rId28" Type="http://schemas.openxmlformats.org/officeDocument/2006/relationships/image" Target="../media/image-10-2.png"/><Relationship Id="rId29" Type="http://schemas.openxmlformats.org/officeDocument/2006/relationships/image" Target="../media/image-10-2.png"/><Relationship Id="rId30" Type="http://schemas.openxmlformats.org/officeDocument/2006/relationships/image" Target="../media/image-10-3.png"/><Relationship Id="rId31" Type="http://schemas.openxmlformats.org/officeDocument/2006/relationships/image" Target="../media/image-10-2.png"/><Relationship Id="rId32" Type="http://schemas.openxmlformats.org/officeDocument/2006/relationships/image" Target="../media/image-10-3.png"/><Relationship Id="rId33" Type="http://schemas.openxmlformats.org/officeDocument/2006/relationships/image" Target="../media/image-10-2.png"/><Relationship Id="rId34" Type="http://schemas.openxmlformats.org/officeDocument/2006/relationships/image" Target="../media/image-10-3.png"/><Relationship Id="rId35" Type="http://schemas.openxmlformats.org/officeDocument/2006/relationships/image" Target="../media/image-10-2.png"/><Relationship Id="rId36" Type="http://schemas.openxmlformats.org/officeDocument/2006/relationships/image" Target="../media/image-10-1.png"/><Relationship Id="rId37" Type="http://schemas.openxmlformats.org/officeDocument/2006/relationships/image" Target="../media/image-10-2.png"/><Relationship Id="rId38" Type="http://schemas.openxmlformats.org/officeDocument/2006/relationships/image" Target="../media/image-10-3.png"/><Relationship Id="rId39" Type="http://schemas.openxmlformats.org/officeDocument/2006/relationships/image" Target="../media/image-10-2.png"/><Relationship Id="rId40" Type="http://schemas.openxmlformats.org/officeDocument/2006/relationships/image" Target="../media/image-10-3.png"/><Relationship Id="rId41" Type="http://schemas.openxmlformats.org/officeDocument/2006/relationships/image" Target="../media/image-10-2.png"/><Relationship Id="rId42" Type="http://schemas.openxmlformats.org/officeDocument/2006/relationships/image" Target="../media/image-10-3.png"/><Relationship Id="rId43" Type="http://schemas.openxmlformats.org/officeDocument/2006/relationships/slideLayout" Target="../slideLayouts/slideLayout3.xml"/><Relationship Id="rId4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6126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Автономный ИИ-исследователь на роботе-платформе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Робот сам ищет скрытые образцы, замечает, что среда изменилась, и возвращается на базу</a:t>
            </a:r>
            <a:endParaRPr lang="en-US" sz="2000" dirty="0"/>
          </a:p>
        </p:txBody>
      </p:sp>
      <p:sp>
        <p:nvSpPr>
          <p:cNvPr id="4" name="event"/>
          <p:cNvSpPr txBox="1"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DID Hack 2026 · финал · 9 октября</a:t>
            </a:r>
            <a:endParaRPr lang="en-US" sz="1600" dirty="0"/>
          </a:p>
        </p:txBody>
      </p:sp>
      <p:sp>
        <p:nvSpPr>
          <p:cNvPr id="5" name="team"/>
          <p:cNvSpPr txBox="1"/>
          <p:nvPr/>
        </p:nvSpPr>
        <p:spPr>
          <a:xfrm>
            <a:off x="640080" y="48920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Журавлёва Полина Петровна — разработчик (Back/ROS)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Ефремова Анастасия Михайловна — ML (LLM)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Путиловский Михаил Вячеславович — аналитик (исследователь)</a:t>
            </a:r>
            <a:endParaRPr lang="en-US" sz="1400" dirty="0"/>
          </a:p>
        </p:txBody>
      </p:sp>
      <p:pic>
        <p:nvPicPr>
          <p:cNvPr id="6" name="title-run" descr="Арена и путь робота в настоящем прогоне в Gaze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87573"/>
            <a:ext cx="4846320" cy="4642775"/>
          </a:xfrm>
          <a:prstGeom prst="rect">
            <a:avLst/>
          </a:prstGeom>
        </p:spPr>
      </p:pic>
      <p:sp>
        <p:nvSpPr>
          <p:cNvPr id="7" name="title-caption"/>
          <p:cNvSpPr txBox="1"/>
          <p:nvPr/>
        </p:nvSpPr>
        <p:spPr>
          <a:xfrm>
            <a:off x="6858000" y="5623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TurtleBot3 Burger в Gazebo: путь робота в настоящем прогоне, собрано 5 образцов из 5, возврат на базу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Робот ищет то, чего не видит, — как исследователь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Образцы, дорогой грунт и опасные зоны скрыты; камеры нет — только лидар, заряд батареи и одно число датчика</a:t>
            </a:r>
            <a:endParaRPr lang="en-US" sz="1600" dirty="0"/>
          </a:p>
        </p:txBody>
      </p:sp>
      <p:sp>
        <p:nvSpPr>
          <p:cNvPr id="5" name="view-1-head"/>
          <p:cNvSpPr txBox="1"/>
          <p:nvPr/>
        </p:nvSpPr>
        <p:spPr>
          <a:xfrm>
            <a:off x="5486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Как на самом деле</a:t>
            </a:r>
            <a:endParaRPr lang="en-US" sz="1600" dirty="0"/>
          </a:p>
        </p:txBody>
      </p:sp>
      <p:pic>
        <p:nvPicPr>
          <p:cNvPr id="6" name="view-1" descr="Арена со скрытой правдо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02536"/>
            <a:ext cx="1874520" cy="1795790"/>
          </a:xfrm>
          <a:prstGeom prst="rect">
            <a:avLst/>
          </a:prstGeom>
        </p:spPr>
      </p:pic>
      <p:sp>
        <p:nvSpPr>
          <p:cNvPr id="7" name="view-1-caption"/>
          <p:cNvSpPr txBox="1"/>
          <p:nvPr/>
        </p:nvSpPr>
        <p:spPr>
          <a:xfrm>
            <a:off x="548640" y="383490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образцы, грунты, зоны</a:t>
            </a:r>
            <a:endParaRPr lang="en-US" sz="1200" dirty="0"/>
          </a:p>
        </p:txBody>
      </p:sp>
      <p:sp>
        <p:nvSpPr>
          <p:cNvPr id="8" name="view-2-head"/>
          <p:cNvSpPr txBox="1"/>
          <p:nvPr/>
        </p:nvSpPr>
        <p:spPr>
          <a:xfrm>
            <a:off x="26060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видит робот</a:t>
            </a:r>
            <a:endParaRPr lang="en-US" sz="1600" dirty="0"/>
          </a:p>
        </p:txBody>
      </p:sp>
      <p:pic>
        <p:nvPicPr>
          <p:cNvPr id="9" name="view-2" descr="То же место глазами робо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002536"/>
            <a:ext cx="1874520" cy="1795790"/>
          </a:xfrm>
          <a:prstGeom prst="rect">
            <a:avLst/>
          </a:prstGeom>
        </p:spPr>
      </p:pic>
      <p:sp>
        <p:nvSpPr>
          <p:cNvPr id="10" name="view-2-caption"/>
          <p:cNvSpPr txBox="1"/>
          <p:nvPr/>
        </p:nvSpPr>
        <p:spPr>
          <a:xfrm>
            <a:off x="2606040" y="383490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стены и число датчика</a:t>
            </a:r>
            <a:endParaRPr lang="en-US" sz="1200" dirty="0"/>
          </a:p>
        </p:txBody>
      </p:sp>
      <p:sp>
        <p:nvSpPr>
          <p:cNvPr id="11" name="hypothesis-card"/>
          <p:cNvSpPr/>
          <p:nvPr/>
        </p:nvSpPr>
        <p:spPr>
          <a:xfrm>
            <a:off x="4800600" y="1691640"/>
            <a:ext cx="6839712" cy="1572768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12" name="hypothesis-text"/>
          <p:cNvSpPr txBox="1"/>
          <p:nvPr/>
        </p:nvSpPr>
        <p:spPr>
          <a:xfrm>
            <a:off x="5029200" y="1691640"/>
            <a:ext cx="6382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Исследовательская гипотеза.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Робот, который по ходу прогона сверяет свои ожидания с показаниями датчика и расходом батареи и по расхождению меняет поиск и запас на возврат, наберёт больше очков, чем робот с планом, составленным заранее.</a:t>
            </a:r>
            <a:endParaRPr lang="en-US" sz="1600" dirty="0"/>
          </a:p>
        </p:txBody>
      </p:sp>
      <p:sp>
        <p:nvSpPr>
          <p:cNvPr id="13" name="cycle-label"/>
          <p:cNvSpPr txBox="1"/>
          <p:nvPr/>
        </p:nvSpPr>
        <p:spPr>
          <a:xfrm>
            <a:off x="4800600" y="3392424"/>
            <a:ext cx="1965960" cy="66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Так же действует сам робот:</a:t>
            </a:r>
            <a:endParaRPr lang="en-US" sz="1600" dirty="0"/>
          </a:p>
        </p:txBody>
      </p:sp>
      <p:sp>
        <p:nvSpPr>
          <p:cNvPr id="14" name="cycle-1-card"/>
          <p:cNvSpPr/>
          <p:nvPr/>
        </p:nvSpPr>
        <p:spPr>
          <a:xfrm>
            <a:off x="6858000" y="3392424"/>
            <a:ext cx="989838" cy="661934"/>
          </a:xfrm>
          <a:prstGeom prst="roundRect">
            <a:avLst>
              <a:gd name="adj" fmla="val 11051"/>
            </a:avLst>
          </a:prstGeom>
          <a:solidFill>
            <a:schemeClr val="accent1"/>
          </a:solidFill>
          <a:ln/>
        </p:spPr>
      </p:sp>
      <p:sp>
        <p:nvSpPr>
          <p:cNvPr id="15" name="cycle-1-text"/>
          <p:cNvSpPr txBox="1"/>
          <p:nvPr/>
        </p:nvSpPr>
        <p:spPr>
          <a:xfrm>
            <a:off x="6858000" y="3392424"/>
            <a:ext cx="989838" cy="66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гипотеза</a:t>
            </a:r>
            <a:endParaRPr lang="en-US" sz="1600" dirty="0"/>
          </a:p>
        </p:txBody>
      </p:sp>
      <p:sp>
        <p:nvSpPr>
          <p:cNvPr id="16" name="cycle-1-arrow"/>
          <p:cNvSpPr/>
          <p:nvPr/>
        </p:nvSpPr>
        <p:spPr>
          <a:xfrm>
            <a:off x="7884414" y="3723391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17" name="cycle-2-card"/>
          <p:cNvSpPr/>
          <p:nvPr/>
        </p:nvSpPr>
        <p:spPr>
          <a:xfrm>
            <a:off x="8122158" y="3392424"/>
            <a:ext cx="989838" cy="661934"/>
          </a:xfrm>
          <a:prstGeom prst="roundRect">
            <a:avLst>
              <a:gd name="adj" fmla="val 11051"/>
            </a:avLst>
          </a:prstGeom>
          <a:solidFill>
            <a:schemeClr val="bg2"/>
          </a:solidFill>
          <a:ln/>
        </p:spPr>
      </p:sp>
      <p:sp>
        <p:nvSpPr>
          <p:cNvPr id="18" name="cycle-2-text"/>
          <p:cNvSpPr txBox="1"/>
          <p:nvPr/>
        </p:nvSpPr>
        <p:spPr>
          <a:xfrm>
            <a:off x="8122158" y="3392424"/>
            <a:ext cx="989838" cy="66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действие</a:t>
            </a:r>
            <a:endParaRPr lang="en-US" sz="1600" dirty="0"/>
          </a:p>
        </p:txBody>
      </p:sp>
      <p:sp>
        <p:nvSpPr>
          <p:cNvPr id="19" name="cycle-2-arrow"/>
          <p:cNvSpPr/>
          <p:nvPr/>
        </p:nvSpPr>
        <p:spPr>
          <a:xfrm>
            <a:off x="9148572" y="3723391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20" name="cycle-3-card"/>
          <p:cNvSpPr/>
          <p:nvPr/>
        </p:nvSpPr>
        <p:spPr>
          <a:xfrm>
            <a:off x="9386316" y="3392424"/>
            <a:ext cx="989838" cy="661934"/>
          </a:xfrm>
          <a:prstGeom prst="roundRect">
            <a:avLst>
              <a:gd name="adj" fmla="val 11051"/>
            </a:avLst>
          </a:prstGeom>
          <a:solidFill>
            <a:schemeClr val="bg2"/>
          </a:solidFill>
          <a:ln/>
        </p:spPr>
      </p:sp>
      <p:sp>
        <p:nvSpPr>
          <p:cNvPr id="21" name="cycle-3-text"/>
          <p:cNvSpPr txBox="1"/>
          <p:nvPr/>
        </p:nvSpPr>
        <p:spPr>
          <a:xfrm>
            <a:off x="9386316" y="3392424"/>
            <a:ext cx="989838" cy="66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данные</a:t>
            </a:r>
            <a:endParaRPr lang="en-US" sz="1600" dirty="0"/>
          </a:p>
        </p:txBody>
      </p:sp>
      <p:sp>
        <p:nvSpPr>
          <p:cNvPr id="22" name="cycle-3-arrow"/>
          <p:cNvSpPr/>
          <p:nvPr/>
        </p:nvSpPr>
        <p:spPr>
          <a:xfrm>
            <a:off x="10412730" y="3723391"/>
            <a:ext cx="20116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23" name="cycle-4-card"/>
          <p:cNvSpPr/>
          <p:nvPr/>
        </p:nvSpPr>
        <p:spPr>
          <a:xfrm>
            <a:off x="10650474" y="3392424"/>
            <a:ext cx="989838" cy="661934"/>
          </a:xfrm>
          <a:prstGeom prst="roundRect">
            <a:avLst>
              <a:gd name="adj" fmla="val 11051"/>
            </a:avLst>
          </a:prstGeom>
          <a:solidFill>
            <a:schemeClr val="bg2"/>
          </a:solidFill>
          <a:ln/>
        </p:spPr>
      </p:sp>
      <p:sp>
        <p:nvSpPr>
          <p:cNvPr id="24" name="cycle-4-text"/>
          <p:cNvSpPr txBox="1"/>
          <p:nvPr/>
        </p:nvSpPr>
        <p:spPr>
          <a:xfrm>
            <a:off x="10650474" y="3392424"/>
            <a:ext cx="989838" cy="66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вывод</a:t>
            </a:r>
            <a:endParaRPr lang="en-US" sz="1600" dirty="0"/>
          </a:p>
        </p:txBody>
      </p:sp>
      <p:sp>
        <p:nvSpPr>
          <p:cNvPr id="25" name="out-1-card"/>
          <p:cNvSpPr/>
          <p:nvPr/>
        </p:nvSpPr>
        <p:spPr>
          <a:xfrm>
            <a:off x="548640" y="4237238"/>
            <a:ext cx="3605784" cy="1980682"/>
          </a:xfrm>
          <a:prstGeom prst="roundRect">
            <a:avLst>
              <a:gd name="adj" fmla="val 3693"/>
            </a:avLst>
          </a:prstGeom>
          <a:solidFill>
            <a:schemeClr val="bg2"/>
          </a:solidFill>
          <a:ln/>
        </p:spPr>
      </p:sp>
      <p:sp>
        <p:nvSpPr>
          <p:cNvPr id="26" name="out-1-mark"/>
          <p:cNvSpPr/>
          <p:nvPr/>
        </p:nvSpPr>
        <p:spPr>
          <a:xfrm>
            <a:off x="548640" y="4346966"/>
            <a:ext cx="64008" cy="176122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" name="out-1-head"/>
          <p:cNvSpPr txBox="1"/>
          <p:nvPr/>
        </p:nvSpPr>
        <p:spPr>
          <a:xfrm>
            <a:off x="777240" y="4328678"/>
            <a:ext cx="319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Подтвердилось</a:t>
            </a:r>
            <a:endParaRPr lang="en-US" sz="1800" dirty="0"/>
          </a:p>
        </p:txBody>
      </p:sp>
      <p:sp>
        <p:nvSpPr>
          <p:cNvPr id="28" name="out-1-body"/>
          <p:cNvSpPr txBox="1"/>
          <p:nvPr/>
        </p:nvSpPr>
        <p:spPr>
          <a:xfrm>
            <a:off x="777240" y="4694438"/>
            <a:ext cx="3194304" cy="1212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Против плана заранее +13,3 очка [+7,4; +19,0]. Распознавание сбоя датчика — ещё +6,4 [+2,9; +9,8].</a:t>
            </a:r>
            <a:endParaRPr lang="en-US" sz="1600" dirty="0"/>
          </a:p>
        </p:txBody>
      </p:sp>
      <p:sp>
        <p:nvSpPr>
          <p:cNvPr id="29" name="out-1-where"/>
          <p:cNvSpPr txBox="1"/>
          <p:nvPr/>
        </p:nvSpPr>
        <p:spPr>
          <a:xfrm>
            <a:off x="777240" y="5925312"/>
            <a:ext cx="3194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 симулятор, трудный уровень</a:t>
            </a:r>
            <a:endParaRPr lang="en-US" sz="1200" dirty="0"/>
          </a:p>
        </p:txBody>
      </p:sp>
      <p:sp>
        <p:nvSpPr>
          <p:cNvPr id="30" name="out-2-card"/>
          <p:cNvSpPr/>
          <p:nvPr/>
        </p:nvSpPr>
        <p:spPr>
          <a:xfrm>
            <a:off x="4291584" y="4237238"/>
            <a:ext cx="3605784" cy="1980682"/>
          </a:xfrm>
          <a:prstGeom prst="roundRect">
            <a:avLst>
              <a:gd name="adj" fmla="val 3693"/>
            </a:avLst>
          </a:prstGeom>
          <a:solidFill>
            <a:schemeClr val="bg2"/>
          </a:solidFill>
          <a:ln/>
        </p:spPr>
      </p:sp>
      <p:sp>
        <p:nvSpPr>
          <p:cNvPr id="31" name="out-2-mark"/>
          <p:cNvSpPr/>
          <p:nvPr/>
        </p:nvSpPr>
        <p:spPr>
          <a:xfrm>
            <a:off x="4291584" y="4346966"/>
            <a:ext cx="64008" cy="176122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2" name="out-2-head"/>
          <p:cNvSpPr txBox="1"/>
          <p:nvPr/>
        </p:nvSpPr>
        <p:spPr>
          <a:xfrm>
            <a:off x="4520184" y="4328678"/>
            <a:ext cx="319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Уточнилось</a:t>
            </a:r>
            <a:endParaRPr lang="en-US" sz="1800" dirty="0"/>
          </a:p>
        </p:txBody>
      </p:sp>
      <p:sp>
        <p:nvSpPr>
          <p:cNvPr id="33" name="out-2-body"/>
          <p:cNvSpPr txBox="1"/>
          <p:nvPr/>
        </p:nvSpPr>
        <p:spPr>
          <a:xfrm>
            <a:off x="4520184" y="4694438"/>
            <a:ext cx="3194304" cy="1212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Подсказка о местах образцов даёт +14,5 очка, лучший порядок обхода — +1,6: дело в знании о среде, а не в маршруте.</a:t>
            </a:r>
            <a:endParaRPr lang="en-US" sz="1600" dirty="0"/>
          </a:p>
        </p:txBody>
      </p:sp>
      <p:sp>
        <p:nvSpPr>
          <p:cNvPr id="34" name="out-2-where"/>
          <p:cNvSpPr txBox="1"/>
          <p:nvPr/>
        </p:nvSpPr>
        <p:spPr>
          <a:xfrm>
            <a:off x="4520184" y="5925312"/>
            <a:ext cx="3194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 симулятор, трудный уровень</a:t>
            </a:r>
            <a:endParaRPr lang="en-US" sz="1200" dirty="0"/>
          </a:p>
        </p:txBody>
      </p:sp>
      <p:sp>
        <p:nvSpPr>
          <p:cNvPr id="35" name="out-3-card"/>
          <p:cNvSpPr/>
          <p:nvPr/>
        </p:nvSpPr>
        <p:spPr>
          <a:xfrm>
            <a:off x="8034528" y="4237238"/>
            <a:ext cx="3605784" cy="1980682"/>
          </a:xfrm>
          <a:prstGeom prst="roundRect">
            <a:avLst>
              <a:gd name="adj" fmla="val 3693"/>
            </a:avLst>
          </a:prstGeom>
          <a:solidFill>
            <a:schemeClr val="bg2"/>
          </a:solidFill>
          <a:ln/>
        </p:spPr>
      </p:sp>
      <p:sp>
        <p:nvSpPr>
          <p:cNvPr id="36" name="out-3-mark"/>
          <p:cNvSpPr/>
          <p:nvPr/>
        </p:nvSpPr>
        <p:spPr>
          <a:xfrm>
            <a:off x="8034528" y="4346966"/>
            <a:ext cx="64008" cy="176122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7" name="out-3-head"/>
          <p:cNvSpPr txBox="1"/>
          <p:nvPr/>
        </p:nvSpPr>
        <p:spPr>
          <a:xfrm>
            <a:off x="8263128" y="4328678"/>
            <a:ext cx="319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Не подтвердилось</a:t>
            </a:r>
            <a:endParaRPr lang="en-US" sz="1800" dirty="0"/>
          </a:p>
        </p:txBody>
      </p:sp>
      <p:sp>
        <p:nvSpPr>
          <p:cNvPr id="38" name="out-3-body"/>
          <p:cNvSpPr txBox="1"/>
          <p:nvPr/>
        </p:nvSpPr>
        <p:spPr>
          <a:xfrm>
            <a:off x="8263128" y="4694438"/>
            <a:ext cx="3194304" cy="1212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Реакция на грунт и на его смену очков не дала: +1,0 [−3,6; +5,4] и +0,02. По возврату на базу разницы с планом нет.</a:t>
            </a:r>
            <a:endParaRPr lang="en-US" sz="1600" dirty="0"/>
          </a:p>
        </p:txBody>
      </p:sp>
      <p:sp>
        <p:nvSpPr>
          <p:cNvPr id="39" name="out-3-where"/>
          <p:cNvSpPr txBox="1"/>
          <p:nvPr/>
        </p:nvSpPr>
        <p:spPr>
          <a:xfrm>
            <a:off x="8263128" y="5925312"/>
            <a:ext cx="3194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 симулятор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Один агент и один судья, два симулятора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Агент и стенд общаются только через каналы из условия: нашего судью можно заменить судьёй организаторов</a:t>
            </a:r>
            <a:endParaRPr lang="en-US" sz="1600" dirty="0"/>
          </a:p>
        </p:txBody>
      </p:sp>
      <p:sp>
        <p:nvSpPr>
          <p:cNvPr id="5" name="stand-card"/>
          <p:cNvSpPr/>
          <p:nvPr/>
        </p:nvSpPr>
        <p:spPr>
          <a:xfrm>
            <a:off x="548640" y="1691640"/>
            <a:ext cx="365760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6" name="stand-label"/>
          <p:cNvSpPr txBox="1"/>
          <p:nvPr/>
        </p:nvSpPr>
        <p:spPr>
          <a:xfrm>
            <a:off x="77724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Стенд</a:t>
            </a:r>
            <a:endParaRPr lang="en-US" sz="1600" dirty="0"/>
          </a:p>
        </p:txBody>
      </p:sp>
      <p:sp>
        <p:nvSpPr>
          <p:cNvPr id="7" name="stand-1-box"/>
          <p:cNvSpPr/>
          <p:nvPr/>
        </p:nvSpPr>
        <p:spPr>
          <a:xfrm>
            <a:off x="731520" y="2203704"/>
            <a:ext cx="3291840" cy="67056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8" name="stand-1-head"/>
          <p:cNvSpPr txBox="1"/>
          <p:nvPr/>
        </p:nvSpPr>
        <p:spPr>
          <a:xfrm>
            <a:off x="896112" y="226771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Генератор сценариев</a:t>
            </a:r>
            <a:endParaRPr lang="en-US" sz="1600" dirty="0"/>
          </a:p>
        </p:txBody>
      </p:sp>
      <p:sp>
        <p:nvSpPr>
          <p:cNvPr id="9" name="stand-1-sub"/>
          <p:cNvSpPr txBox="1"/>
          <p:nvPr/>
        </p:nvSpPr>
        <p:spPr>
          <a:xfrm>
            <a:off x="896112" y="2551176"/>
            <a:ext cx="2962656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уровень и номер → расстановка</a:t>
            </a:r>
            <a:endParaRPr lang="en-US" sz="1400" dirty="0"/>
          </a:p>
        </p:txBody>
      </p:sp>
      <p:sp>
        <p:nvSpPr>
          <p:cNvPr id="10" name="stand-2-box"/>
          <p:cNvSpPr/>
          <p:nvPr/>
        </p:nvSpPr>
        <p:spPr>
          <a:xfrm>
            <a:off x="731520" y="2983992"/>
            <a:ext cx="3291840" cy="67056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11" name="stand-2-head"/>
          <p:cNvSpPr txBox="1"/>
          <p:nvPr/>
        </p:nvSpPr>
        <p:spPr>
          <a:xfrm>
            <a:off x="896112" y="30480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Судья</a:t>
            </a:r>
            <a:endParaRPr lang="en-US" sz="1600" dirty="0"/>
          </a:p>
        </p:txBody>
      </p:sp>
      <p:sp>
        <p:nvSpPr>
          <p:cNvPr id="12" name="stand-2-sub"/>
          <p:cNvSpPr txBox="1"/>
          <p:nvPr/>
        </p:nvSpPr>
        <p:spPr>
          <a:xfrm>
            <a:off x="896112" y="3331464"/>
            <a:ext cx="2962656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заряд, датчик, штрафы, очки</a:t>
            </a:r>
            <a:endParaRPr lang="en-US" sz="1400" dirty="0"/>
          </a:p>
        </p:txBody>
      </p:sp>
      <p:sp>
        <p:nvSpPr>
          <p:cNvPr id="13" name="stand-3-box"/>
          <p:cNvSpPr/>
          <p:nvPr/>
        </p:nvSpPr>
        <p:spPr>
          <a:xfrm>
            <a:off x="731520" y="3764280"/>
            <a:ext cx="3291840" cy="67056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14" name="stand-3-head"/>
          <p:cNvSpPr txBox="1"/>
          <p:nvPr/>
        </p:nvSpPr>
        <p:spPr>
          <a:xfrm>
            <a:off x="896112" y="382828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Симулятор</a:t>
            </a:r>
            <a:endParaRPr lang="en-US" sz="1600" dirty="0"/>
          </a:p>
        </p:txBody>
      </p:sp>
      <p:sp>
        <p:nvSpPr>
          <p:cNvPr id="15" name="stand-3-sub"/>
          <p:cNvSpPr txBox="1"/>
          <p:nvPr/>
        </p:nvSpPr>
        <p:spPr>
          <a:xfrm>
            <a:off x="896112" y="4111752"/>
            <a:ext cx="2962656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Gazebo — показ, быстрый — серии</a:t>
            </a:r>
            <a:endParaRPr lang="en-US" sz="1400" dirty="0"/>
          </a:p>
        </p:txBody>
      </p:sp>
      <p:sp>
        <p:nvSpPr>
          <p:cNvPr id="16" name="agent-card"/>
          <p:cNvSpPr/>
          <p:nvPr/>
        </p:nvSpPr>
        <p:spPr>
          <a:xfrm>
            <a:off x="7086600" y="1691640"/>
            <a:ext cx="4553712" cy="292608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17" name="agent-label"/>
          <p:cNvSpPr txBox="1"/>
          <p:nvPr/>
        </p:nvSpPr>
        <p:spPr>
          <a:xfrm>
            <a:off x="731520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Агент</a:t>
            </a:r>
            <a:endParaRPr lang="en-US" sz="1600" dirty="0"/>
          </a:p>
        </p:txBody>
      </p:sp>
      <p:sp>
        <p:nvSpPr>
          <p:cNvPr id="18" name="agent-1-box"/>
          <p:cNvSpPr/>
          <p:nvPr/>
        </p:nvSpPr>
        <p:spPr>
          <a:xfrm>
            <a:off x="7269480" y="2203704"/>
            <a:ext cx="2002536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19" name="agent-1-head"/>
          <p:cNvSpPr txBox="1"/>
          <p:nvPr/>
        </p:nvSpPr>
        <p:spPr>
          <a:xfrm>
            <a:off x="7434072" y="2295144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Картина мира</a:t>
            </a:r>
            <a:endParaRPr lang="en-US" sz="1600" dirty="0"/>
          </a:p>
        </p:txBody>
      </p:sp>
      <p:sp>
        <p:nvSpPr>
          <p:cNvPr id="20" name="agent-1-sub"/>
          <p:cNvSpPr txBox="1"/>
          <p:nvPr/>
        </p:nvSpPr>
        <p:spPr>
          <a:xfrm>
            <a:off x="7434072" y="2615184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образцы, грунт, зоны, положение</a:t>
            </a:r>
            <a:endParaRPr lang="en-US" sz="1400" dirty="0"/>
          </a:p>
        </p:txBody>
      </p:sp>
      <p:sp>
        <p:nvSpPr>
          <p:cNvPr id="21" name="agent-2-box"/>
          <p:cNvSpPr/>
          <p:nvPr/>
        </p:nvSpPr>
        <p:spPr>
          <a:xfrm>
            <a:off x="9454896" y="2203704"/>
            <a:ext cx="2002536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/>
        </p:spPr>
      </p:sp>
      <p:sp>
        <p:nvSpPr>
          <p:cNvPr id="22" name="agent-2-head"/>
          <p:cNvSpPr txBox="1"/>
          <p:nvPr/>
        </p:nvSpPr>
        <p:spPr>
          <a:xfrm>
            <a:off x="9619488" y="2295144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Планировщик</a:t>
            </a:r>
            <a:endParaRPr lang="en-US" sz="1600" dirty="0"/>
          </a:p>
        </p:txBody>
      </p:sp>
      <p:sp>
        <p:nvSpPr>
          <p:cNvPr id="23" name="agent-2-sub"/>
          <p:cNvSpPr txBox="1"/>
          <p:nvPr/>
        </p:nvSpPr>
        <p:spPr>
          <a:xfrm>
            <a:off x="9619488" y="2615184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правило или языковая модель</a:t>
            </a:r>
            <a:endParaRPr lang="en-US" sz="1400" dirty="0"/>
          </a:p>
        </p:txBody>
      </p:sp>
      <p:sp>
        <p:nvSpPr>
          <p:cNvPr id="24" name="agent-3-box"/>
          <p:cNvSpPr/>
          <p:nvPr/>
        </p:nvSpPr>
        <p:spPr>
          <a:xfrm>
            <a:off x="7269480" y="3383280"/>
            <a:ext cx="2002536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25" name="agent-3-head"/>
          <p:cNvSpPr txBox="1"/>
          <p:nvPr/>
        </p:nvSpPr>
        <p:spPr>
          <a:xfrm>
            <a:off x="7434072" y="347472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Исполнитель</a:t>
            </a:r>
            <a:endParaRPr lang="en-US" sz="1600" dirty="0"/>
          </a:p>
        </p:txBody>
      </p:sp>
      <p:sp>
        <p:nvSpPr>
          <p:cNvPr id="26" name="agent-3-sub"/>
          <p:cNvSpPr txBox="1"/>
          <p:nvPr/>
        </p:nvSpPr>
        <p:spPr>
          <a:xfrm>
            <a:off x="7434072" y="379476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путь по сетке и скорость колёс</a:t>
            </a:r>
            <a:endParaRPr lang="en-US" sz="1400" dirty="0"/>
          </a:p>
        </p:txBody>
      </p:sp>
      <p:sp>
        <p:nvSpPr>
          <p:cNvPr id="27" name="agent-4-box"/>
          <p:cNvSpPr/>
          <p:nvPr/>
        </p:nvSpPr>
        <p:spPr>
          <a:xfrm>
            <a:off x="9454896" y="3383280"/>
            <a:ext cx="2002536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28" name="agent-4-head"/>
          <p:cNvSpPr txBox="1"/>
          <p:nvPr/>
        </p:nvSpPr>
        <p:spPr>
          <a:xfrm>
            <a:off x="9619488" y="347472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Журнал гипотез</a:t>
            </a:r>
            <a:endParaRPr lang="en-US" sz="1600" dirty="0"/>
          </a:p>
        </p:txBody>
      </p:sp>
      <p:sp>
        <p:nvSpPr>
          <p:cNvPr id="29" name="agent-4-sub"/>
          <p:cNvSpPr txBox="1"/>
          <p:nvPr/>
        </p:nvSpPr>
        <p:spPr>
          <a:xfrm>
            <a:off x="9619488" y="379476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что предположил и что вышло</a:t>
            </a:r>
            <a:endParaRPr lang="en-US" sz="1400" dirty="0"/>
          </a:p>
        </p:txBody>
      </p:sp>
      <p:sp>
        <p:nvSpPr>
          <p:cNvPr id="30" name="chan-to-label"/>
          <p:cNvSpPr txBox="1"/>
          <p:nvPr/>
        </p:nvSpPr>
        <p:spPr>
          <a:xfrm>
            <a:off x="4297680" y="24048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заряд, датчик образцов,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штрафы, лидар, одометрия</a:t>
            </a:r>
            <a:endParaRPr lang="en-US" sz="1400" dirty="0"/>
          </a:p>
        </p:txBody>
      </p:sp>
      <p:sp>
        <p:nvSpPr>
          <p:cNvPr id="31" name="chan-to"/>
          <p:cNvSpPr/>
          <p:nvPr/>
        </p:nvSpPr>
        <p:spPr>
          <a:xfrm>
            <a:off x="4297680" y="3008376"/>
            <a:ext cx="2697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32" name="chan-from"/>
          <p:cNvSpPr/>
          <p:nvPr/>
        </p:nvSpPr>
        <p:spPr>
          <a:xfrm>
            <a:off x="4297680" y="3300984"/>
            <a:ext cx="2697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</p:sp>
      <p:sp>
        <p:nvSpPr>
          <p:cNvPr id="33" name="chan-from-label"/>
          <p:cNvSpPr txBox="1"/>
          <p:nvPr/>
        </p:nvSpPr>
        <p:spPr>
          <a:xfrm>
            <a:off x="4297680" y="33924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скорость колёс,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«собрать», «финиш»</a:t>
            </a:r>
            <a:endParaRPr lang="en-US" sz="1400" dirty="0"/>
          </a:p>
        </p:txBody>
      </p:sp>
      <p:sp>
        <p:nvSpPr>
          <p:cNvPr id="34" name="llm-card"/>
          <p:cNvSpPr/>
          <p:nvPr/>
        </p:nvSpPr>
        <p:spPr>
          <a:xfrm>
            <a:off x="548640" y="4800600"/>
            <a:ext cx="67208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35" name="llm-text"/>
          <p:cNvSpPr txBox="1"/>
          <p:nvPr/>
        </p:nvSpPr>
        <p:spPr>
          <a:xfrm>
            <a:off x="777240" y="4800600"/>
            <a:ext cx="6263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Место языковой модели.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Читает миссию, заданную словами, и предлагает подцели: разведать область, проверить место, вернуться. Ответ проверяется; при сбое решает правило. Гипотезы робота, путь и скорость колёс — программа.</a:t>
            </a:r>
            <a:endParaRPr lang="en-US" sz="1600" dirty="0"/>
          </a:p>
        </p:txBody>
      </p:sp>
      <p:sp>
        <p:nvSpPr>
          <p:cNvPr id="36" name="sim-card"/>
          <p:cNvSpPr/>
          <p:nvPr/>
        </p:nvSpPr>
        <p:spPr>
          <a:xfrm>
            <a:off x="7452360" y="4800600"/>
            <a:ext cx="41879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7" name="sim-text"/>
          <p:cNvSpPr txBox="1"/>
          <p:nvPr/>
        </p:nvSpPr>
        <p:spPr>
          <a:xfrm>
            <a:off x="7680960" y="4800600"/>
            <a:ext cx="37307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Зачем два симулятора. 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Gazebo — физика и показ. Быстрый — серии: 240 прогонов за 37 секунд, поэтому у каждого вывода есть интервал.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Трудный уровень: 81 очко при потолке 92,5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Быстрый симулятор, новые сценарии; отрезки — 95% интервалы. Внизу — проверка в Gazebo</a:t>
            </a:r>
            <a:endParaRPr lang="en-US" sz="1600" dirty="0"/>
          </a:p>
        </p:txBody>
      </p:sp>
      <p:sp>
        <p:nvSpPr>
          <p:cNvPr id="5" name="scores-head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Счёт по вариантам агента</a:t>
            </a:r>
            <a:endParaRPr lang="en-US" sz="1600" dirty="0"/>
          </a:p>
        </p:txBody>
      </p:sp>
      <p:pic>
        <p:nvPicPr>
          <p:cNvPr id="6" name="scores-chart" descr="Счёт на трудном уровне: план заранее 59,3; адаптивный агент 74,9; с распознаванием сбоя датчика 81,3; потолок 92,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4248"/>
            <a:ext cx="5394960" cy="2926080"/>
          </a:xfrm>
          <a:prstGeom prst="rect">
            <a:avLst/>
          </a:prstGeom>
        </p:spPr>
      </p:pic>
      <p:sp>
        <p:nvSpPr>
          <p:cNvPr id="7" name="effects-head"/>
          <p:cNvSpPr txBox="1"/>
          <p:nvPr/>
        </p:nvSpPr>
        <p:spPr>
          <a:xfrm>
            <a:off x="6245352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дало каждое улучшение (серое — не показано)</a:t>
            </a:r>
            <a:endParaRPr lang="en-US" sz="1600" dirty="0"/>
          </a:p>
        </p:txBody>
      </p:sp>
      <p:pic>
        <p:nvPicPr>
          <p:cNvPr id="8" name="effects-chart" descr="Прибавка к счёту: адаптация +13,3; распознавание сбоя датчика +6,4; новые схемы планирования −0,4; пять правок по разбору потерь −0,39; реакция на дорогой грунт +1,0; реакция на смену грунта +0,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984248"/>
            <a:ext cx="5394960" cy="2926080"/>
          </a:xfrm>
          <a:prstGeom prst="rect">
            <a:avLst/>
          </a:prstGeom>
        </p:spPr>
      </p:pic>
      <p:sp>
        <p:nvSpPr>
          <p:cNvPr id="9" name="gz-1-card"/>
          <p:cNvSpPr/>
          <p:nvPr/>
        </p:nvSpPr>
        <p:spPr>
          <a:xfrm>
            <a:off x="548640" y="5001768"/>
            <a:ext cx="3605784" cy="1216152"/>
          </a:xfrm>
          <a:prstGeom prst="roundRect">
            <a:avLst>
              <a:gd name="adj" fmla="val 6015"/>
            </a:avLst>
          </a:prstGeom>
          <a:solidFill>
            <a:schemeClr val="bg2"/>
          </a:solidFill>
          <a:ln/>
        </p:spPr>
      </p:sp>
      <p:sp>
        <p:nvSpPr>
          <p:cNvPr id="10" name="gz-1-value"/>
          <p:cNvSpPr txBox="1"/>
          <p:nvPr/>
        </p:nvSpPr>
        <p:spPr>
          <a:xfrm>
            <a:off x="749808" y="5047488"/>
            <a:ext cx="3240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 из 5</a:t>
            </a:r>
            <a:endParaRPr lang="en-US" sz="2400" dirty="0"/>
          </a:p>
        </p:txBody>
      </p:sp>
      <p:sp>
        <p:nvSpPr>
          <p:cNvPr id="11" name="gz-1-label"/>
          <p:cNvSpPr txBox="1"/>
          <p:nvPr/>
        </p:nvSpPr>
        <p:spPr>
          <a:xfrm>
            <a:off x="749808" y="5458968"/>
            <a:ext cx="32400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прогонов показа: 7 из 7 образцов, возврат, без штрафов, счёт 90,8–91,9</a:t>
            </a:r>
            <a:endParaRPr lang="en-US" sz="1300" dirty="0"/>
          </a:p>
        </p:txBody>
      </p:sp>
      <p:sp>
        <p:nvSpPr>
          <p:cNvPr id="12" name="gz-1-where"/>
          <p:cNvSpPr txBox="1"/>
          <p:nvPr/>
        </p:nvSpPr>
        <p:spPr>
          <a:xfrm>
            <a:off x="749808" y="5952744"/>
            <a:ext cx="3240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Gazebo, трудный уровень, сценарий 2</a:t>
            </a:r>
            <a:endParaRPr lang="en-US" sz="1200" dirty="0"/>
          </a:p>
        </p:txBody>
      </p:sp>
      <p:sp>
        <p:nvSpPr>
          <p:cNvPr id="13" name="gz-2-card"/>
          <p:cNvSpPr/>
          <p:nvPr/>
        </p:nvSpPr>
        <p:spPr>
          <a:xfrm>
            <a:off x="4291584" y="5001768"/>
            <a:ext cx="3605784" cy="1216152"/>
          </a:xfrm>
          <a:prstGeom prst="roundRect">
            <a:avLst>
              <a:gd name="adj" fmla="val 6015"/>
            </a:avLst>
          </a:prstGeom>
          <a:solidFill>
            <a:schemeClr val="bg2"/>
          </a:solidFill>
          <a:ln/>
        </p:spPr>
      </p:sp>
      <p:sp>
        <p:nvSpPr>
          <p:cNvPr id="14" name="gz-2-value"/>
          <p:cNvSpPr txBox="1"/>
          <p:nvPr/>
        </p:nvSpPr>
        <p:spPr>
          <a:xfrm>
            <a:off x="4492752" y="5047488"/>
            <a:ext cx="3240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8 из 9 → 7 из 7</a:t>
            </a:r>
            <a:endParaRPr lang="en-US" sz="2400" dirty="0"/>
          </a:p>
        </p:txBody>
      </p:sp>
      <p:sp>
        <p:nvSpPr>
          <p:cNvPr id="15" name="gz-2-label"/>
          <p:cNvSpPr txBox="1"/>
          <p:nvPr/>
        </p:nvSpPr>
        <p:spPr>
          <a:xfrm>
            <a:off x="4492752" y="5458968"/>
            <a:ext cx="32400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возврат на базу после защиты от потери положения</a:t>
            </a:r>
            <a:endParaRPr lang="en-US" sz="1300" dirty="0"/>
          </a:p>
        </p:txBody>
      </p:sp>
      <p:sp>
        <p:nvSpPr>
          <p:cNvPr id="16" name="gz-2-where"/>
          <p:cNvSpPr txBox="1"/>
          <p:nvPr/>
        </p:nvSpPr>
        <p:spPr>
          <a:xfrm>
            <a:off x="4492752" y="5952744"/>
            <a:ext cx="3240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Gazebo, трудный уровень</a:t>
            </a:r>
            <a:endParaRPr lang="en-US" sz="1200" dirty="0"/>
          </a:p>
        </p:txBody>
      </p:sp>
      <p:sp>
        <p:nvSpPr>
          <p:cNvPr id="17" name="gz-3-card"/>
          <p:cNvSpPr/>
          <p:nvPr/>
        </p:nvSpPr>
        <p:spPr>
          <a:xfrm>
            <a:off x="8034528" y="5001768"/>
            <a:ext cx="3605784" cy="1216152"/>
          </a:xfrm>
          <a:prstGeom prst="roundRect">
            <a:avLst>
              <a:gd name="adj" fmla="val 6015"/>
            </a:avLst>
          </a:prstGeom>
          <a:solidFill>
            <a:schemeClr val="bg2"/>
          </a:solidFill>
          <a:ln/>
        </p:spPr>
      </p:sp>
      <p:sp>
        <p:nvSpPr>
          <p:cNvPr id="18" name="gz-3-value"/>
          <p:cNvSpPr txBox="1"/>
          <p:nvPr/>
        </p:nvSpPr>
        <p:spPr>
          <a:xfrm>
            <a:off x="8235696" y="5047488"/>
            <a:ext cx="3240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76,2 и 75,9</a:t>
            </a:r>
            <a:endParaRPr lang="en-US" sz="2400" dirty="0"/>
          </a:p>
        </p:txBody>
      </p:sp>
      <p:sp>
        <p:nvSpPr>
          <p:cNvPr id="19" name="gz-3-label"/>
          <p:cNvSpPr txBox="1"/>
          <p:nvPr/>
        </p:nvSpPr>
        <p:spPr>
          <a:xfrm>
            <a:off x="8235696" y="5458968"/>
            <a:ext cx="32400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счёт в Gazebo и в быстром симуляторе: различие не показано</a:t>
            </a:r>
            <a:endParaRPr lang="en-US" sz="1300" dirty="0"/>
          </a:p>
        </p:txBody>
      </p:sp>
      <p:sp>
        <p:nvSpPr>
          <p:cNvPr id="20" name="gz-3-where"/>
          <p:cNvSpPr txBox="1"/>
          <p:nvPr/>
        </p:nvSpPr>
        <p:spPr>
          <a:xfrm>
            <a:off x="8235696" y="5952744"/>
            <a:ext cx="3240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 пар одинаковых трудных сценариев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Изменения робот замечает сам; модель читает миссию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Среда меняется без объявления. Гипотезы робота выдвигает и проверяет программа, а не модель</a:t>
            </a:r>
            <a:endParaRPr lang="en-US" sz="1600" dirty="0"/>
          </a:p>
        </p:txBody>
      </p:sp>
      <p:sp>
        <p:nvSpPr>
          <p:cNvPr id="5" name="adapt-head"/>
          <p:cNvSpPr txBox="1"/>
          <p:nvPr/>
        </p:nvSpPr>
        <p:spPr>
          <a:xfrm>
            <a:off x="548640" y="1691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робот замечает сам</a:t>
            </a:r>
            <a:endParaRPr lang="en-US" sz="1600" dirty="0"/>
          </a:p>
        </p:txBody>
      </p:sp>
      <p:sp>
        <p:nvSpPr>
          <p:cNvPr id="6" name="adapt-1-card"/>
          <p:cNvSpPr/>
          <p:nvPr/>
        </p:nvSpPr>
        <p:spPr>
          <a:xfrm>
            <a:off x="548640" y="2057400"/>
            <a:ext cx="5669280" cy="779526"/>
          </a:xfrm>
          <a:prstGeom prst="roundRect">
            <a:avLst>
              <a:gd name="adj" fmla="val 9384"/>
            </a:avLst>
          </a:prstGeom>
          <a:solidFill>
            <a:schemeClr val="bg2"/>
          </a:solidFill>
          <a:ln/>
        </p:spPr>
      </p:sp>
      <p:sp>
        <p:nvSpPr>
          <p:cNvPr id="7" name="adapt-1-sign"/>
          <p:cNvSpPr txBox="1"/>
          <p:nvPr/>
        </p:nvSpPr>
        <p:spPr>
          <a:xfrm>
            <a:off x="749808" y="2130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Датчик образцов шумит</a:t>
            </a:r>
            <a:endParaRPr lang="en-US" sz="1600" dirty="0"/>
          </a:p>
        </p:txBody>
      </p:sp>
      <p:sp>
        <p:nvSpPr>
          <p:cNvPr id="8" name="adapt-1-act"/>
          <p:cNvSpPr txBox="1"/>
          <p:nvPr/>
        </p:nvSpPr>
        <p:spPr>
          <a:xfrm>
            <a:off x="749808" y="2441448"/>
            <a:ext cx="338328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делает вывод «сбой» и ждёт</a:t>
            </a:r>
            <a:endParaRPr lang="en-US" sz="1600" dirty="0"/>
          </a:p>
        </p:txBody>
      </p:sp>
      <p:sp>
        <p:nvSpPr>
          <p:cNvPr id="9" name="adapt-1-num"/>
          <p:cNvSpPr txBox="1"/>
          <p:nvPr/>
        </p:nvSpPr>
        <p:spPr>
          <a:xfrm>
            <a:off x="4297680" y="2084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+6,4</a:t>
            </a:r>
            <a:endParaRPr lang="en-US" sz="2400" dirty="0"/>
          </a:p>
        </p:txBody>
      </p:sp>
      <p:sp>
        <p:nvSpPr>
          <p:cNvPr id="10" name="adapt-1-unit"/>
          <p:cNvSpPr txBox="1"/>
          <p:nvPr/>
        </p:nvSpPr>
        <p:spPr>
          <a:xfrm>
            <a:off x="4297680" y="2450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очка [+2,9; +9,8]</a:t>
            </a:r>
            <a:endParaRPr lang="en-US" sz="1300" dirty="0"/>
          </a:p>
        </p:txBody>
      </p:sp>
      <p:sp>
        <p:nvSpPr>
          <p:cNvPr id="11" name="adapt-1-where"/>
          <p:cNvSpPr txBox="1"/>
          <p:nvPr/>
        </p:nvSpPr>
        <p:spPr>
          <a:xfrm>
            <a:off x="4297680" y="260832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 симулятор</a:t>
            </a:r>
            <a:endParaRPr lang="en-US" sz="1200" dirty="0"/>
          </a:p>
        </p:txBody>
      </p:sp>
      <p:sp>
        <p:nvSpPr>
          <p:cNvPr id="12" name="adapt-2-card"/>
          <p:cNvSpPr/>
          <p:nvPr/>
        </p:nvSpPr>
        <p:spPr>
          <a:xfrm>
            <a:off x="548640" y="2928366"/>
            <a:ext cx="5669280" cy="779526"/>
          </a:xfrm>
          <a:prstGeom prst="roundRect">
            <a:avLst>
              <a:gd name="adj" fmla="val 9384"/>
            </a:avLst>
          </a:prstGeom>
          <a:solidFill>
            <a:schemeClr val="bg2"/>
          </a:solidFill>
          <a:ln/>
        </p:spPr>
      </p:sp>
      <p:sp>
        <p:nvSpPr>
          <p:cNvPr id="13" name="adapt-2-sign"/>
          <p:cNvSpPr txBox="1"/>
          <p:nvPr/>
        </p:nvSpPr>
        <p:spPr>
          <a:xfrm>
            <a:off x="749808" y="30015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Штрафы: новая опасная зона</a:t>
            </a:r>
            <a:endParaRPr lang="en-US" sz="1600" dirty="0"/>
          </a:p>
        </p:txBody>
      </p:sp>
      <p:sp>
        <p:nvSpPr>
          <p:cNvPr id="14" name="adapt-2-act"/>
          <p:cNvSpPr txBox="1"/>
          <p:nvPr/>
        </p:nvSpPr>
        <p:spPr>
          <a:xfrm>
            <a:off x="749808" y="3312414"/>
            <a:ext cx="338328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запоминает зону и объезжает</a:t>
            </a:r>
            <a:endParaRPr lang="en-US" sz="1600" dirty="0"/>
          </a:p>
        </p:txBody>
      </p:sp>
      <p:sp>
        <p:nvSpPr>
          <p:cNvPr id="15" name="adapt-2-num"/>
          <p:cNvSpPr txBox="1"/>
          <p:nvPr/>
        </p:nvSpPr>
        <p:spPr>
          <a:xfrm>
            <a:off x="4297680" y="295579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+3,5</a:t>
            </a:r>
            <a:endParaRPr lang="en-US" sz="2400" dirty="0"/>
          </a:p>
        </p:txBody>
      </p:sp>
      <p:sp>
        <p:nvSpPr>
          <p:cNvPr id="16" name="adapt-2-unit"/>
          <p:cNvSpPr txBox="1"/>
          <p:nvPr/>
        </p:nvSpPr>
        <p:spPr>
          <a:xfrm>
            <a:off x="4297680" y="332155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очка [+0,4; +7,1]</a:t>
            </a:r>
            <a:endParaRPr lang="en-US" sz="1300" dirty="0"/>
          </a:p>
        </p:txBody>
      </p:sp>
      <p:sp>
        <p:nvSpPr>
          <p:cNvPr id="17" name="adapt-2-where"/>
          <p:cNvSpPr txBox="1"/>
          <p:nvPr/>
        </p:nvSpPr>
        <p:spPr>
          <a:xfrm>
            <a:off x="4297680" y="34792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быстрый, 3 новые зоны</a:t>
            </a:r>
            <a:endParaRPr lang="en-US" sz="1200" dirty="0"/>
          </a:p>
        </p:txBody>
      </p:sp>
      <p:sp>
        <p:nvSpPr>
          <p:cNvPr id="18" name="adapt-3-card"/>
          <p:cNvSpPr/>
          <p:nvPr/>
        </p:nvSpPr>
        <p:spPr>
          <a:xfrm>
            <a:off x="548640" y="3799332"/>
            <a:ext cx="5669280" cy="779526"/>
          </a:xfrm>
          <a:prstGeom prst="roundRect">
            <a:avLst>
              <a:gd name="adj" fmla="val 9384"/>
            </a:avLst>
          </a:prstGeom>
          <a:solidFill>
            <a:schemeClr val="bg2"/>
          </a:solidFill>
          <a:ln/>
        </p:spPr>
      </p:sp>
      <p:sp>
        <p:nvSpPr>
          <p:cNvPr id="19" name="adapt-3-sign"/>
          <p:cNvSpPr txBox="1"/>
          <p:nvPr/>
        </p:nvSpPr>
        <p:spPr>
          <a:xfrm>
            <a:off x="749808" y="38724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Положение потеряно</a:t>
            </a:r>
            <a:endParaRPr lang="en-US" sz="1600" dirty="0"/>
          </a:p>
        </p:txBody>
      </p:sp>
      <p:sp>
        <p:nvSpPr>
          <p:cNvPr id="20" name="adapt-3-act"/>
          <p:cNvSpPr txBox="1"/>
          <p:nvPr/>
        </p:nvSpPr>
        <p:spPr>
          <a:xfrm>
            <a:off x="749808" y="4183380"/>
            <a:ext cx="338328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ищет себя заново, едет на базу</a:t>
            </a:r>
            <a:endParaRPr lang="en-US" sz="1600" dirty="0"/>
          </a:p>
        </p:txBody>
      </p:sp>
      <p:sp>
        <p:nvSpPr>
          <p:cNvPr id="21" name="adapt-3-num"/>
          <p:cNvSpPr txBox="1"/>
          <p:nvPr/>
        </p:nvSpPr>
        <p:spPr>
          <a:xfrm>
            <a:off x="4297680" y="38267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7 из 7</a:t>
            </a:r>
            <a:endParaRPr lang="en-US" sz="2400" dirty="0"/>
          </a:p>
        </p:txBody>
      </p:sp>
      <p:sp>
        <p:nvSpPr>
          <p:cNvPr id="22" name="adapt-3-unit"/>
          <p:cNvSpPr txBox="1"/>
          <p:nvPr/>
        </p:nvSpPr>
        <p:spPr>
          <a:xfrm>
            <a:off x="4297680" y="41925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было 8 из 9 возвратов</a:t>
            </a:r>
            <a:endParaRPr lang="en-US" sz="1300" dirty="0"/>
          </a:p>
        </p:txBody>
      </p:sp>
      <p:sp>
        <p:nvSpPr>
          <p:cNvPr id="23" name="adapt-3-where"/>
          <p:cNvSpPr txBox="1"/>
          <p:nvPr/>
        </p:nvSpPr>
        <p:spPr>
          <a:xfrm>
            <a:off x="4297680" y="435025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Gazebo</a:t>
            </a:r>
            <a:endParaRPr lang="en-US" sz="1200" dirty="0"/>
          </a:p>
        </p:txBody>
      </p:sp>
      <p:sp>
        <p:nvSpPr>
          <p:cNvPr id="24" name="adapt-4-card"/>
          <p:cNvSpPr/>
          <p:nvPr/>
        </p:nvSpPr>
        <p:spPr>
          <a:xfrm>
            <a:off x="548640" y="4670298"/>
            <a:ext cx="5669280" cy="779526"/>
          </a:xfrm>
          <a:prstGeom prst="roundRect">
            <a:avLst>
              <a:gd name="adj" fmla="val 9384"/>
            </a:avLst>
          </a:prstGeom>
          <a:solidFill>
            <a:schemeClr val="bg2"/>
          </a:solidFill>
          <a:ln/>
        </p:spPr>
      </p:sp>
      <p:sp>
        <p:nvSpPr>
          <p:cNvPr id="25" name="adapt-4-sign"/>
          <p:cNvSpPr txBox="1"/>
          <p:nvPr/>
        </p:nvSpPr>
        <p:spPr>
          <a:xfrm>
            <a:off x="749808" y="474345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Грунт на пути подорожал</a:t>
            </a:r>
            <a:endParaRPr lang="en-US" sz="1600" dirty="0"/>
          </a:p>
        </p:txBody>
      </p:sp>
      <p:sp>
        <p:nvSpPr>
          <p:cNvPr id="26" name="adapt-4-act"/>
          <p:cNvSpPr txBox="1"/>
          <p:nvPr/>
        </p:nvSpPr>
        <p:spPr>
          <a:xfrm>
            <a:off x="749808" y="5054346"/>
            <a:ext cx="338328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меряет расход, вносит в карту</a:t>
            </a:r>
            <a:endParaRPr lang="en-US" sz="1600" dirty="0"/>
          </a:p>
        </p:txBody>
      </p:sp>
      <p:sp>
        <p:nvSpPr>
          <p:cNvPr id="27" name="adapt-4-num"/>
          <p:cNvSpPr txBox="1"/>
          <p:nvPr/>
        </p:nvSpPr>
        <p:spPr>
          <a:xfrm>
            <a:off x="4297680" y="469773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+0,02</a:t>
            </a:r>
            <a:endParaRPr lang="en-US" sz="2400" dirty="0"/>
          </a:p>
        </p:txBody>
      </p:sp>
      <p:sp>
        <p:nvSpPr>
          <p:cNvPr id="28" name="adapt-4-unit"/>
          <p:cNvSpPr txBox="1"/>
          <p:nvPr/>
        </p:nvSpPr>
        <p:spPr>
          <a:xfrm>
            <a:off x="4297680" y="506349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[−0,03; +0,07]</a:t>
            </a:r>
            <a:endParaRPr lang="en-US" sz="1300" dirty="0"/>
          </a:p>
        </p:txBody>
      </p:sp>
      <p:sp>
        <p:nvSpPr>
          <p:cNvPr id="29" name="adapt-4-where"/>
          <p:cNvSpPr txBox="1"/>
          <p:nvPr/>
        </p:nvSpPr>
        <p:spPr>
          <a:xfrm>
            <a:off x="4297680" y="522122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выигрыш не показан</a:t>
            </a:r>
            <a:endParaRPr lang="en-US" sz="1200" dirty="0"/>
          </a:p>
        </p:txBody>
      </p:sp>
      <p:sp>
        <p:nvSpPr>
          <p:cNvPr id="30" name="cal-card"/>
          <p:cNvSpPr/>
          <p:nvPr/>
        </p:nvSpPr>
        <p:spPr>
          <a:xfrm>
            <a:off x="548640" y="5541264"/>
            <a:ext cx="566928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/>
        </p:spPr>
      </p:sp>
      <p:sp>
        <p:nvSpPr>
          <p:cNvPr id="31" name="cal-text"/>
          <p:cNvSpPr txBox="1"/>
          <p:nvPr/>
        </p:nvSpPr>
        <p:spPr>
          <a:xfrm>
            <a:off x="749808" y="5541264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Самокалибровка. </a:t>
            </a:r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При чужом законе датчика робот сам проверяет допущения: собрано 71% образцов вместо 1% и 61% вместо 23%. Быстрый симулятор; по умолчанию выключено.</a:t>
            </a:r>
            <a:endParaRPr lang="en-US" sz="1300" dirty="0"/>
          </a:p>
        </p:txBody>
      </p:sp>
      <p:sp>
        <p:nvSpPr>
          <p:cNvPr id="32" name="llm-head"/>
          <p:cNvSpPr txBox="1"/>
          <p:nvPr/>
        </p:nvSpPr>
        <p:spPr>
          <a:xfrm>
            <a:off x="6492240" y="169164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Языковая модель: три модели с сервера МАИ</a:t>
            </a:r>
            <a:endParaRPr lang="en-US" sz="1600" dirty="0"/>
          </a:p>
        </p:txBody>
      </p:sp>
      <p:sp>
        <p:nvSpPr>
          <p:cNvPr id="33" name="mission-card"/>
          <p:cNvSpPr/>
          <p:nvPr/>
        </p:nvSpPr>
        <p:spPr>
          <a:xfrm>
            <a:off x="6492240" y="2057400"/>
            <a:ext cx="51480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34" name="mission-text"/>
          <p:cNvSpPr txBox="1"/>
          <p:nvPr/>
        </p:nvSpPr>
        <p:spPr>
          <a:xfrm>
            <a:off x="6720840" y="212140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Миссии, заданные словами (быстрый симулятор)</a:t>
            </a:r>
            <a:endParaRPr lang="en-US" sz="1600" dirty="0"/>
          </a:p>
        </p:txBody>
      </p:sp>
      <p:sp>
        <p:nvSpPr>
          <p:cNvPr id="35" name="mission-1-value"/>
          <p:cNvSpPr txBox="1"/>
          <p:nvPr/>
        </p:nvSpPr>
        <p:spPr>
          <a:xfrm>
            <a:off x="6720840" y="2404872"/>
            <a:ext cx="2619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45–46 из 48</a:t>
            </a:r>
            <a:endParaRPr lang="en-US" sz="3000" dirty="0"/>
          </a:p>
        </p:txBody>
      </p:sp>
      <p:sp>
        <p:nvSpPr>
          <p:cNvPr id="36" name="mission-1-who"/>
          <p:cNvSpPr txBox="1"/>
          <p:nvPr/>
        </p:nvSpPr>
        <p:spPr>
          <a:xfrm>
            <a:off x="6720840" y="2880360"/>
            <a:ext cx="2619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модель — на каждой из трёх</a:t>
            </a:r>
            <a:endParaRPr lang="en-US" sz="1300" dirty="0"/>
          </a:p>
        </p:txBody>
      </p:sp>
      <p:sp>
        <p:nvSpPr>
          <p:cNvPr id="37" name="mission-2-value"/>
          <p:cNvSpPr txBox="1"/>
          <p:nvPr/>
        </p:nvSpPr>
        <p:spPr>
          <a:xfrm>
            <a:off x="9386316" y="2404872"/>
            <a:ext cx="22997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0 из 48</a:t>
            </a:r>
            <a:endParaRPr lang="en-US" sz="3000" dirty="0"/>
          </a:p>
        </p:txBody>
      </p:sp>
      <p:sp>
        <p:nvSpPr>
          <p:cNvPr id="38" name="mission-2-who"/>
          <p:cNvSpPr txBox="1"/>
          <p:nvPr/>
        </p:nvSpPr>
        <p:spPr>
          <a:xfrm>
            <a:off x="9386316" y="2880360"/>
            <a:ext cx="22997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правило: текст не читает</a:t>
            </a:r>
            <a:endParaRPr lang="en-US" sz="1300" dirty="0"/>
          </a:p>
        </p:txBody>
      </p:sp>
      <p:sp>
        <p:nvSpPr>
          <p:cNvPr id="39" name="llm-1-card"/>
          <p:cNvSpPr/>
          <p:nvPr/>
        </p:nvSpPr>
        <p:spPr>
          <a:xfrm>
            <a:off x="6492240" y="3246120"/>
            <a:ext cx="5148072" cy="92964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40" name="llm-1-value"/>
          <p:cNvSpPr txBox="1"/>
          <p:nvPr/>
        </p:nvSpPr>
        <p:spPr>
          <a:xfrm>
            <a:off x="6675120" y="3282696"/>
            <a:ext cx="128016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93–98%</a:t>
            </a:r>
            <a:endParaRPr lang="en-US" sz="2200" dirty="0"/>
          </a:p>
        </p:txBody>
      </p:sp>
      <p:sp>
        <p:nvSpPr>
          <p:cNvPr id="41" name="llm-1-label"/>
          <p:cNvSpPr txBox="1"/>
          <p:nvPr/>
        </p:nvSpPr>
        <p:spPr>
          <a:xfrm>
            <a:off x="7955280" y="3300984"/>
            <a:ext cx="354787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случаев: настоящая причина есть среди гипотез модели (разметка моделью); вывод верен в 24–39% против 86% у расчёта</a:t>
            </a:r>
            <a:endParaRPr lang="en-US" sz="1300" dirty="0"/>
          </a:p>
        </p:txBody>
      </p:sp>
      <p:sp>
        <p:nvSpPr>
          <p:cNvPr id="42" name="llm-1-where"/>
          <p:cNvSpPr txBox="1"/>
          <p:nvPr/>
        </p:nvSpPr>
        <p:spPr>
          <a:xfrm>
            <a:off x="6675120" y="3928872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опыт «в тени» · модель предлагает, расчёт проверяет</a:t>
            </a:r>
            <a:endParaRPr lang="en-US" sz="1200" dirty="0"/>
          </a:p>
        </p:txBody>
      </p:sp>
      <p:sp>
        <p:nvSpPr>
          <p:cNvPr id="43" name="llm-2-card"/>
          <p:cNvSpPr/>
          <p:nvPr/>
        </p:nvSpPr>
        <p:spPr>
          <a:xfrm>
            <a:off x="6492240" y="4267200"/>
            <a:ext cx="5148072" cy="92964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44" name="llm-2-value"/>
          <p:cNvSpPr txBox="1"/>
          <p:nvPr/>
        </p:nvSpPr>
        <p:spPr>
          <a:xfrm>
            <a:off x="6675120" y="4303776"/>
            <a:ext cx="128016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+42,0</a:t>
            </a:r>
            <a:endParaRPr lang="en-US" sz="2200" dirty="0"/>
          </a:p>
        </p:txBody>
      </p:sp>
      <p:sp>
        <p:nvSpPr>
          <p:cNvPr id="45" name="llm-2-label"/>
          <p:cNvSpPr txBox="1"/>
          <p:nvPr/>
        </p:nvSpPr>
        <p:spPr>
          <a:xfrm>
            <a:off x="7955280" y="4322064"/>
            <a:ext cx="354787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очка [+25,1; +59,6], если ехать по правилу, пока модель думает: 30,3 → 72,3; модель влияет на 9% решений</a:t>
            </a:r>
            <a:endParaRPr lang="en-US" sz="1300" dirty="0"/>
          </a:p>
        </p:txBody>
      </p:sp>
      <p:sp>
        <p:nvSpPr>
          <p:cNvPr id="46" name="llm-2-where"/>
          <p:cNvSpPr txBox="1"/>
          <p:nvPr/>
        </p:nvSpPr>
        <p:spPr>
          <a:xfrm>
            <a:off x="6675120" y="4949952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на имитаторе модели, задержка 15 с · по умолчанию выключено</a:t>
            </a:r>
            <a:endParaRPr lang="en-US" sz="1200" dirty="0"/>
          </a:p>
        </p:txBody>
      </p:sp>
      <p:sp>
        <p:nvSpPr>
          <p:cNvPr id="47" name="llm-3-card"/>
          <p:cNvSpPr/>
          <p:nvPr/>
        </p:nvSpPr>
        <p:spPr>
          <a:xfrm>
            <a:off x="6492240" y="5288280"/>
            <a:ext cx="5148072" cy="92964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48" name="llm-3-value"/>
          <p:cNvSpPr txBox="1"/>
          <p:nvPr/>
        </p:nvSpPr>
        <p:spPr>
          <a:xfrm>
            <a:off x="6675120" y="5324856"/>
            <a:ext cx="128016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0,4 с</a:t>
            </a:r>
            <a:endParaRPr lang="en-US" sz="2200" dirty="0"/>
          </a:p>
        </p:txBody>
      </p:sp>
      <p:sp>
        <p:nvSpPr>
          <p:cNvPr id="49" name="llm-3-label"/>
          <p:cNvSpPr txBox="1"/>
          <p:nvPr/>
        </p:nvSpPr>
        <p:spPr>
          <a:xfrm>
            <a:off x="7955280" y="5343144"/>
            <a:ext cx="354787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отвечает быстрая модель Jev — сторож миссии (большая — 19–24 с); «ровно два образца»: 20 из 20, правило — 0 из 20</a:t>
            </a:r>
            <a:endParaRPr lang="en-US" sz="1300" dirty="0"/>
          </a:p>
        </p:txBody>
      </p:sp>
      <p:sp>
        <p:nvSpPr>
          <p:cNvPr id="50" name="llm-3-where"/>
          <p:cNvSpPr txBox="1"/>
          <p:nvPr/>
        </p:nvSpPr>
        <p:spPr>
          <a:xfrm>
            <a:off x="6675120" y="5971032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 симулятор · равноценность большой не установлена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Бонусные треки: четыре закрыты числами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У каждого числа подписано, где оно измерено: Gazebo или быстрый симулятор</a:t>
            </a:r>
            <a:endParaRPr lang="en-US" sz="1600" dirty="0"/>
          </a:p>
        </p:txBody>
      </p:sp>
      <p:sp>
        <p:nvSpPr>
          <p:cNvPr id="5" name="bonus-1-card"/>
          <p:cNvSpPr/>
          <p:nvPr/>
        </p:nvSpPr>
        <p:spPr>
          <a:xfrm>
            <a:off x="548640" y="1691640"/>
            <a:ext cx="7754112" cy="1049274"/>
          </a:xfrm>
          <a:prstGeom prst="roundRect">
            <a:avLst>
              <a:gd name="adj" fmla="val 6972"/>
            </a:avLst>
          </a:prstGeom>
          <a:solidFill>
            <a:schemeClr val="bg2"/>
          </a:solidFill>
          <a:ln/>
        </p:spPr>
      </p:sp>
      <p:sp>
        <p:nvSpPr>
          <p:cNvPr id="6" name="bonus-1-head"/>
          <p:cNvSpPr txBox="1"/>
          <p:nvPr/>
        </p:nvSpPr>
        <p:spPr>
          <a:xfrm>
            <a:off x="749808" y="173736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SLAM вместо готовой карты</a:t>
            </a:r>
            <a:endParaRPr lang="en-US" sz="1600" dirty="0"/>
          </a:p>
        </p:txBody>
      </p:sp>
      <p:sp>
        <p:nvSpPr>
          <p:cNvPr id="7" name="bonus-1-body"/>
          <p:cNvSpPr txBox="1"/>
          <p:nvPr/>
        </p:nvSpPr>
        <p:spPr>
          <a:xfrm>
            <a:off x="749808" y="2020824"/>
            <a:ext cx="523951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Карта робота совпала с готовой; столбов 9 из 9; начало координат совпадает с мировым с точностью около 5 см</a:t>
            </a:r>
            <a:endParaRPr lang="en-US" sz="1400" dirty="0"/>
          </a:p>
        </p:txBody>
      </p:sp>
      <p:sp>
        <p:nvSpPr>
          <p:cNvPr id="8" name="bonus-1-num"/>
          <p:cNvSpPr txBox="1"/>
          <p:nvPr/>
        </p:nvSpPr>
        <p:spPr>
          <a:xfrm>
            <a:off x="6153912" y="17830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95,8–98,7%</a:t>
            </a:r>
            <a:endParaRPr lang="en-US" sz="2600" dirty="0"/>
          </a:p>
        </p:txBody>
      </p:sp>
      <p:sp>
        <p:nvSpPr>
          <p:cNvPr id="9" name="bonus-1-where"/>
          <p:cNvSpPr txBox="1"/>
          <p:nvPr/>
        </p:nvSpPr>
        <p:spPr>
          <a:xfrm>
            <a:off x="6153912" y="2276856"/>
            <a:ext cx="19659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Gazebo, 5 прогонов</a:t>
            </a:r>
            <a:endParaRPr lang="en-US" sz="1200" dirty="0"/>
          </a:p>
        </p:txBody>
      </p:sp>
      <p:sp>
        <p:nvSpPr>
          <p:cNvPr id="10" name="bonus-2-card"/>
          <p:cNvSpPr/>
          <p:nvPr/>
        </p:nvSpPr>
        <p:spPr>
          <a:xfrm>
            <a:off x="548640" y="2850642"/>
            <a:ext cx="7754112" cy="1049274"/>
          </a:xfrm>
          <a:prstGeom prst="roundRect">
            <a:avLst>
              <a:gd name="adj" fmla="val 6972"/>
            </a:avLst>
          </a:prstGeom>
          <a:solidFill>
            <a:schemeClr val="bg2"/>
          </a:solidFill>
          <a:ln/>
        </p:spPr>
      </p:sp>
      <p:sp>
        <p:nvSpPr>
          <p:cNvPr id="11" name="bonus-2-head"/>
          <p:cNvSpPr txBox="1"/>
          <p:nvPr/>
        </p:nvSpPr>
        <p:spPr>
          <a:xfrm>
            <a:off x="749808" y="2896362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Два робота, которые координируются</a:t>
            </a:r>
            <a:endParaRPr lang="en-US" sz="1600" dirty="0"/>
          </a:p>
        </p:txBody>
      </p:sp>
      <p:sp>
        <p:nvSpPr>
          <p:cNvPr id="12" name="bonus-2-body"/>
          <p:cNvSpPr txBox="1"/>
          <p:nvPr/>
        </p:nvSpPr>
        <p:spPr>
          <a:xfrm>
            <a:off x="749808" y="3179826"/>
            <a:ext cx="523951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Против пары без связи: прогон 103,7 → 77,8 с, заряд 100,4 → 74,1; оба вернулись 80 из 80 против 75</a:t>
            </a:r>
            <a:endParaRPr lang="en-US" sz="1400" dirty="0"/>
          </a:p>
        </p:txBody>
      </p:sp>
      <p:sp>
        <p:nvSpPr>
          <p:cNvPr id="13" name="bonus-2-num"/>
          <p:cNvSpPr txBox="1"/>
          <p:nvPr/>
        </p:nvSpPr>
        <p:spPr>
          <a:xfrm>
            <a:off x="6153912" y="294208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−26 с</a:t>
            </a:r>
            <a:endParaRPr lang="en-US" sz="2600" dirty="0"/>
          </a:p>
        </p:txBody>
      </p:sp>
      <p:sp>
        <p:nvSpPr>
          <p:cNvPr id="14" name="bonus-2-where"/>
          <p:cNvSpPr txBox="1"/>
          <p:nvPr/>
        </p:nvSpPr>
        <p:spPr>
          <a:xfrm>
            <a:off x="6153912" y="3435858"/>
            <a:ext cx="19659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 симулятор, 80 сценариев</a:t>
            </a:r>
            <a:endParaRPr lang="en-US" sz="1200" dirty="0"/>
          </a:p>
        </p:txBody>
      </p:sp>
      <p:sp>
        <p:nvSpPr>
          <p:cNvPr id="15" name="bonus-3-card"/>
          <p:cNvSpPr/>
          <p:nvPr/>
        </p:nvSpPr>
        <p:spPr>
          <a:xfrm>
            <a:off x="548640" y="4009644"/>
            <a:ext cx="7754112" cy="1049274"/>
          </a:xfrm>
          <a:prstGeom prst="roundRect">
            <a:avLst>
              <a:gd name="adj" fmla="val 6972"/>
            </a:avLst>
          </a:prstGeom>
          <a:solidFill>
            <a:schemeClr val="bg2"/>
          </a:solidFill>
          <a:ln/>
        </p:spPr>
      </p:sp>
      <p:sp>
        <p:nvSpPr>
          <p:cNvPr id="16" name="bonus-3-head"/>
          <p:cNvSpPr txBox="1"/>
          <p:nvPr/>
        </p:nvSpPr>
        <p:spPr>
          <a:xfrm>
            <a:off x="749808" y="4055364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Научный агент: журнал гипотез и выбор опыта</a:t>
            </a:r>
            <a:endParaRPr lang="en-US" sz="1600" dirty="0"/>
          </a:p>
        </p:txBody>
      </p:sp>
      <p:sp>
        <p:nvSpPr>
          <p:cNvPr id="17" name="bonus-3-body"/>
          <p:cNvSpPr txBox="1"/>
          <p:nvPr/>
        </p:nvSpPr>
        <p:spPr>
          <a:xfrm>
            <a:off x="749808" y="4338828"/>
            <a:ext cx="523951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Подтверждённые гипотезы верны в 9 случаях из 10. Опыт выбирает самый дешёвый из различающих объяснения: расход на расследование 0,54 → 0,08 ед.; на счёт не влияет</a:t>
            </a:r>
            <a:endParaRPr lang="en-US" sz="1400" dirty="0"/>
          </a:p>
        </p:txBody>
      </p:sp>
      <p:sp>
        <p:nvSpPr>
          <p:cNvPr id="18" name="bonus-3-num"/>
          <p:cNvSpPr txBox="1"/>
          <p:nvPr/>
        </p:nvSpPr>
        <p:spPr>
          <a:xfrm>
            <a:off x="6153912" y="410108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 из 10</a:t>
            </a:r>
            <a:endParaRPr lang="en-US" sz="2600" dirty="0"/>
          </a:p>
        </p:txBody>
      </p:sp>
      <p:sp>
        <p:nvSpPr>
          <p:cNvPr id="19" name="bonus-3-where"/>
          <p:cNvSpPr txBox="1"/>
          <p:nvPr/>
        </p:nvSpPr>
        <p:spPr>
          <a:xfrm>
            <a:off x="6153912" y="4594860"/>
            <a:ext cx="19659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быстрый симулятор, 320 прогонов</a:t>
            </a:r>
            <a:endParaRPr lang="en-US" sz="1200" dirty="0"/>
          </a:p>
        </p:txBody>
      </p:sp>
      <p:sp>
        <p:nvSpPr>
          <p:cNvPr id="20" name="bonus-4-card"/>
          <p:cNvSpPr/>
          <p:nvPr/>
        </p:nvSpPr>
        <p:spPr>
          <a:xfrm>
            <a:off x="548640" y="5168646"/>
            <a:ext cx="7754112" cy="1049274"/>
          </a:xfrm>
          <a:prstGeom prst="roundRect">
            <a:avLst>
              <a:gd name="adj" fmla="val 6972"/>
            </a:avLst>
          </a:prstGeom>
          <a:solidFill>
            <a:schemeClr val="bg2"/>
          </a:solidFill>
          <a:ln/>
        </p:spPr>
      </p:sp>
      <p:sp>
        <p:nvSpPr>
          <p:cNvPr id="21" name="bonus-4-head"/>
          <p:cNvSpPr txBox="1"/>
          <p:nvPr/>
        </p:nvSpPr>
        <p:spPr>
          <a:xfrm>
            <a:off x="749808" y="5214366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Команда с ИИ-агентами</a:t>
            </a:r>
            <a:endParaRPr lang="en-US" sz="1600" dirty="0"/>
          </a:p>
        </p:txBody>
      </p:sp>
      <p:sp>
        <p:nvSpPr>
          <p:cNvPr id="22" name="bonus-4-body"/>
          <p:cNvSpPr txBox="1"/>
          <p:nvPr/>
        </p:nvSpPr>
        <p:spPr>
          <a:xfrm>
            <a:off x="749808" y="5497830"/>
            <a:ext cx="523951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Столько ошибок независимая проверка нашла в коде первых исследований; два вывода перевёрнуты</a:t>
            </a:r>
            <a:endParaRPr lang="en-US" sz="1400" dirty="0"/>
          </a:p>
        </p:txBody>
      </p:sp>
      <p:sp>
        <p:nvSpPr>
          <p:cNvPr id="23" name="bonus-4-num"/>
          <p:cNvSpPr txBox="1"/>
          <p:nvPr/>
        </p:nvSpPr>
        <p:spPr>
          <a:xfrm>
            <a:off x="6153912" y="526008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 ошибок</a:t>
            </a:r>
            <a:endParaRPr lang="en-US" sz="2600" dirty="0"/>
          </a:p>
        </p:txBody>
      </p:sp>
      <p:sp>
        <p:nvSpPr>
          <p:cNvPr id="24" name="bonus-4-where"/>
          <p:cNvSpPr txBox="1"/>
          <p:nvPr/>
        </p:nvSpPr>
        <p:spPr>
          <a:xfrm>
            <a:off x="6153912" y="5753862"/>
            <a:ext cx="19659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план, отчёты и история правок — в репозитории</a:t>
            </a:r>
            <a:endParaRPr lang="en-US" sz="1200" dirty="0"/>
          </a:p>
        </p:txBody>
      </p:sp>
      <p:pic>
        <p:nvPicPr>
          <p:cNvPr id="25" name="slam-map" descr="Карта арены, построенная роботом через SLAM Toolbox, и места девяти столбов ми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2" y="1691640"/>
            <a:ext cx="3017520" cy="2807208"/>
          </a:xfrm>
          <a:prstGeom prst="rect">
            <a:avLst/>
          </a:prstGeom>
        </p:spPr>
      </p:pic>
      <p:sp>
        <p:nvSpPr>
          <p:cNvPr id="26" name="slam-caption"/>
          <p:cNvSpPr txBox="1"/>
          <p:nvPr/>
        </p:nvSpPr>
        <p:spPr>
          <a:xfrm>
            <a:off x="8622792" y="45902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Карта, которую робот построил сам (SLAM Toolbox, Gazebo). Оранжевые кольца — настоящие места столбов; худший столб ушёл на 9,5 см. Синий квадрат — база.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Человек руководит лабораторией, агенты в ней работают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Агенты подолгу работали без участия человека, но направление, роли и приоритеты задавал человек</a:t>
            </a:r>
            <a:endParaRPr lang="en-US" sz="1600" dirty="0"/>
          </a:p>
        </p:txBody>
      </p:sp>
      <p:sp>
        <p:nvSpPr>
          <p:cNvPr id="5" name="human-card"/>
          <p:cNvSpPr/>
          <p:nvPr/>
        </p:nvSpPr>
        <p:spPr>
          <a:xfrm>
            <a:off x="548640" y="1691640"/>
            <a:ext cx="2103120" cy="2432304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6" name="human-head"/>
          <p:cNvSpPr txBox="1"/>
          <p:nvPr/>
        </p:nvSpPr>
        <p:spPr>
          <a:xfrm>
            <a:off x="749808" y="183794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Человек</a:t>
            </a:r>
            <a:endParaRPr lang="en-US" sz="1800" dirty="0"/>
          </a:p>
        </p:txBody>
      </p:sp>
      <p:sp>
        <p:nvSpPr>
          <p:cNvPr id="7" name="human-list"/>
          <p:cNvSpPr txBox="1"/>
          <p:nvPr/>
        </p:nvSpPr>
        <p:spPr>
          <a:xfrm>
            <a:off x="749808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цель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роли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ограничения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решения на развилках</a:t>
            </a:r>
            <a:endParaRPr lang="en-US" sz="1600" dirty="0"/>
          </a:p>
        </p:txBody>
      </p:sp>
      <p:sp>
        <p:nvSpPr>
          <p:cNvPr id="8" name="human-caption"/>
          <p:cNvSpPr txBox="1"/>
          <p:nvPr/>
        </p:nvSpPr>
        <p:spPr>
          <a:xfrm>
            <a:off x="749808" y="364845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около 70 сообщений за полтора суток</a:t>
            </a:r>
            <a:endParaRPr lang="en-US" sz="1200" dirty="0"/>
          </a:p>
        </p:txBody>
      </p:sp>
      <p:sp>
        <p:nvSpPr>
          <p:cNvPr id="9" name="arrow-human-lead"/>
          <p:cNvSpPr/>
          <p:nvPr/>
        </p:nvSpPr>
        <p:spPr>
          <a:xfrm>
            <a:off x="2724912" y="2907792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10" name="lead-card"/>
          <p:cNvSpPr/>
          <p:nvPr/>
        </p:nvSpPr>
        <p:spPr>
          <a:xfrm>
            <a:off x="3017520" y="1691640"/>
            <a:ext cx="2286000" cy="2432304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1" name="lead-head"/>
          <p:cNvSpPr txBox="1"/>
          <p:nvPr/>
        </p:nvSpPr>
        <p:spPr>
          <a:xfrm>
            <a:off x="3218688" y="183794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Ведущий агент</a:t>
            </a:r>
            <a:endParaRPr lang="en-US" sz="1800" dirty="0"/>
          </a:p>
        </p:txBody>
      </p:sp>
      <p:sp>
        <p:nvSpPr>
          <p:cNvPr id="12" name="lead-list"/>
          <p:cNvSpPr txBox="1"/>
          <p:nvPr/>
        </p:nvSpPr>
        <p:spPr>
          <a:xfrm>
            <a:off x="3218688" y="22402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ведёт план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пишет задания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сводит ветки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пересчитывает числа</a:t>
            </a:r>
            <a:endParaRPr lang="en-US" sz="1600" dirty="0"/>
          </a:p>
        </p:txBody>
      </p:sp>
      <p:pic>
        <p:nvPicPr>
          <p:cNvPr id="13" name="lead-logo" descr="/Users/a/MAI/DID-research/FIN/presentation/assets/logos/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3822192"/>
            <a:ext cx="173736" cy="173736"/>
          </a:xfrm>
          <a:prstGeom prst="rect">
            <a:avLst/>
          </a:prstGeom>
        </p:spPr>
      </p:pic>
      <p:sp>
        <p:nvSpPr>
          <p:cNvPr id="14" name="lead-model"/>
          <p:cNvSpPr txBox="1"/>
          <p:nvPr/>
        </p:nvSpPr>
        <p:spPr>
          <a:xfrm>
            <a:off x="3474720" y="373989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Opus 5.5</a:t>
            </a:r>
            <a:endParaRPr lang="en-US" sz="1200" dirty="0"/>
          </a:p>
        </p:txBody>
      </p:sp>
      <p:sp>
        <p:nvSpPr>
          <p:cNvPr id="15" name="arrow-lead-roles"/>
          <p:cNvSpPr/>
          <p:nvPr/>
        </p:nvSpPr>
        <p:spPr>
          <a:xfrm>
            <a:off x="5376672" y="2907792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16" name="role-1-card"/>
          <p:cNvSpPr/>
          <p:nvPr/>
        </p:nvSpPr>
        <p:spPr>
          <a:xfrm>
            <a:off x="5669280" y="1691640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17" name="role-1-head"/>
          <p:cNvSpPr txBox="1"/>
          <p:nvPr/>
        </p:nvSpPr>
        <p:spPr>
          <a:xfrm>
            <a:off x="5852160" y="1801368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Исследователи</a:t>
            </a:r>
            <a:endParaRPr lang="en-US" sz="1600" dirty="0"/>
          </a:p>
        </p:txBody>
      </p:sp>
      <p:sp>
        <p:nvSpPr>
          <p:cNvPr id="18" name="role-1-body"/>
          <p:cNvSpPr txBox="1"/>
          <p:nvPr/>
        </p:nvSpPr>
        <p:spPr>
          <a:xfrm>
            <a:off x="5852160" y="2084832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обзоры литературы; кода не пишут</a:t>
            </a:r>
            <a:endParaRPr lang="en-US" sz="1600" dirty="0"/>
          </a:p>
        </p:txBody>
      </p:sp>
      <p:pic>
        <p:nvPicPr>
          <p:cNvPr id="19" name="role-1-logo-1" descr="/Users/a/MAI/DID-research/FIN/presentation/assets/logos/gemi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96896"/>
            <a:ext cx="173736" cy="173736"/>
          </a:xfrm>
          <a:prstGeom prst="rect">
            <a:avLst/>
          </a:prstGeom>
        </p:spPr>
      </p:pic>
      <p:sp>
        <p:nvSpPr>
          <p:cNvPr id="20" name="role-1-model"/>
          <p:cNvSpPr txBox="1"/>
          <p:nvPr/>
        </p:nvSpPr>
        <p:spPr>
          <a:xfrm>
            <a:off x="6108192" y="2587752"/>
            <a:ext cx="23088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Gemini 3.8 Flash</a:t>
            </a:r>
            <a:endParaRPr lang="en-US" sz="1200" dirty="0"/>
          </a:p>
        </p:txBody>
      </p:sp>
      <p:sp>
        <p:nvSpPr>
          <p:cNvPr id="21" name="role-2-card"/>
          <p:cNvSpPr/>
          <p:nvPr/>
        </p:nvSpPr>
        <p:spPr>
          <a:xfrm>
            <a:off x="8709660" y="1691640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22" name="role-2-head"/>
          <p:cNvSpPr txBox="1"/>
          <p:nvPr/>
        </p:nvSpPr>
        <p:spPr>
          <a:xfrm>
            <a:off x="8892540" y="1801368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Инженеры</a:t>
            </a:r>
            <a:endParaRPr lang="en-US" sz="1600" dirty="0"/>
          </a:p>
        </p:txBody>
      </p:sp>
      <p:sp>
        <p:nvSpPr>
          <p:cNvPr id="23" name="role-2-body"/>
          <p:cNvSpPr txBox="1"/>
          <p:nvPr/>
        </p:nvSpPr>
        <p:spPr>
          <a:xfrm>
            <a:off x="8892540" y="2084832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код, опыт, отчёт — каждый в своей копии кода</a:t>
            </a:r>
            <a:endParaRPr lang="en-US" sz="1600" dirty="0"/>
          </a:p>
        </p:txBody>
      </p:sp>
      <p:pic>
        <p:nvPicPr>
          <p:cNvPr id="24" name="role-2-logo-1" descr="/Users/a/MAI/DID-research/FIN/presentation/assets/logos/clau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596896"/>
            <a:ext cx="173736" cy="173736"/>
          </a:xfrm>
          <a:prstGeom prst="rect">
            <a:avLst/>
          </a:prstGeom>
        </p:spPr>
      </p:pic>
      <p:sp>
        <p:nvSpPr>
          <p:cNvPr id="25" name="role-2-model"/>
          <p:cNvSpPr txBox="1"/>
          <p:nvPr/>
        </p:nvSpPr>
        <p:spPr>
          <a:xfrm>
            <a:off x="9148572" y="2587752"/>
            <a:ext cx="23088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Opus 5.5</a:t>
            </a:r>
            <a:endParaRPr lang="en-US" sz="1200" dirty="0"/>
          </a:p>
        </p:txBody>
      </p:sp>
      <p:sp>
        <p:nvSpPr>
          <p:cNvPr id="26" name="role-3-card"/>
          <p:cNvSpPr/>
          <p:nvPr/>
        </p:nvSpPr>
        <p:spPr>
          <a:xfrm>
            <a:off x="5669280" y="2962656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27" name="role-3-head"/>
          <p:cNvSpPr txBox="1"/>
          <p:nvPr/>
        </p:nvSpPr>
        <p:spPr>
          <a:xfrm>
            <a:off x="5852160" y="3072384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Ревьюер (проверяющий)</a:t>
            </a:r>
            <a:endParaRPr lang="en-US" sz="1600" dirty="0"/>
          </a:p>
        </p:txBody>
      </p:sp>
      <p:sp>
        <p:nvSpPr>
          <p:cNvPr id="28" name="role-3-body"/>
          <p:cNvSpPr txBox="1"/>
          <p:nvPr/>
        </p:nvSpPr>
        <p:spPr>
          <a:xfrm>
            <a:off x="5852160" y="3355848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читает разницу, ищет ошибки, ничего не меняет</a:t>
            </a:r>
            <a:endParaRPr lang="en-US" sz="1600" dirty="0"/>
          </a:p>
        </p:txBody>
      </p:sp>
      <p:pic>
        <p:nvPicPr>
          <p:cNvPr id="29" name="role-3-logo-1" descr="/Users/a/MAI/DID-research/FIN/presentation/assets/logos/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867912"/>
            <a:ext cx="173736" cy="173736"/>
          </a:xfrm>
          <a:prstGeom prst="rect">
            <a:avLst/>
          </a:prstGeom>
        </p:spPr>
      </p:pic>
      <p:sp>
        <p:nvSpPr>
          <p:cNvPr id="30" name="role-3-model"/>
          <p:cNvSpPr txBox="1"/>
          <p:nvPr/>
        </p:nvSpPr>
        <p:spPr>
          <a:xfrm>
            <a:off x="6108192" y="3858768"/>
            <a:ext cx="23088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GPT-6.1 Sol</a:t>
            </a:r>
            <a:endParaRPr lang="en-US" sz="1200" dirty="0"/>
          </a:p>
        </p:txBody>
      </p:sp>
      <p:sp>
        <p:nvSpPr>
          <p:cNvPr id="31" name="role-4-card"/>
          <p:cNvSpPr/>
          <p:nvPr/>
        </p:nvSpPr>
        <p:spPr>
          <a:xfrm>
            <a:off x="8709660" y="2962656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32" name="role-4-head"/>
          <p:cNvSpPr txBox="1"/>
          <p:nvPr/>
        </p:nvSpPr>
        <p:spPr>
          <a:xfrm>
            <a:off x="8892540" y="3072384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Советники</a:t>
            </a:r>
            <a:endParaRPr lang="en-US" sz="1600" dirty="0"/>
          </a:p>
        </p:txBody>
      </p:sp>
      <p:sp>
        <p:nvSpPr>
          <p:cNvPr id="33" name="role-4-body"/>
          <p:cNvSpPr txBox="1"/>
          <p:nvPr/>
        </p:nvSpPr>
        <p:spPr>
          <a:xfrm>
            <a:off x="8892540" y="3355848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редко, только на развилках</a:t>
            </a:r>
            <a:endParaRPr lang="en-US" sz="1600" dirty="0"/>
          </a:p>
        </p:txBody>
      </p:sp>
      <p:pic>
        <p:nvPicPr>
          <p:cNvPr id="34" name="role-4-logo-1" descr="/Users/a/MAI/DID-research/FIN/presentation/assets/logos/clau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540" y="3867912"/>
            <a:ext cx="173736" cy="173736"/>
          </a:xfrm>
          <a:prstGeom prst="rect">
            <a:avLst/>
          </a:prstGeom>
        </p:spPr>
      </p:pic>
      <p:pic>
        <p:nvPicPr>
          <p:cNvPr id="35" name="role-4-logo-2" descr="/Users/a/MAI/DID-research/FIN/presentation/assets/logos/opena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140" y="3867912"/>
            <a:ext cx="173736" cy="173736"/>
          </a:xfrm>
          <a:prstGeom prst="rect">
            <a:avLst/>
          </a:prstGeom>
        </p:spPr>
      </p:pic>
      <p:sp>
        <p:nvSpPr>
          <p:cNvPr id="36" name="role-4-model"/>
          <p:cNvSpPr txBox="1"/>
          <p:nvPr/>
        </p:nvSpPr>
        <p:spPr>
          <a:xfrm>
            <a:off x="9377172" y="3858768"/>
            <a:ext cx="20802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Fable 5.1 и GPT-6 Astra</a:t>
            </a:r>
            <a:endParaRPr lang="en-US" sz="1200" dirty="0"/>
          </a:p>
        </p:txBody>
      </p:sp>
      <p:sp>
        <p:nvSpPr>
          <p:cNvPr id="37" name="cycle-label"/>
          <p:cNvSpPr txBox="1"/>
          <p:nvPr/>
        </p:nvSpPr>
        <p:spPr>
          <a:xfrm>
            <a:off x="548640" y="42153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Цикл одного исследования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 ветка — отдельная копия кода; ревью — проверка кода другой моделью: 27 кругов по 15 работам</a:t>
            </a:r>
            <a:endParaRPr lang="en-US" sz="1300" dirty="0"/>
          </a:p>
        </p:txBody>
      </p:sp>
      <p:sp>
        <p:nvSpPr>
          <p:cNvPr id="38" name="cycle-1-card"/>
          <p:cNvSpPr/>
          <p:nvPr/>
        </p:nvSpPr>
        <p:spPr>
          <a:xfrm>
            <a:off x="548640" y="4507992"/>
            <a:ext cx="1296675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39" name="cycle-1-text"/>
          <p:cNvSpPr txBox="1"/>
          <p:nvPr/>
        </p:nvSpPr>
        <p:spPr>
          <a:xfrm>
            <a:off x="548640" y="4507992"/>
            <a:ext cx="12966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вопрос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 гипотеза</a:t>
            </a:r>
            <a:endParaRPr lang="en-US" sz="1600" dirty="0"/>
          </a:p>
        </p:txBody>
      </p:sp>
      <p:sp>
        <p:nvSpPr>
          <p:cNvPr id="40" name="cycle-1-arrow"/>
          <p:cNvSpPr/>
          <p:nvPr/>
        </p:nvSpPr>
        <p:spPr>
          <a:xfrm>
            <a:off x="1872747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41" name="cycle-2-card"/>
          <p:cNvSpPr/>
          <p:nvPr/>
        </p:nvSpPr>
        <p:spPr>
          <a:xfrm>
            <a:off x="2064771" y="4507992"/>
            <a:ext cx="99744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2" name="cycle-2-text"/>
          <p:cNvSpPr txBox="1"/>
          <p:nvPr/>
        </p:nvSpPr>
        <p:spPr>
          <a:xfrm>
            <a:off x="2064771" y="4507992"/>
            <a:ext cx="9974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задание</a:t>
            </a:r>
            <a:endParaRPr lang="en-US" sz="1600" dirty="0"/>
          </a:p>
        </p:txBody>
      </p:sp>
      <p:sp>
        <p:nvSpPr>
          <p:cNvPr id="43" name="cycle-2-arrow"/>
          <p:cNvSpPr/>
          <p:nvPr/>
        </p:nvSpPr>
        <p:spPr>
          <a:xfrm>
            <a:off x="3089646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44" name="cycle-3-card"/>
          <p:cNvSpPr/>
          <p:nvPr/>
        </p:nvSpPr>
        <p:spPr>
          <a:xfrm>
            <a:off x="3281670" y="4507992"/>
            <a:ext cx="1994885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5" name="cycle-3-text"/>
          <p:cNvSpPr txBox="1"/>
          <p:nvPr/>
        </p:nvSpPr>
        <p:spPr>
          <a:xfrm>
            <a:off x="3281670" y="4507992"/>
            <a:ext cx="199488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код и опыт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отдельной ветке</a:t>
            </a:r>
            <a:endParaRPr lang="en-US" sz="1600" dirty="0"/>
          </a:p>
        </p:txBody>
      </p:sp>
      <p:sp>
        <p:nvSpPr>
          <p:cNvPr id="46" name="cycle-3-arrow"/>
          <p:cNvSpPr/>
          <p:nvPr/>
        </p:nvSpPr>
        <p:spPr>
          <a:xfrm>
            <a:off x="5303987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47" name="cycle-4-card"/>
          <p:cNvSpPr/>
          <p:nvPr/>
        </p:nvSpPr>
        <p:spPr>
          <a:xfrm>
            <a:off x="5496011" y="4507992"/>
            <a:ext cx="1595908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48" name="cycle-4-text"/>
          <p:cNvSpPr txBox="1"/>
          <p:nvPr/>
        </p:nvSpPr>
        <p:spPr>
          <a:xfrm>
            <a:off x="5496011" y="4507992"/>
            <a:ext cx="1595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независимое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ревью</a:t>
            </a:r>
            <a:endParaRPr lang="en-US" sz="1600" dirty="0"/>
          </a:p>
        </p:txBody>
      </p:sp>
      <p:sp>
        <p:nvSpPr>
          <p:cNvPr id="49" name="cycle-4-arrow"/>
          <p:cNvSpPr/>
          <p:nvPr/>
        </p:nvSpPr>
        <p:spPr>
          <a:xfrm>
            <a:off x="7119350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50" name="cycle-5-card"/>
          <p:cNvSpPr/>
          <p:nvPr/>
        </p:nvSpPr>
        <p:spPr>
          <a:xfrm>
            <a:off x="7311374" y="4507992"/>
            <a:ext cx="1396419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1" name="cycle-5-text"/>
          <p:cNvSpPr txBox="1"/>
          <p:nvPr/>
        </p:nvSpPr>
        <p:spPr>
          <a:xfrm>
            <a:off x="7311374" y="4507992"/>
            <a:ext cx="13964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исправления</a:t>
            </a:r>
            <a:endParaRPr lang="en-US" sz="1600" dirty="0"/>
          </a:p>
        </p:txBody>
      </p:sp>
      <p:sp>
        <p:nvSpPr>
          <p:cNvPr id="52" name="cycle-5-arrow"/>
          <p:cNvSpPr/>
          <p:nvPr/>
        </p:nvSpPr>
        <p:spPr>
          <a:xfrm>
            <a:off x="8735226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53" name="cycle-6-card"/>
          <p:cNvSpPr/>
          <p:nvPr/>
        </p:nvSpPr>
        <p:spPr>
          <a:xfrm>
            <a:off x="8927250" y="4507992"/>
            <a:ext cx="1396419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4" name="cycle-6-text"/>
          <p:cNvSpPr txBox="1"/>
          <p:nvPr/>
        </p:nvSpPr>
        <p:spPr>
          <a:xfrm>
            <a:off x="8927250" y="4507992"/>
            <a:ext cx="13964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вливание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общий код</a:t>
            </a:r>
            <a:endParaRPr lang="en-US" sz="1600" dirty="0"/>
          </a:p>
        </p:txBody>
      </p:sp>
      <p:sp>
        <p:nvSpPr>
          <p:cNvPr id="55" name="cycle-6-arrow"/>
          <p:cNvSpPr/>
          <p:nvPr/>
        </p:nvSpPr>
        <p:spPr>
          <a:xfrm>
            <a:off x="10351101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56" name="cycle-7-card"/>
          <p:cNvSpPr/>
          <p:nvPr/>
        </p:nvSpPr>
        <p:spPr>
          <a:xfrm>
            <a:off x="10543125" y="4507992"/>
            <a:ext cx="1097187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7" name="cycle-7-text"/>
          <p:cNvSpPr txBox="1"/>
          <p:nvPr/>
        </p:nvSpPr>
        <p:spPr>
          <a:xfrm>
            <a:off x="10543125" y="4507992"/>
            <a:ext cx="10971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пересчёт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чисел</a:t>
            </a:r>
            <a:endParaRPr lang="en-US" sz="1600" dirty="0"/>
          </a:p>
        </p:txBody>
      </p:sp>
      <p:sp>
        <p:nvSpPr>
          <p:cNvPr id="58" name="num-1-card"/>
          <p:cNvSpPr/>
          <p:nvPr/>
        </p:nvSpPr>
        <p:spPr>
          <a:xfrm>
            <a:off x="548640" y="5239512"/>
            <a:ext cx="205740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59" name="num-1-value"/>
          <p:cNvSpPr txBox="1"/>
          <p:nvPr/>
        </p:nvSpPr>
        <p:spPr>
          <a:xfrm>
            <a:off x="749808" y="52943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1,5 суток</a:t>
            </a:r>
            <a:endParaRPr lang="en-US" sz="2800" dirty="0"/>
          </a:p>
        </p:txBody>
      </p:sp>
      <p:sp>
        <p:nvSpPr>
          <p:cNvPr id="60" name="num-1-label"/>
          <p:cNvSpPr txBox="1"/>
          <p:nvPr/>
        </p:nvSpPr>
        <p:spPr>
          <a:xfrm>
            <a:off x="749808" y="5724144"/>
            <a:ext cx="17282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одна непрерывная сессия</a:t>
            </a:r>
            <a:endParaRPr lang="en-US" sz="1300" dirty="0"/>
          </a:p>
        </p:txBody>
      </p:sp>
      <p:sp>
        <p:nvSpPr>
          <p:cNvPr id="61" name="num-2-card"/>
          <p:cNvSpPr/>
          <p:nvPr/>
        </p:nvSpPr>
        <p:spPr>
          <a:xfrm>
            <a:off x="2743200" y="5239512"/>
            <a:ext cx="201168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62" name="num-2-value"/>
          <p:cNvSpPr txBox="1"/>
          <p:nvPr/>
        </p:nvSpPr>
        <p:spPr>
          <a:xfrm>
            <a:off x="2944368" y="52943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около 80</a:t>
            </a:r>
            <a:endParaRPr lang="en-US" sz="2800" dirty="0"/>
          </a:p>
        </p:txBody>
      </p:sp>
      <p:sp>
        <p:nvSpPr>
          <p:cNvPr id="63" name="num-2-label"/>
          <p:cNvSpPr txBox="1"/>
          <p:nvPr/>
        </p:nvSpPr>
        <p:spPr>
          <a:xfrm>
            <a:off x="2944368" y="5724144"/>
            <a:ext cx="1682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поручений агентам</a:t>
            </a:r>
            <a:endParaRPr lang="en-US" sz="1300" dirty="0"/>
          </a:p>
        </p:txBody>
      </p:sp>
      <p:sp>
        <p:nvSpPr>
          <p:cNvPr id="64" name="num-3-card"/>
          <p:cNvSpPr/>
          <p:nvPr/>
        </p:nvSpPr>
        <p:spPr>
          <a:xfrm>
            <a:off x="4892040" y="5239512"/>
            <a:ext cx="256032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65" name="num-3-value"/>
          <p:cNvSpPr txBox="1"/>
          <p:nvPr/>
        </p:nvSpPr>
        <p:spPr>
          <a:xfrm>
            <a:off x="5093208" y="52943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ни одна</a:t>
            </a:r>
            <a:endParaRPr lang="en-US" sz="2800" dirty="0"/>
          </a:p>
        </p:txBody>
      </p:sp>
      <p:sp>
        <p:nvSpPr>
          <p:cNvPr id="66" name="num-3-label"/>
          <p:cNvSpPr txBox="1"/>
          <p:nvPr/>
        </p:nvSpPr>
        <p:spPr>
          <a:xfrm>
            <a:off x="5093208" y="5724144"/>
            <a:ext cx="2231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работа не прошла ревью с первого раза</a:t>
            </a:r>
            <a:endParaRPr lang="en-US" sz="1300" dirty="0"/>
          </a:p>
        </p:txBody>
      </p:sp>
      <p:sp>
        <p:nvSpPr>
          <p:cNvPr id="67" name="num-4-card"/>
          <p:cNvSpPr/>
          <p:nvPr/>
        </p:nvSpPr>
        <p:spPr>
          <a:xfrm>
            <a:off x="7589520" y="5239512"/>
            <a:ext cx="4050792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68" name="num-4-1-value"/>
          <p:cNvSpPr txBox="1"/>
          <p:nvPr/>
        </p:nvSpPr>
        <p:spPr>
          <a:xfrm>
            <a:off x="7790688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241</a:t>
            </a:r>
            <a:endParaRPr lang="en-US" sz="2800" dirty="0"/>
          </a:p>
        </p:txBody>
      </p:sp>
      <p:sp>
        <p:nvSpPr>
          <p:cNvPr id="69" name="num-4-1-label"/>
          <p:cNvSpPr txBox="1"/>
          <p:nvPr/>
        </p:nvSpPr>
        <p:spPr>
          <a:xfrm>
            <a:off x="7790688" y="572414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правок кода (коммитов)</a:t>
            </a:r>
            <a:endParaRPr lang="en-US" sz="1300" dirty="0"/>
          </a:p>
        </p:txBody>
      </p:sp>
      <p:sp>
        <p:nvSpPr>
          <p:cNvPr id="70" name="num-4-2-value"/>
          <p:cNvSpPr txBox="1"/>
          <p:nvPr/>
        </p:nvSpPr>
        <p:spPr>
          <a:xfrm>
            <a:off x="8842248" y="52943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982</a:t>
            </a:r>
            <a:endParaRPr lang="en-US" sz="2800" dirty="0"/>
          </a:p>
        </p:txBody>
      </p:sp>
      <p:sp>
        <p:nvSpPr>
          <p:cNvPr id="71" name="num-4-2-label"/>
          <p:cNvSpPr txBox="1"/>
          <p:nvPr/>
        </p:nvSpPr>
        <p:spPr>
          <a:xfrm>
            <a:off x="8842248" y="5724144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автоматических проверок</a:t>
            </a:r>
            <a:endParaRPr lang="en-US" sz="1300" dirty="0"/>
          </a:p>
        </p:txBody>
      </p:sp>
      <p:sp>
        <p:nvSpPr>
          <p:cNvPr id="72" name="num-4-3-value"/>
          <p:cNvSpPr txBox="1"/>
          <p:nvPr/>
        </p:nvSpPr>
        <p:spPr>
          <a:xfrm>
            <a:off x="10213848" y="52943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24 000+</a:t>
            </a:r>
            <a:endParaRPr lang="en-US" sz="2800" dirty="0"/>
          </a:p>
        </p:txBody>
      </p:sp>
      <p:sp>
        <p:nvSpPr>
          <p:cNvPr id="73" name="num-4-3-label"/>
          <p:cNvSpPr txBox="1"/>
          <p:nvPr/>
        </p:nvSpPr>
        <p:spPr>
          <a:xfrm>
            <a:off x="10213848" y="5724144"/>
            <a:ext cx="1325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записанных прогонов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Инфраструктура знаний: лаборатория, а не один робот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Что из сделанного переносится на другие задачи и как такие агенты встраиваются в науку и образование</a:t>
            </a:r>
            <a:endParaRPr lang="en-US" sz="1600" dirty="0"/>
          </a:p>
        </p:txBody>
      </p:sp>
      <p:sp>
        <p:nvSpPr>
          <p:cNvPr id="5" name="infra-head"/>
          <p:cNvSpPr txBox="1"/>
          <p:nvPr/>
        </p:nvSpPr>
        <p:spPr>
          <a:xfrm>
            <a:off x="548640" y="16916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переносится на другие задачи</a:t>
            </a:r>
            <a:endParaRPr lang="en-US" sz="1600" dirty="0"/>
          </a:p>
        </p:txBody>
      </p:sp>
      <p:sp>
        <p:nvSpPr>
          <p:cNvPr id="6" name="infra-1-card"/>
          <p:cNvSpPr/>
          <p:nvPr/>
        </p:nvSpPr>
        <p:spPr>
          <a:xfrm>
            <a:off x="548640" y="2057400"/>
            <a:ext cx="5532120" cy="788670"/>
          </a:xfrm>
          <a:prstGeom prst="roundRect">
            <a:avLst>
              <a:gd name="adj" fmla="val 9275"/>
            </a:avLst>
          </a:prstGeom>
          <a:solidFill>
            <a:schemeClr val="bg2"/>
          </a:solidFill>
          <a:ln/>
        </p:spPr>
      </p:sp>
      <p:sp>
        <p:nvSpPr>
          <p:cNvPr id="7" name="infra-1-badge"/>
          <p:cNvSpPr txBox="1"/>
          <p:nvPr/>
        </p:nvSpPr>
        <p:spPr>
          <a:xfrm>
            <a:off x="731520" y="2250567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infra-1-head"/>
          <p:cNvSpPr txBox="1"/>
          <p:nvPr/>
        </p:nvSpPr>
        <p:spPr>
          <a:xfrm>
            <a:off x="1389888" y="21214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Воспроизводимые опыты</a:t>
            </a:r>
            <a:endParaRPr lang="en-US" sz="1600" dirty="0"/>
          </a:p>
        </p:txBody>
      </p:sp>
      <p:sp>
        <p:nvSpPr>
          <p:cNvPr id="9" name="infra-1-body"/>
          <p:cNvSpPr txBox="1"/>
          <p:nvPr/>
        </p:nvSpPr>
        <p:spPr>
          <a:xfrm>
            <a:off x="1389888" y="2395728"/>
            <a:ext cx="45262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одна команда → серия → разность с интервалом; 33 серии, более 24 тысяч прогонов</a:t>
            </a:r>
            <a:endParaRPr lang="en-US" sz="1300" dirty="0"/>
          </a:p>
        </p:txBody>
      </p:sp>
      <p:sp>
        <p:nvSpPr>
          <p:cNvPr id="10" name="infra-2-card"/>
          <p:cNvSpPr/>
          <p:nvPr/>
        </p:nvSpPr>
        <p:spPr>
          <a:xfrm>
            <a:off x="548640" y="2937510"/>
            <a:ext cx="5532120" cy="788670"/>
          </a:xfrm>
          <a:prstGeom prst="roundRect">
            <a:avLst>
              <a:gd name="adj" fmla="val 9275"/>
            </a:avLst>
          </a:prstGeom>
          <a:solidFill>
            <a:schemeClr val="bg2"/>
          </a:solidFill>
          <a:ln/>
        </p:spPr>
      </p:sp>
      <p:sp>
        <p:nvSpPr>
          <p:cNvPr id="11" name="infra-2-badge"/>
          <p:cNvSpPr txBox="1"/>
          <p:nvPr/>
        </p:nvSpPr>
        <p:spPr>
          <a:xfrm>
            <a:off x="731520" y="3130677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infra-2-head"/>
          <p:cNvSpPr txBox="1"/>
          <p:nvPr/>
        </p:nvSpPr>
        <p:spPr>
          <a:xfrm>
            <a:off x="1389888" y="300151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Журнал гипотез</a:t>
            </a:r>
            <a:endParaRPr lang="en-US" sz="1600" dirty="0"/>
          </a:p>
        </p:txBody>
      </p:sp>
      <p:sp>
        <p:nvSpPr>
          <p:cNvPr id="13" name="infra-2-body"/>
          <p:cNvSpPr txBox="1"/>
          <p:nvPr/>
        </p:nvSpPr>
        <p:spPr>
          <a:xfrm>
            <a:off x="1389888" y="3275838"/>
            <a:ext cx="45262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предположил, проверил, что вышло — и сверка со скрытой правдой</a:t>
            </a:r>
            <a:endParaRPr lang="en-US" sz="1300" dirty="0"/>
          </a:p>
        </p:txBody>
      </p:sp>
      <p:sp>
        <p:nvSpPr>
          <p:cNvPr id="14" name="infra-3-card"/>
          <p:cNvSpPr/>
          <p:nvPr/>
        </p:nvSpPr>
        <p:spPr>
          <a:xfrm>
            <a:off x="548640" y="3817620"/>
            <a:ext cx="5532120" cy="788670"/>
          </a:xfrm>
          <a:prstGeom prst="roundRect">
            <a:avLst>
              <a:gd name="adj" fmla="val 9275"/>
            </a:avLst>
          </a:prstGeom>
          <a:solidFill>
            <a:schemeClr val="bg2"/>
          </a:solidFill>
          <a:ln/>
        </p:spPr>
      </p:sp>
      <p:sp>
        <p:nvSpPr>
          <p:cNvPr id="15" name="infra-3-badge"/>
          <p:cNvSpPr txBox="1"/>
          <p:nvPr/>
        </p:nvSpPr>
        <p:spPr>
          <a:xfrm>
            <a:off x="731520" y="4010787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infra-3-head"/>
          <p:cNvSpPr txBox="1"/>
          <p:nvPr/>
        </p:nvSpPr>
        <p:spPr>
          <a:xfrm>
            <a:off x="1389888" y="38816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Независимая проверка</a:t>
            </a:r>
            <a:endParaRPr lang="en-US" sz="1600" dirty="0"/>
          </a:p>
        </p:txBody>
      </p:sp>
      <p:sp>
        <p:nvSpPr>
          <p:cNvPr id="17" name="infra-3-body"/>
          <p:cNvSpPr txBox="1"/>
          <p:nvPr/>
        </p:nvSpPr>
        <p:spPr>
          <a:xfrm>
            <a:off x="1389888" y="4155948"/>
            <a:ext cx="45262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код читает другая модель; отрицательные результаты записаны как результаты</a:t>
            </a:r>
            <a:endParaRPr lang="en-US" sz="1300" dirty="0"/>
          </a:p>
        </p:txBody>
      </p:sp>
      <p:sp>
        <p:nvSpPr>
          <p:cNvPr id="18" name="infra-4-card"/>
          <p:cNvSpPr/>
          <p:nvPr/>
        </p:nvSpPr>
        <p:spPr>
          <a:xfrm>
            <a:off x="548640" y="4697730"/>
            <a:ext cx="5532120" cy="788670"/>
          </a:xfrm>
          <a:prstGeom prst="roundRect">
            <a:avLst>
              <a:gd name="adj" fmla="val 9275"/>
            </a:avLst>
          </a:prstGeom>
          <a:solidFill>
            <a:schemeClr val="bg2"/>
          </a:solidFill>
          <a:ln/>
        </p:spPr>
      </p:sp>
      <p:sp>
        <p:nvSpPr>
          <p:cNvPr id="19" name="infra-4-badge"/>
          <p:cNvSpPr txBox="1"/>
          <p:nvPr/>
        </p:nvSpPr>
        <p:spPr>
          <a:xfrm>
            <a:off x="731520" y="4890897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infra-4-head"/>
          <p:cNvSpPr txBox="1"/>
          <p:nvPr/>
        </p:nvSpPr>
        <p:spPr>
          <a:xfrm>
            <a:off x="1389888" y="476173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Страница-объяснение</a:t>
            </a:r>
            <a:endParaRPr lang="en-US" sz="1600" dirty="0"/>
          </a:p>
        </p:txBody>
      </p:sp>
      <p:sp>
        <p:nvSpPr>
          <p:cNvPr id="21" name="infra-4-body"/>
          <p:cNvSpPr txBox="1"/>
          <p:nvPr/>
        </p:nvSpPr>
        <p:spPr>
          <a:xfrm>
            <a:off x="1389888" y="5036058"/>
            <a:ext cx="45262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те же результаты простым языком и с рисунками</a:t>
            </a:r>
            <a:endParaRPr lang="en-US" sz="1300" dirty="0"/>
          </a:p>
        </p:txBody>
      </p:sp>
      <p:sp>
        <p:nvSpPr>
          <p:cNvPr id="22" name="embed-head"/>
          <p:cNvSpPr txBox="1"/>
          <p:nvPr/>
        </p:nvSpPr>
        <p:spPr>
          <a:xfrm>
            <a:off x="6355080" y="169164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Куда такие агенты встраиваются</a:t>
            </a:r>
            <a:endParaRPr lang="en-US" sz="1600" dirty="0"/>
          </a:p>
        </p:txBody>
      </p:sp>
      <p:sp>
        <p:nvSpPr>
          <p:cNvPr id="23" name="science-card"/>
          <p:cNvSpPr/>
          <p:nvPr/>
        </p:nvSpPr>
        <p:spPr>
          <a:xfrm>
            <a:off x="6355080" y="2057400"/>
            <a:ext cx="5285232" cy="1659636"/>
          </a:xfrm>
          <a:prstGeom prst="roundRect">
            <a:avLst>
              <a:gd name="adj" fmla="val 4408"/>
            </a:avLst>
          </a:prstGeom>
          <a:solidFill>
            <a:schemeClr val="tx2"/>
          </a:solidFill>
          <a:ln/>
        </p:spPr>
      </p:sp>
      <p:sp>
        <p:nvSpPr>
          <p:cNvPr id="24" name="science-head"/>
          <p:cNvSpPr txBox="1"/>
          <p:nvPr/>
        </p:nvSpPr>
        <p:spPr>
          <a:xfrm>
            <a:off x="6583680" y="216712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 науке</a:t>
            </a:r>
            <a:endParaRPr lang="en-US" sz="1600" dirty="0"/>
          </a:p>
        </p:txBody>
      </p:sp>
      <p:sp>
        <p:nvSpPr>
          <p:cNvPr id="25" name="science-body"/>
          <p:cNvSpPr txBox="1"/>
          <p:nvPr/>
        </p:nvSpPr>
        <p:spPr>
          <a:xfrm>
            <a:off x="6583680" y="2478024"/>
            <a:ext cx="4828032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Тот же замкнутый цикл «гипотеза → опыт → данные → вывод», что у робота-учёного Adam [1, 2], автономной лаборатории A-Lab [3] и The AI Scientist [4]. Агент берёт на себя рутину опыта и оставляет проверяемый след.</a:t>
            </a:r>
            <a:endParaRPr lang="en-US" sz="1400" dirty="0"/>
          </a:p>
        </p:txBody>
      </p:sp>
      <p:sp>
        <p:nvSpPr>
          <p:cNvPr id="26" name="edu-card"/>
          <p:cNvSpPr/>
          <p:nvPr/>
        </p:nvSpPr>
        <p:spPr>
          <a:xfrm>
            <a:off x="6355080" y="3826764"/>
            <a:ext cx="5285232" cy="1659636"/>
          </a:xfrm>
          <a:prstGeom prst="roundRect">
            <a:avLst>
              <a:gd name="adj" fmla="val 4408"/>
            </a:avLst>
          </a:prstGeom>
          <a:solidFill>
            <a:schemeClr val="bg2"/>
          </a:solidFill>
          <a:ln/>
        </p:spPr>
      </p:sp>
      <p:sp>
        <p:nvSpPr>
          <p:cNvPr id="27" name="edu-head"/>
          <p:cNvSpPr txBox="1"/>
          <p:nvPr/>
        </p:nvSpPr>
        <p:spPr>
          <a:xfrm>
            <a:off x="6583680" y="393649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 образовании</a:t>
            </a:r>
            <a:endParaRPr lang="en-US" sz="1600" dirty="0"/>
          </a:p>
        </p:txBody>
      </p:sp>
      <p:sp>
        <p:nvSpPr>
          <p:cNvPr id="28" name="edu-body"/>
          <p:cNvSpPr txBox="1"/>
          <p:nvPr/>
        </p:nvSpPr>
        <p:spPr>
          <a:xfrm>
            <a:off x="6583680" y="4247388"/>
            <a:ext cx="4828032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Студент меняет гипотезу или правило агента и получает серию опытов с интервалом: 240 прогонов считаются за 37 секунд на одном компьютере. Учится методу, а не только коду.</a:t>
            </a:r>
            <a:endParaRPr lang="en-US" sz="1400" dirty="0"/>
          </a:p>
        </p:txBody>
      </p:sp>
      <p:sp>
        <p:nvSpPr>
          <p:cNvPr id="29" name="sources"/>
          <p:cNvSpPr txBox="1"/>
          <p:nvPr/>
        </p:nvSpPr>
        <p:spPr>
          <a:xfrm>
            <a:off x="548640" y="561441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Источники: </a:t>
            </a:r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[1] King et al., Nature, 2004 · [2] King et al., Science, 2009 · [3] Szymanski et al., Nature, 2023 · [4] Lu et al., arXiv:2408.06292, 2024. Об ИИ в науке: OECD, Artificial Intelligence in Science, 2023; The Royal Society, Science in the Age of AI, 2024.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Приложение. Ход исследований: робот и среда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Каждая строка — одно исследование, каждый значок — один шаг: какая модель работала и чем закончилось</a:t>
            </a:r>
            <a:endParaRPr lang="en-US" sz="1600" dirty="0"/>
          </a:p>
        </p:txBody>
      </p:sp>
      <p:sp>
        <p:nvSpPr>
          <p:cNvPr id="5" name="legend-1-chip-tile"/>
          <p:cNvSpPr/>
          <p:nvPr/>
        </p:nvSpPr>
        <p:spPr>
          <a:xfrm>
            <a:off x="548640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" name="legend-1-chip" descr="/Users/a/MAI/DID-research/FIN/presentation/assets/logos/gem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1741932"/>
            <a:ext cx="173736" cy="173736"/>
          </a:xfrm>
          <a:prstGeom prst="rect">
            <a:avLst/>
          </a:prstGeom>
        </p:spPr>
      </p:pic>
      <p:sp>
        <p:nvSpPr>
          <p:cNvPr id="7" name="legend-1-word"/>
          <p:cNvSpPr txBox="1"/>
          <p:nvPr/>
        </p:nvSpPr>
        <p:spPr>
          <a:xfrm>
            <a:off x="877824" y="1691640"/>
            <a:ext cx="192755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Gemini — исследователь</a:t>
            </a:r>
            <a:endParaRPr lang="en-US" sz="1300" dirty="0"/>
          </a:p>
        </p:txBody>
      </p:sp>
      <p:sp>
        <p:nvSpPr>
          <p:cNvPr id="8" name="legend-2-chip-tile"/>
          <p:cNvSpPr/>
          <p:nvPr/>
        </p:nvSpPr>
        <p:spPr>
          <a:xfrm>
            <a:off x="3006547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" name="legend-2-chip" descr="/Users/a/MAI/DID-research/FIN/presentation/assets/logos/clau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95" y="1741932"/>
            <a:ext cx="173736" cy="173736"/>
          </a:xfrm>
          <a:prstGeom prst="rect">
            <a:avLst/>
          </a:prstGeom>
        </p:spPr>
      </p:pic>
      <p:sp>
        <p:nvSpPr>
          <p:cNvPr id="10" name="legend-2-word"/>
          <p:cNvSpPr txBox="1"/>
          <p:nvPr/>
        </p:nvSpPr>
        <p:spPr>
          <a:xfrm>
            <a:off x="3335731" y="1691640"/>
            <a:ext cx="184160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Claude Opus — инженер</a:t>
            </a:r>
            <a:endParaRPr lang="en-US" sz="1300" dirty="0"/>
          </a:p>
        </p:txBody>
      </p:sp>
      <p:sp>
        <p:nvSpPr>
          <p:cNvPr id="11" name="legend-3-chip-tile"/>
          <p:cNvSpPr/>
          <p:nvPr/>
        </p:nvSpPr>
        <p:spPr>
          <a:xfrm>
            <a:off x="5378501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2" name="legend-3-chip" descr="/Users/a/MAI/DID-research/FIN/presentation/assets/logos/open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649" y="1741932"/>
            <a:ext cx="173736" cy="173736"/>
          </a:xfrm>
          <a:prstGeom prst="rect">
            <a:avLst/>
          </a:prstGeom>
        </p:spPr>
      </p:pic>
      <p:sp>
        <p:nvSpPr>
          <p:cNvPr id="13" name="legend-3-word"/>
          <p:cNvSpPr txBox="1"/>
          <p:nvPr/>
        </p:nvSpPr>
        <p:spPr>
          <a:xfrm>
            <a:off x="5707685" y="1691640"/>
            <a:ext cx="13258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GPT Sol — ревью</a:t>
            </a:r>
            <a:endParaRPr lang="en-US" sz="1300" dirty="0"/>
          </a:p>
        </p:txBody>
      </p:sp>
      <p:sp>
        <p:nvSpPr>
          <p:cNvPr id="14" name="legend-4-chip"/>
          <p:cNvSpPr txBox="1"/>
          <p:nvPr/>
        </p:nvSpPr>
        <p:spPr>
          <a:xfrm>
            <a:off x="7234733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legend-4-word"/>
          <p:cNvSpPr txBox="1"/>
          <p:nvPr/>
        </p:nvSpPr>
        <p:spPr>
          <a:xfrm>
            <a:off x="7563917" y="1691640"/>
            <a:ext cx="63825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принято</a:t>
            </a:r>
            <a:endParaRPr lang="en-US" sz="1300" dirty="0"/>
          </a:p>
        </p:txBody>
      </p:sp>
      <p:sp>
        <p:nvSpPr>
          <p:cNvPr id="16" name="legend-5-chip"/>
          <p:cNvSpPr txBox="1"/>
          <p:nvPr/>
        </p:nvSpPr>
        <p:spPr>
          <a:xfrm>
            <a:off x="8403336" y="16916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legend-5-word"/>
          <p:cNvSpPr txBox="1"/>
          <p:nvPr/>
        </p:nvSpPr>
        <p:spPr>
          <a:xfrm>
            <a:off x="8732520" y="1691640"/>
            <a:ext cx="209946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следующая работа по теме</a:t>
            </a:r>
            <a:endParaRPr lang="en-US" sz="1300" dirty="0"/>
          </a:p>
        </p:txBody>
      </p:sp>
      <p:sp>
        <p:nvSpPr>
          <p:cNvPr id="18" name="lane-1-rule"/>
          <p:cNvSpPr/>
          <p:nvPr/>
        </p:nvSpPr>
        <p:spPr>
          <a:xfrm>
            <a:off x="548640" y="209397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9" name="lane-1-name"/>
          <p:cNvSpPr txBox="1"/>
          <p:nvPr/>
        </p:nvSpPr>
        <p:spPr>
          <a:xfrm>
            <a:off x="548640" y="2093976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R1, R4. Среда и гипотезы</a:t>
            </a:r>
            <a:endParaRPr lang="en-US" sz="1600" dirty="0"/>
          </a:p>
        </p:txBody>
      </p:sp>
      <p:sp>
        <p:nvSpPr>
          <p:cNvPr id="20" name="lane-1-chip-1-tile"/>
          <p:cNvSpPr/>
          <p:nvPr/>
        </p:nvSpPr>
        <p:spPr>
          <a:xfrm>
            <a:off x="4572000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1" name="lane-1-chip-1" descr="/Users/a/MAI/DID-research/FIN/presentation/assets/logos/gemin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248771"/>
            <a:ext cx="173736" cy="173736"/>
          </a:xfrm>
          <a:prstGeom prst="rect">
            <a:avLst/>
          </a:prstGeom>
        </p:spPr>
      </p:pic>
      <p:sp>
        <p:nvSpPr>
          <p:cNvPr id="22" name="lane-1-chip-2-tile"/>
          <p:cNvSpPr/>
          <p:nvPr/>
        </p:nvSpPr>
        <p:spPr>
          <a:xfrm>
            <a:off x="4864608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3" name="lane-1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756" y="2248771"/>
            <a:ext cx="173736" cy="173736"/>
          </a:xfrm>
          <a:prstGeom prst="rect">
            <a:avLst/>
          </a:prstGeom>
        </p:spPr>
      </p:pic>
      <p:sp>
        <p:nvSpPr>
          <p:cNvPr id="24" name="lane-1-chip-3-tile"/>
          <p:cNvSpPr/>
          <p:nvPr/>
        </p:nvSpPr>
        <p:spPr>
          <a:xfrm>
            <a:off x="5157216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5" name="lane-1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364" y="2248771"/>
            <a:ext cx="173736" cy="173736"/>
          </a:xfrm>
          <a:prstGeom prst="rect">
            <a:avLst/>
          </a:prstGeom>
        </p:spPr>
      </p:pic>
      <p:sp>
        <p:nvSpPr>
          <p:cNvPr id="26" name="lane-1-chip-4-tile"/>
          <p:cNvSpPr/>
          <p:nvPr/>
        </p:nvSpPr>
        <p:spPr>
          <a:xfrm>
            <a:off x="5449824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7" name="lane-1-chip-4" descr="/Users/a/MAI/DID-research/FIN/presentation/assets/logos/opena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0972" y="2248771"/>
            <a:ext cx="173736" cy="173736"/>
          </a:xfrm>
          <a:prstGeom prst="rect">
            <a:avLst/>
          </a:prstGeom>
        </p:spPr>
      </p:pic>
      <p:sp>
        <p:nvSpPr>
          <p:cNvPr id="28" name="lane-1-chip-5-tile"/>
          <p:cNvSpPr/>
          <p:nvPr/>
        </p:nvSpPr>
        <p:spPr>
          <a:xfrm>
            <a:off x="5742432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9" name="lane-1-chip-5" descr="/Users/a/MAI/DID-research/FIN/presentation/assets/logos/clau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3580" y="2248771"/>
            <a:ext cx="173736" cy="173736"/>
          </a:xfrm>
          <a:prstGeom prst="rect">
            <a:avLst/>
          </a:prstGeom>
        </p:spPr>
      </p:pic>
      <p:sp>
        <p:nvSpPr>
          <p:cNvPr id="30" name="lane-1-chip-6-tile"/>
          <p:cNvSpPr/>
          <p:nvPr/>
        </p:nvSpPr>
        <p:spPr>
          <a:xfrm>
            <a:off x="6035040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31" name="lane-1-chip-6" descr="/Users/a/MAI/DID-research/FIN/presentation/assets/logos/opena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188" y="2248771"/>
            <a:ext cx="173736" cy="173736"/>
          </a:xfrm>
          <a:prstGeom prst="rect">
            <a:avLst/>
          </a:prstGeom>
        </p:spPr>
      </p:pic>
      <p:sp>
        <p:nvSpPr>
          <p:cNvPr id="32" name="lane-1-chip-7-tile"/>
          <p:cNvSpPr/>
          <p:nvPr/>
        </p:nvSpPr>
        <p:spPr>
          <a:xfrm>
            <a:off x="6327648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33" name="lane-1-chip-7" descr="/Users/a/MAI/DID-research/FIN/presentation/assets/logos/claud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8796" y="2248771"/>
            <a:ext cx="173736" cy="173736"/>
          </a:xfrm>
          <a:prstGeom prst="rect">
            <a:avLst/>
          </a:prstGeom>
        </p:spPr>
      </p:pic>
      <p:sp>
        <p:nvSpPr>
          <p:cNvPr id="34" name="lane-1-chip-8-tile"/>
          <p:cNvSpPr/>
          <p:nvPr/>
        </p:nvSpPr>
        <p:spPr>
          <a:xfrm>
            <a:off x="6620256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35" name="lane-1-chip-8" descr="/Users/a/MAI/DID-research/FIN/presentation/assets/logos/openai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1404" y="2248771"/>
            <a:ext cx="173736" cy="173736"/>
          </a:xfrm>
          <a:prstGeom prst="rect">
            <a:avLst/>
          </a:prstGeom>
        </p:spPr>
      </p:pic>
      <p:sp>
        <p:nvSpPr>
          <p:cNvPr id="36" name="lane-1-chip-9-tile"/>
          <p:cNvSpPr/>
          <p:nvPr/>
        </p:nvSpPr>
        <p:spPr>
          <a:xfrm>
            <a:off x="6912864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37" name="lane-1-chip-9" descr="/Users/a/MAI/DID-research/FIN/presentation/assets/logos/claud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4012" y="2248771"/>
            <a:ext cx="173736" cy="173736"/>
          </a:xfrm>
          <a:prstGeom prst="rect">
            <a:avLst/>
          </a:prstGeom>
        </p:spPr>
      </p:pic>
      <p:sp>
        <p:nvSpPr>
          <p:cNvPr id="38" name="lane-1-chip-10"/>
          <p:cNvSpPr txBox="1"/>
          <p:nvPr/>
        </p:nvSpPr>
        <p:spPr>
          <a:xfrm>
            <a:off x="7205472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39" name="lane-1-result"/>
          <p:cNvSpPr txBox="1"/>
          <p:nvPr/>
        </p:nvSpPr>
        <p:spPr>
          <a:xfrm>
            <a:off x="7635240" y="2093976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 ошибок найдено, два вывода перевёрнуты</a:t>
            </a:r>
            <a:endParaRPr lang="en-US" sz="1400" dirty="0"/>
          </a:p>
        </p:txBody>
      </p:sp>
      <p:sp>
        <p:nvSpPr>
          <p:cNvPr id="40" name="lane-2-rule"/>
          <p:cNvSpPr/>
          <p:nvPr/>
        </p:nvSpPr>
        <p:spPr>
          <a:xfrm>
            <a:off x="548640" y="2577302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1" name="lane-2-name"/>
          <p:cNvSpPr txBox="1"/>
          <p:nvPr/>
        </p:nvSpPr>
        <p:spPr>
          <a:xfrm>
            <a:off x="548640" y="2577302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K1–K4. Обзоры литературы</a:t>
            </a:r>
            <a:endParaRPr lang="en-US" sz="1600" dirty="0"/>
          </a:p>
        </p:txBody>
      </p:sp>
      <p:sp>
        <p:nvSpPr>
          <p:cNvPr id="42" name="lane-2-chip-1-tile"/>
          <p:cNvSpPr/>
          <p:nvPr/>
        </p:nvSpPr>
        <p:spPr>
          <a:xfrm>
            <a:off x="4572000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3" name="lane-2-chip-1" descr="/Users/a/MAI/DID-research/FIN/presentation/assets/logos/gemini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3148" y="2732097"/>
            <a:ext cx="173736" cy="173736"/>
          </a:xfrm>
          <a:prstGeom prst="rect">
            <a:avLst/>
          </a:prstGeom>
        </p:spPr>
      </p:pic>
      <p:sp>
        <p:nvSpPr>
          <p:cNvPr id="44" name="lane-2-chip-2-tile"/>
          <p:cNvSpPr/>
          <p:nvPr/>
        </p:nvSpPr>
        <p:spPr>
          <a:xfrm>
            <a:off x="4864608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5" name="lane-2-chip-2" descr="/Users/a/MAI/DID-research/FIN/presentation/assets/logos/gemini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5756" y="2732097"/>
            <a:ext cx="173736" cy="173736"/>
          </a:xfrm>
          <a:prstGeom prst="rect">
            <a:avLst/>
          </a:prstGeom>
        </p:spPr>
      </p:pic>
      <p:sp>
        <p:nvSpPr>
          <p:cNvPr id="46" name="lane-2-chip-3-tile"/>
          <p:cNvSpPr/>
          <p:nvPr/>
        </p:nvSpPr>
        <p:spPr>
          <a:xfrm>
            <a:off x="5157216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7" name="lane-2-chip-3" descr="/Users/a/MAI/DID-research/FIN/presentation/assets/logos/gemini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98364" y="2732097"/>
            <a:ext cx="173736" cy="173736"/>
          </a:xfrm>
          <a:prstGeom prst="rect">
            <a:avLst/>
          </a:prstGeom>
        </p:spPr>
      </p:pic>
      <p:sp>
        <p:nvSpPr>
          <p:cNvPr id="48" name="lane-2-chip-4-tile"/>
          <p:cNvSpPr/>
          <p:nvPr/>
        </p:nvSpPr>
        <p:spPr>
          <a:xfrm>
            <a:off x="5449824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9" name="lane-2-chip-4" descr="/Users/a/MAI/DID-research/FIN/presentation/assets/logos/gemini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90972" y="2732097"/>
            <a:ext cx="173736" cy="173736"/>
          </a:xfrm>
          <a:prstGeom prst="rect">
            <a:avLst/>
          </a:prstGeom>
        </p:spPr>
      </p:pic>
      <p:sp>
        <p:nvSpPr>
          <p:cNvPr id="50" name="lane-2-chip-5-tile"/>
          <p:cNvSpPr/>
          <p:nvPr/>
        </p:nvSpPr>
        <p:spPr>
          <a:xfrm>
            <a:off x="5742432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51" name="lane-2-chip-5" descr="/Users/a/MAI/DID-research/FIN/presentation/assets/logos/claud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83580" y="2732097"/>
            <a:ext cx="173736" cy="173736"/>
          </a:xfrm>
          <a:prstGeom prst="rect">
            <a:avLst/>
          </a:prstGeom>
        </p:spPr>
      </p:pic>
      <p:sp>
        <p:nvSpPr>
          <p:cNvPr id="52" name="lane-2-chip-6"/>
          <p:cNvSpPr txBox="1"/>
          <p:nvPr/>
        </p:nvSpPr>
        <p:spPr>
          <a:xfrm>
            <a:off x="6035040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53" name="lane-2-result"/>
          <p:cNvSpPr txBox="1"/>
          <p:nvPr/>
        </p:nvSpPr>
        <p:spPr>
          <a:xfrm>
            <a:off x="7635240" y="2577302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проверка нашла две выдуманные ссылки</a:t>
            </a:r>
            <a:endParaRPr lang="en-US" sz="1400" dirty="0"/>
          </a:p>
        </p:txBody>
      </p:sp>
      <p:sp>
        <p:nvSpPr>
          <p:cNvPr id="54" name="lane-3-rule"/>
          <p:cNvSpPr/>
          <p:nvPr/>
        </p:nvSpPr>
        <p:spPr>
          <a:xfrm>
            <a:off x="548640" y="3060627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55" name="lane-3-name"/>
          <p:cNvSpPr txBox="1"/>
          <p:nvPr/>
        </p:nvSpPr>
        <p:spPr>
          <a:xfrm>
            <a:off x="548640" y="3060627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P1 → P2. Где робот теряет очки</a:t>
            </a:r>
            <a:endParaRPr lang="en-US" sz="1600" dirty="0"/>
          </a:p>
        </p:txBody>
      </p:sp>
      <p:sp>
        <p:nvSpPr>
          <p:cNvPr id="56" name="lane-3-chip-1-tile"/>
          <p:cNvSpPr/>
          <p:nvPr/>
        </p:nvSpPr>
        <p:spPr>
          <a:xfrm>
            <a:off x="4572000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57" name="lane-3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13148" y="3215422"/>
            <a:ext cx="173736" cy="173736"/>
          </a:xfrm>
          <a:prstGeom prst="rect">
            <a:avLst/>
          </a:prstGeom>
        </p:spPr>
      </p:pic>
      <p:sp>
        <p:nvSpPr>
          <p:cNvPr id="58" name="lane-3-chip-2-tile"/>
          <p:cNvSpPr/>
          <p:nvPr/>
        </p:nvSpPr>
        <p:spPr>
          <a:xfrm>
            <a:off x="4864608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59" name="lane-3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05756" y="3215422"/>
            <a:ext cx="173736" cy="173736"/>
          </a:xfrm>
          <a:prstGeom prst="rect">
            <a:avLst/>
          </a:prstGeom>
        </p:spPr>
      </p:pic>
      <p:sp>
        <p:nvSpPr>
          <p:cNvPr id="60" name="lane-3-chip-3-tile"/>
          <p:cNvSpPr/>
          <p:nvPr/>
        </p:nvSpPr>
        <p:spPr>
          <a:xfrm>
            <a:off x="5157216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1" name="lane-3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98364" y="3215422"/>
            <a:ext cx="173736" cy="173736"/>
          </a:xfrm>
          <a:prstGeom prst="rect">
            <a:avLst/>
          </a:prstGeom>
        </p:spPr>
      </p:pic>
      <p:sp>
        <p:nvSpPr>
          <p:cNvPr id="62" name="lane-3-chip-4-tile"/>
          <p:cNvSpPr/>
          <p:nvPr/>
        </p:nvSpPr>
        <p:spPr>
          <a:xfrm>
            <a:off x="5449824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3" name="lane-3-chip-4" descr="/Users/a/MAI/DID-research/FIN/presentation/assets/logos/openai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90972" y="3215422"/>
            <a:ext cx="173736" cy="173736"/>
          </a:xfrm>
          <a:prstGeom prst="rect">
            <a:avLst/>
          </a:prstGeom>
        </p:spPr>
      </p:pic>
      <p:sp>
        <p:nvSpPr>
          <p:cNvPr id="64" name="lane-3-chip-5"/>
          <p:cNvSpPr txBox="1"/>
          <p:nvPr/>
        </p:nvSpPr>
        <p:spPr>
          <a:xfrm>
            <a:off x="5742432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65" name="lane-3-next"/>
          <p:cNvSpPr txBox="1"/>
          <p:nvPr/>
        </p:nvSpPr>
        <p:spPr>
          <a:xfrm>
            <a:off x="6035040" y="3060627"/>
            <a:ext cx="256032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66" name="lane-3-chip-7-tile"/>
          <p:cNvSpPr/>
          <p:nvPr/>
        </p:nvSpPr>
        <p:spPr>
          <a:xfrm>
            <a:off x="6327648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7" name="lane-3-chip-7" descr="/Users/a/MAI/DID-research/FIN/presentation/assets/logos/claud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8796" y="3215422"/>
            <a:ext cx="173736" cy="173736"/>
          </a:xfrm>
          <a:prstGeom prst="rect">
            <a:avLst/>
          </a:prstGeom>
        </p:spPr>
      </p:pic>
      <p:sp>
        <p:nvSpPr>
          <p:cNvPr id="68" name="lane-3-chip-8-tile"/>
          <p:cNvSpPr/>
          <p:nvPr/>
        </p:nvSpPr>
        <p:spPr>
          <a:xfrm>
            <a:off x="6620256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9" name="lane-3-chip-8" descr="/Users/a/MAI/DID-research/FIN/presentation/assets/logos/openai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61404" y="3215422"/>
            <a:ext cx="173736" cy="173736"/>
          </a:xfrm>
          <a:prstGeom prst="rect">
            <a:avLst/>
          </a:prstGeom>
        </p:spPr>
      </p:pic>
      <p:sp>
        <p:nvSpPr>
          <p:cNvPr id="70" name="lane-3-chip-9-tile"/>
          <p:cNvSpPr/>
          <p:nvPr/>
        </p:nvSpPr>
        <p:spPr>
          <a:xfrm>
            <a:off x="6912864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1" name="lane-3-chip-9" descr="/Users/a/MAI/DID-research/FIN/presentation/assets/logos/claud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54012" y="3215422"/>
            <a:ext cx="173736" cy="173736"/>
          </a:xfrm>
          <a:prstGeom prst="rect">
            <a:avLst/>
          </a:prstGeom>
        </p:spPr>
      </p:pic>
      <p:sp>
        <p:nvSpPr>
          <p:cNvPr id="72" name="lane-3-chip-10"/>
          <p:cNvSpPr txBox="1"/>
          <p:nvPr/>
        </p:nvSpPr>
        <p:spPr>
          <a:xfrm>
            <a:off x="7205472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73" name="lane-3-result"/>
          <p:cNvSpPr txBox="1"/>
          <p:nvPr/>
        </p:nvSpPr>
        <p:spPr>
          <a:xfrm>
            <a:off x="7635240" y="3060627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сбой датчика: +6,4; пять новых правок: −0,4</a:t>
            </a:r>
            <a:endParaRPr lang="en-US" sz="1400" dirty="0"/>
          </a:p>
        </p:txBody>
      </p:sp>
      <p:sp>
        <p:nvSpPr>
          <p:cNvPr id="74" name="lane-4-rule"/>
          <p:cNvSpPr/>
          <p:nvPr/>
        </p:nvSpPr>
        <p:spPr>
          <a:xfrm>
            <a:off x="548640" y="3543953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75" name="lane-4-name"/>
          <p:cNvSpPr txBox="1"/>
          <p:nvPr/>
        </p:nvSpPr>
        <p:spPr>
          <a:xfrm>
            <a:off x="548640" y="3543953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A1. Новые схемы агента</a:t>
            </a:r>
            <a:endParaRPr lang="en-US" sz="1600" dirty="0"/>
          </a:p>
        </p:txBody>
      </p:sp>
      <p:sp>
        <p:nvSpPr>
          <p:cNvPr id="76" name="lane-4-chip-1-tile"/>
          <p:cNvSpPr/>
          <p:nvPr/>
        </p:nvSpPr>
        <p:spPr>
          <a:xfrm>
            <a:off x="4572000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7" name="lane-4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13148" y="3698748"/>
            <a:ext cx="173736" cy="173736"/>
          </a:xfrm>
          <a:prstGeom prst="rect">
            <a:avLst/>
          </a:prstGeom>
        </p:spPr>
      </p:pic>
      <p:sp>
        <p:nvSpPr>
          <p:cNvPr id="78" name="lane-4-chip-2-tile"/>
          <p:cNvSpPr/>
          <p:nvPr/>
        </p:nvSpPr>
        <p:spPr>
          <a:xfrm>
            <a:off x="4864608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9" name="lane-4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05756" y="3698748"/>
            <a:ext cx="173736" cy="173736"/>
          </a:xfrm>
          <a:prstGeom prst="rect">
            <a:avLst/>
          </a:prstGeom>
        </p:spPr>
      </p:pic>
      <p:sp>
        <p:nvSpPr>
          <p:cNvPr id="80" name="lane-4-chip-3-tile"/>
          <p:cNvSpPr/>
          <p:nvPr/>
        </p:nvSpPr>
        <p:spPr>
          <a:xfrm>
            <a:off x="5157216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81" name="lane-4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98364" y="3698748"/>
            <a:ext cx="173736" cy="173736"/>
          </a:xfrm>
          <a:prstGeom prst="rect">
            <a:avLst/>
          </a:prstGeom>
        </p:spPr>
      </p:pic>
      <p:sp>
        <p:nvSpPr>
          <p:cNvPr id="82" name="lane-4-chip-4"/>
          <p:cNvSpPr txBox="1"/>
          <p:nvPr/>
        </p:nvSpPr>
        <p:spPr>
          <a:xfrm>
            <a:off x="5449824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83" name="lane-4-result"/>
          <p:cNvSpPr txBox="1"/>
          <p:nvPr/>
        </p:nvSpPr>
        <p:spPr>
          <a:xfrm>
            <a:off x="7635240" y="3543953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 лучше нынешней; потолок — 92,5 очка</a:t>
            </a:r>
            <a:endParaRPr lang="en-US" sz="1400" dirty="0"/>
          </a:p>
        </p:txBody>
      </p:sp>
      <p:sp>
        <p:nvSpPr>
          <p:cNvPr id="84" name="lane-5-rule"/>
          <p:cNvSpPr/>
          <p:nvPr/>
        </p:nvSpPr>
        <p:spPr>
          <a:xfrm>
            <a:off x="548640" y="4027279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5" name="lane-5-name"/>
          <p:cNvSpPr txBox="1"/>
          <p:nvPr/>
        </p:nvSpPr>
        <p:spPr>
          <a:xfrm>
            <a:off x="548640" y="4027279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R10. Смена грунта на пути</a:t>
            </a:r>
            <a:endParaRPr lang="en-US" sz="1600" dirty="0"/>
          </a:p>
        </p:txBody>
      </p:sp>
      <p:sp>
        <p:nvSpPr>
          <p:cNvPr id="86" name="lane-5-chip-1-tile"/>
          <p:cNvSpPr/>
          <p:nvPr/>
        </p:nvSpPr>
        <p:spPr>
          <a:xfrm>
            <a:off x="4572000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87" name="lane-5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13148" y="4182074"/>
            <a:ext cx="173736" cy="173736"/>
          </a:xfrm>
          <a:prstGeom prst="rect">
            <a:avLst/>
          </a:prstGeom>
        </p:spPr>
      </p:pic>
      <p:sp>
        <p:nvSpPr>
          <p:cNvPr id="88" name="lane-5-chip-2-tile"/>
          <p:cNvSpPr/>
          <p:nvPr/>
        </p:nvSpPr>
        <p:spPr>
          <a:xfrm>
            <a:off x="4864608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89" name="lane-5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05756" y="4182074"/>
            <a:ext cx="173736" cy="173736"/>
          </a:xfrm>
          <a:prstGeom prst="rect">
            <a:avLst/>
          </a:prstGeom>
        </p:spPr>
      </p:pic>
      <p:sp>
        <p:nvSpPr>
          <p:cNvPr id="90" name="lane-5-chip-3-tile"/>
          <p:cNvSpPr/>
          <p:nvPr/>
        </p:nvSpPr>
        <p:spPr>
          <a:xfrm>
            <a:off x="5157216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1" name="lane-5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98364" y="4182074"/>
            <a:ext cx="173736" cy="173736"/>
          </a:xfrm>
          <a:prstGeom prst="rect">
            <a:avLst/>
          </a:prstGeom>
        </p:spPr>
      </p:pic>
      <p:sp>
        <p:nvSpPr>
          <p:cNvPr id="92" name="lane-5-chip-4-tile"/>
          <p:cNvSpPr/>
          <p:nvPr/>
        </p:nvSpPr>
        <p:spPr>
          <a:xfrm>
            <a:off x="5449824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3" name="lane-5-chip-4" descr="/Users/a/MAI/DID-research/FIN/presentation/assets/logos/openai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90972" y="4182074"/>
            <a:ext cx="173736" cy="173736"/>
          </a:xfrm>
          <a:prstGeom prst="rect">
            <a:avLst/>
          </a:prstGeom>
        </p:spPr>
      </p:pic>
      <p:sp>
        <p:nvSpPr>
          <p:cNvPr id="94" name="lane-5-chip-5"/>
          <p:cNvSpPr txBox="1"/>
          <p:nvPr/>
        </p:nvSpPr>
        <p:spPr>
          <a:xfrm>
            <a:off x="5742432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95" name="lane-5-result"/>
          <p:cNvSpPr txBox="1"/>
          <p:nvPr/>
        </p:nvSpPr>
        <p:spPr>
          <a:xfrm>
            <a:off x="7635240" y="4027279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выигрыш не показан — так и записано</a:t>
            </a:r>
            <a:endParaRPr lang="en-US" sz="1400" dirty="0"/>
          </a:p>
        </p:txBody>
      </p:sp>
      <p:sp>
        <p:nvSpPr>
          <p:cNvPr id="96" name="lane-6-rule"/>
          <p:cNvSpPr/>
          <p:nvPr/>
        </p:nvSpPr>
        <p:spPr>
          <a:xfrm>
            <a:off x="548640" y="4510605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7" name="lane-6-name"/>
          <p:cNvSpPr txBox="1"/>
          <p:nvPr/>
        </p:nvSpPr>
        <p:spPr>
          <a:xfrm>
            <a:off x="548640" y="4510605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R12. Выбор различающего опыта</a:t>
            </a:r>
            <a:endParaRPr lang="en-US" sz="1600" dirty="0"/>
          </a:p>
        </p:txBody>
      </p:sp>
      <p:sp>
        <p:nvSpPr>
          <p:cNvPr id="98" name="lane-6-chip-1-tile"/>
          <p:cNvSpPr/>
          <p:nvPr/>
        </p:nvSpPr>
        <p:spPr>
          <a:xfrm>
            <a:off x="4572000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9" name="lane-6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13148" y="4665399"/>
            <a:ext cx="173736" cy="173736"/>
          </a:xfrm>
          <a:prstGeom prst="rect">
            <a:avLst/>
          </a:prstGeom>
        </p:spPr>
      </p:pic>
      <p:sp>
        <p:nvSpPr>
          <p:cNvPr id="100" name="lane-6-chip-2-tile"/>
          <p:cNvSpPr/>
          <p:nvPr/>
        </p:nvSpPr>
        <p:spPr>
          <a:xfrm>
            <a:off x="4864608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01" name="lane-6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05756" y="4665399"/>
            <a:ext cx="173736" cy="173736"/>
          </a:xfrm>
          <a:prstGeom prst="rect">
            <a:avLst/>
          </a:prstGeom>
        </p:spPr>
      </p:pic>
      <p:sp>
        <p:nvSpPr>
          <p:cNvPr id="102" name="lane-6-chip-3-tile"/>
          <p:cNvSpPr/>
          <p:nvPr/>
        </p:nvSpPr>
        <p:spPr>
          <a:xfrm>
            <a:off x="5157216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03" name="lane-6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98364" y="4665399"/>
            <a:ext cx="173736" cy="173736"/>
          </a:xfrm>
          <a:prstGeom prst="rect">
            <a:avLst/>
          </a:prstGeom>
        </p:spPr>
      </p:pic>
      <p:sp>
        <p:nvSpPr>
          <p:cNvPr id="104" name="lane-6-chip-4"/>
          <p:cNvSpPr txBox="1"/>
          <p:nvPr/>
        </p:nvSpPr>
        <p:spPr>
          <a:xfrm>
            <a:off x="5449824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05" name="lane-6-result"/>
          <p:cNvSpPr txBox="1"/>
          <p:nvPr/>
        </p:nvSpPr>
        <p:spPr>
          <a:xfrm>
            <a:off x="7635240" y="4510605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расход на расследование 0,54 → 0,08 ед.</a:t>
            </a:r>
            <a:endParaRPr lang="en-US" sz="1400" dirty="0"/>
          </a:p>
        </p:txBody>
      </p:sp>
      <p:sp>
        <p:nvSpPr>
          <p:cNvPr id="106" name="lane-7-rule"/>
          <p:cNvSpPr/>
          <p:nvPr/>
        </p:nvSpPr>
        <p:spPr>
          <a:xfrm>
            <a:off x="548640" y="4993930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07" name="lane-7-name"/>
          <p:cNvSpPr txBox="1"/>
          <p:nvPr/>
        </p:nvSpPr>
        <p:spPr>
          <a:xfrm>
            <a:off x="548640" y="4993930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R14. Самокалибровка датчика</a:t>
            </a:r>
            <a:endParaRPr lang="en-US" sz="1600" dirty="0"/>
          </a:p>
        </p:txBody>
      </p:sp>
      <p:sp>
        <p:nvSpPr>
          <p:cNvPr id="108" name="lane-7-chip-1-tile"/>
          <p:cNvSpPr/>
          <p:nvPr/>
        </p:nvSpPr>
        <p:spPr>
          <a:xfrm>
            <a:off x="4572000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09" name="lane-7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613148" y="5148725"/>
            <a:ext cx="173736" cy="173736"/>
          </a:xfrm>
          <a:prstGeom prst="rect">
            <a:avLst/>
          </a:prstGeom>
        </p:spPr>
      </p:pic>
      <p:sp>
        <p:nvSpPr>
          <p:cNvPr id="110" name="lane-7-chip-2-tile"/>
          <p:cNvSpPr/>
          <p:nvPr/>
        </p:nvSpPr>
        <p:spPr>
          <a:xfrm>
            <a:off x="4864608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1" name="lane-7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905756" y="5148725"/>
            <a:ext cx="173736" cy="173736"/>
          </a:xfrm>
          <a:prstGeom prst="rect">
            <a:avLst/>
          </a:prstGeom>
        </p:spPr>
      </p:pic>
      <p:sp>
        <p:nvSpPr>
          <p:cNvPr id="112" name="lane-7-chip-3-tile"/>
          <p:cNvSpPr/>
          <p:nvPr/>
        </p:nvSpPr>
        <p:spPr>
          <a:xfrm>
            <a:off x="5157216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3" name="lane-7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98364" y="5148725"/>
            <a:ext cx="173736" cy="173736"/>
          </a:xfrm>
          <a:prstGeom prst="rect">
            <a:avLst/>
          </a:prstGeom>
        </p:spPr>
      </p:pic>
      <p:sp>
        <p:nvSpPr>
          <p:cNvPr id="114" name="lane-7-chip-4-tile"/>
          <p:cNvSpPr/>
          <p:nvPr/>
        </p:nvSpPr>
        <p:spPr>
          <a:xfrm>
            <a:off x="5449824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5" name="lane-7-chip-4" descr="/Users/a/MAI/DID-research/FIN/presentation/assets/logos/openai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90972" y="5148725"/>
            <a:ext cx="173736" cy="173736"/>
          </a:xfrm>
          <a:prstGeom prst="rect">
            <a:avLst/>
          </a:prstGeom>
        </p:spPr>
      </p:pic>
      <p:sp>
        <p:nvSpPr>
          <p:cNvPr id="116" name="lane-7-chip-5-tile"/>
          <p:cNvSpPr/>
          <p:nvPr/>
        </p:nvSpPr>
        <p:spPr>
          <a:xfrm>
            <a:off x="5742432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7" name="lane-7-chip-5" descr="/Users/a/MAI/DID-research/FIN/presentation/assets/logos/claud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83580" y="5148725"/>
            <a:ext cx="173736" cy="173736"/>
          </a:xfrm>
          <a:prstGeom prst="rect">
            <a:avLst/>
          </a:prstGeom>
        </p:spPr>
      </p:pic>
      <p:sp>
        <p:nvSpPr>
          <p:cNvPr id="118" name="lane-7-chip-6"/>
          <p:cNvSpPr txBox="1"/>
          <p:nvPr/>
        </p:nvSpPr>
        <p:spPr>
          <a:xfrm>
            <a:off x="6035040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19" name="lane-7-result"/>
          <p:cNvSpPr txBox="1"/>
          <p:nvPr/>
        </p:nvSpPr>
        <p:spPr>
          <a:xfrm>
            <a:off x="7635240" y="4993930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чужой закон датчика: собрано 71% вместо 1%</a:t>
            </a:r>
            <a:endParaRPr lang="en-US" sz="1400" dirty="0"/>
          </a:p>
        </p:txBody>
      </p:sp>
      <p:sp>
        <p:nvSpPr>
          <p:cNvPr id="120" name="conclusion-card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1" name="conclusion-text"/>
          <p:cNvSpPr txBox="1"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Вывод.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Качество держится на устройстве процесса — отдельная ветка, независимое ревью, пересчёт чисел, — а не на вере в один ответ модели.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Приложение. Ход исследований: модель и бонусы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Каждая строка — одно исследование, каждый значок — один шаг: какая модель работала и чем закончилось</a:t>
            </a:r>
            <a:endParaRPr lang="en-US" sz="1600" dirty="0"/>
          </a:p>
        </p:txBody>
      </p:sp>
      <p:sp>
        <p:nvSpPr>
          <p:cNvPr id="5" name="legend-1-chip-tile"/>
          <p:cNvSpPr/>
          <p:nvPr/>
        </p:nvSpPr>
        <p:spPr>
          <a:xfrm>
            <a:off x="548640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" name="legend-1-chip" descr="/Users/a/MAI/DID-research/FIN/presentation/assets/logos/gem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1741932"/>
            <a:ext cx="173736" cy="173736"/>
          </a:xfrm>
          <a:prstGeom prst="rect">
            <a:avLst/>
          </a:prstGeom>
        </p:spPr>
      </p:pic>
      <p:sp>
        <p:nvSpPr>
          <p:cNvPr id="7" name="legend-1-word"/>
          <p:cNvSpPr txBox="1"/>
          <p:nvPr/>
        </p:nvSpPr>
        <p:spPr>
          <a:xfrm>
            <a:off x="877824" y="1691640"/>
            <a:ext cx="192755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Gemini — исследователь</a:t>
            </a:r>
            <a:endParaRPr lang="en-US" sz="1300" dirty="0"/>
          </a:p>
        </p:txBody>
      </p:sp>
      <p:sp>
        <p:nvSpPr>
          <p:cNvPr id="8" name="legend-2-chip-tile"/>
          <p:cNvSpPr/>
          <p:nvPr/>
        </p:nvSpPr>
        <p:spPr>
          <a:xfrm>
            <a:off x="3006547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" name="legend-2-chip" descr="/Users/a/MAI/DID-research/FIN/presentation/assets/logos/clau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95" y="1741932"/>
            <a:ext cx="173736" cy="173736"/>
          </a:xfrm>
          <a:prstGeom prst="rect">
            <a:avLst/>
          </a:prstGeom>
        </p:spPr>
      </p:pic>
      <p:sp>
        <p:nvSpPr>
          <p:cNvPr id="10" name="legend-2-word"/>
          <p:cNvSpPr txBox="1"/>
          <p:nvPr/>
        </p:nvSpPr>
        <p:spPr>
          <a:xfrm>
            <a:off x="3335731" y="1691640"/>
            <a:ext cx="184160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Claude Opus — инженер</a:t>
            </a:r>
            <a:endParaRPr lang="en-US" sz="1300" dirty="0"/>
          </a:p>
        </p:txBody>
      </p:sp>
      <p:sp>
        <p:nvSpPr>
          <p:cNvPr id="11" name="legend-3-chip-tile"/>
          <p:cNvSpPr/>
          <p:nvPr/>
        </p:nvSpPr>
        <p:spPr>
          <a:xfrm>
            <a:off x="5378501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2" name="legend-3-chip" descr="/Users/a/MAI/DID-research/FIN/presentation/assets/logos/open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649" y="1741932"/>
            <a:ext cx="173736" cy="173736"/>
          </a:xfrm>
          <a:prstGeom prst="rect">
            <a:avLst/>
          </a:prstGeom>
        </p:spPr>
      </p:pic>
      <p:sp>
        <p:nvSpPr>
          <p:cNvPr id="13" name="legend-3-word"/>
          <p:cNvSpPr txBox="1"/>
          <p:nvPr/>
        </p:nvSpPr>
        <p:spPr>
          <a:xfrm>
            <a:off x="5707685" y="1691640"/>
            <a:ext cx="13258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GPT Sol — ревью</a:t>
            </a:r>
            <a:endParaRPr lang="en-US" sz="1300" dirty="0"/>
          </a:p>
        </p:txBody>
      </p:sp>
      <p:sp>
        <p:nvSpPr>
          <p:cNvPr id="14" name="legend-4-chip"/>
          <p:cNvSpPr txBox="1"/>
          <p:nvPr/>
        </p:nvSpPr>
        <p:spPr>
          <a:xfrm>
            <a:off x="7234733" y="170078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legend-4-word"/>
          <p:cNvSpPr txBox="1"/>
          <p:nvPr/>
        </p:nvSpPr>
        <p:spPr>
          <a:xfrm>
            <a:off x="7563917" y="1691640"/>
            <a:ext cx="63825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принято</a:t>
            </a:r>
            <a:endParaRPr lang="en-US" sz="1300" dirty="0"/>
          </a:p>
        </p:txBody>
      </p:sp>
      <p:sp>
        <p:nvSpPr>
          <p:cNvPr id="16" name="legend-5-chip"/>
          <p:cNvSpPr txBox="1"/>
          <p:nvPr/>
        </p:nvSpPr>
        <p:spPr>
          <a:xfrm>
            <a:off x="8403336" y="16916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legend-5-word"/>
          <p:cNvSpPr txBox="1"/>
          <p:nvPr/>
        </p:nvSpPr>
        <p:spPr>
          <a:xfrm>
            <a:off x="8732520" y="1691640"/>
            <a:ext cx="209946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следующая работа по теме</a:t>
            </a:r>
            <a:endParaRPr lang="en-US" sz="1300" dirty="0"/>
          </a:p>
        </p:txBody>
      </p:sp>
      <p:sp>
        <p:nvSpPr>
          <p:cNvPr id="18" name="lane-1-rule"/>
          <p:cNvSpPr/>
          <p:nvPr/>
        </p:nvSpPr>
        <p:spPr>
          <a:xfrm>
            <a:off x="548640" y="209397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9" name="lane-1-name"/>
          <p:cNvSpPr txBox="1"/>
          <p:nvPr/>
        </p:nvSpPr>
        <p:spPr>
          <a:xfrm>
            <a:off x="548640" y="2093976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G2 → G3. Потеря положения в Gazebo</a:t>
            </a:r>
            <a:endParaRPr lang="en-US" sz="1600" dirty="0"/>
          </a:p>
        </p:txBody>
      </p:sp>
      <p:sp>
        <p:nvSpPr>
          <p:cNvPr id="20" name="lane-1-chip-1-tile"/>
          <p:cNvSpPr/>
          <p:nvPr/>
        </p:nvSpPr>
        <p:spPr>
          <a:xfrm>
            <a:off x="4572000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1" name="lane-1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248771"/>
            <a:ext cx="173736" cy="173736"/>
          </a:xfrm>
          <a:prstGeom prst="rect">
            <a:avLst/>
          </a:prstGeom>
        </p:spPr>
      </p:pic>
      <p:sp>
        <p:nvSpPr>
          <p:cNvPr id="22" name="lane-1-chip-2-tile"/>
          <p:cNvSpPr/>
          <p:nvPr/>
        </p:nvSpPr>
        <p:spPr>
          <a:xfrm>
            <a:off x="4864608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3" name="lane-1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756" y="2248771"/>
            <a:ext cx="173736" cy="173736"/>
          </a:xfrm>
          <a:prstGeom prst="rect">
            <a:avLst/>
          </a:prstGeom>
        </p:spPr>
      </p:pic>
      <p:sp>
        <p:nvSpPr>
          <p:cNvPr id="24" name="lane-1-chip-3-tile"/>
          <p:cNvSpPr/>
          <p:nvPr/>
        </p:nvSpPr>
        <p:spPr>
          <a:xfrm>
            <a:off x="5157216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5" name="lane-1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364" y="2248771"/>
            <a:ext cx="173736" cy="173736"/>
          </a:xfrm>
          <a:prstGeom prst="rect">
            <a:avLst/>
          </a:prstGeom>
        </p:spPr>
      </p:pic>
      <p:sp>
        <p:nvSpPr>
          <p:cNvPr id="26" name="lane-1-chip-4"/>
          <p:cNvSpPr txBox="1"/>
          <p:nvPr/>
        </p:nvSpPr>
        <p:spPr>
          <a:xfrm>
            <a:off x="5449824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lane-1-next"/>
          <p:cNvSpPr txBox="1"/>
          <p:nvPr/>
        </p:nvSpPr>
        <p:spPr>
          <a:xfrm>
            <a:off x="5742432" y="2093976"/>
            <a:ext cx="256032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lane-1-chip-6-tile"/>
          <p:cNvSpPr/>
          <p:nvPr/>
        </p:nvSpPr>
        <p:spPr>
          <a:xfrm>
            <a:off x="6035040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29" name="lane-1-chip-6" descr="/Users/a/MAI/DID-research/FIN/presentation/assets/logos/clau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188" y="2248771"/>
            <a:ext cx="173736" cy="173736"/>
          </a:xfrm>
          <a:prstGeom prst="rect">
            <a:avLst/>
          </a:prstGeom>
        </p:spPr>
      </p:pic>
      <p:sp>
        <p:nvSpPr>
          <p:cNvPr id="30" name="lane-1-chip-7-tile"/>
          <p:cNvSpPr/>
          <p:nvPr/>
        </p:nvSpPr>
        <p:spPr>
          <a:xfrm>
            <a:off x="6327648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31" name="lane-1-chip-7" descr="/Users/a/MAI/DID-research/FIN/presentation/assets/logos/opena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796" y="2248771"/>
            <a:ext cx="173736" cy="173736"/>
          </a:xfrm>
          <a:prstGeom prst="rect">
            <a:avLst/>
          </a:prstGeom>
        </p:spPr>
      </p:pic>
      <p:sp>
        <p:nvSpPr>
          <p:cNvPr id="32" name="lane-1-chip-8-tile"/>
          <p:cNvSpPr/>
          <p:nvPr/>
        </p:nvSpPr>
        <p:spPr>
          <a:xfrm>
            <a:off x="6620256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33" name="lane-1-chip-8" descr="/Users/a/MAI/DID-research/FIN/presentation/assets/logos/claud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1404" y="2248771"/>
            <a:ext cx="173736" cy="173736"/>
          </a:xfrm>
          <a:prstGeom prst="rect">
            <a:avLst/>
          </a:prstGeom>
        </p:spPr>
      </p:pic>
      <p:sp>
        <p:nvSpPr>
          <p:cNvPr id="34" name="lane-1-chip-9-tile"/>
          <p:cNvSpPr/>
          <p:nvPr/>
        </p:nvSpPr>
        <p:spPr>
          <a:xfrm>
            <a:off x="6912864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35" name="lane-1-chip-9" descr="/Users/a/MAI/DID-research/FIN/presentation/assets/logos/opena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4012" y="2248771"/>
            <a:ext cx="173736" cy="173736"/>
          </a:xfrm>
          <a:prstGeom prst="rect">
            <a:avLst/>
          </a:prstGeom>
        </p:spPr>
      </p:pic>
      <p:sp>
        <p:nvSpPr>
          <p:cNvPr id="36" name="lane-1-chip-10"/>
          <p:cNvSpPr txBox="1"/>
          <p:nvPr/>
        </p:nvSpPr>
        <p:spPr>
          <a:xfrm>
            <a:off x="7205472" y="2207623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lane-1-result"/>
          <p:cNvSpPr txBox="1"/>
          <p:nvPr/>
        </p:nvSpPr>
        <p:spPr>
          <a:xfrm>
            <a:off x="7635240" y="2093976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возврат в Gazebo: 8 из 9 → 7 из 7</a:t>
            </a:r>
            <a:endParaRPr lang="en-US" sz="1400" dirty="0"/>
          </a:p>
        </p:txBody>
      </p:sp>
      <p:sp>
        <p:nvSpPr>
          <p:cNvPr id="38" name="lane-2-rule"/>
          <p:cNvSpPr/>
          <p:nvPr/>
        </p:nvSpPr>
        <p:spPr>
          <a:xfrm>
            <a:off x="548640" y="2577302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9" name="lane-2-name"/>
          <p:cNvSpPr txBox="1"/>
          <p:nvPr/>
        </p:nvSpPr>
        <p:spPr>
          <a:xfrm>
            <a:off x="548640" y="2577302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R13 → L3. Модель: миссии и гипотезы</a:t>
            </a:r>
            <a:endParaRPr lang="en-US" sz="1600" dirty="0"/>
          </a:p>
        </p:txBody>
      </p:sp>
      <p:sp>
        <p:nvSpPr>
          <p:cNvPr id="40" name="lane-2-chip-1-tile"/>
          <p:cNvSpPr/>
          <p:nvPr/>
        </p:nvSpPr>
        <p:spPr>
          <a:xfrm>
            <a:off x="4572000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1" name="lane-2-chip-1" descr="/Users/a/MAI/DID-research/FIN/presentation/assets/logos/gemini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3148" y="2732097"/>
            <a:ext cx="173736" cy="173736"/>
          </a:xfrm>
          <a:prstGeom prst="rect">
            <a:avLst/>
          </a:prstGeom>
        </p:spPr>
      </p:pic>
      <p:sp>
        <p:nvSpPr>
          <p:cNvPr id="42" name="lane-2-chip-2-tile"/>
          <p:cNvSpPr/>
          <p:nvPr/>
        </p:nvSpPr>
        <p:spPr>
          <a:xfrm>
            <a:off x="4864608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3" name="lane-2-chip-2" descr="/Users/a/MAI/DID-research/FIN/presentation/assets/logos/claud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5756" y="2732097"/>
            <a:ext cx="173736" cy="173736"/>
          </a:xfrm>
          <a:prstGeom prst="rect">
            <a:avLst/>
          </a:prstGeom>
        </p:spPr>
      </p:pic>
      <p:sp>
        <p:nvSpPr>
          <p:cNvPr id="44" name="lane-2-chip-3-tile"/>
          <p:cNvSpPr/>
          <p:nvPr/>
        </p:nvSpPr>
        <p:spPr>
          <a:xfrm>
            <a:off x="5157216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5" name="lane-2-chip-3" descr="/Users/a/MAI/DID-research/FIN/presentation/assets/logos/openai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8364" y="2732097"/>
            <a:ext cx="173736" cy="173736"/>
          </a:xfrm>
          <a:prstGeom prst="rect">
            <a:avLst/>
          </a:prstGeom>
        </p:spPr>
      </p:pic>
      <p:sp>
        <p:nvSpPr>
          <p:cNvPr id="46" name="lane-2-chip-4-tile"/>
          <p:cNvSpPr/>
          <p:nvPr/>
        </p:nvSpPr>
        <p:spPr>
          <a:xfrm>
            <a:off x="5449824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47" name="lane-2-chip-4" descr="/Users/a/MAI/DID-research/FIN/presentation/assets/logos/claud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90972" y="2732097"/>
            <a:ext cx="173736" cy="173736"/>
          </a:xfrm>
          <a:prstGeom prst="rect">
            <a:avLst/>
          </a:prstGeom>
        </p:spPr>
      </p:pic>
      <p:sp>
        <p:nvSpPr>
          <p:cNvPr id="48" name="lane-2-chip-5"/>
          <p:cNvSpPr txBox="1"/>
          <p:nvPr/>
        </p:nvSpPr>
        <p:spPr>
          <a:xfrm>
            <a:off x="5742432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49" name="lane-2-next"/>
          <p:cNvSpPr txBox="1"/>
          <p:nvPr/>
        </p:nvSpPr>
        <p:spPr>
          <a:xfrm>
            <a:off x="6035040" y="2577302"/>
            <a:ext cx="256032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lane-2-chip-7-tile"/>
          <p:cNvSpPr/>
          <p:nvPr/>
        </p:nvSpPr>
        <p:spPr>
          <a:xfrm>
            <a:off x="6327648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51" name="lane-2-chip-7" descr="/Users/a/MAI/DID-research/FIN/presentation/assets/logos/claud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8796" y="2732097"/>
            <a:ext cx="173736" cy="173736"/>
          </a:xfrm>
          <a:prstGeom prst="rect">
            <a:avLst/>
          </a:prstGeom>
        </p:spPr>
      </p:pic>
      <p:sp>
        <p:nvSpPr>
          <p:cNvPr id="52" name="lane-2-chip-8-tile"/>
          <p:cNvSpPr/>
          <p:nvPr/>
        </p:nvSpPr>
        <p:spPr>
          <a:xfrm>
            <a:off x="6620256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53" name="lane-2-chip-8" descr="/Users/a/MAI/DID-research/FIN/presentation/assets/logos/openai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1404" y="2732097"/>
            <a:ext cx="173736" cy="173736"/>
          </a:xfrm>
          <a:prstGeom prst="rect">
            <a:avLst/>
          </a:prstGeom>
        </p:spPr>
      </p:pic>
      <p:sp>
        <p:nvSpPr>
          <p:cNvPr id="54" name="lane-2-chip-9-tile"/>
          <p:cNvSpPr/>
          <p:nvPr/>
        </p:nvSpPr>
        <p:spPr>
          <a:xfrm>
            <a:off x="6912864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55" name="lane-2-chip-9" descr="/Users/a/MAI/DID-research/FIN/presentation/assets/logos/claud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54012" y="2732097"/>
            <a:ext cx="173736" cy="173736"/>
          </a:xfrm>
          <a:prstGeom prst="rect">
            <a:avLst/>
          </a:prstGeom>
        </p:spPr>
      </p:pic>
      <p:sp>
        <p:nvSpPr>
          <p:cNvPr id="56" name="lane-2-chip-10"/>
          <p:cNvSpPr txBox="1"/>
          <p:nvPr/>
        </p:nvSpPr>
        <p:spPr>
          <a:xfrm>
            <a:off x="7205472" y="2690949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57" name="lane-2-result"/>
          <p:cNvSpPr txBox="1"/>
          <p:nvPr/>
        </p:nvSpPr>
        <p:spPr>
          <a:xfrm>
            <a:off x="7635240" y="2577302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миссии словами 45–46 из 48, правило — 0</a:t>
            </a:r>
            <a:endParaRPr lang="en-US" sz="1400" dirty="0"/>
          </a:p>
        </p:txBody>
      </p:sp>
      <p:sp>
        <p:nvSpPr>
          <p:cNvPr id="58" name="lane-3-rule"/>
          <p:cNvSpPr/>
          <p:nvPr/>
        </p:nvSpPr>
        <p:spPr>
          <a:xfrm>
            <a:off x="548640" y="3060627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59" name="lane-3-name"/>
          <p:cNvSpPr txBox="1"/>
          <p:nvPr/>
        </p:nvSpPr>
        <p:spPr>
          <a:xfrm>
            <a:off x="548640" y="3060627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R3. Цена ожидания модели</a:t>
            </a:r>
            <a:endParaRPr lang="en-US" sz="1600" dirty="0"/>
          </a:p>
        </p:txBody>
      </p:sp>
      <p:sp>
        <p:nvSpPr>
          <p:cNvPr id="60" name="lane-3-chip-1-tile"/>
          <p:cNvSpPr/>
          <p:nvPr/>
        </p:nvSpPr>
        <p:spPr>
          <a:xfrm>
            <a:off x="4572000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1" name="lane-3-chip-1" descr="/Users/a/MAI/DID-research/FIN/presentation/assets/logos/gemini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13148" y="3215422"/>
            <a:ext cx="173736" cy="173736"/>
          </a:xfrm>
          <a:prstGeom prst="rect">
            <a:avLst/>
          </a:prstGeom>
        </p:spPr>
      </p:pic>
      <p:sp>
        <p:nvSpPr>
          <p:cNvPr id="62" name="lane-3-chip-2-tile"/>
          <p:cNvSpPr/>
          <p:nvPr/>
        </p:nvSpPr>
        <p:spPr>
          <a:xfrm>
            <a:off x="4864608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3" name="lane-3-chip-2" descr="/Users/a/MAI/DID-research/FIN/presentation/assets/logos/claud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05756" y="3215422"/>
            <a:ext cx="173736" cy="173736"/>
          </a:xfrm>
          <a:prstGeom prst="rect">
            <a:avLst/>
          </a:prstGeom>
        </p:spPr>
      </p:pic>
      <p:sp>
        <p:nvSpPr>
          <p:cNvPr id="64" name="lane-3-chip-3-tile"/>
          <p:cNvSpPr/>
          <p:nvPr/>
        </p:nvSpPr>
        <p:spPr>
          <a:xfrm>
            <a:off x="5157216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65" name="lane-3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98364" y="3215422"/>
            <a:ext cx="173736" cy="173736"/>
          </a:xfrm>
          <a:prstGeom prst="rect">
            <a:avLst/>
          </a:prstGeom>
        </p:spPr>
      </p:pic>
      <p:sp>
        <p:nvSpPr>
          <p:cNvPr id="66" name="lane-3-chip-4"/>
          <p:cNvSpPr txBox="1"/>
          <p:nvPr/>
        </p:nvSpPr>
        <p:spPr>
          <a:xfrm>
            <a:off x="5449824" y="3174274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67" name="lane-3-result"/>
          <p:cNvSpPr txBox="1"/>
          <p:nvPr/>
        </p:nvSpPr>
        <p:spPr>
          <a:xfrm>
            <a:off x="7635240" y="3060627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ждать на месте — минус 73 очка</a:t>
            </a:r>
            <a:endParaRPr lang="en-US" sz="1400" dirty="0"/>
          </a:p>
        </p:txBody>
      </p:sp>
      <p:sp>
        <p:nvSpPr>
          <p:cNvPr id="68" name="lane-4-rule"/>
          <p:cNvSpPr/>
          <p:nvPr/>
        </p:nvSpPr>
        <p:spPr>
          <a:xfrm>
            <a:off x="548640" y="3543953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9" name="lane-4-name"/>
          <p:cNvSpPr txBox="1"/>
          <p:nvPr/>
        </p:nvSpPr>
        <p:spPr>
          <a:xfrm>
            <a:off x="548640" y="3543953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R16. Не стоять, пока модель думает</a:t>
            </a:r>
            <a:endParaRPr lang="en-US" sz="1600" dirty="0"/>
          </a:p>
        </p:txBody>
      </p:sp>
      <p:sp>
        <p:nvSpPr>
          <p:cNvPr id="70" name="lane-4-chip-1-tile"/>
          <p:cNvSpPr/>
          <p:nvPr/>
        </p:nvSpPr>
        <p:spPr>
          <a:xfrm>
            <a:off x="4572000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1" name="lane-4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13148" y="3698748"/>
            <a:ext cx="173736" cy="173736"/>
          </a:xfrm>
          <a:prstGeom prst="rect">
            <a:avLst/>
          </a:prstGeom>
        </p:spPr>
      </p:pic>
      <p:sp>
        <p:nvSpPr>
          <p:cNvPr id="72" name="lane-4-chip-2-tile"/>
          <p:cNvSpPr/>
          <p:nvPr/>
        </p:nvSpPr>
        <p:spPr>
          <a:xfrm>
            <a:off x="4864608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3" name="lane-4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05756" y="3698748"/>
            <a:ext cx="173736" cy="173736"/>
          </a:xfrm>
          <a:prstGeom prst="rect">
            <a:avLst/>
          </a:prstGeom>
        </p:spPr>
      </p:pic>
      <p:sp>
        <p:nvSpPr>
          <p:cNvPr id="74" name="lane-4-chip-3-tile"/>
          <p:cNvSpPr/>
          <p:nvPr/>
        </p:nvSpPr>
        <p:spPr>
          <a:xfrm>
            <a:off x="5157216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5" name="lane-4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98364" y="3698748"/>
            <a:ext cx="173736" cy="173736"/>
          </a:xfrm>
          <a:prstGeom prst="rect">
            <a:avLst/>
          </a:prstGeom>
        </p:spPr>
      </p:pic>
      <p:sp>
        <p:nvSpPr>
          <p:cNvPr id="76" name="lane-4-chip-4-tile"/>
          <p:cNvSpPr/>
          <p:nvPr/>
        </p:nvSpPr>
        <p:spPr>
          <a:xfrm>
            <a:off x="5449824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7" name="lane-4-chip-4" descr="/Users/a/MAI/DID-research/FIN/presentation/assets/logos/openai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90972" y="3698748"/>
            <a:ext cx="173736" cy="173736"/>
          </a:xfrm>
          <a:prstGeom prst="rect">
            <a:avLst/>
          </a:prstGeom>
        </p:spPr>
      </p:pic>
      <p:sp>
        <p:nvSpPr>
          <p:cNvPr id="78" name="lane-4-chip-5-tile"/>
          <p:cNvSpPr/>
          <p:nvPr/>
        </p:nvSpPr>
        <p:spPr>
          <a:xfrm>
            <a:off x="5742432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79" name="lane-4-chip-5" descr="/Users/a/MAI/DID-research/FIN/presentation/assets/logos/claud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83580" y="3698748"/>
            <a:ext cx="173736" cy="173736"/>
          </a:xfrm>
          <a:prstGeom prst="rect">
            <a:avLst/>
          </a:prstGeom>
        </p:spPr>
      </p:pic>
      <p:sp>
        <p:nvSpPr>
          <p:cNvPr id="80" name="lane-4-chip-6"/>
          <p:cNvSpPr txBox="1"/>
          <p:nvPr/>
        </p:nvSpPr>
        <p:spPr>
          <a:xfrm>
            <a:off x="6035040" y="365760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81" name="lane-4-result"/>
          <p:cNvSpPr txBox="1"/>
          <p:nvPr/>
        </p:nvSpPr>
        <p:spPr>
          <a:xfrm>
            <a:off x="7635240" y="3543953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 имитаторе 30,3 → 72,3; выключено</a:t>
            </a:r>
            <a:endParaRPr lang="en-US" sz="1400" dirty="0"/>
          </a:p>
        </p:txBody>
      </p:sp>
      <p:sp>
        <p:nvSpPr>
          <p:cNvPr id="82" name="lane-5-rule"/>
          <p:cNvSpPr/>
          <p:nvPr/>
        </p:nvSpPr>
        <p:spPr>
          <a:xfrm>
            <a:off x="548640" y="4027279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3" name="lane-5-name"/>
          <p:cNvSpPr txBox="1"/>
          <p:nvPr/>
        </p:nvSpPr>
        <p:spPr>
          <a:xfrm>
            <a:off x="548640" y="4027279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J1. Jev — быстрый сторож миссии</a:t>
            </a:r>
            <a:endParaRPr lang="en-US" sz="1600" dirty="0"/>
          </a:p>
        </p:txBody>
      </p:sp>
      <p:sp>
        <p:nvSpPr>
          <p:cNvPr id="84" name="lane-5-chip-1-tile"/>
          <p:cNvSpPr/>
          <p:nvPr/>
        </p:nvSpPr>
        <p:spPr>
          <a:xfrm>
            <a:off x="4572000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85" name="lane-5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13148" y="4182074"/>
            <a:ext cx="173736" cy="173736"/>
          </a:xfrm>
          <a:prstGeom prst="rect">
            <a:avLst/>
          </a:prstGeom>
        </p:spPr>
      </p:pic>
      <p:sp>
        <p:nvSpPr>
          <p:cNvPr id="86" name="lane-5-chip-2-tile"/>
          <p:cNvSpPr/>
          <p:nvPr/>
        </p:nvSpPr>
        <p:spPr>
          <a:xfrm>
            <a:off x="4864608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87" name="lane-5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05756" y="4182074"/>
            <a:ext cx="173736" cy="173736"/>
          </a:xfrm>
          <a:prstGeom prst="rect">
            <a:avLst/>
          </a:prstGeom>
        </p:spPr>
      </p:pic>
      <p:sp>
        <p:nvSpPr>
          <p:cNvPr id="88" name="lane-5-chip-3-tile"/>
          <p:cNvSpPr/>
          <p:nvPr/>
        </p:nvSpPr>
        <p:spPr>
          <a:xfrm>
            <a:off x="5157216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89" name="lane-5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98364" y="4182074"/>
            <a:ext cx="173736" cy="173736"/>
          </a:xfrm>
          <a:prstGeom prst="rect">
            <a:avLst/>
          </a:prstGeom>
        </p:spPr>
      </p:pic>
      <p:sp>
        <p:nvSpPr>
          <p:cNvPr id="90" name="lane-5-chip-4-tile"/>
          <p:cNvSpPr/>
          <p:nvPr/>
        </p:nvSpPr>
        <p:spPr>
          <a:xfrm>
            <a:off x="5449824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1" name="lane-5-chip-4" descr="/Users/a/MAI/DID-research/FIN/presentation/assets/logos/claud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90972" y="4182074"/>
            <a:ext cx="173736" cy="173736"/>
          </a:xfrm>
          <a:prstGeom prst="rect">
            <a:avLst/>
          </a:prstGeom>
        </p:spPr>
      </p:pic>
      <p:sp>
        <p:nvSpPr>
          <p:cNvPr id="92" name="lane-5-chip-5-tile"/>
          <p:cNvSpPr/>
          <p:nvPr/>
        </p:nvSpPr>
        <p:spPr>
          <a:xfrm>
            <a:off x="5742432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3" name="lane-5-chip-5" descr="/Users/a/MAI/DID-research/FIN/presentation/assets/logos/openai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83580" y="4182074"/>
            <a:ext cx="173736" cy="173736"/>
          </a:xfrm>
          <a:prstGeom prst="rect">
            <a:avLst/>
          </a:prstGeom>
        </p:spPr>
      </p:pic>
      <p:sp>
        <p:nvSpPr>
          <p:cNvPr id="94" name="lane-5-chip-6"/>
          <p:cNvSpPr txBox="1"/>
          <p:nvPr/>
        </p:nvSpPr>
        <p:spPr>
          <a:xfrm>
            <a:off x="6035040" y="4140926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95" name="lane-5-result"/>
          <p:cNvSpPr txBox="1"/>
          <p:nvPr/>
        </p:nvSpPr>
        <p:spPr>
          <a:xfrm>
            <a:off x="7635240" y="4027279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ответ 0,4 с; ревью защиты денег и ключа</a:t>
            </a:r>
            <a:endParaRPr lang="en-US" sz="1400" dirty="0"/>
          </a:p>
        </p:txBody>
      </p:sp>
      <p:sp>
        <p:nvSpPr>
          <p:cNvPr id="96" name="lane-6-rule"/>
          <p:cNvSpPr/>
          <p:nvPr/>
        </p:nvSpPr>
        <p:spPr>
          <a:xfrm>
            <a:off x="548640" y="4510605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7" name="lane-6-name"/>
          <p:cNvSpPr txBox="1"/>
          <p:nvPr/>
        </p:nvSpPr>
        <p:spPr>
          <a:xfrm>
            <a:off x="548640" y="4510605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M1. Два робота с координацией</a:t>
            </a:r>
            <a:endParaRPr lang="en-US" sz="1600" dirty="0"/>
          </a:p>
        </p:txBody>
      </p:sp>
      <p:sp>
        <p:nvSpPr>
          <p:cNvPr id="98" name="lane-6-chip-1-tile"/>
          <p:cNvSpPr/>
          <p:nvPr/>
        </p:nvSpPr>
        <p:spPr>
          <a:xfrm>
            <a:off x="4572000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99" name="lane-6-chip-1" descr="/Users/a/MAI/DID-research/FIN/presentation/assets/logos/claud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13148" y="4665399"/>
            <a:ext cx="173736" cy="173736"/>
          </a:xfrm>
          <a:prstGeom prst="rect">
            <a:avLst/>
          </a:prstGeom>
        </p:spPr>
      </p:pic>
      <p:sp>
        <p:nvSpPr>
          <p:cNvPr id="100" name="lane-6-chip-2-tile"/>
          <p:cNvSpPr/>
          <p:nvPr/>
        </p:nvSpPr>
        <p:spPr>
          <a:xfrm>
            <a:off x="4864608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01" name="lane-6-chip-2" descr="/Users/a/MAI/DID-research/FIN/presentation/assets/logos/openai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05756" y="4665399"/>
            <a:ext cx="173736" cy="173736"/>
          </a:xfrm>
          <a:prstGeom prst="rect">
            <a:avLst/>
          </a:prstGeom>
        </p:spPr>
      </p:pic>
      <p:sp>
        <p:nvSpPr>
          <p:cNvPr id="102" name="lane-6-chip-3-tile"/>
          <p:cNvSpPr/>
          <p:nvPr/>
        </p:nvSpPr>
        <p:spPr>
          <a:xfrm>
            <a:off x="5157216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03" name="lane-6-chip-3" descr="/Users/a/MAI/DID-research/FIN/presentation/assets/logos/claud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98364" y="4665399"/>
            <a:ext cx="173736" cy="173736"/>
          </a:xfrm>
          <a:prstGeom prst="rect">
            <a:avLst/>
          </a:prstGeom>
        </p:spPr>
      </p:pic>
      <p:sp>
        <p:nvSpPr>
          <p:cNvPr id="104" name="lane-6-chip-4-tile"/>
          <p:cNvSpPr/>
          <p:nvPr/>
        </p:nvSpPr>
        <p:spPr>
          <a:xfrm>
            <a:off x="5449824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05" name="lane-6-chip-4" descr="/Users/a/MAI/DID-research/FIN/presentation/assets/logos/openai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490972" y="4665399"/>
            <a:ext cx="173736" cy="173736"/>
          </a:xfrm>
          <a:prstGeom prst="rect">
            <a:avLst/>
          </a:prstGeom>
        </p:spPr>
      </p:pic>
      <p:sp>
        <p:nvSpPr>
          <p:cNvPr id="106" name="lane-6-chip-5-tile"/>
          <p:cNvSpPr/>
          <p:nvPr/>
        </p:nvSpPr>
        <p:spPr>
          <a:xfrm>
            <a:off x="5742432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07" name="lane-6-chip-5" descr="/Users/a/MAI/DID-research/FIN/presentation/assets/logos/claud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83580" y="4665399"/>
            <a:ext cx="173736" cy="173736"/>
          </a:xfrm>
          <a:prstGeom prst="rect">
            <a:avLst/>
          </a:prstGeom>
        </p:spPr>
      </p:pic>
      <p:sp>
        <p:nvSpPr>
          <p:cNvPr id="108" name="lane-6-chip-6"/>
          <p:cNvSpPr txBox="1"/>
          <p:nvPr/>
        </p:nvSpPr>
        <p:spPr>
          <a:xfrm>
            <a:off x="6035040" y="4624251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09" name="lane-6-result"/>
          <p:cNvSpPr txBox="1"/>
          <p:nvPr/>
        </p:nvSpPr>
        <p:spPr>
          <a:xfrm>
            <a:off x="7635240" y="4510605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против пары без связи прогон короче на 26 с</a:t>
            </a:r>
            <a:endParaRPr lang="en-US" sz="1400" dirty="0"/>
          </a:p>
        </p:txBody>
      </p:sp>
      <p:sp>
        <p:nvSpPr>
          <p:cNvPr id="110" name="lane-7-rule"/>
          <p:cNvSpPr/>
          <p:nvPr/>
        </p:nvSpPr>
        <p:spPr>
          <a:xfrm>
            <a:off x="548640" y="4993930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11" name="lane-7-name"/>
          <p:cNvSpPr txBox="1"/>
          <p:nvPr/>
        </p:nvSpPr>
        <p:spPr>
          <a:xfrm>
            <a:off x="548640" y="4993930"/>
            <a:ext cx="3931920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F2. SLAM вместо готовой карты</a:t>
            </a:r>
            <a:endParaRPr lang="en-US" sz="1600" dirty="0"/>
          </a:p>
        </p:txBody>
      </p:sp>
      <p:sp>
        <p:nvSpPr>
          <p:cNvPr id="112" name="lane-7-chip-1-tile"/>
          <p:cNvSpPr/>
          <p:nvPr/>
        </p:nvSpPr>
        <p:spPr>
          <a:xfrm>
            <a:off x="4572000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3" name="lane-7-chip-1" descr="/Users/a/MAI/DID-research/FIN/presentation/assets/logos/gemini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613148" y="5148725"/>
            <a:ext cx="173736" cy="173736"/>
          </a:xfrm>
          <a:prstGeom prst="rect">
            <a:avLst/>
          </a:prstGeom>
        </p:spPr>
      </p:pic>
      <p:sp>
        <p:nvSpPr>
          <p:cNvPr id="114" name="lane-7-chip-2-tile"/>
          <p:cNvSpPr/>
          <p:nvPr/>
        </p:nvSpPr>
        <p:spPr>
          <a:xfrm>
            <a:off x="4864608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5" name="lane-7-chip-2" descr="/Users/a/MAI/DID-research/FIN/presentation/assets/logos/claud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905756" y="5148725"/>
            <a:ext cx="173736" cy="173736"/>
          </a:xfrm>
          <a:prstGeom prst="rect">
            <a:avLst/>
          </a:prstGeom>
        </p:spPr>
      </p:pic>
      <p:sp>
        <p:nvSpPr>
          <p:cNvPr id="116" name="lane-7-chip-3-tile"/>
          <p:cNvSpPr/>
          <p:nvPr/>
        </p:nvSpPr>
        <p:spPr>
          <a:xfrm>
            <a:off x="5157216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7" name="lane-7-chip-3" descr="/Users/a/MAI/DID-research/FIN/presentation/assets/logos/openai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198364" y="5148725"/>
            <a:ext cx="173736" cy="173736"/>
          </a:xfrm>
          <a:prstGeom prst="rect">
            <a:avLst/>
          </a:prstGeom>
        </p:spPr>
      </p:pic>
      <p:sp>
        <p:nvSpPr>
          <p:cNvPr id="118" name="lane-7-chip-4-tile"/>
          <p:cNvSpPr/>
          <p:nvPr/>
        </p:nvSpPr>
        <p:spPr>
          <a:xfrm>
            <a:off x="5449824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19" name="lane-7-chip-4" descr="/Users/a/MAI/DID-research/FIN/presentation/assets/logos/claud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490972" y="5148725"/>
            <a:ext cx="173736" cy="173736"/>
          </a:xfrm>
          <a:prstGeom prst="rect">
            <a:avLst/>
          </a:prstGeom>
        </p:spPr>
      </p:pic>
      <p:sp>
        <p:nvSpPr>
          <p:cNvPr id="120" name="lane-7-chip-5-tile"/>
          <p:cNvSpPr/>
          <p:nvPr/>
        </p:nvSpPr>
        <p:spPr>
          <a:xfrm>
            <a:off x="5742432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21" name="lane-7-chip-5" descr="/Users/a/MAI/DID-research/FIN/presentation/assets/logos/openai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783580" y="5148725"/>
            <a:ext cx="173736" cy="173736"/>
          </a:xfrm>
          <a:prstGeom prst="rect">
            <a:avLst/>
          </a:prstGeom>
        </p:spPr>
      </p:pic>
      <p:sp>
        <p:nvSpPr>
          <p:cNvPr id="122" name="lane-7-chip-6-tile"/>
          <p:cNvSpPr/>
          <p:nvPr/>
        </p:nvSpPr>
        <p:spPr>
          <a:xfrm>
            <a:off x="6035040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23" name="lane-7-chip-6" descr="/Users/a/MAI/DID-research/FIN/presentation/assets/logos/claud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076188" y="5148725"/>
            <a:ext cx="173736" cy="173736"/>
          </a:xfrm>
          <a:prstGeom prst="rect">
            <a:avLst/>
          </a:prstGeom>
        </p:spPr>
      </p:pic>
      <p:sp>
        <p:nvSpPr>
          <p:cNvPr id="124" name="lane-7-chip-7-tile"/>
          <p:cNvSpPr/>
          <p:nvPr/>
        </p:nvSpPr>
        <p:spPr>
          <a:xfrm>
            <a:off x="6327648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pic>
        <p:nvPicPr>
          <p:cNvPr id="125" name="lane-7-chip-7" descr="/Users/a/MAI/DID-research/FIN/presentation/assets/logos/openai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368796" y="5148725"/>
            <a:ext cx="173736" cy="173736"/>
          </a:xfrm>
          <a:prstGeom prst="rect">
            <a:avLst/>
          </a:prstGeom>
        </p:spPr>
      </p:pic>
      <p:sp>
        <p:nvSpPr>
          <p:cNvPr id="126" name="lane-7-chip-8"/>
          <p:cNvSpPr txBox="1"/>
          <p:nvPr/>
        </p:nvSpPr>
        <p:spPr>
          <a:xfrm>
            <a:off x="6620256" y="5107577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27" name="lane-7-result"/>
          <p:cNvSpPr txBox="1"/>
          <p:nvPr/>
        </p:nvSpPr>
        <p:spPr>
          <a:xfrm>
            <a:off x="7635240" y="4993930"/>
            <a:ext cx="4005072" cy="483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карта робота совпала с готовой на 96–99%</a:t>
            </a:r>
            <a:endParaRPr lang="en-US" sz="1400" dirty="0"/>
          </a:p>
        </p:txBody>
      </p:sp>
      <p:sp>
        <p:nvSpPr>
          <p:cNvPr id="128" name="conclusion-card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9" name="conclusion-text"/>
          <p:cNvSpPr txBox="1"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Счёт.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27 кругов ревью по 15 работам. Ни одна работа не прошла ревью с первого раза: после первого круга всегда были исправления.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Приложение. Уровни 0–4: адаптация — с оговоркой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Сверка с условием задачи: что есть на каждом уровне и что нужно сказать честно</a:t>
            </a:r>
            <a:endParaRPr lang="en-US" sz="1600" dirty="0"/>
          </a:p>
        </p:txBody>
      </p:sp>
      <p:sp>
        <p:nvSpPr>
          <p:cNvPr id="5" name="levels-head-1"/>
          <p:cNvSpPr txBox="1"/>
          <p:nvPr/>
        </p:nvSpPr>
        <p:spPr>
          <a:xfrm>
            <a:off x="548640" y="1691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Уровень</a:t>
            </a:r>
            <a:endParaRPr lang="en-US" sz="1300" dirty="0"/>
          </a:p>
        </p:txBody>
      </p:sp>
      <p:sp>
        <p:nvSpPr>
          <p:cNvPr id="6" name="levels-head-2"/>
          <p:cNvSpPr txBox="1"/>
          <p:nvPr/>
        </p:nvSpPr>
        <p:spPr>
          <a:xfrm>
            <a:off x="3017520" y="16916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7" name="levels-head-3"/>
          <p:cNvSpPr txBox="1"/>
          <p:nvPr/>
        </p:nvSpPr>
        <p:spPr>
          <a:xfrm>
            <a:off x="397764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Что есть</a:t>
            </a:r>
            <a:endParaRPr lang="en-US" sz="1300" dirty="0"/>
          </a:p>
        </p:txBody>
      </p:sp>
      <p:sp>
        <p:nvSpPr>
          <p:cNvPr id="8" name="levels-head-4"/>
          <p:cNvSpPr txBox="1"/>
          <p:nvPr/>
        </p:nvSpPr>
        <p:spPr>
          <a:xfrm>
            <a:off x="8366760" y="169164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Оговорка</a:t>
            </a:r>
            <a:endParaRPr lang="en-US" sz="1300" dirty="0"/>
          </a:p>
        </p:txBody>
      </p:sp>
      <p:sp>
        <p:nvSpPr>
          <p:cNvPr id="9" name="levels-rule-1"/>
          <p:cNvSpPr/>
          <p:nvPr/>
        </p:nvSpPr>
        <p:spPr>
          <a:xfrm>
            <a:off x="548640" y="200253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0" name="levels-1-1"/>
          <p:cNvSpPr txBox="1"/>
          <p:nvPr/>
        </p:nvSpPr>
        <p:spPr>
          <a:xfrm>
            <a:off x="548640" y="2002536"/>
            <a:ext cx="22860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 Запуск среды</a:t>
            </a:r>
            <a:endParaRPr lang="en-US" sz="1500" dirty="0"/>
          </a:p>
        </p:txBody>
      </p:sp>
      <p:sp>
        <p:nvSpPr>
          <p:cNvPr id="11" name="levels-1-2"/>
          <p:cNvSpPr txBox="1"/>
          <p:nvPr/>
        </p:nvSpPr>
        <p:spPr>
          <a:xfrm>
            <a:off x="3017520" y="2002536"/>
            <a:ext cx="777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levels-1-3"/>
          <p:cNvSpPr txBox="1"/>
          <p:nvPr/>
        </p:nvSpPr>
        <p:spPr>
          <a:xfrm>
            <a:off x="3977640" y="2002536"/>
            <a:ext cx="4206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Одна команда поднимает мир, робота и судью; есть ручное управление и проверка, что данные идут</a:t>
            </a:r>
            <a:endParaRPr lang="en-US" sz="1500" dirty="0"/>
          </a:p>
        </p:txBody>
      </p:sp>
      <p:sp>
        <p:nvSpPr>
          <p:cNvPr id="13" name="levels-1-4"/>
          <p:cNvSpPr txBox="1"/>
          <p:nvPr/>
        </p:nvSpPr>
        <p:spPr>
          <a:xfrm>
            <a:off x="8366760" y="2002536"/>
            <a:ext cx="3090672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—</a:t>
            </a:r>
            <a:endParaRPr lang="en-US" sz="1500" dirty="0"/>
          </a:p>
        </p:txBody>
      </p:sp>
      <p:sp>
        <p:nvSpPr>
          <p:cNvPr id="14" name="levels-rule-2"/>
          <p:cNvSpPr/>
          <p:nvPr/>
        </p:nvSpPr>
        <p:spPr>
          <a:xfrm>
            <a:off x="548640" y="2845613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levels-2-1"/>
          <p:cNvSpPr txBox="1"/>
          <p:nvPr/>
        </p:nvSpPr>
        <p:spPr>
          <a:xfrm>
            <a:off x="548640" y="2845613"/>
            <a:ext cx="22860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Навигация</a:t>
            </a:r>
            <a:endParaRPr lang="en-US" sz="1500" dirty="0"/>
          </a:p>
        </p:txBody>
      </p:sp>
      <p:sp>
        <p:nvSpPr>
          <p:cNvPr id="16" name="levels-2-2"/>
          <p:cNvSpPr txBox="1"/>
          <p:nvPr/>
        </p:nvSpPr>
        <p:spPr>
          <a:xfrm>
            <a:off x="3017520" y="2845613"/>
            <a:ext cx="777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levels-2-3"/>
          <p:cNvSpPr txBox="1"/>
          <p:nvPr/>
        </p:nvSpPr>
        <p:spPr>
          <a:xfrm>
            <a:off x="3977640" y="2845613"/>
            <a:ext cx="4206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Путь по сетке карты с ценой клеток, запас 17 см от стен; команды скорости — как в условии</a:t>
            </a:r>
            <a:endParaRPr lang="en-US" sz="1500" dirty="0"/>
          </a:p>
        </p:txBody>
      </p:sp>
      <p:sp>
        <p:nvSpPr>
          <p:cNvPr id="18" name="levels-2-4"/>
          <p:cNvSpPr txBox="1"/>
          <p:nvPr/>
        </p:nvSpPr>
        <p:spPr>
          <a:xfrm>
            <a:off x="8366760" y="2845613"/>
            <a:ext cx="3090672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Nav2 не используется: условие это разрешает</a:t>
            </a:r>
            <a:endParaRPr lang="en-US" sz="1500" dirty="0"/>
          </a:p>
        </p:txBody>
      </p:sp>
      <p:sp>
        <p:nvSpPr>
          <p:cNvPr id="19" name="levels-rule-3"/>
          <p:cNvSpPr/>
          <p:nvPr/>
        </p:nvSpPr>
        <p:spPr>
          <a:xfrm>
            <a:off x="548640" y="3688690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0" name="levels-3-1"/>
          <p:cNvSpPr txBox="1"/>
          <p:nvPr/>
        </p:nvSpPr>
        <p:spPr>
          <a:xfrm>
            <a:off x="548640" y="3688690"/>
            <a:ext cx="22860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Планировщик на языковой модели</a:t>
            </a:r>
            <a:endParaRPr lang="en-US" sz="1500" dirty="0"/>
          </a:p>
        </p:txBody>
      </p:sp>
      <p:sp>
        <p:nvSpPr>
          <p:cNvPr id="21" name="levels-3-2"/>
          <p:cNvSpPr txBox="1"/>
          <p:nvPr/>
        </p:nvSpPr>
        <p:spPr>
          <a:xfrm>
            <a:off x="3017520" y="3688690"/>
            <a:ext cx="777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levels-3-3"/>
          <p:cNvSpPr txBox="1"/>
          <p:nvPr/>
        </p:nvSpPr>
        <p:spPr>
          <a:xfrm>
            <a:off x="3977640" y="3688690"/>
            <a:ext cx="4206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Модель по тексту миссии и сводке состояния возвращает подцели; исполняет программа. Миссии словами: 45–46 из 48</a:t>
            </a:r>
            <a:endParaRPr lang="en-US" sz="1500" dirty="0"/>
          </a:p>
        </p:txBody>
      </p:sp>
      <p:sp>
        <p:nvSpPr>
          <p:cNvPr id="23" name="levels-3-4"/>
          <p:cNvSpPr txBox="1"/>
          <p:nvPr/>
        </p:nvSpPr>
        <p:spPr>
          <a:xfrm>
            <a:off x="8366760" y="3688690"/>
            <a:ext cx="3090672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Режим «ехать, пока модель думает» — только на имитаторе, по умолчанию выключен</a:t>
            </a:r>
            <a:endParaRPr lang="en-US" sz="1500" dirty="0"/>
          </a:p>
        </p:txBody>
      </p:sp>
      <p:sp>
        <p:nvSpPr>
          <p:cNvPr id="24" name="levels-rule-4"/>
          <p:cNvSpPr/>
          <p:nvPr/>
        </p:nvSpPr>
        <p:spPr>
          <a:xfrm>
            <a:off x="548640" y="453176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5" name="levels-4-1"/>
          <p:cNvSpPr txBox="1"/>
          <p:nvPr/>
        </p:nvSpPr>
        <p:spPr>
          <a:xfrm>
            <a:off x="548640" y="4531766"/>
            <a:ext cx="22860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Научный цикл</a:t>
            </a:r>
            <a:endParaRPr lang="en-US" sz="1500" dirty="0"/>
          </a:p>
        </p:txBody>
      </p:sp>
      <p:sp>
        <p:nvSpPr>
          <p:cNvPr id="26" name="levels-4-2"/>
          <p:cNvSpPr txBox="1"/>
          <p:nvPr/>
        </p:nvSpPr>
        <p:spPr>
          <a:xfrm>
            <a:off x="3017520" y="4531766"/>
            <a:ext cx="777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✓</a:t>
            </a:r>
            <a:endParaRPr lang="en-US" sz="2000" dirty="0"/>
          </a:p>
        </p:txBody>
      </p:sp>
      <p:sp>
        <p:nvSpPr>
          <p:cNvPr id="27" name="levels-4-3"/>
          <p:cNvSpPr txBox="1"/>
          <p:nvPr/>
        </p:nvSpPr>
        <p:spPr>
          <a:xfrm>
            <a:off x="3977640" y="4531766"/>
            <a:ext cx="4206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Журнал гипотез; расследования «вопрос — опыт — вывод»; опыт — самый дешёвый из различающих объяснения</a:t>
            </a:r>
            <a:endParaRPr lang="en-US" sz="1500" dirty="0"/>
          </a:p>
        </p:txBody>
      </p:sp>
      <p:sp>
        <p:nvSpPr>
          <p:cNvPr id="28" name="levels-4-4"/>
          <p:cNvSpPr txBox="1"/>
          <p:nvPr/>
        </p:nvSpPr>
        <p:spPr>
          <a:xfrm>
            <a:off x="8366760" y="4531766"/>
            <a:ext cx="3090672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Гипотезы робота выдвигает и проверяет программа; модель — только в опыте «в тени»</a:t>
            </a:r>
            <a:endParaRPr lang="en-US" sz="1500" dirty="0"/>
          </a:p>
        </p:txBody>
      </p:sp>
      <p:sp>
        <p:nvSpPr>
          <p:cNvPr id="29" name="levels-rule-5"/>
          <p:cNvSpPr/>
          <p:nvPr/>
        </p:nvSpPr>
        <p:spPr>
          <a:xfrm>
            <a:off x="548640" y="5374843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0" name="levels-5-1"/>
          <p:cNvSpPr txBox="1"/>
          <p:nvPr/>
        </p:nvSpPr>
        <p:spPr>
          <a:xfrm>
            <a:off x="548640" y="5374843"/>
            <a:ext cx="228600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Адаптация</a:t>
            </a:r>
            <a:endParaRPr lang="en-US" sz="1500" dirty="0"/>
          </a:p>
        </p:txBody>
      </p:sp>
      <p:sp>
        <p:nvSpPr>
          <p:cNvPr id="31" name="levels-5-2"/>
          <p:cNvSpPr txBox="1"/>
          <p:nvPr/>
        </p:nvSpPr>
        <p:spPr>
          <a:xfrm>
            <a:off x="3017520" y="5374843"/>
            <a:ext cx="777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частично</a:t>
            </a:r>
            <a:endParaRPr lang="en-US" sz="1300" dirty="0"/>
          </a:p>
        </p:txBody>
      </p:sp>
      <p:sp>
        <p:nvSpPr>
          <p:cNvPr id="32" name="levels-5-3"/>
          <p:cNvSpPr txBox="1"/>
          <p:nvPr/>
        </p:nvSpPr>
        <p:spPr>
          <a:xfrm>
            <a:off x="3977640" y="5374843"/>
            <a:ext cx="4206240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Показ: на 31-й секунде дорожает грунт — робот меряет расход; на 42-й шумит датчик — вывод «сбой», ждёт 36 с</a:t>
            </a:r>
            <a:endParaRPr lang="en-US" sz="1500" dirty="0"/>
          </a:p>
        </p:txBody>
      </p:sp>
      <p:sp>
        <p:nvSpPr>
          <p:cNvPr id="33" name="levels-5-4"/>
          <p:cNvSpPr txBox="1"/>
          <p:nvPr/>
        </p:nvSpPr>
        <p:spPr>
          <a:xfrm>
            <a:off x="8366760" y="5374843"/>
            <a:ext cx="3090672" cy="843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Очки даёт распознавание сбоя датчика (+6,4); реакция на грунт — нет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Приложение. Критерии оценки: чем закрыт каждый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Веса — из условия задачи; в правом столбце — слабое место, о котором мы знаем</a:t>
            </a:r>
            <a:endParaRPr lang="en-US" sz="1600" dirty="0"/>
          </a:p>
        </p:txBody>
      </p:sp>
      <p:sp>
        <p:nvSpPr>
          <p:cNvPr id="5" name="criteria-head-1"/>
          <p:cNvSpPr txBox="1"/>
          <p:nvPr/>
        </p:nvSpPr>
        <p:spPr>
          <a:xfrm>
            <a:off x="548640" y="1691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Критерий и вес</a:t>
            </a:r>
            <a:endParaRPr lang="en-US" sz="1300" dirty="0"/>
          </a:p>
        </p:txBody>
      </p:sp>
      <p:sp>
        <p:nvSpPr>
          <p:cNvPr id="6" name="criteria-head-2"/>
          <p:cNvSpPr txBox="1"/>
          <p:nvPr/>
        </p:nvSpPr>
        <p:spPr>
          <a:xfrm>
            <a:off x="3566160" y="1691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Чем закрыт</a:t>
            </a:r>
            <a:endParaRPr lang="en-US" sz="1300" dirty="0"/>
          </a:p>
        </p:txBody>
      </p:sp>
      <p:sp>
        <p:nvSpPr>
          <p:cNvPr id="7" name="criteria-head-3"/>
          <p:cNvSpPr txBox="1"/>
          <p:nvPr/>
        </p:nvSpPr>
        <p:spPr>
          <a:xfrm>
            <a:off x="8183880" y="169164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Слабое место</a:t>
            </a:r>
            <a:endParaRPr lang="en-US" sz="1300" dirty="0"/>
          </a:p>
        </p:txBody>
      </p:sp>
      <p:sp>
        <p:nvSpPr>
          <p:cNvPr id="8" name="criteria-rule-1"/>
          <p:cNvSpPr/>
          <p:nvPr/>
        </p:nvSpPr>
        <p:spPr>
          <a:xfrm>
            <a:off x="548640" y="200253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criteria-1-1"/>
          <p:cNvSpPr txBox="1"/>
          <p:nvPr/>
        </p:nvSpPr>
        <p:spPr>
          <a:xfrm>
            <a:off x="548640" y="2002536"/>
            <a:ext cx="28346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Работоспособность агента · 30%</a:t>
            </a:r>
            <a:endParaRPr lang="en-US" sz="1400" dirty="0"/>
          </a:p>
        </p:txBody>
      </p:sp>
      <p:sp>
        <p:nvSpPr>
          <p:cNvPr id="10" name="criteria-1-2"/>
          <p:cNvSpPr txBox="1"/>
          <p:nvPr/>
        </p:nvSpPr>
        <p:spPr>
          <a:xfrm>
            <a:off x="3566160" y="2002536"/>
            <a:ext cx="44348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Трудный уровень: 81,3 очка при потолке 92,5 (быстрый симулятор); показной сценарий в Gazebo — 5 из 5, счёт 90,8–91,9</a:t>
            </a:r>
            <a:endParaRPr lang="en-US" sz="1400" dirty="0"/>
          </a:p>
        </p:txBody>
      </p:sp>
      <p:sp>
        <p:nvSpPr>
          <p:cNvPr id="11" name="criteria-1-3"/>
          <p:cNvSpPr txBox="1"/>
          <p:nvPr/>
        </p:nvSpPr>
        <p:spPr>
          <a:xfrm>
            <a:off x="8183880" y="2002536"/>
            <a:ext cx="3273552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До потолка 11 очков; пять правок их не вернули</a:t>
            </a:r>
            <a:endParaRPr lang="en-US" sz="1400" dirty="0"/>
          </a:p>
        </p:txBody>
      </p:sp>
      <p:sp>
        <p:nvSpPr>
          <p:cNvPr id="12" name="criteria-rule-2"/>
          <p:cNvSpPr/>
          <p:nvPr/>
        </p:nvSpPr>
        <p:spPr>
          <a:xfrm>
            <a:off x="548640" y="2705100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3" name="criteria-2-1"/>
          <p:cNvSpPr txBox="1"/>
          <p:nvPr/>
        </p:nvSpPr>
        <p:spPr>
          <a:xfrm>
            <a:off x="548640" y="2705100"/>
            <a:ext cx="28346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Адаптивность · 25%</a:t>
            </a:r>
            <a:endParaRPr lang="en-US" sz="1400" dirty="0"/>
          </a:p>
        </p:txBody>
      </p:sp>
      <p:sp>
        <p:nvSpPr>
          <p:cNvPr id="14" name="criteria-2-2"/>
          <p:cNvSpPr txBox="1"/>
          <p:nvPr/>
        </p:nvSpPr>
        <p:spPr>
          <a:xfrm>
            <a:off x="3566160" y="2705100"/>
            <a:ext cx="44348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Генератор сценариев; робот сам распознаёт сбой датчика (+6,4), новые зоны (+3,5), потерю положения; показ адаптации есть</a:t>
            </a:r>
            <a:endParaRPr lang="en-US" sz="1400" dirty="0"/>
          </a:p>
        </p:txBody>
      </p:sp>
      <p:sp>
        <p:nvSpPr>
          <p:cNvPr id="15" name="criteria-2-3"/>
          <p:cNvSpPr txBox="1"/>
          <p:nvPr/>
        </p:nvSpPr>
        <p:spPr>
          <a:xfrm>
            <a:off x="8183880" y="2705100"/>
            <a:ext cx="3273552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Реакция на грунт и его смену очков не даёт</a:t>
            </a:r>
            <a:endParaRPr lang="en-US" sz="1400" dirty="0"/>
          </a:p>
        </p:txBody>
      </p:sp>
      <p:sp>
        <p:nvSpPr>
          <p:cNvPr id="16" name="criteria-rule-3"/>
          <p:cNvSpPr/>
          <p:nvPr/>
        </p:nvSpPr>
        <p:spPr>
          <a:xfrm>
            <a:off x="548640" y="3407664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7" name="criteria-3-1"/>
          <p:cNvSpPr txBox="1"/>
          <p:nvPr/>
        </p:nvSpPr>
        <p:spPr>
          <a:xfrm>
            <a:off x="548640" y="3407664"/>
            <a:ext cx="28346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Планирование на языковой модели · 15%</a:t>
            </a:r>
            <a:endParaRPr lang="en-US" sz="1400" dirty="0"/>
          </a:p>
        </p:txBody>
      </p:sp>
      <p:sp>
        <p:nvSpPr>
          <p:cNvPr id="18" name="criteria-3-2"/>
          <p:cNvSpPr txBox="1"/>
          <p:nvPr/>
        </p:nvSpPr>
        <p:spPr>
          <a:xfrm>
            <a:off x="3566160" y="3407664"/>
            <a:ext cx="44348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Три модели МАИ; проверка ответа и запасное правило; миссии словами 45–46 из 48, у правила 0 из 48</a:t>
            </a:r>
            <a:endParaRPr lang="en-US" sz="1400" dirty="0"/>
          </a:p>
        </p:txBody>
      </p:sp>
      <p:sp>
        <p:nvSpPr>
          <p:cNvPr id="19" name="criteria-3-3"/>
          <p:cNvSpPr txBox="1"/>
          <p:nvPr/>
        </p:nvSpPr>
        <p:spPr>
          <a:xfrm>
            <a:off x="8183880" y="3407664"/>
            <a:ext cx="3273552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Обычной миссии модель ничего не добавляет; ответ идёт 15 с и дольше</a:t>
            </a:r>
            <a:endParaRPr lang="en-US" sz="1400" dirty="0"/>
          </a:p>
        </p:txBody>
      </p:sp>
      <p:sp>
        <p:nvSpPr>
          <p:cNvPr id="20" name="criteria-rule-4"/>
          <p:cNvSpPr/>
          <p:nvPr/>
        </p:nvSpPr>
        <p:spPr>
          <a:xfrm>
            <a:off x="548640" y="4110228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1" name="criteria-4-1"/>
          <p:cNvSpPr txBox="1"/>
          <p:nvPr/>
        </p:nvSpPr>
        <p:spPr>
          <a:xfrm>
            <a:off x="548640" y="4110228"/>
            <a:ext cx="28346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Научный подход · 15%</a:t>
            </a:r>
            <a:endParaRPr lang="en-US" sz="1400" dirty="0"/>
          </a:p>
        </p:txBody>
      </p:sp>
      <p:sp>
        <p:nvSpPr>
          <p:cNvPr id="22" name="criteria-4-2"/>
          <p:cNvSpPr txBox="1"/>
          <p:nvPr/>
        </p:nvSpPr>
        <p:spPr>
          <a:xfrm>
            <a:off x="3566160" y="4110228"/>
            <a:ext cx="44348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Журнал сверен со скрытой правдой: верны 9 из 10 подтверждённых; выбор опыта с учётом цены: расход 0,54 → 0,08 ед.</a:t>
            </a:r>
            <a:endParaRPr lang="en-US" sz="1400" dirty="0"/>
          </a:p>
        </p:txBody>
      </p:sp>
      <p:sp>
        <p:nvSpPr>
          <p:cNvPr id="23" name="criteria-4-3"/>
          <p:cNvSpPr txBox="1"/>
          <p:nvPr/>
        </p:nvSpPr>
        <p:spPr>
          <a:xfrm>
            <a:off x="8183880" y="4110228"/>
            <a:ext cx="3273552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Гипотезы робота выдвигает программа; тот же выбор даёт правило «самый дешёвый»</a:t>
            </a:r>
            <a:endParaRPr lang="en-US" sz="1400" dirty="0"/>
          </a:p>
        </p:txBody>
      </p:sp>
      <p:sp>
        <p:nvSpPr>
          <p:cNvPr id="24" name="criteria-rule-5"/>
          <p:cNvSpPr/>
          <p:nvPr/>
        </p:nvSpPr>
        <p:spPr>
          <a:xfrm>
            <a:off x="548640" y="4812792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5" name="criteria-5-1"/>
          <p:cNvSpPr txBox="1"/>
          <p:nvPr/>
        </p:nvSpPr>
        <p:spPr>
          <a:xfrm>
            <a:off x="548640" y="4812792"/>
            <a:ext cx="28346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Ассистент и процесс · 5%</a:t>
            </a:r>
            <a:endParaRPr lang="en-US" sz="1400" dirty="0"/>
          </a:p>
        </p:txBody>
      </p:sp>
      <p:sp>
        <p:nvSpPr>
          <p:cNvPr id="26" name="criteria-5-2"/>
          <p:cNvSpPr txBox="1"/>
          <p:nvPr/>
        </p:nvSpPr>
        <p:spPr>
          <a:xfrm>
            <a:off x="3566160" y="4812792"/>
            <a:ext cx="44348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982 автоматические проверки; показ и серии опытов — одной командой; репетиция показа проведена</a:t>
            </a:r>
            <a:endParaRPr lang="en-US" sz="1400" dirty="0"/>
          </a:p>
        </p:txBody>
      </p:sp>
      <p:sp>
        <p:nvSpPr>
          <p:cNvPr id="27" name="criteria-5-3"/>
          <p:cNvSpPr txBox="1"/>
          <p:nvPr/>
        </p:nvSpPr>
        <p:spPr>
          <a:xfrm>
            <a:off x="8183880" y="4812792"/>
            <a:ext cx="3273552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Ускорение от скиллов ассистента не измерялось</a:t>
            </a:r>
            <a:endParaRPr lang="en-US" sz="1400" dirty="0"/>
          </a:p>
        </p:txBody>
      </p:sp>
      <p:sp>
        <p:nvSpPr>
          <p:cNvPr id="28" name="criteria-rule-6"/>
          <p:cNvSpPr/>
          <p:nvPr/>
        </p:nvSpPr>
        <p:spPr>
          <a:xfrm>
            <a:off x="548640" y="551535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9" name="criteria-6-1"/>
          <p:cNvSpPr txBox="1"/>
          <p:nvPr/>
        </p:nvSpPr>
        <p:spPr>
          <a:xfrm>
            <a:off x="548640" y="5515356"/>
            <a:ext cx="28346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Презентация и «ИИ как инфраструктура знаний» · 10%</a:t>
            </a:r>
            <a:endParaRPr lang="en-US" sz="1400" dirty="0"/>
          </a:p>
        </p:txBody>
      </p:sp>
      <p:sp>
        <p:nvSpPr>
          <p:cNvPr id="30" name="criteria-6-2"/>
          <p:cNvSpPr txBox="1"/>
          <p:nvPr/>
        </p:nvSpPr>
        <p:spPr>
          <a:xfrm>
            <a:off x="3566160" y="5515356"/>
            <a:ext cx="4434840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Эта презентация со слайдами о работе с ИИ, страница-объяснение и страница опытов</a:t>
            </a:r>
            <a:endParaRPr lang="en-US" sz="1400" dirty="0"/>
          </a:p>
        </p:txBody>
      </p:sp>
      <p:sp>
        <p:nvSpPr>
          <p:cNvPr id="31" name="criteria-6-3"/>
          <p:cNvSpPr txBox="1"/>
          <p:nvPr/>
        </p:nvSpPr>
        <p:spPr>
          <a:xfrm>
            <a:off x="8183880" y="5515356"/>
            <a:ext cx="3273552" cy="702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Связь с наукой — по литературе, не по внедрению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Приложение. Опыты: числа и интервалы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В скобках — 95% интервал разности на одних сценариях. Всё измерено в быстром симуляторе</a:t>
            </a:r>
            <a:endParaRPr lang="en-US" sz="1600" dirty="0"/>
          </a:p>
        </p:txBody>
      </p:sp>
      <p:sp>
        <p:nvSpPr>
          <p:cNvPr id="5" name="exp-head-1"/>
          <p:cNvSpPr txBox="1"/>
          <p:nvPr/>
        </p:nvSpPr>
        <p:spPr>
          <a:xfrm>
            <a:off x="548640" y="16916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Что сравнивали</a:t>
            </a:r>
            <a:endParaRPr lang="en-US" sz="1300" dirty="0"/>
          </a:p>
        </p:txBody>
      </p:sp>
      <p:sp>
        <p:nvSpPr>
          <p:cNvPr id="6" name="exp-head-2"/>
          <p:cNvSpPr txBox="1"/>
          <p:nvPr/>
        </p:nvSpPr>
        <p:spPr>
          <a:xfrm>
            <a:off x="3611880" y="1691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Где измерено</a:t>
            </a:r>
            <a:endParaRPr lang="en-US" sz="1300" dirty="0"/>
          </a:p>
        </p:txBody>
      </p:sp>
      <p:sp>
        <p:nvSpPr>
          <p:cNvPr id="7" name="exp-head-3"/>
          <p:cNvSpPr txBox="1"/>
          <p:nvPr/>
        </p:nvSpPr>
        <p:spPr>
          <a:xfrm>
            <a:off x="5943600" y="16916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Число и интервал</a:t>
            </a:r>
            <a:endParaRPr lang="en-US" sz="1300" dirty="0"/>
          </a:p>
        </p:txBody>
      </p:sp>
      <p:sp>
        <p:nvSpPr>
          <p:cNvPr id="8" name="exp-head-4"/>
          <p:cNvSpPr txBox="1"/>
          <p:nvPr/>
        </p:nvSpPr>
        <p:spPr>
          <a:xfrm>
            <a:off x="9372600" y="16916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Вывод</a:t>
            </a:r>
            <a:endParaRPr lang="en-US" sz="1300" dirty="0"/>
          </a:p>
        </p:txBody>
      </p:sp>
      <p:sp>
        <p:nvSpPr>
          <p:cNvPr id="9" name="exp-rule-1"/>
          <p:cNvSpPr/>
          <p:nvPr/>
        </p:nvSpPr>
        <p:spPr>
          <a:xfrm>
            <a:off x="548640" y="200253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0" name="exp-1-1"/>
          <p:cNvSpPr txBox="1"/>
          <p:nvPr/>
        </p:nvSpPr>
        <p:spPr>
          <a:xfrm>
            <a:off x="548640" y="2002536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Адаптация против плана заранее</a:t>
            </a:r>
            <a:endParaRPr lang="en-US" sz="1300" dirty="0"/>
          </a:p>
        </p:txBody>
      </p:sp>
      <p:sp>
        <p:nvSpPr>
          <p:cNvPr id="11" name="exp-1-2"/>
          <p:cNvSpPr txBox="1"/>
          <p:nvPr/>
        </p:nvSpPr>
        <p:spPr>
          <a:xfrm>
            <a:off x="3611880" y="2002536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трудный, 40 сценариев</a:t>
            </a:r>
            <a:endParaRPr lang="en-US" sz="1300" dirty="0"/>
          </a:p>
        </p:txBody>
      </p:sp>
      <p:sp>
        <p:nvSpPr>
          <p:cNvPr id="12" name="exp-1-3"/>
          <p:cNvSpPr txBox="1"/>
          <p:nvPr/>
        </p:nvSpPr>
        <p:spPr>
          <a:xfrm>
            <a:off x="5943600" y="2002536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72,7 против 59,3: +13,3 [+7,4; +19,0]</a:t>
            </a:r>
            <a:endParaRPr lang="en-US" sz="1300" dirty="0"/>
          </a:p>
        </p:txBody>
      </p:sp>
      <p:sp>
        <p:nvSpPr>
          <p:cNvPr id="13" name="exp-1-4"/>
          <p:cNvSpPr txBox="1"/>
          <p:nvPr/>
        </p:nvSpPr>
        <p:spPr>
          <a:xfrm>
            <a:off x="9372600" y="2002536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подтверждено</a:t>
            </a:r>
            <a:endParaRPr lang="en-US" sz="1300" dirty="0"/>
          </a:p>
        </p:txBody>
      </p:sp>
      <p:sp>
        <p:nvSpPr>
          <p:cNvPr id="14" name="exp-rule-2"/>
          <p:cNvSpPr/>
          <p:nvPr/>
        </p:nvSpPr>
        <p:spPr>
          <a:xfrm>
            <a:off x="548640" y="232679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exp-2-1"/>
          <p:cNvSpPr txBox="1"/>
          <p:nvPr/>
        </p:nvSpPr>
        <p:spPr>
          <a:xfrm>
            <a:off x="548640" y="2326796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Распознавание сбоя датчика</a:t>
            </a:r>
            <a:endParaRPr lang="en-US" sz="1300" dirty="0"/>
          </a:p>
        </p:txBody>
      </p:sp>
      <p:sp>
        <p:nvSpPr>
          <p:cNvPr id="16" name="exp-2-2"/>
          <p:cNvSpPr txBox="1"/>
          <p:nvPr/>
        </p:nvSpPr>
        <p:spPr>
          <a:xfrm>
            <a:off x="3611880" y="2326796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трудный, 40 сценариев</a:t>
            </a:r>
            <a:endParaRPr lang="en-US" sz="1300" dirty="0"/>
          </a:p>
        </p:txBody>
      </p:sp>
      <p:sp>
        <p:nvSpPr>
          <p:cNvPr id="17" name="exp-2-3"/>
          <p:cNvSpPr txBox="1"/>
          <p:nvPr/>
        </p:nvSpPr>
        <p:spPr>
          <a:xfrm>
            <a:off x="5943600" y="2326796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74,9 → 81,3: +6,4 [+2,9; +9,8]</a:t>
            </a:r>
            <a:endParaRPr lang="en-US" sz="1300" dirty="0"/>
          </a:p>
        </p:txBody>
      </p:sp>
      <p:sp>
        <p:nvSpPr>
          <p:cNvPr id="18" name="exp-2-4"/>
          <p:cNvSpPr txBox="1"/>
          <p:nvPr/>
        </p:nvSpPr>
        <p:spPr>
          <a:xfrm>
            <a:off x="9372600" y="2326796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подтверждено</a:t>
            </a:r>
            <a:endParaRPr lang="en-US" sz="1300" dirty="0"/>
          </a:p>
        </p:txBody>
      </p:sp>
      <p:sp>
        <p:nvSpPr>
          <p:cNvPr id="19" name="exp-rule-3"/>
          <p:cNvSpPr/>
          <p:nvPr/>
        </p:nvSpPr>
        <p:spPr>
          <a:xfrm>
            <a:off x="548640" y="2651057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0" name="exp-3-1"/>
          <p:cNvSpPr txBox="1"/>
          <p:nvPr/>
        </p:nvSpPr>
        <p:spPr>
          <a:xfrm>
            <a:off x="548640" y="2651057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Новые схемы планирования</a:t>
            </a:r>
            <a:endParaRPr lang="en-US" sz="1300" dirty="0"/>
          </a:p>
        </p:txBody>
      </p:sp>
      <p:sp>
        <p:nvSpPr>
          <p:cNvPr id="21" name="exp-3-2"/>
          <p:cNvSpPr txBox="1"/>
          <p:nvPr/>
        </p:nvSpPr>
        <p:spPr>
          <a:xfrm>
            <a:off x="3611880" y="2651057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трудный, 160 сценариев</a:t>
            </a:r>
            <a:endParaRPr lang="en-US" sz="1300" dirty="0"/>
          </a:p>
        </p:txBody>
      </p:sp>
      <p:sp>
        <p:nvSpPr>
          <p:cNvPr id="22" name="exp-3-3"/>
          <p:cNvSpPr txBox="1"/>
          <p:nvPr/>
        </p:nvSpPr>
        <p:spPr>
          <a:xfrm>
            <a:off x="5943600" y="2651057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72,9 против 73,3: −0,4 [−2,7; +1,9]</a:t>
            </a:r>
            <a:endParaRPr lang="en-US" sz="1300" dirty="0"/>
          </a:p>
        </p:txBody>
      </p:sp>
      <p:sp>
        <p:nvSpPr>
          <p:cNvPr id="23" name="exp-3-4"/>
          <p:cNvSpPr txBox="1"/>
          <p:nvPr/>
        </p:nvSpPr>
        <p:spPr>
          <a:xfrm>
            <a:off x="9372600" y="2651057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различие не показано</a:t>
            </a:r>
            <a:endParaRPr lang="en-US" sz="1300" dirty="0"/>
          </a:p>
        </p:txBody>
      </p:sp>
      <p:sp>
        <p:nvSpPr>
          <p:cNvPr id="24" name="exp-rule-4"/>
          <p:cNvSpPr/>
          <p:nvPr/>
        </p:nvSpPr>
        <p:spPr>
          <a:xfrm>
            <a:off x="548640" y="2975317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5" name="exp-4-1"/>
          <p:cNvSpPr txBox="1"/>
          <p:nvPr/>
        </p:nvSpPr>
        <p:spPr>
          <a:xfrm>
            <a:off x="548640" y="2975317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Пять правок по разбору потерь</a:t>
            </a:r>
            <a:endParaRPr lang="en-US" sz="1300" dirty="0"/>
          </a:p>
        </p:txBody>
      </p:sp>
      <p:sp>
        <p:nvSpPr>
          <p:cNvPr id="26" name="exp-4-2"/>
          <p:cNvSpPr txBox="1"/>
          <p:nvPr/>
        </p:nvSpPr>
        <p:spPr>
          <a:xfrm>
            <a:off x="3611880" y="2975317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трудный, 40 сценариев</a:t>
            </a:r>
            <a:endParaRPr lang="en-US" sz="1300" dirty="0"/>
          </a:p>
        </p:txBody>
      </p:sp>
      <p:sp>
        <p:nvSpPr>
          <p:cNvPr id="27" name="exp-4-3"/>
          <p:cNvSpPr txBox="1"/>
          <p:nvPr/>
        </p:nvSpPr>
        <p:spPr>
          <a:xfrm>
            <a:off x="5943600" y="2975317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−0,39 [−1,18; +0,01]</a:t>
            </a:r>
            <a:endParaRPr lang="en-US" sz="1300" dirty="0"/>
          </a:p>
        </p:txBody>
      </p:sp>
      <p:sp>
        <p:nvSpPr>
          <p:cNvPr id="28" name="exp-4-4"/>
          <p:cNvSpPr txBox="1"/>
          <p:nvPr/>
        </p:nvSpPr>
        <p:spPr>
          <a:xfrm>
            <a:off x="9372600" y="2975317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выигрыша нет</a:t>
            </a:r>
            <a:endParaRPr lang="en-US" sz="1300" dirty="0"/>
          </a:p>
        </p:txBody>
      </p:sp>
      <p:sp>
        <p:nvSpPr>
          <p:cNvPr id="29" name="exp-rule-5"/>
          <p:cNvSpPr/>
          <p:nvPr/>
        </p:nvSpPr>
        <p:spPr>
          <a:xfrm>
            <a:off x="548640" y="3299577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0" name="exp-5-1"/>
          <p:cNvSpPr txBox="1"/>
          <p:nvPr/>
        </p:nvSpPr>
        <p:spPr>
          <a:xfrm>
            <a:off x="548640" y="3299577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Реакция на грунт и на его смену</a:t>
            </a:r>
            <a:endParaRPr lang="en-US" sz="1300" dirty="0"/>
          </a:p>
        </p:txBody>
      </p:sp>
      <p:sp>
        <p:nvSpPr>
          <p:cNvPr id="31" name="exp-5-2"/>
          <p:cNvSpPr txBox="1"/>
          <p:nvPr/>
        </p:nvSpPr>
        <p:spPr>
          <a:xfrm>
            <a:off x="3611880" y="3299577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 40 сценариев</a:t>
            </a:r>
            <a:endParaRPr lang="en-US" sz="1300" dirty="0"/>
          </a:p>
        </p:txBody>
      </p:sp>
      <p:sp>
        <p:nvSpPr>
          <p:cNvPr id="32" name="exp-5-3"/>
          <p:cNvSpPr txBox="1"/>
          <p:nvPr/>
        </p:nvSpPr>
        <p:spPr>
          <a:xfrm>
            <a:off x="5943600" y="3299577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+1,0 [−3,6; +5,4] и +0,02 [−0,03; +0,07]</a:t>
            </a:r>
            <a:endParaRPr lang="en-US" sz="1300" dirty="0"/>
          </a:p>
        </p:txBody>
      </p:sp>
      <p:sp>
        <p:nvSpPr>
          <p:cNvPr id="33" name="exp-5-4"/>
          <p:cNvSpPr txBox="1"/>
          <p:nvPr/>
        </p:nvSpPr>
        <p:spPr>
          <a:xfrm>
            <a:off x="9372600" y="3299577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выигрыш не показан</a:t>
            </a:r>
            <a:endParaRPr lang="en-US" sz="1300" dirty="0"/>
          </a:p>
        </p:txBody>
      </p:sp>
      <p:sp>
        <p:nvSpPr>
          <p:cNvPr id="34" name="exp-rule-6"/>
          <p:cNvSpPr/>
          <p:nvPr/>
        </p:nvSpPr>
        <p:spPr>
          <a:xfrm>
            <a:off x="548640" y="3623838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5" name="exp-6-1"/>
          <p:cNvSpPr txBox="1"/>
          <p:nvPr/>
        </p:nvSpPr>
        <p:spPr>
          <a:xfrm>
            <a:off x="548640" y="3623838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Потолок: агент знает всё заранее</a:t>
            </a:r>
            <a:endParaRPr lang="en-US" sz="1300" dirty="0"/>
          </a:p>
        </p:txBody>
      </p:sp>
      <p:sp>
        <p:nvSpPr>
          <p:cNvPr id="36" name="exp-6-2"/>
          <p:cNvSpPr txBox="1"/>
          <p:nvPr/>
        </p:nvSpPr>
        <p:spPr>
          <a:xfrm>
            <a:off x="3611880" y="3623838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трудный, 160 сценариев</a:t>
            </a:r>
            <a:endParaRPr lang="en-US" sz="1300" dirty="0"/>
          </a:p>
        </p:txBody>
      </p:sp>
      <p:sp>
        <p:nvSpPr>
          <p:cNvPr id="37" name="exp-6-3"/>
          <p:cNvSpPr txBox="1"/>
          <p:nvPr/>
        </p:nvSpPr>
        <p:spPr>
          <a:xfrm>
            <a:off x="5943600" y="3623838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92,5; только места образцов — 87,8</a:t>
            </a:r>
            <a:endParaRPr lang="en-US" sz="1300" dirty="0"/>
          </a:p>
        </p:txBody>
      </p:sp>
      <p:sp>
        <p:nvSpPr>
          <p:cNvPr id="38" name="exp-6-4"/>
          <p:cNvSpPr txBox="1"/>
          <p:nvPr/>
        </p:nvSpPr>
        <p:spPr>
          <a:xfrm>
            <a:off x="9372600" y="3623838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знание важнее порядка</a:t>
            </a:r>
            <a:endParaRPr lang="en-US" sz="1300" dirty="0"/>
          </a:p>
        </p:txBody>
      </p:sp>
      <p:sp>
        <p:nvSpPr>
          <p:cNvPr id="39" name="exp-rule-7"/>
          <p:cNvSpPr/>
          <p:nvPr/>
        </p:nvSpPr>
        <p:spPr>
          <a:xfrm>
            <a:off x="548640" y="3948098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0" name="exp-7-1"/>
          <p:cNvSpPr txBox="1"/>
          <p:nvPr/>
        </p:nvSpPr>
        <p:spPr>
          <a:xfrm>
            <a:off x="548640" y="3948098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Выбор опыта с учётом цены</a:t>
            </a:r>
            <a:endParaRPr lang="en-US" sz="1300" dirty="0"/>
          </a:p>
        </p:txBody>
      </p:sp>
      <p:sp>
        <p:nvSpPr>
          <p:cNvPr id="41" name="exp-7-2"/>
          <p:cNvSpPr txBox="1"/>
          <p:nvPr/>
        </p:nvSpPr>
        <p:spPr>
          <a:xfrm>
            <a:off x="3611880" y="3948098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80 сценариев</a:t>
            </a:r>
            <a:endParaRPr lang="en-US" sz="1300" dirty="0"/>
          </a:p>
        </p:txBody>
      </p:sp>
      <p:sp>
        <p:nvSpPr>
          <p:cNvPr id="42" name="exp-7-3"/>
          <p:cNvSpPr txBox="1"/>
          <p:nvPr/>
        </p:nvSpPr>
        <p:spPr>
          <a:xfrm>
            <a:off x="5943600" y="3948098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расход 0,54 → 0,08; причина 86 → 92%</a:t>
            </a:r>
            <a:endParaRPr lang="en-US" sz="1300" dirty="0"/>
          </a:p>
        </p:txBody>
      </p:sp>
      <p:sp>
        <p:nvSpPr>
          <p:cNvPr id="43" name="exp-7-4"/>
          <p:cNvSpPr txBox="1"/>
          <p:nvPr/>
        </p:nvSpPr>
        <p:spPr>
          <a:xfrm>
            <a:off x="9372600" y="3948098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счёт тот же</a:t>
            </a:r>
            <a:endParaRPr lang="en-US" sz="1300" dirty="0"/>
          </a:p>
        </p:txBody>
      </p:sp>
      <p:sp>
        <p:nvSpPr>
          <p:cNvPr id="44" name="exp-rule-8"/>
          <p:cNvSpPr/>
          <p:nvPr/>
        </p:nvSpPr>
        <p:spPr>
          <a:xfrm>
            <a:off x="548640" y="4272358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5" name="exp-8-1"/>
          <p:cNvSpPr txBox="1"/>
          <p:nvPr/>
        </p:nvSpPr>
        <p:spPr>
          <a:xfrm>
            <a:off x="548640" y="4272358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Самокалибровка датчика</a:t>
            </a:r>
            <a:endParaRPr lang="en-US" sz="1300" dirty="0"/>
          </a:p>
        </p:txBody>
      </p:sp>
      <p:sp>
        <p:nvSpPr>
          <p:cNvPr id="46" name="exp-8-2"/>
          <p:cNvSpPr txBox="1"/>
          <p:nvPr/>
        </p:nvSpPr>
        <p:spPr>
          <a:xfrm>
            <a:off x="3611880" y="4272358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трудный, 40 сценариев</a:t>
            </a:r>
            <a:endParaRPr lang="en-US" sz="1300" dirty="0"/>
          </a:p>
        </p:txBody>
      </p:sp>
      <p:sp>
        <p:nvSpPr>
          <p:cNvPr id="47" name="exp-8-3"/>
          <p:cNvSpPr txBox="1"/>
          <p:nvPr/>
        </p:nvSpPr>
        <p:spPr>
          <a:xfrm>
            <a:off x="5943600" y="4272358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собрано 1% → 71% и 23% → 61%</a:t>
            </a:r>
            <a:endParaRPr lang="en-US" sz="1300" dirty="0"/>
          </a:p>
        </p:txBody>
      </p:sp>
      <p:sp>
        <p:nvSpPr>
          <p:cNvPr id="48" name="exp-8-4"/>
          <p:cNvSpPr txBox="1"/>
          <p:nvPr/>
        </p:nvSpPr>
        <p:spPr>
          <a:xfrm>
            <a:off x="9372600" y="4272358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 умолчанию выключено</a:t>
            </a:r>
            <a:endParaRPr lang="en-US" sz="1300" dirty="0"/>
          </a:p>
        </p:txBody>
      </p:sp>
      <p:sp>
        <p:nvSpPr>
          <p:cNvPr id="49" name="exp-rule-9"/>
          <p:cNvSpPr/>
          <p:nvPr/>
        </p:nvSpPr>
        <p:spPr>
          <a:xfrm>
            <a:off x="548640" y="4596618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50" name="exp-9-1"/>
          <p:cNvSpPr txBox="1"/>
          <p:nvPr/>
        </p:nvSpPr>
        <p:spPr>
          <a:xfrm>
            <a:off x="548640" y="4596618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Миссии словами, три модели МАИ</a:t>
            </a:r>
            <a:endParaRPr lang="en-US" sz="1300" dirty="0"/>
          </a:p>
        </p:txBody>
      </p:sp>
      <p:sp>
        <p:nvSpPr>
          <p:cNvPr id="51" name="exp-9-2"/>
          <p:cNvSpPr txBox="1"/>
          <p:nvPr/>
        </p:nvSpPr>
        <p:spPr>
          <a:xfrm>
            <a:off x="3611880" y="4596618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48 прогонов на модель</a:t>
            </a:r>
            <a:endParaRPr lang="en-US" sz="1300" dirty="0"/>
          </a:p>
        </p:txBody>
      </p:sp>
      <p:sp>
        <p:nvSpPr>
          <p:cNvPr id="52" name="exp-9-3"/>
          <p:cNvSpPr txBox="1"/>
          <p:nvPr/>
        </p:nvSpPr>
        <p:spPr>
          <a:xfrm>
            <a:off x="5943600" y="4596618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45–46 из 48; правило — 0 из 48</a:t>
            </a:r>
            <a:endParaRPr lang="en-US" sz="1300" dirty="0"/>
          </a:p>
        </p:txBody>
      </p:sp>
      <p:sp>
        <p:nvSpPr>
          <p:cNvPr id="53" name="exp-9-4"/>
          <p:cNvSpPr txBox="1"/>
          <p:nvPr/>
        </p:nvSpPr>
        <p:spPr>
          <a:xfrm>
            <a:off x="9372600" y="4596618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подтверждено</a:t>
            </a:r>
            <a:endParaRPr lang="en-US" sz="1300" dirty="0"/>
          </a:p>
        </p:txBody>
      </p:sp>
      <p:sp>
        <p:nvSpPr>
          <p:cNvPr id="54" name="exp-rule-10"/>
          <p:cNvSpPr/>
          <p:nvPr/>
        </p:nvSpPr>
        <p:spPr>
          <a:xfrm>
            <a:off x="548640" y="4920879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55" name="exp-10-1"/>
          <p:cNvSpPr txBox="1"/>
          <p:nvPr/>
        </p:nvSpPr>
        <p:spPr>
          <a:xfrm>
            <a:off x="548640" y="4920879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Модель — автор и критик гипотез</a:t>
            </a:r>
            <a:endParaRPr lang="en-US" sz="1300" dirty="0"/>
          </a:p>
        </p:txBody>
      </p:sp>
      <p:sp>
        <p:nvSpPr>
          <p:cNvPr id="56" name="exp-10-2"/>
          <p:cNvSpPr txBox="1"/>
          <p:nvPr/>
        </p:nvSpPr>
        <p:spPr>
          <a:xfrm>
            <a:off x="3611880" y="4920879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30 сценариев</a:t>
            </a:r>
            <a:endParaRPr lang="en-US" sz="1300" dirty="0"/>
          </a:p>
        </p:txBody>
      </p:sp>
      <p:sp>
        <p:nvSpPr>
          <p:cNvPr id="57" name="exp-10-3"/>
          <p:cNvSpPr txBox="1"/>
          <p:nvPr/>
        </p:nvSpPr>
        <p:spPr>
          <a:xfrm>
            <a:off x="5943600" y="4920879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счёт 65,0 против 65,0</a:t>
            </a:r>
            <a:endParaRPr lang="en-US" sz="1300" dirty="0"/>
          </a:p>
        </p:txBody>
      </p:sp>
      <p:sp>
        <p:nvSpPr>
          <p:cNvPr id="58" name="exp-10-4"/>
          <p:cNvSpPr txBox="1"/>
          <p:nvPr/>
        </p:nvSpPr>
        <p:spPr>
          <a:xfrm>
            <a:off x="9372600" y="4920879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ничего не меняет</a:t>
            </a:r>
            <a:endParaRPr lang="en-US" sz="1300" dirty="0"/>
          </a:p>
        </p:txBody>
      </p:sp>
      <p:sp>
        <p:nvSpPr>
          <p:cNvPr id="59" name="exp-rule-11"/>
          <p:cNvSpPr/>
          <p:nvPr/>
        </p:nvSpPr>
        <p:spPr>
          <a:xfrm>
            <a:off x="548640" y="5245139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0" name="exp-11-1"/>
          <p:cNvSpPr txBox="1"/>
          <p:nvPr/>
        </p:nvSpPr>
        <p:spPr>
          <a:xfrm>
            <a:off x="548640" y="5245139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Ожидание ответа модели 15 с</a:t>
            </a:r>
            <a:endParaRPr lang="en-US" sz="1300" dirty="0"/>
          </a:p>
        </p:txBody>
      </p:sp>
      <p:sp>
        <p:nvSpPr>
          <p:cNvPr id="61" name="exp-11-2"/>
          <p:cNvSpPr txBox="1"/>
          <p:nvPr/>
        </p:nvSpPr>
        <p:spPr>
          <a:xfrm>
            <a:off x="3611880" y="5245139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трудный, 20 сценариев</a:t>
            </a:r>
            <a:endParaRPr lang="en-US" sz="1300" dirty="0"/>
          </a:p>
        </p:txBody>
      </p:sp>
      <p:sp>
        <p:nvSpPr>
          <p:cNvPr id="62" name="exp-11-3"/>
          <p:cNvSpPr txBox="1"/>
          <p:nvPr/>
        </p:nvSpPr>
        <p:spPr>
          <a:xfrm>
            <a:off x="5943600" y="5245139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75,7 → 2,3: −73,4 [−98,5; −49,2]</a:t>
            </a:r>
            <a:endParaRPr lang="en-US" sz="1300" dirty="0"/>
          </a:p>
        </p:txBody>
      </p:sp>
      <p:sp>
        <p:nvSpPr>
          <p:cNvPr id="63" name="exp-11-4"/>
          <p:cNvSpPr txBox="1"/>
          <p:nvPr/>
        </p:nvSpPr>
        <p:spPr>
          <a:xfrm>
            <a:off x="9372600" y="5245139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ждать на месте нельзя</a:t>
            </a:r>
            <a:endParaRPr lang="en-US" sz="1300" dirty="0"/>
          </a:p>
        </p:txBody>
      </p:sp>
      <p:sp>
        <p:nvSpPr>
          <p:cNvPr id="64" name="exp-rule-12"/>
          <p:cNvSpPr/>
          <p:nvPr/>
        </p:nvSpPr>
        <p:spPr>
          <a:xfrm>
            <a:off x="548640" y="5569399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5" name="exp-12-1"/>
          <p:cNvSpPr txBox="1"/>
          <p:nvPr/>
        </p:nvSpPr>
        <p:spPr>
          <a:xfrm>
            <a:off x="548640" y="5569399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Ехать, пока модель думает</a:t>
            </a:r>
            <a:endParaRPr lang="en-US" sz="1300" dirty="0"/>
          </a:p>
        </p:txBody>
      </p:sp>
      <p:sp>
        <p:nvSpPr>
          <p:cNvPr id="66" name="exp-12-2"/>
          <p:cNvSpPr txBox="1"/>
          <p:nvPr/>
        </p:nvSpPr>
        <p:spPr>
          <a:xfrm>
            <a:off x="3611880" y="5569399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имитатор, 40 сценариев</a:t>
            </a:r>
            <a:endParaRPr lang="en-US" sz="1300" dirty="0"/>
          </a:p>
        </p:txBody>
      </p:sp>
      <p:sp>
        <p:nvSpPr>
          <p:cNvPr id="67" name="exp-12-3"/>
          <p:cNvSpPr txBox="1"/>
          <p:nvPr/>
        </p:nvSpPr>
        <p:spPr>
          <a:xfrm>
            <a:off x="5943600" y="5569399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30,3 → 72,3: +42,0 [+25,1; +59,6]</a:t>
            </a:r>
            <a:endParaRPr lang="en-US" sz="1300" dirty="0"/>
          </a:p>
        </p:txBody>
      </p:sp>
      <p:sp>
        <p:nvSpPr>
          <p:cNvPr id="68" name="exp-12-4"/>
          <p:cNvSpPr txBox="1"/>
          <p:nvPr/>
        </p:nvSpPr>
        <p:spPr>
          <a:xfrm>
            <a:off x="9372600" y="5569399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 умолчанию выключено</a:t>
            </a:r>
            <a:endParaRPr lang="en-US" sz="1300" dirty="0"/>
          </a:p>
        </p:txBody>
      </p:sp>
      <p:sp>
        <p:nvSpPr>
          <p:cNvPr id="69" name="exp-rule-13"/>
          <p:cNvSpPr/>
          <p:nvPr/>
        </p:nvSpPr>
        <p:spPr>
          <a:xfrm>
            <a:off x="548640" y="5893660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70" name="exp-13-1"/>
          <p:cNvSpPr txBox="1"/>
          <p:nvPr/>
        </p:nvSpPr>
        <p:spPr>
          <a:xfrm>
            <a:off x="548640" y="5893660"/>
            <a:ext cx="288036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Два робота: со связью и без</a:t>
            </a:r>
            <a:endParaRPr lang="en-US" sz="1300" dirty="0"/>
          </a:p>
        </p:txBody>
      </p:sp>
      <p:sp>
        <p:nvSpPr>
          <p:cNvPr id="71" name="exp-13-2"/>
          <p:cNvSpPr txBox="1"/>
          <p:nvPr/>
        </p:nvSpPr>
        <p:spPr>
          <a:xfrm>
            <a:off x="3611880" y="5893660"/>
            <a:ext cx="214884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80 сценариев</a:t>
            </a:r>
            <a:endParaRPr lang="en-US" sz="1300" dirty="0"/>
          </a:p>
        </p:txBody>
      </p:sp>
      <p:sp>
        <p:nvSpPr>
          <p:cNvPr id="72" name="exp-13-3"/>
          <p:cNvSpPr txBox="1"/>
          <p:nvPr/>
        </p:nvSpPr>
        <p:spPr>
          <a:xfrm>
            <a:off x="5943600" y="5893660"/>
            <a:ext cx="3246120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прогон −25,9 с [−30,5; −21,2]</a:t>
            </a:r>
            <a:endParaRPr lang="en-US" sz="1300" dirty="0"/>
          </a:p>
        </p:txBody>
      </p:sp>
      <p:sp>
        <p:nvSpPr>
          <p:cNvPr id="73" name="exp-13-4"/>
          <p:cNvSpPr txBox="1"/>
          <p:nvPr/>
        </p:nvSpPr>
        <p:spPr>
          <a:xfrm>
            <a:off x="9372600" y="5893660"/>
            <a:ext cx="2084832" cy="32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подтверждено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Приложение. Ограничения и что не сделано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Что мы знаем о слабых местах и о чём нельзя говорить сильнее, чем показывают данные</a:t>
            </a:r>
            <a:endParaRPr lang="en-US" sz="1600" dirty="0"/>
          </a:p>
        </p:txBody>
      </p:sp>
      <p:sp>
        <p:nvSpPr>
          <p:cNvPr id="5" name="limits-1-card"/>
          <p:cNvSpPr/>
          <p:nvPr/>
        </p:nvSpPr>
        <p:spPr>
          <a:xfrm>
            <a:off x="548640" y="1691640"/>
            <a:ext cx="5408676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6" name="limits-1-head"/>
          <p:cNvSpPr txBox="1"/>
          <p:nvPr/>
        </p:nvSpPr>
        <p:spPr>
          <a:xfrm>
            <a:off x="822960" y="1856232"/>
            <a:ext cx="4860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Измерения</a:t>
            </a:r>
            <a:endParaRPr lang="en-US" sz="1800" dirty="0"/>
          </a:p>
        </p:txBody>
      </p:sp>
      <p:sp>
        <p:nvSpPr>
          <p:cNvPr id="7" name="limits-1-list"/>
          <p:cNvSpPr txBox="1"/>
          <p:nvPr/>
        </p:nvSpPr>
        <p:spPr>
          <a:xfrm>
            <a:off x="822960" y="2295144"/>
            <a:ext cx="490575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Серии — в быстром симуляторе; в Gazebo единицы прогонов: это проверка работоспособности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Гипотезы модели «в тени» размечала модель, а не человек; 38% гипотез, опровергнутых роботом, отвергнуты зря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Расход заряда и закон датчика — наши допущения; у самокалибровки при верных правилах отсутствие потерь не доказано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SLAM: счёт миссии по своей карте с готовой не сравнивался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Два робота: в Gazebo один прогон</a:t>
            </a:r>
            <a:endParaRPr lang="en-US" sz="1600" dirty="0"/>
          </a:p>
        </p:txBody>
      </p:sp>
      <p:sp>
        <p:nvSpPr>
          <p:cNvPr id="8" name="limits-2-card"/>
          <p:cNvSpPr/>
          <p:nvPr/>
        </p:nvSpPr>
        <p:spPr>
          <a:xfrm>
            <a:off x="6231636" y="1691640"/>
            <a:ext cx="5408676" cy="4526280"/>
          </a:xfrm>
          <a:prstGeom prst="roundRect">
            <a:avLst>
              <a:gd name="adj" fmla="val 1616"/>
            </a:avLst>
          </a:prstGeom>
          <a:solidFill>
            <a:schemeClr val="tx2"/>
          </a:solidFill>
          <a:ln/>
        </p:spPr>
      </p:sp>
      <p:sp>
        <p:nvSpPr>
          <p:cNvPr id="9" name="limits-2-head"/>
          <p:cNvSpPr txBox="1"/>
          <p:nvPr/>
        </p:nvSpPr>
        <p:spPr>
          <a:xfrm>
            <a:off x="6505956" y="1856232"/>
            <a:ext cx="4860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Не сделано</a:t>
            </a:r>
            <a:endParaRPr lang="en-US" sz="1800" dirty="0"/>
          </a:p>
        </p:txBody>
      </p:sp>
      <p:sp>
        <p:nvSpPr>
          <p:cNvPr id="10" name="limits-2-list"/>
          <p:cNvSpPr txBox="1"/>
          <p:nvPr/>
        </p:nvSpPr>
        <p:spPr>
          <a:xfrm>
            <a:off x="6505956" y="2295144"/>
            <a:ext cx="490575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Модель вживую на показе: режим «ехать, пока модель думает» есть, но измерен только на имитаторе и по умолчанию выключен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Гипотезы робота выдвигает и проверяет программа; модель делает это только в опыте «в тени»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Реакция на грунт и на его смену очков не даёт; исправление оставлено выключенным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Jev: равноценность большой модели не установлена; платные вызовы закрыты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До потолка остаётся 11 очков: пять правок их не вернули, причины смешанные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Приложение. Архитектура: каналы между стендом и агентом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Имена и типы каналов — как в условии задачи; агент не видит ничего, кроме них</a:t>
            </a:r>
            <a:endParaRPr lang="en-US" sz="1600" dirty="0"/>
          </a:p>
        </p:txBody>
      </p:sp>
      <p:sp>
        <p:nvSpPr>
          <p:cNvPr id="5" name="stand-card"/>
          <p:cNvSpPr/>
          <p:nvPr/>
        </p:nvSpPr>
        <p:spPr>
          <a:xfrm>
            <a:off x="548640" y="1691640"/>
            <a:ext cx="36576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stand-label"/>
          <p:cNvSpPr txBox="1"/>
          <p:nvPr/>
        </p:nvSpPr>
        <p:spPr>
          <a:xfrm>
            <a:off x="77724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Стенд</a:t>
            </a:r>
            <a:endParaRPr lang="en-US" sz="1600" dirty="0"/>
          </a:p>
        </p:txBody>
      </p:sp>
      <p:sp>
        <p:nvSpPr>
          <p:cNvPr id="7" name="stand-1-box"/>
          <p:cNvSpPr/>
          <p:nvPr/>
        </p:nvSpPr>
        <p:spPr>
          <a:xfrm>
            <a:off x="731520" y="2203704"/>
            <a:ext cx="3291840" cy="70104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8" name="stand-1-head"/>
          <p:cNvSpPr txBox="1"/>
          <p:nvPr/>
        </p:nvSpPr>
        <p:spPr>
          <a:xfrm>
            <a:off x="896112" y="226771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Генератор сценариев</a:t>
            </a:r>
            <a:endParaRPr lang="en-US" sz="1600" dirty="0"/>
          </a:p>
        </p:txBody>
      </p:sp>
      <p:sp>
        <p:nvSpPr>
          <p:cNvPr id="9" name="stand-1-sub"/>
          <p:cNvSpPr txBox="1"/>
          <p:nvPr/>
        </p:nvSpPr>
        <p:spPr>
          <a:xfrm>
            <a:off x="896112" y="2551176"/>
            <a:ext cx="29626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уровень и номер → расстановка</a:t>
            </a:r>
            <a:endParaRPr lang="en-US" sz="1400" dirty="0"/>
          </a:p>
        </p:txBody>
      </p:sp>
      <p:sp>
        <p:nvSpPr>
          <p:cNvPr id="10" name="stand-2-box"/>
          <p:cNvSpPr/>
          <p:nvPr/>
        </p:nvSpPr>
        <p:spPr>
          <a:xfrm>
            <a:off x="731520" y="3014472"/>
            <a:ext cx="3291840" cy="70104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11" name="stand-2-head"/>
          <p:cNvSpPr txBox="1"/>
          <p:nvPr/>
        </p:nvSpPr>
        <p:spPr>
          <a:xfrm>
            <a:off x="896112" y="3078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Судья</a:t>
            </a:r>
            <a:endParaRPr lang="en-US" sz="1600" dirty="0"/>
          </a:p>
        </p:txBody>
      </p:sp>
      <p:sp>
        <p:nvSpPr>
          <p:cNvPr id="12" name="stand-2-sub"/>
          <p:cNvSpPr txBox="1"/>
          <p:nvPr/>
        </p:nvSpPr>
        <p:spPr>
          <a:xfrm>
            <a:off x="896112" y="3361944"/>
            <a:ext cx="29626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заряд, датчик, штрафы, очки</a:t>
            </a:r>
            <a:endParaRPr lang="en-US" sz="1400" dirty="0"/>
          </a:p>
        </p:txBody>
      </p:sp>
      <p:sp>
        <p:nvSpPr>
          <p:cNvPr id="13" name="stand-3-box"/>
          <p:cNvSpPr/>
          <p:nvPr/>
        </p:nvSpPr>
        <p:spPr>
          <a:xfrm>
            <a:off x="731520" y="3825240"/>
            <a:ext cx="3291840" cy="70104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14" name="stand-3-head"/>
          <p:cNvSpPr txBox="1"/>
          <p:nvPr/>
        </p:nvSpPr>
        <p:spPr>
          <a:xfrm>
            <a:off x="896112" y="388924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Симулятор</a:t>
            </a:r>
            <a:endParaRPr lang="en-US" sz="1600" dirty="0"/>
          </a:p>
        </p:txBody>
      </p:sp>
      <p:sp>
        <p:nvSpPr>
          <p:cNvPr id="15" name="stand-3-sub"/>
          <p:cNvSpPr txBox="1"/>
          <p:nvPr/>
        </p:nvSpPr>
        <p:spPr>
          <a:xfrm>
            <a:off x="896112" y="4172712"/>
            <a:ext cx="29626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Gazebo — показ, быстрый — серии</a:t>
            </a:r>
            <a:endParaRPr lang="en-US" sz="1400" dirty="0"/>
          </a:p>
        </p:txBody>
      </p:sp>
      <p:sp>
        <p:nvSpPr>
          <p:cNvPr id="16" name="agent-card"/>
          <p:cNvSpPr/>
          <p:nvPr/>
        </p:nvSpPr>
        <p:spPr>
          <a:xfrm>
            <a:off x="7086600" y="1691640"/>
            <a:ext cx="4553712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17" name="agent-label"/>
          <p:cNvSpPr txBox="1"/>
          <p:nvPr/>
        </p:nvSpPr>
        <p:spPr>
          <a:xfrm>
            <a:off x="731520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Агент</a:t>
            </a:r>
            <a:endParaRPr lang="en-US" sz="1600" dirty="0"/>
          </a:p>
        </p:txBody>
      </p:sp>
      <p:sp>
        <p:nvSpPr>
          <p:cNvPr id="18" name="agent-1-box"/>
          <p:cNvSpPr/>
          <p:nvPr/>
        </p:nvSpPr>
        <p:spPr>
          <a:xfrm>
            <a:off x="7269480" y="2203704"/>
            <a:ext cx="2002536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9" name="agent-1-head"/>
          <p:cNvSpPr txBox="1"/>
          <p:nvPr/>
        </p:nvSpPr>
        <p:spPr>
          <a:xfrm>
            <a:off x="7434072" y="2295144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Картина мира</a:t>
            </a:r>
            <a:endParaRPr lang="en-US" sz="1600" dirty="0"/>
          </a:p>
        </p:txBody>
      </p:sp>
      <p:sp>
        <p:nvSpPr>
          <p:cNvPr id="20" name="agent-1-sub"/>
          <p:cNvSpPr txBox="1"/>
          <p:nvPr/>
        </p:nvSpPr>
        <p:spPr>
          <a:xfrm>
            <a:off x="7434072" y="2615184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образцы, грунт, зоны, положение</a:t>
            </a:r>
            <a:endParaRPr lang="en-US" sz="1400" dirty="0"/>
          </a:p>
        </p:txBody>
      </p:sp>
      <p:sp>
        <p:nvSpPr>
          <p:cNvPr id="21" name="agent-2-box"/>
          <p:cNvSpPr/>
          <p:nvPr/>
        </p:nvSpPr>
        <p:spPr>
          <a:xfrm>
            <a:off x="9454896" y="2203704"/>
            <a:ext cx="2002536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2" name="agent-2-head"/>
          <p:cNvSpPr txBox="1"/>
          <p:nvPr/>
        </p:nvSpPr>
        <p:spPr>
          <a:xfrm>
            <a:off x="9619488" y="2295144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Планировщик</a:t>
            </a:r>
            <a:endParaRPr lang="en-US" sz="1600" dirty="0"/>
          </a:p>
        </p:txBody>
      </p:sp>
      <p:sp>
        <p:nvSpPr>
          <p:cNvPr id="23" name="agent-2-sub"/>
          <p:cNvSpPr txBox="1"/>
          <p:nvPr/>
        </p:nvSpPr>
        <p:spPr>
          <a:xfrm>
            <a:off x="9619488" y="2615184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правило или языковая модель</a:t>
            </a:r>
            <a:endParaRPr lang="en-US" sz="1400" dirty="0"/>
          </a:p>
        </p:txBody>
      </p:sp>
      <p:sp>
        <p:nvSpPr>
          <p:cNvPr id="24" name="agent-3-box"/>
          <p:cNvSpPr/>
          <p:nvPr/>
        </p:nvSpPr>
        <p:spPr>
          <a:xfrm>
            <a:off x="7269480" y="3429000"/>
            <a:ext cx="2002536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5" name="agent-3-head"/>
          <p:cNvSpPr txBox="1"/>
          <p:nvPr/>
        </p:nvSpPr>
        <p:spPr>
          <a:xfrm>
            <a:off x="7434072" y="352044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Исполнитель</a:t>
            </a:r>
            <a:endParaRPr lang="en-US" sz="1600" dirty="0"/>
          </a:p>
        </p:txBody>
      </p:sp>
      <p:sp>
        <p:nvSpPr>
          <p:cNvPr id="26" name="agent-3-sub"/>
          <p:cNvSpPr txBox="1"/>
          <p:nvPr/>
        </p:nvSpPr>
        <p:spPr>
          <a:xfrm>
            <a:off x="7434072" y="384048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путь по сетке и скорость колёс</a:t>
            </a:r>
            <a:endParaRPr lang="en-US" sz="1400" dirty="0"/>
          </a:p>
        </p:txBody>
      </p:sp>
      <p:sp>
        <p:nvSpPr>
          <p:cNvPr id="27" name="agent-4-box"/>
          <p:cNvSpPr/>
          <p:nvPr/>
        </p:nvSpPr>
        <p:spPr>
          <a:xfrm>
            <a:off x="9454896" y="3429000"/>
            <a:ext cx="2002536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8" name="agent-4-head"/>
          <p:cNvSpPr txBox="1"/>
          <p:nvPr/>
        </p:nvSpPr>
        <p:spPr>
          <a:xfrm>
            <a:off x="9619488" y="352044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Журнал гипотез</a:t>
            </a:r>
            <a:endParaRPr lang="en-US" sz="1600" dirty="0"/>
          </a:p>
        </p:txBody>
      </p:sp>
      <p:sp>
        <p:nvSpPr>
          <p:cNvPr id="29" name="agent-4-sub"/>
          <p:cNvSpPr txBox="1"/>
          <p:nvPr/>
        </p:nvSpPr>
        <p:spPr>
          <a:xfrm>
            <a:off x="9619488" y="384048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что предположил и что вышло</a:t>
            </a:r>
            <a:endParaRPr lang="en-US" sz="1400" dirty="0"/>
          </a:p>
        </p:txBody>
      </p:sp>
      <p:sp>
        <p:nvSpPr>
          <p:cNvPr id="30" name="chan-1"/>
          <p:cNvSpPr/>
          <p:nvPr/>
        </p:nvSpPr>
        <p:spPr>
          <a:xfrm>
            <a:off x="4297680" y="2926080"/>
            <a:ext cx="2697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31" name="chan-1-label"/>
          <p:cNvSpPr txBox="1"/>
          <p:nvPr/>
        </p:nvSpPr>
        <p:spPr>
          <a:xfrm>
            <a:off x="4297680" y="2267712"/>
            <a:ext cx="2697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/did/battery  /did/score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/did/sample_sensor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/did/events</a:t>
            </a:r>
            <a:endParaRPr lang="en-US" sz="1200" dirty="0"/>
          </a:p>
        </p:txBody>
      </p:sp>
      <p:sp>
        <p:nvSpPr>
          <p:cNvPr id="32" name="chan-2"/>
          <p:cNvSpPr/>
          <p:nvPr/>
        </p:nvSpPr>
        <p:spPr>
          <a:xfrm>
            <a:off x="4297680" y="3127248"/>
            <a:ext cx="2697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</p:sp>
      <p:sp>
        <p:nvSpPr>
          <p:cNvPr id="33" name="chan-2-label"/>
          <p:cNvSpPr txBox="1"/>
          <p:nvPr/>
        </p:nvSpPr>
        <p:spPr>
          <a:xfrm>
            <a:off x="4297680" y="316382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/did/collect /did/finish</a:t>
            </a:r>
            <a:endParaRPr lang="en-US" sz="1200" dirty="0"/>
          </a:p>
        </p:txBody>
      </p:sp>
      <p:sp>
        <p:nvSpPr>
          <p:cNvPr id="34" name="chan-3"/>
          <p:cNvSpPr/>
          <p:nvPr/>
        </p:nvSpPr>
        <p:spPr>
          <a:xfrm>
            <a:off x="4297680" y="3858768"/>
            <a:ext cx="2697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35" name="chan-3-label"/>
          <p:cNvSpPr txBox="1"/>
          <p:nvPr/>
        </p:nvSpPr>
        <p:spPr>
          <a:xfrm>
            <a:off x="4297680" y="360273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/scan /odom</a:t>
            </a:r>
            <a:endParaRPr lang="en-US" sz="1200" dirty="0"/>
          </a:p>
        </p:txBody>
      </p:sp>
      <p:sp>
        <p:nvSpPr>
          <p:cNvPr id="36" name="chan-4"/>
          <p:cNvSpPr/>
          <p:nvPr/>
        </p:nvSpPr>
        <p:spPr>
          <a:xfrm>
            <a:off x="4297680" y="4059936"/>
            <a:ext cx="2697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</p:sp>
      <p:sp>
        <p:nvSpPr>
          <p:cNvPr id="37" name="chan-4-label"/>
          <p:cNvSpPr txBox="1"/>
          <p:nvPr/>
        </p:nvSpPr>
        <p:spPr>
          <a:xfrm>
            <a:off x="4297680" y="40965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</a:t>
            </a:r>
            <a:endParaRPr lang="en-US" sz="1200" dirty="0"/>
          </a:p>
        </p:txBody>
      </p:sp>
      <p:sp>
        <p:nvSpPr>
          <p:cNvPr id="38" name="chain-1-box"/>
          <p:cNvSpPr/>
          <p:nvPr/>
        </p:nvSpPr>
        <p:spPr>
          <a:xfrm>
            <a:off x="548640" y="5001768"/>
            <a:ext cx="3383280" cy="1216152"/>
          </a:xfrm>
          <a:prstGeom prst="roundRect">
            <a:avLst>
              <a:gd name="adj" fmla="val 6015"/>
            </a:avLst>
          </a:prstGeom>
          <a:solidFill>
            <a:schemeClr val="bg2"/>
          </a:solidFill>
          <a:ln/>
        </p:spPr>
      </p:sp>
      <p:sp>
        <p:nvSpPr>
          <p:cNvPr id="39" name="chain-1-head"/>
          <p:cNvSpPr txBox="1"/>
          <p:nvPr/>
        </p:nvSpPr>
        <p:spPr>
          <a:xfrm>
            <a:off x="749808" y="511149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Запись прогона</a:t>
            </a:r>
            <a:endParaRPr lang="en-US" sz="1600" dirty="0"/>
          </a:p>
        </p:txBody>
      </p:sp>
      <p:sp>
        <p:nvSpPr>
          <p:cNvPr id="40" name="chain-1-sub"/>
          <p:cNvSpPr txBox="1"/>
          <p:nvPr/>
        </p:nvSpPr>
        <p:spPr>
          <a:xfrm>
            <a:off x="749808" y="54406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путь, заряд, решения и гипотезы агента</a:t>
            </a:r>
            <a:endParaRPr lang="en-US" sz="1400" dirty="0"/>
          </a:p>
        </p:txBody>
      </p:sp>
      <p:sp>
        <p:nvSpPr>
          <p:cNvPr id="41" name="chain-1-arrow"/>
          <p:cNvSpPr/>
          <p:nvPr/>
        </p:nvSpPr>
        <p:spPr>
          <a:xfrm>
            <a:off x="4023360" y="5609844"/>
            <a:ext cx="28803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42" name="chain-2-box"/>
          <p:cNvSpPr/>
          <p:nvPr/>
        </p:nvSpPr>
        <p:spPr>
          <a:xfrm>
            <a:off x="4402836" y="5001768"/>
            <a:ext cx="3383280" cy="1216152"/>
          </a:xfrm>
          <a:prstGeom prst="roundRect">
            <a:avLst>
              <a:gd name="adj" fmla="val 6015"/>
            </a:avLst>
          </a:prstGeom>
          <a:solidFill>
            <a:schemeClr val="bg2"/>
          </a:solidFill>
          <a:ln/>
        </p:spPr>
      </p:sp>
      <p:sp>
        <p:nvSpPr>
          <p:cNvPr id="43" name="chain-2-head"/>
          <p:cNvSpPr txBox="1"/>
          <p:nvPr/>
        </p:nvSpPr>
        <p:spPr>
          <a:xfrm>
            <a:off x="4604004" y="511149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Серии опытов</a:t>
            </a:r>
            <a:endParaRPr lang="en-US" sz="1600" dirty="0"/>
          </a:p>
        </p:txBody>
      </p:sp>
      <p:sp>
        <p:nvSpPr>
          <p:cNvPr id="44" name="chain-2-sub"/>
          <p:cNvSpPr txBox="1"/>
          <p:nvPr/>
        </p:nvSpPr>
        <p:spPr>
          <a:xfrm>
            <a:off x="4604004" y="54406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33 серии на одинаковых сценариях; разности с интервалами</a:t>
            </a:r>
            <a:endParaRPr lang="en-US" sz="1400" dirty="0"/>
          </a:p>
        </p:txBody>
      </p:sp>
      <p:sp>
        <p:nvSpPr>
          <p:cNvPr id="45" name="chain-2-arrow"/>
          <p:cNvSpPr/>
          <p:nvPr/>
        </p:nvSpPr>
        <p:spPr>
          <a:xfrm>
            <a:off x="7877556" y="5609844"/>
            <a:ext cx="28803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46" name="chain-3-box"/>
          <p:cNvSpPr/>
          <p:nvPr/>
        </p:nvSpPr>
        <p:spPr>
          <a:xfrm>
            <a:off x="8257032" y="5001768"/>
            <a:ext cx="3383280" cy="1216152"/>
          </a:xfrm>
          <a:prstGeom prst="roundRect">
            <a:avLst>
              <a:gd name="adj" fmla="val 6015"/>
            </a:avLst>
          </a:prstGeom>
          <a:solidFill>
            <a:schemeClr val="bg2"/>
          </a:solidFill>
          <a:ln/>
        </p:spPr>
      </p:sp>
      <p:sp>
        <p:nvSpPr>
          <p:cNvPr id="47" name="chain-3-head"/>
          <p:cNvSpPr txBox="1"/>
          <p:nvPr/>
        </p:nvSpPr>
        <p:spPr>
          <a:xfrm>
            <a:off x="8458200" y="511149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Веб-лаборатория и пульт</a:t>
            </a:r>
            <a:endParaRPr lang="en-US" sz="1600" dirty="0"/>
          </a:p>
        </p:txBody>
      </p:sp>
      <p:sp>
        <p:nvSpPr>
          <p:cNvPr id="48" name="chain-3-sub"/>
          <p:cNvSpPr txBox="1"/>
          <p:nvPr/>
        </p:nvSpPr>
        <p:spPr>
          <a:xfrm>
            <a:off x="8458200" y="54406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графики, проигрыватель прогонов, управление показом</a:t>
            </a:r>
            <a:endParaRPr lang="en-US" sz="1400" dirty="0"/>
          </a:p>
        </p:txBody>
      </p:sp>
      <p:sp>
        <p:nvSpPr>
          <p:cNvPr id="49" name="record-arrow"/>
          <p:cNvSpPr/>
          <p:nvPr/>
        </p:nvSpPr>
        <p:spPr>
          <a:xfrm>
            <a:off x="2240280" y="4754880"/>
            <a:ext cx="0" cy="2011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Researcher">
  <a:themeElements>
    <a:clrScheme name="DID Researcher">
      <a:dk1>
        <a:srgbClr val="14181C"/>
      </a:dk1>
      <a:lt1>
        <a:srgbClr val="FFFFFF"/>
      </a:lt1>
      <a:dk2>
        <a:srgbClr val="2B3138"/>
      </a:dk2>
      <a:lt2>
        <a:srgbClr val="EEF0F2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5B6168"/>
      </a:accent5>
      <a:accent6>
        <a:srgbClr val="D03B3B"/>
      </a:accent6>
      <a:hlink>
        <a:srgbClr val="2A78D6"/>
      </a:hlink>
      <a:folHlink>
        <a:srgbClr val="4A3AA7"/>
      </a:folHlink>
    </a:clrScheme>
    <a:fontScheme name="DID Research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Автономный ИИ-исследователь на роботе-платформе — финал</dc:title>
  <dc:subject>PptxGenJS Presentation</dc:subject>
  <dc:creator>Журавлёва, Ефремова, Путиловский</dc:creator>
  <cp:lastModifiedBy>Журавлёва, Ефремова, Путиловский</cp:lastModifiedBy>
  <cp:revision>1</cp:revision>
  <dcterms:created xsi:type="dcterms:W3CDTF">2026-10-08T21:28:06Z</dcterms:created>
  <dcterms:modified xsi:type="dcterms:W3CDTF">2026-10-08T21:28:06Z</dcterms:modified>
</cp:coreProperties>
</file>