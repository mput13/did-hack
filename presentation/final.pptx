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" id="{67700c32-74f1-7426-b376-0bace0f7eab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к вопросам жюри" id="{397ceed1-16f7-eb45-49db-e3e71c1f810a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ИИ-исследователь. Робот TurtleBot3 сам ищет скрытые образцы, замечает, что среда изменилась, и возвращается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Образцы, дорогой грунт и опасные зоны скрыты, камеры нет. Поэтому робот действует как исследователь: ставит гипотезу, проверяет её действием, смотрит на данные и делает вывод. Девять из десяти гипотез, которые он сам подтвердил,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с судьёй и агент общаются только через каналы из условия. Один и тот же агент ездит в Gazebo и в быстром симуляторе, где мы ставим серии опытов. Языковая модель читает миссию и предлагает подцели; гипотезы и движение —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числа — трудный уровень, быстрый симулятор. Адаптивный агент набирает 75 очков, а научившись пережидать сбой датчика — 81, при потолке 92 с половиной. Справа — что дало каждое улучшение. Две идеи выигрыша не показали, и это тоже результат. В Gazebo после защиты от потери положения робот вернулся на базу семь раз из семи.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Изменения никто не объявляет: робот сам замечает сбой датчика, новые опасные зоны и потерю положения. Языковая модель полезна, когда задание меняют словами: шесть миссий из шести против нуля у правила. Но ответ идёт пятнадцать секунд, поэтому на показе модель — в записи.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Бонусные треки. Карта, которую робот строит сам через SLAM, совпадает с готовой на 96–99 процентов. Два робота с координацией заканчивают на 26 секунд раньше пары без связи. Журнал гипотез сверен со скрытой правдой.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как лаборатория: человек задаёт цель и роли, агенты пишут код и ставят опыты. Каждую работу до приёма читает независимая модель. Ни одна не прошла проверку с первого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главное. Остаётся не робот, а лаборатория: воспроизводимые опыты, журнал гипотез, независимая проверка и страница-объяснение. Так устроены роботы-учёные и автономные лаборатории в науке; студенту такой стенд даёт метод. Теперь покажем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шаг: обзор исследователя, работа инженера или независимая проверка. Галочка — работа принята. В первых двух исследованиях проверка нашла 7 ошибок, и два вывода пришлось перевернуть. В обзорах литературы нашлись две выдуманные ссылки. Строки без галочки — работа не принята: это видно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Уровни с нулевого по третий выполнены. На четвёртом механизмы адаптации работают, но польза в очках доказана не для всех: смена грунта выигрыша не дала.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каждому критерию — чем он закрыт и где слабое место. Самые слабые места: адаптация к смене грунта и то, что гипотезы выдвигает программа, а не языковая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сравнения — на одинаковых сценариях, не использованных при настройке. Если интервал включает ноль, мы говорим «различие не показано».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симуляторе; в Gazebo прогонов единицы — это проверка работоспособности. Модель на показе в записи. Гипотезы выдвигает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симулятор. Справа агент. Между ними только каналы из условия,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финал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1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2.png"/><Relationship Id="rId11" Type="http://schemas.openxmlformats.org/officeDocument/2006/relationships/image" Target="../media/image-9-3.png"/><Relationship Id="rId12" Type="http://schemas.openxmlformats.org/officeDocument/2006/relationships/image" Target="../media/image-9-2.png"/><Relationship Id="rId13" Type="http://schemas.openxmlformats.org/officeDocument/2006/relationships/image" Target="../media/image-9-1.png"/><Relationship Id="rId14" Type="http://schemas.openxmlformats.org/officeDocument/2006/relationships/image" Target="../media/image-9-1.png"/><Relationship Id="rId15" Type="http://schemas.openxmlformats.org/officeDocument/2006/relationships/image" Target="../media/image-9-1.png"/><Relationship Id="rId16" Type="http://schemas.openxmlformats.org/officeDocument/2006/relationships/image" Target="../media/image-9-1.png"/><Relationship Id="rId17" Type="http://schemas.openxmlformats.org/officeDocument/2006/relationships/image" Target="../media/image-9-2.png"/><Relationship Id="rId18" Type="http://schemas.openxmlformats.org/officeDocument/2006/relationships/image" Target="../media/image-9-1.png"/><Relationship Id="rId19" Type="http://schemas.openxmlformats.org/officeDocument/2006/relationships/image" Target="../media/image-9-2.png"/><Relationship Id="rId20" Type="http://schemas.openxmlformats.org/officeDocument/2006/relationships/image" Target="../media/image-9-3.png"/><Relationship Id="rId21" Type="http://schemas.openxmlformats.org/officeDocument/2006/relationships/image" Target="../media/image-9-2.png"/><Relationship Id="rId22" Type="http://schemas.openxmlformats.org/officeDocument/2006/relationships/image" Target="../media/image-9-1.png"/><Relationship Id="rId23" Type="http://schemas.openxmlformats.org/officeDocument/2006/relationships/image" Target="../media/image-9-2.png"/><Relationship Id="rId24" Type="http://schemas.openxmlformats.org/officeDocument/2006/relationships/image" Target="../media/image-9-2.png"/><Relationship Id="rId25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2.png"/><Relationship Id="rId28" Type="http://schemas.openxmlformats.org/officeDocument/2006/relationships/image" Target="../media/image-9-3.png"/><Relationship Id="rId29" Type="http://schemas.openxmlformats.org/officeDocument/2006/relationships/image" Target="../media/image-9-2.png"/><Relationship Id="rId30" Type="http://schemas.openxmlformats.org/officeDocument/2006/relationships/image" Target="../media/image-9-3.png"/><Relationship Id="rId31" Type="http://schemas.openxmlformats.org/officeDocument/2006/relationships/image" Target="../media/image-9-2.png"/><Relationship Id="rId32" Type="http://schemas.openxmlformats.org/officeDocument/2006/relationships/image" Target="../media/image-9-3.png"/><Relationship Id="rId33" Type="http://schemas.openxmlformats.org/officeDocument/2006/relationships/image" Target="../media/image-9-2.png"/><Relationship Id="rId34" Type="http://schemas.openxmlformats.org/officeDocument/2006/relationships/image" Target="../media/image-9-2.png"/><Relationship Id="rId35" Type="http://schemas.openxmlformats.org/officeDocument/2006/relationships/image" Target="../media/image-9-3.png"/><Relationship Id="rId36" Type="http://schemas.openxmlformats.org/officeDocument/2006/relationships/image" Target="../media/image-9-2.png"/><Relationship Id="rId37" Type="http://schemas.openxmlformats.org/officeDocument/2006/relationships/image" Target="../media/image-9-2.png"/><Relationship Id="rId38" Type="http://schemas.openxmlformats.org/officeDocument/2006/relationships/image" Target="../media/image-9-3.png"/><Relationship Id="rId39" Type="http://schemas.openxmlformats.org/officeDocument/2006/relationships/image" Target="../media/image-9-2.png"/><Relationship Id="rId40" Type="http://schemas.openxmlformats.org/officeDocument/2006/relationships/image" Target="../media/image-9-2.png"/><Relationship Id="rId41" Type="http://schemas.openxmlformats.org/officeDocument/2006/relationships/image" Target="../media/image-9-3.png"/><Relationship Id="rId42" Type="http://schemas.openxmlformats.org/officeDocument/2006/relationships/image" Target="../media/image-9-2.png"/><Relationship Id="rId43" Type="http://schemas.openxmlformats.org/officeDocument/2006/relationships/image" Target="../media/image-9-2.png"/><Relationship Id="rId44" Type="http://schemas.openxmlformats.org/officeDocument/2006/relationships/image" Target="../media/image-9-3.png"/><Relationship Id="rId45" Type="http://schemas.openxmlformats.org/officeDocument/2006/relationships/image" Target="../media/image-9-1.png"/><Relationship Id="rId46" Type="http://schemas.openxmlformats.org/officeDocument/2006/relationships/image" Target="../media/image-9-2.png"/><Relationship Id="rId47" Type="http://schemas.openxmlformats.org/officeDocument/2006/relationships/image" Target="../media/image-9-3.png"/><Relationship Id="rId48" Type="http://schemas.openxmlformats.org/officeDocument/2006/relationships/image" Target="../media/image-9-2.png"/><Relationship Id="rId49" Type="http://schemas.openxmlformats.org/officeDocument/2006/relationships/image" Target="../media/image-9-3.png"/><Relationship Id="rId50" Type="http://schemas.openxmlformats.org/officeDocument/2006/relationships/image" Target="../media/image-9-2.png"/><Relationship Id="rId51" Type="http://schemas.openxmlformats.org/officeDocument/2006/relationships/slideLayout" Target="../slideLayouts/slideLayout3.xml"/><Relationship Id="rId5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Автономный ИИ-исследователь на роботе-платформе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Робот сам ищет скрытые образцы, замечает, что среда изменилась, и возвращается на базу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финал · 9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920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TurtleBot3 Burger в Gazebo: путь робота в настоящем прогоне, собрано 5 образцов из 5,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Робот ищет то, чего не видит, — как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Образцы, дорогой грунт и опасные зоны скрыты; камеры нет — только лидар, заряд батареи и одно число датчика</a:t>
            </a:r>
            <a:endParaRPr lang="en-US" sz="1600" dirty="0"/>
          </a:p>
        </p:txBody>
      </p:sp>
      <p:sp>
        <p:nvSpPr>
          <p:cNvPr id="5" name="view-1-head"/>
          <p:cNvSpPr txBox="1"/>
          <p:nvPr/>
        </p:nvSpPr>
        <p:spPr>
          <a:xfrm>
            <a:off x="548640" y="169164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Как на самом деле</a:t>
            </a:r>
            <a:endParaRPr lang="en-US" sz="1600" dirty="0"/>
          </a:p>
        </p:txBody>
      </p:sp>
      <p:pic>
        <p:nvPicPr>
          <p:cNvPr id="6" name="view-1" descr="Арена со скрытой правд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0824"/>
            <a:ext cx="2487168" cy="2382707"/>
          </a:xfrm>
          <a:prstGeom prst="rect">
            <a:avLst/>
          </a:prstGeom>
        </p:spPr>
      </p:pic>
      <p:sp>
        <p:nvSpPr>
          <p:cNvPr id="7" name="view-1-caption"/>
          <p:cNvSpPr txBox="1"/>
          <p:nvPr/>
        </p:nvSpPr>
        <p:spPr>
          <a:xfrm>
            <a:off x="548640" y="4458395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образцы, зоны дорогого грунта, опасные зоны</a:t>
            </a:r>
            <a:endParaRPr lang="en-US" sz="1200" dirty="0"/>
          </a:p>
        </p:txBody>
      </p:sp>
      <p:sp>
        <p:nvSpPr>
          <p:cNvPr id="8" name="view-2-head"/>
          <p:cNvSpPr txBox="1"/>
          <p:nvPr/>
        </p:nvSpPr>
        <p:spPr>
          <a:xfrm>
            <a:off x="3273552" y="169164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видит робот</a:t>
            </a:r>
            <a:endParaRPr lang="en-US" sz="1600" dirty="0"/>
          </a:p>
        </p:txBody>
      </p:sp>
      <p:pic>
        <p:nvPicPr>
          <p:cNvPr id="9" name="view-2" descr="То же место глазами робо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2020824"/>
            <a:ext cx="2487168" cy="2382707"/>
          </a:xfrm>
          <a:prstGeom prst="rect">
            <a:avLst/>
          </a:prstGeom>
        </p:spPr>
      </p:pic>
      <p:sp>
        <p:nvSpPr>
          <p:cNvPr id="10" name="view-2-caption"/>
          <p:cNvSpPr txBox="1"/>
          <p:nvPr/>
        </p:nvSpPr>
        <p:spPr>
          <a:xfrm>
            <a:off x="3273552" y="4458395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число датчика: образец где-то на окружности</a:t>
            </a:r>
            <a:endParaRPr lang="en-US" sz="1200" dirty="0"/>
          </a:p>
        </p:txBody>
      </p:sp>
      <p:sp>
        <p:nvSpPr>
          <p:cNvPr id="11" name="goal-card"/>
          <p:cNvSpPr/>
          <p:nvPr/>
        </p:nvSpPr>
        <p:spPr>
          <a:xfrm>
            <a:off x="548640" y="5230368"/>
            <a:ext cx="521208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2" name="goal-text"/>
          <p:cNvSpPr txBox="1"/>
          <p:nvPr/>
        </p:nvSpPr>
        <p:spPr>
          <a:xfrm>
            <a:off x="749808" y="5230368"/>
            <a:ext cx="48097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батарея. Об изменениях среды никто не сообщает.</a:t>
            </a:r>
            <a:endParaRPr lang="en-US" sz="1600" dirty="0"/>
          </a:p>
        </p:txBody>
      </p:sp>
      <p:sp>
        <p:nvSpPr>
          <p:cNvPr id="13" name="cycle-head"/>
          <p:cNvSpPr txBox="1"/>
          <p:nvPr/>
        </p:nvSpPr>
        <p:spPr>
          <a:xfrm>
            <a:off x="6217920" y="169164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цикл робота</a:t>
            </a:r>
            <a:endParaRPr lang="en-US" sz="1600" dirty="0"/>
          </a:p>
        </p:txBody>
      </p:sp>
      <p:sp>
        <p:nvSpPr>
          <p:cNvPr id="14" name="cycle-1-card"/>
          <p:cNvSpPr/>
          <p:nvPr/>
        </p:nvSpPr>
        <p:spPr>
          <a:xfrm>
            <a:off x="6217920" y="2057400"/>
            <a:ext cx="542239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5" name="cycle-1-tab"/>
          <p:cNvSpPr/>
          <p:nvPr/>
        </p:nvSpPr>
        <p:spPr>
          <a:xfrm>
            <a:off x="6217920" y="20574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</p:spPr>
      </p:sp>
      <p:sp>
        <p:nvSpPr>
          <p:cNvPr id="16" name="cycle-1-head"/>
          <p:cNvSpPr txBox="1"/>
          <p:nvPr/>
        </p:nvSpPr>
        <p:spPr>
          <a:xfrm>
            <a:off x="6217920" y="20574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Гипотеза</a:t>
            </a:r>
            <a:endParaRPr lang="en-US" sz="1600" dirty="0"/>
          </a:p>
        </p:txBody>
      </p:sp>
      <p:sp>
        <p:nvSpPr>
          <p:cNvPr id="17" name="cycle-1-body"/>
          <p:cNvSpPr txBox="1"/>
          <p:nvPr/>
        </p:nvSpPr>
        <p:spPr>
          <a:xfrm>
            <a:off x="8001000" y="2057400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«в этой точке лежит образец», «здесь грунт вдвое дороже»</a:t>
            </a:r>
            <a:endParaRPr lang="en-US" sz="1600" dirty="0"/>
          </a:p>
        </p:txBody>
      </p:sp>
      <p:sp>
        <p:nvSpPr>
          <p:cNvPr id="18" name="cycle-1-arrow"/>
          <p:cNvSpPr/>
          <p:nvPr/>
        </p:nvSpPr>
        <p:spPr>
          <a:xfrm>
            <a:off x="7018020" y="2724912"/>
            <a:ext cx="0" cy="10972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cycle-2-card"/>
          <p:cNvSpPr/>
          <p:nvPr/>
        </p:nvSpPr>
        <p:spPr>
          <a:xfrm>
            <a:off x="6217920" y="2843784"/>
            <a:ext cx="542239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0" name="cycle-2-tab"/>
          <p:cNvSpPr/>
          <p:nvPr/>
        </p:nvSpPr>
        <p:spPr>
          <a:xfrm>
            <a:off x="6217920" y="2843784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1" name="cycle-2-head"/>
          <p:cNvSpPr txBox="1"/>
          <p:nvPr/>
        </p:nvSpPr>
        <p:spPr>
          <a:xfrm>
            <a:off x="6217920" y="2843784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Действие</a:t>
            </a:r>
            <a:endParaRPr lang="en-US" sz="1600" dirty="0"/>
          </a:p>
        </p:txBody>
      </p:sp>
      <p:sp>
        <p:nvSpPr>
          <p:cNvPr id="22" name="cycle-2-body"/>
          <p:cNvSpPr txBox="1"/>
          <p:nvPr/>
        </p:nvSpPr>
        <p:spPr>
          <a:xfrm>
            <a:off x="8001000" y="2843784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подъехать, проехать по участку, постоять</a:t>
            </a:r>
            <a:endParaRPr lang="en-US" sz="1600" dirty="0"/>
          </a:p>
        </p:txBody>
      </p:sp>
      <p:sp>
        <p:nvSpPr>
          <p:cNvPr id="23" name="cycle-2-arrow"/>
          <p:cNvSpPr/>
          <p:nvPr/>
        </p:nvSpPr>
        <p:spPr>
          <a:xfrm>
            <a:off x="7018020" y="3511296"/>
            <a:ext cx="0" cy="10972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cycle-3-card"/>
          <p:cNvSpPr/>
          <p:nvPr/>
        </p:nvSpPr>
        <p:spPr>
          <a:xfrm>
            <a:off x="6217920" y="3630168"/>
            <a:ext cx="542239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5" name="cycle-3-tab"/>
          <p:cNvSpPr/>
          <p:nvPr/>
        </p:nvSpPr>
        <p:spPr>
          <a:xfrm>
            <a:off x="6217920" y="3630168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6" name="cycle-3-head"/>
          <p:cNvSpPr txBox="1"/>
          <p:nvPr/>
        </p:nvSpPr>
        <p:spPr>
          <a:xfrm>
            <a:off x="6217920" y="3630168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Данные</a:t>
            </a:r>
            <a:endParaRPr lang="en-US" sz="1600" dirty="0"/>
          </a:p>
        </p:txBody>
      </p:sp>
      <p:sp>
        <p:nvSpPr>
          <p:cNvPr id="27" name="cycle-3-body"/>
          <p:cNvSpPr txBox="1"/>
          <p:nvPr/>
        </p:nvSpPr>
        <p:spPr>
          <a:xfrm>
            <a:off x="8001000" y="3630168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показание датчика, расход заряда, штраф судьи</a:t>
            </a:r>
            <a:endParaRPr lang="en-US" sz="1600" dirty="0"/>
          </a:p>
        </p:txBody>
      </p:sp>
      <p:sp>
        <p:nvSpPr>
          <p:cNvPr id="28" name="cycle-3-arrow"/>
          <p:cNvSpPr/>
          <p:nvPr/>
        </p:nvSpPr>
        <p:spPr>
          <a:xfrm>
            <a:off x="7018020" y="4297680"/>
            <a:ext cx="0" cy="10972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9" name="cycle-4-card"/>
          <p:cNvSpPr/>
          <p:nvPr/>
        </p:nvSpPr>
        <p:spPr>
          <a:xfrm>
            <a:off x="6217920" y="4416552"/>
            <a:ext cx="542239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30" name="cycle-4-tab"/>
          <p:cNvSpPr/>
          <p:nvPr/>
        </p:nvSpPr>
        <p:spPr>
          <a:xfrm>
            <a:off x="6217920" y="4416552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31" name="cycle-4-head"/>
          <p:cNvSpPr txBox="1"/>
          <p:nvPr/>
        </p:nvSpPr>
        <p:spPr>
          <a:xfrm>
            <a:off x="6217920" y="441655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Вывод</a:t>
            </a:r>
            <a:endParaRPr lang="en-US" sz="1600" dirty="0"/>
          </a:p>
        </p:txBody>
      </p:sp>
      <p:sp>
        <p:nvSpPr>
          <p:cNvPr id="32" name="cycle-4-body"/>
          <p:cNvSpPr txBox="1"/>
          <p:nvPr/>
        </p:nvSpPr>
        <p:spPr>
          <a:xfrm>
            <a:off x="8001000" y="4416552"/>
            <a:ext cx="3502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подтверждена или опровергнута — карта и маршрут обновлены</a:t>
            </a:r>
            <a:endParaRPr lang="en-US" sz="1600" dirty="0"/>
          </a:p>
        </p:txBody>
      </p:sp>
      <p:sp>
        <p:nvSpPr>
          <p:cNvPr id="33" name="journal-card"/>
          <p:cNvSpPr/>
          <p:nvPr/>
        </p:nvSpPr>
        <p:spPr>
          <a:xfrm>
            <a:off x="6217920" y="5257800"/>
            <a:ext cx="542239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journal-value"/>
          <p:cNvSpPr txBox="1"/>
          <p:nvPr/>
        </p:nvSpPr>
        <p:spPr>
          <a:xfrm>
            <a:off x="6419088" y="52578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 из 10</a:t>
            </a:r>
            <a:endParaRPr lang="en-US" sz="3000" dirty="0"/>
          </a:p>
        </p:txBody>
      </p:sp>
      <p:sp>
        <p:nvSpPr>
          <p:cNvPr id="35" name="journal-label"/>
          <p:cNvSpPr txBox="1"/>
          <p:nvPr/>
        </p:nvSpPr>
        <p:spPr>
          <a:xfrm>
            <a:off x="8046720" y="5330952"/>
            <a:ext cx="34107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гипотез, которые робот сам подтвердил, верны по скрытой правде</a:t>
            </a:r>
            <a:endParaRPr lang="en-US" sz="1400" dirty="0"/>
          </a:p>
        </p:txBody>
      </p:sp>
      <p:sp>
        <p:nvSpPr>
          <p:cNvPr id="36" name="journal-where"/>
          <p:cNvSpPr txBox="1"/>
          <p:nvPr/>
        </p:nvSpPr>
        <p:spPr>
          <a:xfrm>
            <a:off x="8046720" y="5907024"/>
            <a:ext cx="3410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320 прогонов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и один судья, два симулятора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нашего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83992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480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31464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64280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282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11752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to-label"/>
          <p:cNvSpPr txBox="1"/>
          <p:nvPr/>
        </p:nvSpPr>
        <p:spPr>
          <a:xfrm>
            <a:off x="4297680" y="240487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заряд, датчик образцов,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штрафы, лидар, одометрия</a:t>
            </a:r>
            <a:endParaRPr lang="en-US" sz="1400" dirty="0"/>
          </a:p>
        </p:txBody>
      </p:sp>
      <p:sp>
        <p:nvSpPr>
          <p:cNvPr id="31" name="chan-to"/>
          <p:cNvSpPr/>
          <p:nvPr/>
        </p:nvSpPr>
        <p:spPr>
          <a:xfrm>
            <a:off x="4297680" y="300837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2" name="chan-from"/>
          <p:cNvSpPr/>
          <p:nvPr/>
        </p:nvSpPr>
        <p:spPr>
          <a:xfrm>
            <a:off x="4297680" y="3300984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from-label"/>
          <p:cNvSpPr txBox="1"/>
          <p:nvPr/>
        </p:nvSpPr>
        <p:spPr>
          <a:xfrm>
            <a:off x="4297680" y="33924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скорость колёс,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«собрать», «финиш»</a:t>
            </a:r>
            <a:endParaRPr lang="en-US" sz="1400" dirty="0"/>
          </a:p>
        </p:txBody>
      </p:sp>
      <p:sp>
        <p:nvSpPr>
          <p:cNvPr id="34" name="llm-card"/>
          <p:cNvSpPr/>
          <p:nvPr/>
        </p:nvSpPr>
        <p:spPr>
          <a:xfrm>
            <a:off x="548640" y="4800600"/>
            <a:ext cx="67208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35" name="llm-text"/>
          <p:cNvSpPr txBox="1"/>
          <p:nvPr/>
        </p:nvSpPr>
        <p:spPr>
          <a:xfrm>
            <a:off x="777240" y="480060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Место языковой модели.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Читает миссию, заданную словами, и предлагает подцели: разведать область, проверить место, вернуться. Ответ проверяется; при сбое решает правило. Гипотезы, путь и скорость колёс — программа.</a:t>
            </a:r>
            <a:endParaRPr lang="en-US" sz="1600" dirty="0"/>
          </a:p>
        </p:txBody>
      </p:sp>
      <p:sp>
        <p:nvSpPr>
          <p:cNvPr id="36" name="sim-card"/>
          <p:cNvSpPr/>
          <p:nvPr/>
        </p:nvSpPr>
        <p:spPr>
          <a:xfrm>
            <a:off x="7452360" y="4800600"/>
            <a:ext cx="41879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37" name="sim-text"/>
          <p:cNvSpPr txBox="1"/>
          <p:nvPr/>
        </p:nvSpPr>
        <p:spPr>
          <a:xfrm>
            <a:off x="7680960" y="4800600"/>
            <a:ext cx="37307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Зачем два симулятора. 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Gazebo — физика и показ. Быстрый — серии: 240 прогонов за 37 секунд, поэтому у каждого вывода есть интервал.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Трудный уровень: 81 очко при потолке 92,5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Быстрый симулятор, новые сценарии; отрезки — 95% интервалы. Внизу — проверка в Gazebo</a:t>
            </a:r>
            <a:endParaRPr lang="en-US" sz="1600" dirty="0"/>
          </a:p>
        </p:txBody>
      </p:sp>
      <p:sp>
        <p:nvSpPr>
          <p:cNvPr id="5" name="scores-head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Счёт по вариантам агента</a:t>
            </a:r>
            <a:endParaRPr lang="en-US" sz="1600" dirty="0"/>
          </a:p>
        </p:txBody>
      </p:sp>
      <p:pic>
        <p:nvPicPr>
          <p:cNvPr id="6" name="scores-chart" descr="Счёт на трудном уровне: план заранее 59,3; адаптивный агент 74,9; с пережиданием сбоя 81,3; потолок 92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2536"/>
            <a:ext cx="5394960" cy="2743200"/>
          </a:xfrm>
          <a:prstGeom prst="rect">
            <a:avLst/>
          </a:prstGeom>
        </p:spPr>
      </p:pic>
      <p:sp>
        <p:nvSpPr>
          <p:cNvPr id="7" name="effects-head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дало каждое улучшение</a:t>
            </a:r>
            <a:endParaRPr lang="en-US" sz="1600" dirty="0"/>
          </a:p>
        </p:txBody>
      </p:sp>
      <p:pic>
        <p:nvPicPr>
          <p:cNvPr id="8" name="effects-chart" descr="Прибавка к счёту: адаптация +13,3; пережидание сбоя +6,4; память об опасных зонах +3,5; новые схемы планирования −0,4; реакция на смену грунта +0,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2002536"/>
            <a:ext cx="5394960" cy="2743200"/>
          </a:xfrm>
          <a:prstGeom prst="rect">
            <a:avLst/>
          </a:prstGeom>
        </p:spPr>
      </p:pic>
      <p:sp>
        <p:nvSpPr>
          <p:cNvPr id="9" name="gz-1-card"/>
          <p:cNvSpPr/>
          <p:nvPr/>
        </p:nvSpPr>
        <p:spPr>
          <a:xfrm>
            <a:off x="548640" y="4873752"/>
            <a:ext cx="3605784" cy="1344168"/>
          </a:xfrm>
          <a:prstGeom prst="roundRect">
            <a:avLst>
              <a:gd name="adj" fmla="val 5442"/>
            </a:avLst>
          </a:prstGeom>
          <a:solidFill>
            <a:schemeClr val="bg2"/>
          </a:solidFill>
          <a:ln/>
        </p:spPr>
      </p:sp>
      <p:sp>
        <p:nvSpPr>
          <p:cNvPr id="10" name="gz-1-value"/>
          <p:cNvSpPr txBox="1"/>
          <p:nvPr/>
        </p:nvSpPr>
        <p:spPr>
          <a:xfrm>
            <a:off x="749808" y="4946904"/>
            <a:ext cx="3240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 из 9 → 7 из 7</a:t>
            </a:r>
            <a:endParaRPr lang="en-US" sz="2600" dirty="0"/>
          </a:p>
        </p:txBody>
      </p:sp>
      <p:sp>
        <p:nvSpPr>
          <p:cNvPr id="11" name="gz-1-label"/>
          <p:cNvSpPr txBox="1"/>
          <p:nvPr/>
        </p:nvSpPr>
        <p:spPr>
          <a:xfrm>
            <a:off x="749808" y="5385816"/>
            <a:ext cx="32400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 на базу после защиты от потери положения</a:t>
            </a:r>
            <a:endParaRPr lang="en-US" sz="1300" dirty="0"/>
          </a:p>
        </p:txBody>
      </p:sp>
      <p:sp>
        <p:nvSpPr>
          <p:cNvPr id="12" name="gz-1-where"/>
          <p:cNvSpPr txBox="1"/>
          <p:nvPr/>
        </p:nvSpPr>
        <p:spPr>
          <a:xfrm>
            <a:off x="749808" y="5925312"/>
            <a:ext cx="3240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3" name="gz-2-card"/>
          <p:cNvSpPr/>
          <p:nvPr/>
        </p:nvSpPr>
        <p:spPr>
          <a:xfrm>
            <a:off x="4291584" y="4873752"/>
            <a:ext cx="3605784" cy="1344168"/>
          </a:xfrm>
          <a:prstGeom prst="roundRect">
            <a:avLst>
              <a:gd name="adj" fmla="val 5442"/>
            </a:avLst>
          </a:prstGeom>
          <a:solidFill>
            <a:schemeClr val="bg2"/>
          </a:solidFill>
          <a:ln/>
        </p:spPr>
      </p:sp>
      <p:sp>
        <p:nvSpPr>
          <p:cNvPr id="14" name="gz-2-value"/>
          <p:cNvSpPr txBox="1"/>
          <p:nvPr/>
        </p:nvSpPr>
        <p:spPr>
          <a:xfrm>
            <a:off x="4492752" y="4946904"/>
            <a:ext cx="3240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5 из 5</a:t>
            </a:r>
            <a:endParaRPr lang="en-US" sz="2600" dirty="0"/>
          </a:p>
        </p:txBody>
      </p:sp>
      <p:sp>
        <p:nvSpPr>
          <p:cNvPr id="15" name="gz-2-label"/>
          <p:cNvSpPr txBox="1"/>
          <p:nvPr/>
        </p:nvSpPr>
        <p:spPr>
          <a:xfrm>
            <a:off x="4492752" y="5385816"/>
            <a:ext cx="32400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возвратов с пережиданием сбоя датчика; счёт 75–91</a:t>
            </a:r>
            <a:endParaRPr lang="en-US" sz="1300" dirty="0"/>
          </a:p>
        </p:txBody>
      </p:sp>
      <p:sp>
        <p:nvSpPr>
          <p:cNvPr id="16" name="gz-2-where"/>
          <p:cNvSpPr txBox="1"/>
          <p:nvPr/>
        </p:nvSpPr>
        <p:spPr>
          <a:xfrm>
            <a:off x="4492752" y="5925312"/>
            <a:ext cx="3240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7" name="gz-3-card"/>
          <p:cNvSpPr/>
          <p:nvPr/>
        </p:nvSpPr>
        <p:spPr>
          <a:xfrm>
            <a:off x="8034528" y="4873752"/>
            <a:ext cx="3605784" cy="1344168"/>
          </a:xfrm>
          <a:prstGeom prst="roundRect">
            <a:avLst>
              <a:gd name="adj" fmla="val 5442"/>
            </a:avLst>
          </a:prstGeom>
          <a:solidFill>
            <a:schemeClr val="bg2"/>
          </a:solidFill>
          <a:ln/>
        </p:spPr>
      </p:sp>
      <p:sp>
        <p:nvSpPr>
          <p:cNvPr id="18" name="gz-3-value"/>
          <p:cNvSpPr txBox="1"/>
          <p:nvPr/>
        </p:nvSpPr>
        <p:spPr>
          <a:xfrm>
            <a:off x="8235696" y="4946904"/>
            <a:ext cx="3240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76,2 и 75,9</a:t>
            </a:r>
            <a:endParaRPr lang="en-US" sz="2600" dirty="0"/>
          </a:p>
        </p:txBody>
      </p:sp>
      <p:sp>
        <p:nvSpPr>
          <p:cNvPr id="19" name="gz-3-label"/>
          <p:cNvSpPr txBox="1"/>
          <p:nvPr/>
        </p:nvSpPr>
        <p:spPr>
          <a:xfrm>
            <a:off x="8235696" y="5385816"/>
            <a:ext cx="32400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в Gazebo и в быстром симуляторе: различие не показано</a:t>
            </a:r>
            <a:endParaRPr lang="en-US" sz="1300" dirty="0"/>
          </a:p>
        </p:txBody>
      </p:sp>
      <p:sp>
        <p:nvSpPr>
          <p:cNvPr id="20" name="gz-3-where"/>
          <p:cNvSpPr txBox="1"/>
          <p:nvPr/>
        </p:nvSpPr>
        <p:spPr>
          <a:xfrm>
            <a:off x="8235696" y="5925312"/>
            <a:ext cx="3240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 пар одинаковых трудных сценариев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Изменения робот замечает сам; модель читает миссию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 изменениях среды никто не сообщает: робот узнаёт о них по датчику, расходу заряда и штрафам</a:t>
            </a:r>
            <a:endParaRPr lang="en-US" sz="1600" dirty="0"/>
          </a:p>
        </p:txBody>
      </p:sp>
      <p:sp>
        <p:nvSpPr>
          <p:cNvPr id="5" name="adapt-head"/>
          <p:cNvSpPr txBox="1"/>
          <p:nvPr/>
        </p:nvSpPr>
        <p:spPr>
          <a:xfrm>
            <a:off x="548640" y="1691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робот замечает сам</a:t>
            </a:r>
            <a:endParaRPr lang="en-US" sz="1600" dirty="0"/>
          </a:p>
        </p:txBody>
      </p:sp>
      <p:sp>
        <p:nvSpPr>
          <p:cNvPr id="6" name="adapt-1-card"/>
          <p:cNvSpPr/>
          <p:nvPr/>
        </p:nvSpPr>
        <p:spPr>
          <a:xfrm>
            <a:off x="548640" y="2057400"/>
            <a:ext cx="6035040" cy="957834"/>
          </a:xfrm>
          <a:prstGeom prst="roundRect">
            <a:avLst>
              <a:gd name="adj" fmla="val 7637"/>
            </a:avLst>
          </a:prstGeom>
          <a:solidFill>
            <a:schemeClr val="bg2"/>
          </a:solidFill>
          <a:ln/>
        </p:spPr>
      </p:sp>
      <p:sp>
        <p:nvSpPr>
          <p:cNvPr id="7" name="adapt-1-sign"/>
          <p:cNvSpPr txBox="1"/>
          <p:nvPr/>
        </p:nvSpPr>
        <p:spPr>
          <a:xfrm>
            <a:off x="749808" y="21488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Датчик образцов врёт</a:t>
            </a:r>
            <a:endParaRPr lang="en-US" sz="1600" dirty="0"/>
          </a:p>
        </p:txBody>
      </p:sp>
      <p:sp>
        <p:nvSpPr>
          <p:cNvPr id="8" name="adapt-1-act"/>
          <p:cNvSpPr txBox="1"/>
          <p:nvPr/>
        </p:nvSpPr>
        <p:spPr>
          <a:xfrm>
            <a:off x="749808" y="2478024"/>
            <a:ext cx="35661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стоит и пережидает сбой</a:t>
            </a:r>
            <a:endParaRPr lang="en-US" sz="1600" dirty="0"/>
          </a:p>
        </p:txBody>
      </p:sp>
      <p:sp>
        <p:nvSpPr>
          <p:cNvPr id="9" name="adapt-1-num"/>
          <p:cNvSpPr txBox="1"/>
          <p:nvPr/>
        </p:nvSpPr>
        <p:spPr>
          <a:xfrm>
            <a:off x="4480560" y="21122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+6,4</a:t>
            </a:r>
            <a:endParaRPr lang="en-US" sz="2600" dirty="0"/>
          </a:p>
        </p:txBody>
      </p:sp>
      <p:sp>
        <p:nvSpPr>
          <p:cNvPr id="10" name="adapt-1-unit"/>
          <p:cNvSpPr txBox="1"/>
          <p:nvPr/>
        </p:nvSpPr>
        <p:spPr>
          <a:xfrm>
            <a:off x="4480560" y="2532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[+2,9; +9,8]</a:t>
            </a:r>
            <a:endParaRPr lang="en-US" sz="1300" dirty="0"/>
          </a:p>
        </p:txBody>
      </p:sp>
      <p:sp>
        <p:nvSpPr>
          <p:cNvPr id="11" name="adapt-1-where"/>
          <p:cNvSpPr txBox="1"/>
          <p:nvPr/>
        </p:nvSpPr>
        <p:spPr>
          <a:xfrm>
            <a:off x="4480560" y="274091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12" name="adapt-2-card"/>
          <p:cNvSpPr/>
          <p:nvPr/>
        </p:nvSpPr>
        <p:spPr>
          <a:xfrm>
            <a:off x="548640" y="3124962"/>
            <a:ext cx="6035040" cy="957834"/>
          </a:xfrm>
          <a:prstGeom prst="roundRect">
            <a:avLst>
              <a:gd name="adj" fmla="val 7637"/>
            </a:avLst>
          </a:prstGeom>
          <a:solidFill>
            <a:schemeClr val="bg2"/>
          </a:solidFill>
          <a:ln/>
        </p:spPr>
      </p:sp>
      <p:sp>
        <p:nvSpPr>
          <p:cNvPr id="13" name="adapt-2-sign"/>
          <p:cNvSpPr txBox="1"/>
          <p:nvPr/>
        </p:nvSpPr>
        <p:spPr>
          <a:xfrm>
            <a:off x="749808" y="321640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Штрафы: новая опасная зона</a:t>
            </a:r>
            <a:endParaRPr lang="en-US" sz="1600" dirty="0"/>
          </a:p>
        </p:txBody>
      </p:sp>
      <p:sp>
        <p:nvSpPr>
          <p:cNvPr id="14" name="adapt-2-act"/>
          <p:cNvSpPr txBox="1"/>
          <p:nvPr/>
        </p:nvSpPr>
        <p:spPr>
          <a:xfrm>
            <a:off x="749808" y="3545586"/>
            <a:ext cx="35661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запоминает зону и объезжает</a:t>
            </a:r>
            <a:endParaRPr lang="en-US" sz="1600" dirty="0"/>
          </a:p>
        </p:txBody>
      </p:sp>
      <p:sp>
        <p:nvSpPr>
          <p:cNvPr id="15" name="adapt-2-num"/>
          <p:cNvSpPr txBox="1"/>
          <p:nvPr/>
        </p:nvSpPr>
        <p:spPr>
          <a:xfrm>
            <a:off x="4480560" y="317982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+3,5</a:t>
            </a:r>
            <a:endParaRPr lang="en-US" sz="2600" dirty="0"/>
          </a:p>
        </p:txBody>
      </p:sp>
      <p:sp>
        <p:nvSpPr>
          <p:cNvPr id="16" name="adapt-2-unit"/>
          <p:cNvSpPr txBox="1"/>
          <p:nvPr/>
        </p:nvSpPr>
        <p:spPr>
          <a:xfrm>
            <a:off x="4480560" y="360045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[+0,4; +7,1]</a:t>
            </a:r>
            <a:endParaRPr lang="en-US" sz="1300" dirty="0"/>
          </a:p>
        </p:txBody>
      </p:sp>
      <p:sp>
        <p:nvSpPr>
          <p:cNvPr id="17" name="adapt-2-where"/>
          <p:cNvSpPr txBox="1"/>
          <p:nvPr/>
        </p:nvSpPr>
        <p:spPr>
          <a:xfrm>
            <a:off x="4480560" y="38084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быстрый, три новые зоны</a:t>
            </a:r>
            <a:endParaRPr lang="en-US" sz="1200" dirty="0"/>
          </a:p>
        </p:txBody>
      </p:sp>
      <p:sp>
        <p:nvSpPr>
          <p:cNvPr id="18" name="adapt-3-card"/>
          <p:cNvSpPr/>
          <p:nvPr/>
        </p:nvSpPr>
        <p:spPr>
          <a:xfrm>
            <a:off x="548640" y="4192524"/>
            <a:ext cx="6035040" cy="957834"/>
          </a:xfrm>
          <a:prstGeom prst="roundRect">
            <a:avLst>
              <a:gd name="adj" fmla="val 7637"/>
            </a:avLst>
          </a:prstGeom>
          <a:solidFill>
            <a:schemeClr val="bg2"/>
          </a:solidFill>
          <a:ln/>
        </p:spPr>
      </p:sp>
      <p:sp>
        <p:nvSpPr>
          <p:cNvPr id="19" name="adapt-3-sign"/>
          <p:cNvSpPr txBox="1"/>
          <p:nvPr/>
        </p:nvSpPr>
        <p:spPr>
          <a:xfrm>
            <a:off x="749808" y="42839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 потеряно после удара</a:t>
            </a:r>
            <a:endParaRPr lang="en-US" sz="1600" dirty="0"/>
          </a:p>
        </p:txBody>
      </p:sp>
      <p:sp>
        <p:nvSpPr>
          <p:cNvPr id="20" name="adapt-3-act"/>
          <p:cNvSpPr txBox="1"/>
          <p:nvPr/>
        </p:nvSpPr>
        <p:spPr>
          <a:xfrm>
            <a:off x="749808" y="4613148"/>
            <a:ext cx="35661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ищет себя заново, едет на базу</a:t>
            </a:r>
            <a:endParaRPr lang="en-US" sz="1600" dirty="0"/>
          </a:p>
        </p:txBody>
      </p:sp>
      <p:sp>
        <p:nvSpPr>
          <p:cNvPr id="21" name="adapt-3-num"/>
          <p:cNvSpPr txBox="1"/>
          <p:nvPr/>
        </p:nvSpPr>
        <p:spPr>
          <a:xfrm>
            <a:off x="4480560" y="424738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7 из 7</a:t>
            </a:r>
            <a:endParaRPr lang="en-US" sz="2600" dirty="0"/>
          </a:p>
        </p:txBody>
      </p:sp>
      <p:sp>
        <p:nvSpPr>
          <p:cNvPr id="22" name="adapt-3-unit"/>
          <p:cNvSpPr txBox="1"/>
          <p:nvPr/>
        </p:nvSpPr>
        <p:spPr>
          <a:xfrm>
            <a:off x="4480560" y="466801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возвратов (было 8 из 9)</a:t>
            </a:r>
            <a:endParaRPr lang="en-US" sz="1300" dirty="0"/>
          </a:p>
        </p:txBody>
      </p:sp>
      <p:sp>
        <p:nvSpPr>
          <p:cNvPr id="23" name="adapt-3-where"/>
          <p:cNvSpPr txBox="1"/>
          <p:nvPr/>
        </p:nvSpPr>
        <p:spPr>
          <a:xfrm>
            <a:off x="4480560" y="487603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</a:t>
            </a:r>
            <a:endParaRPr lang="en-US" sz="1200" dirty="0"/>
          </a:p>
        </p:txBody>
      </p:sp>
      <p:sp>
        <p:nvSpPr>
          <p:cNvPr id="24" name="adapt-4-card"/>
          <p:cNvSpPr/>
          <p:nvPr/>
        </p:nvSpPr>
        <p:spPr>
          <a:xfrm>
            <a:off x="548640" y="5260086"/>
            <a:ext cx="6035040" cy="957834"/>
          </a:xfrm>
          <a:prstGeom prst="roundRect">
            <a:avLst>
              <a:gd name="adj" fmla="val 7637"/>
            </a:avLst>
          </a:prstGeom>
          <a:solidFill>
            <a:schemeClr val="bg2"/>
          </a:solidFill>
          <a:ln/>
        </p:spPr>
      </p:sp>
      <p:sp>
        <p:nvSpPr>
          <p:cNvPr id="25" name="adapt-4-sign"/>
          <p:cNvSpPr txBox="1"/>
          <p:nvPr/>
        </p:nvSpPr>
        <p:spPr>
          <a:xfrm>
            <a:off x="749808" y="535152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Грунт на пути подорожал</a:t>
            </a:r>
            <a:endParaRPr lang="en-US" sz="1600" dirty="0"/>
          </a:p>
        </p:txBody>
      </p:sp>
      <p:sp>
        <p:nvSpPr>
          <p:cNvPr id="26" name="adapt-4-act"/>
          <p:cNvSpPr txBox="1"/>
          <p:nvPr/>
        </p:nvSpPr>
        <p:spPr>
          <a:xfrm>
            <a:off x="749808" y="5680710"/>
            <a:ext cx="35661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замечает, но очков это не даёт</a:t>
            </a:r>
            <a:endParaRPr lang="en-US" sz="1600" dirty="0"/>
          </a:p>
        </p:txBody>
      </p:sp>
      <p:sp>
        <p:nvSpPr>
          <p:cNvPr id="27" name="adapt-4-num"/>
          <p:cNvSpPr txBox="1"/>
          <p:nvPr/>
        </p:nvSpPr>
        <p:spPr>
          <a:xfrm>
            <a:off x="4480560" y="531495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+0,02</a:t>
            </a:r>
            <a:endParaRPr lang="en-US" sz="2600" dirty="0"/>
          </a:p>
        </p:txBody>
      </p:sp>
      <p:sp>
        <p:nvSpPr>
          <p:cNvPr id="28" name="adapt-4-unit"/>
          <p:cNvSpPr txBox="1"/>
          <p:nvPr/>
        </p:nvSpPr>
        <p:spPr>
          <a:xfrm>
            <a:off x="4480560" y="573557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[−0,03; +0,07]</a:t>
            </a:r>
            <a:endParaRPr lang="en-US" sz="1300" dirty="0"/>
          </a:p>
        </p:txBody>
      </p:sp>
      <p:sp>
        <p:nvSpPr>
          <p:cNvPr id="29" name="adapt-4-where"/>
          <p:cNvSpPr txBox="1"/>
          <p:nvPr/>
        </p:nvSpPr>
        <p:spPr>
          <a:xfrm>
            <a:off x="4480560" y="59436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выигрыш не показан</a:t>
            </a:r>
            <a:endParaRPr lang="en-US" sz="1200" dirty="0"/>
          </a:p>
        </p:txBody>
      </p:sp>
      <p:sp>
        <p:nvSpPr>
          <p:cNvPr id="30" name="llm-head"/>
          <p:cNvSpPr txBox="1"/>
          <p:nvPr/>
        </p:nvSpPr>
        <p:spPr>
          <a:xfrm>
            <a:off x="6858000" y="1691640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модель: QWEN и DeepSeek</a:t>
            </a:r>
            <a:endParaRPr lang="en-US" sz="1600" dirty="0"/>
          </a:p>
        </p:txBody>
      </p:sp>
      <p:sp>
        <p:nvSpPr>
          <p:cNvPr id="31" name="mission-card"/>
          <p:cNvSpPr/>
          <p:nvPr/>
        </p:nvSpPr>
        <p:spPr>
          <a:xfrm>
            <a:off x="6858000" y="2057400"/>
            <a:ext cx="4782312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/>
        </p:spPr>
      </p:sp>
      <p:sp>
        <p:nvSpPr>
          <p:cNvPr id="32" name="mission-text"/>
          <p:cNvSpPr txBox="1"/>
          <p:nvPr/>
        </p:nvSpPr>
        <p:spPr>
          <a:xfrm>
            <a:off x="7086600" y="2185416"/>
            <a:ext cx="4325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Миссия словами: «собери ровно два образца и возвращайся»</a:t>
            </a:r>
            <a:endParaRPr lang="en-US" sz="1600" dirty="0"/>
          </a:p>
        </p:txBody>
      </p:sp>
      <p:sp>
        <p:nvSpPr>
          <p:cNvPr id="33" name="mission-1-value"/>
          <p:cNvSpPr txBox="1"/>
          <p:nvPr/>
        </p:nvSpPr>
        <p:spPr>
          <a:xfrm>
            <a:off x="7086600" y="2807208"/>
            <a:ext cx="21625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 из 6</a:t>
            </a:r>
            <a:endParaRPr lang="en-US" sz="4000" dirty="0"/>
          </a:p>
        </p:txBody>
      </p:sp>
      <p:sp>
        <p:nvSpPr>
          <p:cNvPr id="34" name="mission-1-who"/>
          <p:cNvSpPr txBox="1"/>
          <p:nvPr/>
        </p:nvSpPr>
        <p:spPr>
          <a:xfrm>
            <a:off x="7086600" y="3483864"/>
            <a:ext cx="2162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модель</a:t>
            </a:r>
            <a:endParaRPr lang="en-US" sz="1600" dirty="0"/>
          </a:p>
        </p:txBody>
      </p:sp>
      <p:sp>
        <p:nvSpPr>
          <p:cNvPr id="35" name="mission-2-value"/>
          <p:cNvSpPr txBox="1"/>
          <p:nvPr/>
        </p:nvSpPr>
        <p:spPr>
          <a:xfrm>
            <a:off x="9249156" y="2807208"/>
            <a:ext cx="21625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0 из 6</a:t>
            </a:r>
            <a:endParaRPr lang="en-US" sz="4000" dirty="0"/>
          </a:p>
        </p:txBody>
      </p:sp>
      <p:sp>
        <p:nvSpPr>
          <p:cNvPr id="36" name="mission-2-who"/>
          <p:cNvSpPr txBox="1"/>
          <p:nvPr/>
        </p:nvSpPr>
        <p:spPr>
          <a:xfrm>
            <a:off x="9249156" y="3483864"/>
            <a:ext cx="2162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правило</a:t>
            </a:r>
            <a:endParaRPr lang="en-US" sz="1600" dirty="0"/>
          </a:p>
        </p:txBody>
      </p:sp>
      <p:sp>
        <p:nvSpPr>
          <p:cNvPr id="37" name="mission-where"/>
          <p:cNvSpPr txBox="1"/>
          <p:nvPr/>
        </p:nvSpPr>
        <p:spPr>
          <a:xfrm>
            <a:off x="7086600" y="3867912"/>
            <a:ext cx="4325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модели с сервера МАИ, быстрый симулятор; 6 сценариев по одному прогону — счёт прогонов, а не доля</a:t>
            </a:r>
            <a:endParaRPr lang="en-US" sz="1200" dirty="0"/>
          </a:p>
        </p:txBody>
      </p:sp>
      <p:sp>
        <p:nvSpPr>
          <p:cNvPr id="38" name="llm-1-card"/>
          <p:cNvSpPr/>
          <p:nvPr/>
        </p:nvSpPr>
        <p:spPr>
          <a:xfrm>
            <a:off x="6858000" y="4453128"/>
            <a:ext cx="4782312" cy="827532"/>
          </a:xfrm>
          <a:prstGeom prst="roundRect">
            <a:avLst>
              <a:gd name="adj" fmla="val 8840"/>
            </a:avLst>
          </a:prstGeom>
          <a:solidFill>
            <a:schemeClr val="bg2"/>
          </a:solidFill>
          <a:ln/>
        </p:spPr>
      </p:sp>
      <p:sp>
        <p:nvSpPr>
          <p:cNvPr id="39" name="llm-1-value"/>
          <p:cNvSpPr txBox="1"/>
          <p:nvPr/>
        </p:nvSpPr>
        <p:spPr>
          <a:xfrm>
            <a:off x="7059168" y="4453128"/>
            <a:ext cx="114300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96%</a:t>
            </a:r>
            <a:endParaRPr lang="en-US" sz="2600" dirty="0"/>
          </a:p>
        </p:txBody>
      </p:sp>
      <p:sp>
        <p:nvSpPr>
          <p:cNvPr id="40" name="llm-1-label"/>
          <p:cNvSpPr txBox="1"/>
          <p:nvPr/>
        </p:nvSpPr>
        <p:spPr>
          <a:xfrm>
            <a:off x="8229600" y="4507992"/>
            <a:ext cx="3273552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решений обычной миссии — те же, что у правила; счёт одинаков</a:t>
            </a:r>
            <a:endParaRPr lang="en-US" sz="1300" dirty="0"/>
          </a:p>
        </p:txBody>
      </p:sp>
      <p:sp>
        <p:nvSpPr>
          <p:cNvPr id="41" name="llm-1-where"/>
          <p:cNvSpPr txBox="1"/>
          <p:nvPr/>
        </p:nvSpPr>
        <p:spPr>
          <a:xfrm>
            <a:off x="8229600" y="5006340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обычной миссии модель ничего не добавляет</a:t>
            </a:r>
            <a:endParaRPr lang="en-US" sz="1200" dirty="0"/>
          </a:p>
        </p:txBody>
      </p:sp>
      <p:sp>
        <p:nvSpPr>
          <p:cNvPr id="42" name="llm-2-card"/>
          <p:cNvSpPr/>
          <p:nvPr/>
        </p:nvSpPr>
        <p:spPr>
          <a:xfrm>
            <a:off x="6858000" y="5390388"/>
            <a:ext cx="4782312" cy="827532"/>
          </a:xfrm>
          <a:prstGeom prst="roundRect">
            <a:avLst>
              <a:gd name="adj" fmla="val 8840"/>
            </a:avLst>
          </a:prstGeom>
          <a:solidFill>
            <a:schemeClr val="bg2"/>
          </a:solidFill>
          <a:ln/>
        </p:spPr>
      </p:sp>
      <p:sp>
        <p:nvSpPr>
          <p:cNvPr id="43" name="llm-2-value"/>
          <p:cNvSpPr txBox="1"/>
          <p:nvPr/>
        </p:nvSpPr>
        <p:spPr>
          <a:xfrm>
            <a:off x="7059168" y="5390388"/>
            <a:ext cx="114300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−73</a:t>
            </a:r>
            <a:endParaRPr lang="en-US" sz="2600" dirty="0"/>
          </a:p>
        </p:txBody>
      </p:sp>
      <p:sp>
        <p:nvSpPr>
          <p:cNvPr id="44" name="llm-2-label"/>
          <p:cNvSpPr txBox="1"/>
          <p:nvPr/>
        </p:nvSpPr>
        <p:spPr>
          <a:xfrm>
            <a:off x="8229600" y="5445252"/>
            <a:ext cx="3273552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стоит ожидание ответа 15 с на трудном уровне</a:t>
            </a:r>
            <a:endParaRPr lang="en-US" sz="1300" dirty="0"/>
          </a:p>
        </p:txBody>
      </p:sp>
      <p:sp>
        <p:nvSpPr>
          <p:cNvPr id="45" name="llm-2-where"/>
          <p:cNvSpPr txBox="1"/>
          <p:nvPr/>
        </p:nvSpPr>
        <p:spPr>
          <a:xfrm>
            <a:off x="8229600" y="5943600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поэтому на показе модель — в записи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Бонусные треки: четыре закрыты числами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У каждого числа подписано, где оно измерено: Gazebo или быстрый симулятор</a:t>
            </a:r>
            <a:endParaRPr lang="en-US" sz="1600" dirty="0"/>
          </a:p>
        </p:txBody>
      </p:sp>
      <p:sp>
        <p:nvSpPr>
          <p:cNvPr id="5" name="bonus-1-card"/>
          <p:cNvSpPr/>
          <p:nvPr/>
        </p:nvSpPr>
        <p:spPr>
          <a:xfrm>
            <a:off x="548640" y="1691640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6" name="bonus-1-head"/>
          <p:cNvSpPr txBox="1"/>
          <p:nvPr/>
        </p:nvSpPr>
        <p:spPr>
          <a:xfrm>
            <a:off x="74980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SLAM вместо готовой карты</a:t>
            </a:r>
            <a:endParaRPr lang="en-US" sz="1600" dirty="0"/>
          </a:p>
        </p:txBody>
      </p:sp>
      <p:sp>
        <p:nvSpPr>
          <p:cNvPr id="7" name="bonus-1-body"/>
          <p:cNvSpPr txBox="1"/>
          <p:nvPr/>
        </p:nvSpPr>
        <p:spPr>
          <a:xfrm>
            <a:off x="749808" y="2093976"/>
            <a:ext cx="5056632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готовой; столбов 9 из 9; начало координат совпадает с мировым с точностью около 5 см</a:t>
            </a:r>
            <a:endParaRPr lang="en-US" sz="1400" dirty="0"/>
          </a:p>
        </p:txBody>
      </p:sp>
      <p:sp>
        <p:nvSpPr>
          <p:cNvPr id="8" name="bonus-1-num"/>
          <p:cNvSpPr txBox="1"/>
          <p:nvPr/>
        </p:nvSpPr>
        <p:spPr>
          <a:xfrm>
            <a:off x="5971032" y="17830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95,8–98,7%</a:t>
            </a:r>
            <a:endParaRPr lang="en-US" sz="2600" dirty="0"/>
          </a:p>
        </p:txBody>
      </p:sp>
      <p:sp>
        <p:nvSpPr>
          <p:cNvPr id="9" name="bonus-1-where"/>
          <p:cNvSpPr txBox="1"/>
          <p:nvPr/>
        </p:nvSpPr>
        <p:spPr>
          <a:xfrm>
            <a:off x="5971032" y="2276856"/>
            <a:ext cx="214884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5 прогонов</a:t>
            </a:r>
            <a:endParaRPr lang="en-US" sz="1200" dirty="0"/>
          </a:p>
        </p:txBody>
      </p:sp>
      <p:sp>
        <p:nvSpPr>
          <p:cNvPr id="10" name="bonus-2-card"/>
          <p:cNvSpPr/>
          <p:nvPr/>
        </p:nvSpPr>
        <p:spPr>
          <a:xfrm>
            <a:off x="548640" y="2850642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11" name="bonus-2-head"/>
          <p:cNvSpPr txBox="1"/>
          <p:nvPr/>
        </p:nvSpPr>
        <p:spPr>
          <a:xfrm>
            <a:off x="749808" y="2942082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Два робота, которые координируются</a:t>
            </a:r>
            <a:endParaRPr lang="en-US" sz="1600" dirty="0"/>
          </a:p>
        </p:txBody>
      </p:sp>
      <p:sp>
        <p:nvSpPr>
          <p:cNvPr id="12" name="bonus-2-body"/>
          <p:cNvSpPr txBox="1"/>
          <p:nvPr/>
        </p:nvSpPr>
        <p:spPr>
          <a:xfrm>
            <a:off x="749808" y="3252978"/>
            <a:ext cx="5056632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связи: прогон 103,7 → 77,8 с, заряд 100,4 → 74,1; оба вернулись 80 из 80 против 75</a:t>
            </a:r>
            <a:endParaRPr lang="en-US" sz="1400" dirty="0"/>
          </a:p>
        </p:txBody>
      </p:sp>
      <p:sp>
        <p:nvSpPr>
          <p:cNvPr id="13" name="bonus-2-num"/>
          <p:cNvSpPr txBox="1"/>
          <p:nvPr/>
        </p:nvSpPr>
        <p:spPr>
          <a:xfrm>
            <a:off x="5971032" y="294208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−26 с</a:t>
            </a:r>
            <a:endParaRPr lang="en-US" sz="2600" dirty="0"/>
          </a:p>
        </p:txBody>
      </p:sp>
      <p:sp>
        <p:nvSpPr>
          <p:cNvPr id="14" name="bonus-2-where"/>
          <p:cNvSpPr txBox="1"/>
          <p:nvPr/>
        </p:nvSpPr>
        <p:spPr>
          <a:xfrm>
            <a:off x="5971032" y="3435858"/>
            <a:ext cx="214884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80 сценариев</a:t>
            </a:r>
            <a:endParaRPr lang="en-US" sz="1200" dirty="0"/>
          </a:p>
        </p:txBody>
      </p:sp>
      <p:sp>
        <p:nvSpPr>
          <p:cNvPr id="15" name="bonus-3-card"/>
          <p:cNvSpPr/>
          <p:nvPr/>
        </p:nvSpPr>
        <p:spPr>
          <a:xfrm>
            <a:off x="548640" y="4009644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16" name="bonus-3-head"/>
          <p:cNvSpPr txBox="1"/>
          <p:nvPr/>
        </p:nvSpPr>
        <p:spPr>
          <a:xfrm>
            <a:off x="749808" y="4101084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агент: журнал гипотез</a:t>
            </a:r>
            <a:endParaRPr lang="en-US" sz="1600" dirty="0"/>
          </a:p>
        </p:txBody>
      </p:sp>
      <p:sp>
        <p:nvSpPr>
          <p:cNvPr id="17" name="bonus-3-body"/>
          <p:cNvSpPr txBox="1"/>
          <p:nvPr/>
        </p:nvSpPr>
        <p:spPr>
          <a:xfrm>
            <a:off x="749808" y="4411980"/>
            <a:ext cx="5056632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Подтверждённые роботом гипотезы верны по скрытой правде; но 38% опровергнутых отвергнуты зря</a:t>
            </a:r>
            <a:endParaRPr lang="en-US" sz="1400" dirty="0"/>
          </a:p>
        </p:txBody>
      </p:sp>
      <p:sp>
        <p:nvSpPr>
          <p:cNvPr id="18" name="bonus-3-num"/>
          <p:cNvSpPr txBox="1"/>
          <p:nvPr/>
        </p:nvSpPr>
        <p:spPr>
          <a:xfrm>
            <a:off x="5971032" y="410108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 из 10</a:t>
            </a:r>
            <a:endParaRPr lang="en-US" sz="2600" dirty="0"/>
          </a:p>
        </p:txBody>
      </p:sp>
      <p:sp>
        <p:nvSpPr>
          <p:cNvPr id="19" name="bonus-3-where"/>
          <p:cNvSpPr txBox="1"/>
          <p:nvPr/>
        </p:nvSpPr>
        <p:spPr>
          <a:xfrm>
            <a:off x="5971032" y="4594860"/>
            <a:ext cx="214884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320 прогонов</a:t>
            </a:r>
            <a:endParaRPr lang="en-US" sz="1200" dirty="0"/>
          </a:p>
        </p:txBody>
      </p:sp>
      <p:sp>
        <p:nvSpPr>
          <p:cNvPr id="20" name="bonus-4-card"/>
          <p:cNvSpPr/>
          <p:nvPr/>
        </p:nvSpPr>
        <p:spPr>
          <a:xfrm>
            <a:off x="548640" y="5168646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21" name="bonus-4-head"/>
          <p:cNvSpPr txBox="1"/>
          <p:nvPr/>
        </p:nvSpPr>
        <p:spPr>
          <a:xfrm>
            <a:off x="749808" y="5260086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Команда с ИИ-агентами</a:t>
            </a:r>
            <a:endParaRPr lang="en-US" sz="1600" dirty="0"/>
          </a:p>
        </p:txBody>
      </p:sp>
      <p:sp>
        <p:nvSpPr>
          <p:cNvPr id="22" name="bonus-4-body"/>
          <p:cNvSpPr txBox="1"/>
          <p:nvPr/>
        </p:nvSpPr>
        <p:spPr>
          <a:xfrm>
            <a:off x="749808" y="5570982"/>
            <a:ext cx="5056632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Столько ошибок независимая проверка нашла в коде первых исследований; два вывода перевёрнуты</a:t>
            </a:r>
            <a:endParaRPr lang="en-US" sz="1400" dirty="0"/>
          </a:p>
        </p:txBody>
      </p:sp>
      <p:sp>
        <p:nvSpPr>
          <p:cNvPr id="23" name="bonus-4-num"/>
          <p:cNvSpPr txBox="1"/>
          <p:nvPr/>
        </p:nvSpPr>
        <p:spPr>
          <a:xfrm>
            <a:off x="5971032" y="526008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ошибок</a:t>
            </a:r>
            <a:endParaRPr lang="en-US" sz="2600" dirty="0"/>
          </a:p>
        </p:txBody>
      </p:sp>
      <p:sp>
        <p:nvSpPr>
          <p:cNvPr id="24" name="bonus-4-where"/>
          <p:cNvSpPr txBox="1"/>
          <p:nvPr/>
        </p:nvSpPr>
        <p:spPr>
          <a:xfrm>
            <a:off x="5971032" y="5753862"/>
            <a:ext cx="214884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план, отчёты и история правок — в репозитории</a:t>
            </a:r>
            <a:endParaRPr lang="en-US" sz="1200" dirty="0"/>
          </a:p>
        </p:txBody>
      </p:sp>
      <p:pic>
        <p:nvPicPr>
          <p:cNvPr id="25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91640"/>
            <a:ext cx="3017520" cy="2807208"/>
          </a:xfrm>
          <a:prstGeom prst="rect">
            <a:avLst/>
          </a:prstGeom>
        </p:spPr>
      </p:pic>
      <p:sp>
        <p:nvSpPr>
          <p:cNvPr id="26" name="slam-caption"/>
          <p:cNvSpPr txBox="1"/>
          <p:nvPr/>
        </p:nvSpPr>
        <p:spPr>
          <a:xfrm>
            <a:off x="8622792" y="45902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Карта, которую робот построил сам (SLAM Toolbox, Gazebo). Оранжевые кольца — настоящие места столбов; худший столб ушёл на 9,5 см. Синий квадрат — база.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-research/FIN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-research/FIN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-research/FIN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-research/FIN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14884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 сессии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рабочих, за двое суток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834640" y="5239512"/>
            <a:ext cx="1737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3035808" y="529437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3035808" y="5724144"/>
            <a:ext cx="14081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709160" y="5239512"/>
            <a:ext cx="26517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910328" y="529437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ни одна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910328" y="5724144"/>
            <a:ext cx="23225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не прошла ревью с первого раза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498080" y="5239512"/>
            <a:ext cx="414223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699248" y="5294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178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699248" y="5724144"/>
            <a:ext cx="10515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842248" y="529437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744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842248" y="5724144"/>
            <a:ext cx="12801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автоматические проверки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213848" y="5294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14 900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213848" y="5724144"/>
            <a:ext cx="1234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записанных 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Инфраструктура знаний: лаборатория, а не один робот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из сделанного переносится на другие задачи и как такие агенты встраиваются в науку и образование</a:t>
            </a:r>
            <a:endParaRPr lang="en-US" sz="1600" dirty="0"/>
          </a:p>
        </p:txBody>
      </p:sp>
      <p:sp>
        <p:nvSpPr>
          <p:cNvPr id="5" name="infra-head"/>
          <p:cNvSpPr txBox="1"/>
          <p:nvPr/>
        </p:nvSpPr>
        <p:spPr>
          <a:xfrm>
            <a:off x="548640" y="16916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переносится на другие задачи</a:t>
            </a:r>
            <a:endParaRPr lang="en-US" sz="1600" dirty="0"/>
          </a:p>
        </p:txBody>
      </p:sp>
      <p:sp>
        <p:nvSpPr>
          <p:cNvPr id="6" name="infra-1-card"/>
          <p:cNvSpPr/>
          <p:nvPr/>
        </p:nvSpPr>
        <p:spPr>
          <a:xfrm>
            <a:off x="548640" y="205740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7" name="infra-1-badge"/>
          <p:cNvSpPr txBox="1"/>
          <p:nvPr/>
        </p:nvSpPr>
        <p:spPr>
          <a:xfrm>
            <a:off x="731520" y="225056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infra-1-head"/>
          <p:cNvSpPr txBox="1"/>
          <p:nvPr/>
        </p:nvSpPr>
        <p:spPr>
          <a:xfrm>
            <a:off x="1389888" y="21214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Воспроизводимые опыты</a:t>
            </a:r>
            <a:endParaRPr lang="en-US" sz="1600" dirty="0"/>
          </a:p>
        </p:txBody>
      </p:sp>
      <p:sp>
        <p:nvSpPr>
          <p:cNvPr id="9" name="infra-1-body"/>
          <p:cNvSpPr txBox="1"/>
          <p:nvPr/>
        </p:nvSpPr>
        <p:spPr>
          <a:xfrm>
            <a:off x="1389888" y="239572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→ серия → разность с интервалом; 21 серия, 14 900 прогонов</a:t>
            </a:r>
            <a:endParaRPr lang="en-US" sz="1300" dirty="0"/>
          </a:p>
        </p:txBody>
      </p:sp>
      <p:sp>
        <p:nvSpPr>
          <p:cNvPr id="10" name="infra-2-card"/>
          <p:cNvSpPr/>
          <p:nvPr/>
        </p:nvSpPr>
        <p:spPr>
          <a:xfrm>
            <a:off x="548640" y="293751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1" name="infra-2-badge"/>
          <p:cNvSpPr txBox="1"/>
          <p:nvPr/>
        </p:nvSpPr>
        <p:spPr>
          <a:xfrm>
            <a:off x="731520" y="313067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infra-2-head"/>
          <p:cNvSpPr txBox="1"/>
          <p:nvPr/>
        </p:nvSpPr>
        <p:spPr>
          <a:xfrm>
            <a:off x="1389888" y="300151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13" name="infra-2-body"/>
          <p:cNvSpPr txBox="1"/>
          <p:nvPr/>
        </p:nvSpPr>
        <p:spPr>
          <a:xfrm>
            <a:off x="1389888" y="327583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предположил, проверил, что вышло — и сверка со скрытой правдой</a:t>
            </a:r>
            <a:endParaRPr lang="en-US" sz="1300" dirty="0"/>
          </a:p>
        </p:txBody>
      </p:sp>
      <p:sp>
        <p:nvSpPr>
          <p:cNvPr id="14" name="infra-3-card"/>
          <p:cNvSpPr/>
          <p:nvPr/>
        </p:nvSpPr>
        <p:spPr>
          <a:xfrm>
            <a:off x="548640" y="381762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5" name="infra-3-badge"/>
          <p:cNvSpPr txBox="1"/>
          <p:nvPr/>
        </p:nvSpPr>
        <p:spPr>
          <a:xfrm>
            <a:off x="731520" y="401078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infra-3-head"/>
          <p:cNvSpPr txBox="1"/>
          <p:nvPr/>
        </p:nvSpPr>
        <p:spPr>
          <a:xfrm>
            <a:off x="1389888" y="38816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Независимая проверка</a:t>
            </a:r>
            <a:endParaRPr lang="en-US" sz="1600" dirty="0"/>
          </a:p>
        </p:txBody>
      </p:sp>
      <p:sp>
        <p:nvSpPr>
          <p:cNvPr id="17" name="infra-3-body"/>
          <p:cNvSpPr txBox="1"/>
          <p:nvPr/>
        </p:nvSpPr>
        <p:spPr>
          <a:xfrm>
            <a:off x="1389888" y="415594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код читает другая модель; отрицательные результаты записаны как результаты</a:t>
            </a:r>
            <a:endParaRPr lang="en-US" sz="1300" dirty="0"/>
          </a:p>
        </p:txBody>
      </p:sp>
      <p:sp>
        <p:nvSpPr>
          <p:cNvPr id="18" name="infra-4-card"/>
          <p:cNvSpPr/>
          <p:nvPr/>
        </p:nvSpPr>
        <p:spPr>
          <a:xfrm>
            <a:off x="548640" y="469773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9" name="infra-4-badge"/>
          <p:cNvSpPr txBox="1"/>
          <p:nvPr/>
        </p:nvSpPr>
        <p:spPr>
          <a:xfrm>
            <a:off x="731520" y="489089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infra-4-head"/>
          <p:cNvSpPr txBox="1"/>
          <p:nvPr/>
        </p:nvSpPr>
        <p:spPr>
          <a:xfrm>
            <a:off x="1389888" y="476173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Страница-объяснение</a:t>
            </a:r>
            <a:endParaRPr lang="en-US" sz="1600" dirty="0"/>
          </a:p>
        </p:txBody>
      </p:sp>
      <p:sp>
        <p:nvSpPr>
          <p:cNvPr id="21" name="infra-4-body"/>
          <p:cNvSpPr txBox="1"/>
          <p:nvPr/>
        </p:nvSpPr>
        <p:spPr>
          <a:xfrm>
            <a:off x="1389888" y="503605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 же результаты простым языком и с рисунками</a:t>
            </a:r>
            <a:endParaRPr lang="en-US" sz="1300" dirty="0"/>
          </a:p>
        </p:txBody>
      </p:sp>
      <p:sp>
        <p:nvSpPr>
          <p:cNvPr id="22" name="embed-head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Куда такие агенты встраиваются</a:t>
            </a:r>
            <a:endParaRPr lang="en-US" sz="1600" dirty="0"/>
          </a:p>
        </p:txBody>
      </p:sp>
      <p:sp>
        <p:nvSpPr>
          <p:cNvPr id="23" name="science-card"/>
          <p:cNvSpPr/>
          <p:nvPr/>
        </p:nvSpPr>
        <p:spPr>
          <a:xfrm>
            <a:off x="6355080" y="2057400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/>
        </p:spPr>
      </p:sp>
      <p:sp>
        <p:nvSpPr>
          <p:cNvPr id="24" name="science-head"/>
          <p:cNvSpPr txBox="1"/>
          <p:nvPr/>
        </p:nvSpPr>
        <p:spPr>
          <a:xfrm>
            <a:off x="6583680" y="21671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 науке</a:t>
            </a:r>
            <a:endParaRPr lang="en-US" sz="1600" dirty="0"/>
          </a:p>
        </p:txBody>
      </p:sp>
      <p:sp>
        <p:nvSpPr>
          <p:cNvPr id="25" name="science-body"/>
          <p:cNvSpPr txBox="1"/>
          <p:nvPr/>
        </p:nvSpPr>
        <p:spPr>
          <a:xfrm>
            <a:off x="6583680" y="2478024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Тот же замкнутый цикл «гипотеза → опыт → данные → вывод», что у робота-учёного Adam [1, 2], автономной лаборатории A-Lab [3] и The AI Scientist [4]. Агент берёт на себя рутину опыта и оставляет проверяемый след.</a:t>
            </a:r>
            <a:endParaRPr lang="en-US" sz="1400" dirty="0"/>
          </a:p>
        </p:txBody>
      </p:sp>
      <p:sp>
        <p:nvSpPr>
          <p:cNvPr id="26" name="edu-card"/>
          <p:cNvSpPr/>
          <p:nvPr/>
        </p:nvSpPr>
        <p:spPr>
          <a:xfrm>
            <a:off x="6355080" y="3826764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bg2"/>
          </a:solidFill>
          <a:ln/>
        </p:spPr>
      </p:sp>
      <p:sp>
        <p:nvSpPr>
          <p:cNvPr id="27" name="edu-head"/>
          <p:cNvSpPr txBox="1"/>
          <p:nvPr/>
        </p:nvSpPr>
        <p:spPr>
          <a:xfrm>
            <a:off x="6583680" y="39364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 образовании</a:t>
            </a:r>
            <a:endParaRPr lang="en-US" sz="1600" dirty="0"/>
          </a:p>
        </p:txBody>
      </p:sp>
      <p:sp>
        <p:nvSpPr>
          <p:cNvPr id="28" name="edu-body"/>
          <p:cNvSpPr txBox="1"/>
          <p:nvPr/>
        </p:nvSpPr>
        <p:spPr>
          <a:xfrm>
            <a:off x="6583680" y="4247388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Студент меняет гипотезу или правило агента и получает серию опытов с интервалом: 240 прогонов считаются за 37 секунд на одном компьютере. Учится методу, а не только коду.</a:t>
            </a:r>
            <a:endParaRPr lang="en-US" sz="1400" dirty="0"/>
          </a:p>
        </p:txBody>
      </p:sp>
      <p:sp>
        <p:nvSpPr>
          <p:cNvPr id="29" name="sources"/>
          <p:cNvSpPr txBox="1"/>
          <p:nvPr/>
        </p:nvSpPr>
        <p:spPr>
          <a:xfrm>
            <a:off x="548640" y="5614416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Источники: </a:t>
            </a:r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[1] King et al., Nature, 2004 · [2] King et al., Science, 2009 · [3] Szymanski et al., Nature, 2023 · [4] Lu et al., arXiv:2408.06292, 2024. Об ИИ в науке: OECD, Artificial Intelligence in Science, 2023; The Royal Society, Science in the Age of AI,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-research/FIN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-research/FIN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-research/FIN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60893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60893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60893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60893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60893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-research/FIN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60893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60893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60893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60893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0154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01547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468464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-research/FIN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468464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-research/FIN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468464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-research/FIN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468464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468464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01547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091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09118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776035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776035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776035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776035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09118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01668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016689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08360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08360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08360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016689"/>
            <a:ext cx="256032" cy="307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08360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-research/FIN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08360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016689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R16 — в работе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3242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324260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391177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391177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391177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391177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324260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6318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63183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G2, G3.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698748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698748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698748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63183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393940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393940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006319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006319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006319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393940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2469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246972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313890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313890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313890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246972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5545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554543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621461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621461"/>
            <a:ext cx="173736" cy="173736"/>
          </a:xfrm>
          <a:prstGeom prst="rect">
            <a:avLst/>
          </a:prstGeom>
        </p:spPr>
      </p:pic>
      <p:sp>
        <p:nvSpPr>
          <p:cNvPr id="127" name="lane-9-chip-3-tile"/>
          <p:cNvSpPr/>
          <p:nvPr/>
        </p:nvSpPr>
        <p:spPr>
          <a:xfrm>
            <a:off x="4837176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8" name="lane-9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78324" y="4621461"/>
            <a:ext cx="173736" cy="173736"/>
          </a:xfrm>
          <a:prstGeom prst="rect">
            <a:avLst/>
          </a:prstGeom>
        </p:spPr>
      </p:pic>
      <p:sp>
        <p:nvSpPr>
          <p:cNvPr id="129" name="lane-9-chip-4"/>
          <p:cNvSpPr txBox="1"/>
          <p:nvPr/>
        </p:nvSpPr>
        <p:spPr>
          <a:xfrm>
            <a:off x="5129784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0" name="lane-9-result"/>
          <p:cNvSpPr txBox="1"/>
          <p:nvPr/>
        </p:nvSpPr>
        <p:spPr>
          <a:xfrm>
            <a:off x="7315200" y="4554543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26 с, заряда на четверть меньше</a:t>
            </a:r>
            <a:endParaRPr lang="en-US" sz="1400" dirty="0"/>
          </a:p>
        </p:txBody>
      </p:sp>
      <p:sp>
        <p:nvSpPr>
          <p:cNvPr id="131" name="lane-10-rule"/>
          <p:cNvSpPr/>
          <p:nvPr/>
        </p:nvSpPr>
        <p:spPr>
          <a:xfrm>
            <a:off x="548640" y="486211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2" name="lane-10-name"/>
          <p:cNvSpPr txBox="1"/>
          <p:nvPr/>
        </p:nvSpPr>
        <p:spPr>
          <a:xfrm>
            <a:off x="548640" y="4862114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33" name="lane-10-chip-1-tile"/>
          <p:cNvSpPr/>
          <p:nvPr/>
        </p:nvSpPr>
        <p:spPr>
          <a:xfrm>
            <a:off x="4251960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4" name="lane-10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4929032"/>
            <a:ext cx="173736" cy="173736"/>
          </a:xfrm>
          <a:prstGeom prst="rect">
            <a:avLst/>
          </a:prstGeom>
        </p:spPr>
      </p:pic>
      <p:sp>
        <p:nvSpPr>
          <p:cNvPr id="135" name="lane-10-chip-2-tile"/>
          <p:cNvSpPr/>
          <p:nvPr/>
        </p:nvSpPr>
        <p:spPr>
          <a:xfrm>
            <a:off x="4544568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6" name="lane-10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85716" y="4929032"/>
            <a:ext cx="173736" cy="173736"/>
          </a:xfrm>
          <a:prstGeom prst="rect">
            <a:avLst/>
          </a:prstGeom>
        </p:spPr>
      </p:pic>
      <p:sp>
        <p:nvSpPr>
          <p:cNvPr id="137" name="lane-10-result"/>
          <p:cNvSpPr txBox="1"/>
          <p:nvPr/>
        </p:nvSpPr>
        <p:spPr>
          <a:xfrm>
            <a:off x="7315200" y="4862114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вернула работу; в работе</a:t>
            </a:r>
            <a:endParaRPr lang="en-US" sz="1400" dirty="0"/>
          </a:p>
        </p:txBody>
      </p:sp>
      <p:sp>
        <p:nvSpPr>
          <p:cNvPr id="138" name="lane-11-rule"/>
          <p:cNvSpPr/>
          <p:nvPr/>
        </p:nvSpPr>
        <p:spPr>
          <a:xfrm>
            <a:off x="548640" y="516968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9" name="lane-11-name"/>
          <p:cNvSpPr txBox="1"/>
          <p:nvPr/>
        </p:nvSpPr>
        <p:spPr>
          <a:xfrm>
            <a:off x="548640" y="5169685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40" name="lane-11-chip-1-tile"/>
          <p:cNvSpPr/>
          <p:nvPr/>
        </p:nvSpPr>
        <p:spPr>
          <a:xfrm>
            <a:off x="425196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1" name="lane-11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293108" y="5236603"/>
            <a:ext cx="173736" cy="173736"/>
          </a:xfrm>
          <a:prstGeom prst="rect">
            <a:avLst/>
          </a:prstGeom>
        </p:spPr>
      </p:pic>
      <p:sp>
        <p:nvSpPr>
          <p:cNvPr id="142" name="lane-11-chip-2-tile"/>
          <p:cNvSpPr/>
          <p:nvPr/>
        </p:nvSpPr>
        <p:spPr>
          <a:xfrm>
            <a:off x="454456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3" name="lane-11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585716" y="5236603"/>
            <a:ext cx="173736" cy="173736"/>
          </a:xfrm>
          <a:prstGeom prst="rect">
            <a:avLst/>
          </a:prstGeom>
        </p:spPr>
      </p:pic>
      <p:sp>
        <p:nvSpPr>
          <p:cNvPr id="144" name="lane-11-chip-3-tile"/>
          <p:cNvSpPr/>
          <p:nvPr/>
        </p:nvSpPr>
        <p:spPr>
          <a:xfrm>
            <a:off x="4837176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5" name="lane-11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78324" y="5236603"/>
            <a:ext cx="173736" cy="173736"/>
          </a:xfrm>
          <a:prstGeom prst="rect">
            <a:avLst/>
          </a:prstGeom>
        </p:spPr>
      </p:pic>
      <p:sp>
        <p:nvSpPr>
          <p:cNvPr id="146" name="lane-11-chip-4-tile"/>
          <p:cNvSpPr/>
          <p:nvPr/>
        </p:nvSpPr>
        <p:spPr>
          <a:xfrm>
            <a:off x="5129784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7" name="lane-11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70932" y="5236603"/>
            <a:ext cx="173736" cy="173736"/>
          </a:xfrm>
          <a:prstGeom prst="rect">
            <a:avLst/>
          </a:prstGeom>
        </p:spPr>
      </p:pic>
      <p:sp>
        <p:nvSpPr>
          <p:cNvPr id="148" name="lane-11-chip-5-tile"/>
          <p:cNvSpPr/>
          <p:nvPr/>
        </p:nvSpPr>
        <p:spPr>
          <a:xfrm>
            <a:off x="5422392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9" name="lane-11-chip-5" descr="/Users/a/MAI/DID-research/FIN/presentation/assets/logos/openai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463540" y="5236603"/>
            <a:ext cx="173736" cy="173736"/>
          </a:xfrm>
          <a:prstGeom prst="rect">
            <a:avLst/>
          </a:prstGeom>
        </p:spPr>
      </p:pic>
      <p:sp>
        <p:nvSpPr>
          <p:cNvPr id="150" name="lane-11-chip-6-tile"/>
          <p:cNvSpPr/>
          <p:nvPr/>
        </p:nvSpPr>
        <p:spPr>
          <a:xfrm>
            <a:off x="571500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51" name="lane-11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756148" y="5236603"/>
            <a:ext cx="173736" cy="173736"/>
          </a:xfrm>
          <a:prstGeom prst="rect">
            <a:avLst/>
          </a:prstGeom>
        </p:spPr>
      </p:pic>
      <p:sp>
        <p:nvSpPr>
          <p:cNvPr id="152" name="lane-11-chip-7"/>
          <p:cNvSpPr txBox="1"/>
          <p:nvPr/>
        </p:nvSpPr>
        <p:spPr>
          <a:xfrm>
            <a:off x="600760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11-result"/>
          <p:cNvSpPr txBox="1"/>
          <p:nvPr/>
        </p:nvSpPr>
        <p:spPr>
          <a:xfrm>
            <a:off x="7315200" y="5169685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5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Уровни 0–4: адаптация — с оговоркой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Сверка с условием задачи: что есть на каждом уровне и что нужно сказать честно</a:t>
            </a:r>
            <a:endParaRPr lang="en-US" sz="1600" dirty="0"/>
          </a:p>
        </p:txBody>
      </p:sp>
      <p:sp>
        <p:nvSpPr>
          <p:cNvPr id="5" name="levels-head-1"/>
          <p:cNvSpPr txBox="1"/>
          <p:nvPr/>
        </p:nvSpPr>
        <p:spPr>
          <a:xfrm>
            <a:off x="5486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Уровень</a:t>
            </a:r>
            <a:endParaRPr lang="en-US" sz="1300" dirty="0"/>
          </a:p>
        </p:txBody>
      </p:sp>
      <p:sp>
        <p:nvSpPr>
          <p:cNvPr id="6" name="levels-head-2"/>
          <p:cNvSpPr txBox="1"/>
          <p:nvPr/>
        </p:nvSpPr>
        <p:spPr>
          <a:xfrm>
            <a:off x="3017520" y="16916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7" name="levels-head-3"/>
          <p:cNvSpPr txBox="1"/>
          <p:nvPr/>
        </p:nvSpPr>
        <p:spPr>
          <a:xfrm>
            <a:off x="397764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есть</a:t>
            </a:r>
            <a:endParaRPr lang="en-US" sz="1300" dirty="0"/>
          </a:p>
        </p:txBody>
      </p:sp>
      <p:sp>
        <p:nvSpPr>
          <p:cNvPr id="8" name="levels-head-4"/>
          <p:cNvSpPr txBox="1"/>
          <p:nvPr/>
        </p:nvSpPr>
        <p:spPr>
          <a:xfrm>
            <a:off x="8366760" y="16916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Оговорка</a:t>
            </a:r>
            <a:endParaRPr lang="en-US" sz="1300" dirty="0"/>
          </a:p>
        </p:txBody>
      </p:sp>
      <p:sp>
        <p:nvSpPr>
          <p:cNvPr id="9" name="levels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levels-1-1"/>
          <p:cNvSpPr txBox="1"/>
          <p:nvPr/>
        </p:nvSpPr>
        <p:spPr>
          <a:xfrm>
            <a:off x="548640" y="200253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 Запуск среды</a:t>
            </a:r>
            <a:endParaRPr lang="en-US" sz="1500" dirty="0"/>
          </a:p>
        </p:txBody>
      </p:sp>
      <p:sp>
        <p:nvSpPr>
          <p:cNvPr id="11" name="levels-1-2"/>
          <p:cNvSpPr txBox="1"/>
          <p:nvPr/>
        </p:nvSpPr>
        <p:spPr>
          <a:xfrm>
            <a:off x="3017520" y="200253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2" name="levels-1-3"/>
          <p:cNvSpPr txBox="1"/>
          <p:nvPr/>
        </p:nvSpPr>
        <p:spPr>
          <a:xfrm>
            <a:off x="3977640" y="200253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Одна команда поднимает мир, робота и судью; есть ручное управление и проверка, что данные идут</a:t>
            </a:r>
            <a:endParaRPr lang="en-US" sz="1500" dirty="0"/>
          </a:p>
        </p:txBody>
      </p:sp>
      <p:sp>
        <p:nvSpPr>
          <p:cNvPr id="13" name="levels-1-4"/>
          <p:cNvSpPr txBox="1"/>
          <p:nvPr/>
        </p:nvSpPr>
        <p:spPr>
          <a:xfrm>
            <a:off x="8366760" y="200253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—</a:t>
            </a:r>
            <a:endParaRPr lang="en-US" sz="1500" dirty="0"/>
          </a:p>
        </p:txBody>
      </p:sp>
      <p:sp>
        <p:nvSpPr>
          <p:cNvPr id="14" name="levels-rule-2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levels-2-1"/>
          <p:cNvSpPr txBox="1"/>
          <p:nvPr/>
        </p:nvSpPr>
        <p:spPr>
          <a:xfrm>
            <a:off x="548640" y="284561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Навигация</a:t>
            </a:r>
            <a:endParaRPr lang="en-US" sz="1500" dirty="0"/>
          </a:p>
        </p:txBody>
      </p:sp>
      <p:sp>
        <p:nvSpPr>
          <p:cNvPr id="16" name="levels-2-2"/>
          <p:cNvSpPr txBox="1"/>
          <p:nvPr/>
        </p:nvSpPr>
        <p:spPr>
          <a:xfrm>
            <a:off x="3017520" y="284561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levels-2-3"/>
          <p:cNvSpPr txBox="1"/>
          <p:nvPr/>
        </p:nvSpPr>
        <p:spPr>
          <a:xfrm>
            <a:off x="3977640" y="284561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Путь по сетке карты с ценой клеток, запас 17 см от стен; команды скорости — как в условии</a:t>
            </a:r>
            <a:endParaRPr lang="en-US" sz="1500" dirty="0"/>
          </a:p>
        </p:txBody>
      </p:sp>
      <p:sp>
        <p:nvSpPr>
          <p:cNvPr id="18" name="levels-2-4"/>
          <p:cNvSpPr txBox="1"/>
          <p:nvPr/>
        </p:nvSpPr>
        <p:spPr>
          <a:xfrm>
            <a:off x="8366760" y="284561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Nav2 не используется: условие это разрешает</a:t>
            </a:r>
            <a:endParaRPr lang="en-US" sz="1500" dirty="0"/>
          </a:p>
        </p:txBody>
      </p:sp>
      <p:sp>
        <p:nvSpPr>
          <p:cNvPr id="19" name="levels-rule-3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levels-3-1"/>
          <p:cNvSpPr txBox="1"/>
          <p:nvPr/>
        </p:nvSpPr>
        <p:spPr>
          <a:xfrm>
            <a:off x="548640" y="3688690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Планировщик на языковой модели</a:t>
            </a:r>
            <a:endParaRPr lang="en-US" sz="1500" dirty="0"/>
          </a:p>
        </p:txBody>
      </p:sp>
      <p:sp>
        <p:nvSpPr>
          <p:cNvPr id="21" name="levels-3-2"/>
          <p:cNvSpPr txBox="1"/>
          <p:nvPr/>
        </p:nvSpPr>
        <p:spPr>
          <a:xfrm>
            <a:off x="3017520" y="3688690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2" name="levels-3-3"/>
          <p:cNvSpPr txBox="1"/>
          <p:nvPr/>
        </p:nvSpPr>
        <p:spPr>
          <a:xfrm>
            <a:off x="3977640" y="3688690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Модель по тексту миссии и сводке состояния возвращает подцели; исполняет их программа</a:t>
            </a:r>
            <a:endParaRPr lang="en-US" sz="1500" dirty="0"/>
          </a:p>
        </p:txBody>
      </p:sp>
      <p:sp>
        <p:nvSpPr>
          <p:cNvPr id="23" name="levels-3-4"/>
          <p:cNvSpPr txBox="1"/>
          <p:nvPr/>
        </p:nvSpPr>
        <p:spPr>
          <a:xfrm>
            <a:off x="8366760" y="3688690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Пока модель думает, робот стоит</a:t>
            </a:r>
            <a:endParaRPr lang="en-US" sz="1500" dirty="0"/>
          </a:p>
        </p:txBody>
      </p:sp>
      <p:sp>
        <p:nvSpPr>
          <p:cNvPr id="24" name="levels-rule-4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levels-4-1"/>
          <p:cNvSpPr txBox="1"/>
          <p:nvPr/>
        </p:nvSpPr>
        <p:spPr>
          <a:xfrm>
            <a:off x="548640" y="453176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Научный цикл</a:t>
            </a:r>
            <a:endParaRPr lang="en-US" sz="1500" dirty="0"/>
          </a:p>
        </p:txBody>
      </p:sp>
      <p:sp>
        <p:nvSpPr>
          <p:cNvPr id="26" name="levels-4-2"/>
          <p:cNvSpPr txBox="1"/>
          <p:nvPr/>
        </p:nvSpPr>
        <p:spPr>
          <a:xfrm>
            <a:off x="3017520" y="453176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levels-4-3"/>
          <p:cNvSpPr txBox="1"/>
          <p:nvPr/>
        </p:nvSpPr>
        <p:spPr>
          <a:xfrm>
            <a:off x="3977640" y="453176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Журнал гипотез; поиск по карте вероятностей; цена грунта — по расходу заряда на метр</a:t>
            </a:r>
            <a:endParaRPr lang="en-US" sz="1500" dirty="0"/>
          </a:p>
        </p:txBody>
      </p:sp>
      <p:sp>
        <p:nvSpPr>
          <p:cNvPr id="28" name="levels-4-4"/>
          <p:cNvSpPr txBox="1"/>
          <p:nvPr/>
        </p:nvSpPr>
        <p:spPr>
          <a:xfrm>
            <a:off x="8366760" y="453176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Гипотезы выдвигает программа, а не модель</a:t>
            </a:r>
            <a:endParaRPr lang="en-US" sz="1500" dirty="0"/>
          </a:p>
        </p:txBody>
      </p:sp>
      <p:sp>
        <p:nvSpPr>
          <p:cNvPr id="29" name="levels-rule-5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levels-5-1"/>
          <p:cNvSpPr txBox="1"/>
          <p:nvPr/>
        </p:nvSpPr>
        <p:spPr>
          <a:xfrm>
            <a:off x="548640" y="537484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Адаптация</a:t>
            </a:r>
            <a:endParaRPr lang="en-US" sz="1500" dirty="0"/>
          </a:p>
        </p:txBody>
      </p:sp>
      <p:sp>
        <p:nvSpPr>
          <p:cNvPr id="31" name="levels-5-2"/>
          <p:cNvSpPr txBox="1"/>
          <p:nvPr/>
        </p:nvSpPr>
        <p:spPr>
          <a:xfrm>
            <a:off x="3017520" y="537484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частично</a:t>
            </a:r>
            <a:endParaRPr lang="en-US" sz="1300" dirty="0"/>
          </a:p>
        </p:txBody>
      </p:sp>
      <p:sp>
        <p:nvSpPr>
          <p:cNvPr id="32" name="levels-5-3"/>
          <p:cNvSpPr txBox="1"/>
          <p:nvPr/>
        </p:nvSpPr>
        <p:spPr>
          <a:xfrm>
            <a:off x="3977640" y="537484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Робот распознаёт перерасход заряда, штрафы и шум датчика и перестраивает маршрут</a:t>
            </a:r>
            <a:endParaRPr lang="en-US" sz="1500" dirty="0"/>
          </a:p>
        </p:txBody>
      </p:sp>
      <p:sp>
        <p:nvSpPr>
          <p:cNvPr id="33" name="levels-5-4"/>
          <p:cNvSpPr txBox="1"/>
          <p:nvPr/>
        </p:nvSpPr>
        <p:spPr>
          <a:xfrm>
            <a:off x="8366760" y="537484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Смена грунта очков не даёт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Критерии оценки: чем закрыт каждый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Веса — из условия задачи; в правом столбце — слабое место, о котором мы знаем</a:t>
            </a:r>
            <a:endParaRPr lang="en-US" sz="1600" dirty="0"/>
          </a:p>
        </p:txBody>
      </p:sp>
      <p:sp>
        <p:nvSpPr>
          <p:cNvPr id="5" name="criteria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Критерий и вес</a:t>
            </a:r>
            <a:endParaRPr lang="en-US" sz="1300" dirty="0"/>
          </a:p>
        </p:txBody>
      </p:sp>
      <p:sp>
        <p:nvSpPr>
          <p:cNvPr id="6" name="criteria-head-2"/>
          <p:cNvSpPr txBox="1"/>
          <p:nvPr/>
        </p:nvSpPr>
        <p:spPr>
          <a:xfrm>
            <a:off x="3566160" y="1691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Чем закрыт</a:t>
            </a:r>
            <a:endParaRPr lang="en-US" sz="1300" dirty="0"/>
          </a:p>
        </p:txBody>
      </p:sp>
      <p:sp>
        <p:nvSpPr>
          <p:cNvPr id="7" name="criteria-head-3"/>
          <p:cNvSpPr txBox="1"/>
          <p:nvPr/>
        </p:nvSpPr>
        <p:spPr>
          <a:xfrm>
            <a:off x="8183880" y="1691640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Слабое место</a:t>
            </a:r>
            <a:endParaRPr lang="en-US" sz="1300" dirty="0"/>
          </a:p>
        </p:txBody>
      </p:sp>
      <p:sp>
        <p:nvSpPr>
          <p:cNvPr id="8" name="criteria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" name="criteria-1-1"/>
          <p:cNvSpPr txBox="1"/>
          <p:nvPr/>
        </p:nvSpPr>
        <p:spPr>
          <a:xfrm>
            <a:off x="548640" y="200253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Работоспособность агента · 30%</a:t>
            </a:r>
            <a:endParaRPr lang="en-US" sz="1400" dirty="0"/>
          </a:p>
        </p:txBody>
      </p:sp>
      <p:sp>
        <p:nvSpPr>
          <p:cNvPr id="10" name="criteria-1-2"/>
          <p:cNvSpPr txBox="1"/>
          <p:nvPr/>
        </p:nvSpPr>
        <p:spPr>
          <a:xfrm>
            <a:off x="3566160" y="200253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Трудный уровень: 81,3 очка при потолке 92,5 (быстрый симулятор); в Gazebo возврат 7 из 7</a:t>
            </a:r>
            <a:endParaRPr lang="en-US" sz="1400" dirty="0"/>
          </a:p>
        </p:txBody>
      </p:sp>
      <p:sp>
        <p:nvSpPr>
          <p:cNvPr id="11" name="criteria-1-3"/>
          <p:cNvSpPr txBox="1"/>
          <p:nvPr/>
        </p:nvSpPr>
        <p:spPr>
          <a:xfrm>
            <a:off x="8183880" y="200253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перегруженной машине робот в Gazebo бьётся о столбы</a:t>
            </a:r>
            <a:endParaRPr lang="en-US" sz="1400" dirty="0"/>
          </a:p>
        </p:txBody>
      </p:sp>
      <p:sp>
        <p:nvSpPr>
          <p:cNvPr id="12" name="criteria-rule-2"/>
          <p:cNvSpPr/>
          <p:nvPr/>
        </p:nvSpPr>
        <p:spPr>
          <a:xfrm>
            <a:off x="548640" y="27051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" name="criteria-2-1"/>
          <p:cNvSpPr txBox="1"/>
          <p:nvPr/>
        </p:nvSpPr>
        <p:spPr>
          <a:xfrm>
            <a:off x="548640" y="2705100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Адаптивность · 25%</a:t>
            </a:r>
            <a:endParaRPr lang="en-US" sz="1400" dirty="0"/>
          </a:p>
        </p:txBody>
      </p:sp>
      <p:sp>
        <p:nvSpPr>
          <p:cNvPr id="14" name="criteria-2-2"/>
          <p:cNvSpPr txBox="1"/>
          <p:nvPr/>
        </p:nvSpPr>
        <p:spPr>
          <a:xfrm>
            <a:off x="3566160" y="2705100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Генератор сценариев; робот сам замечает сбой датчика (+6,4), новые зоны (+3,5), потерю положения</a:t>
            </a:r>
            <a:endParaRPr lang="en-US" sz="1400" dirty="0"/>
          </a:p>
        </p:txBody>
      </p:sp>
      <p:sp>
        <p:nvSpPr>
          <p:cNvPr id="15" name="criteria-2-3"/>
          <p:cNvSpPr txBox="1"/>
          <p:nvPr/>
        </p:nvSpPr>
        <p:spPr>
          <a:xfrm>
            <a:off x="8183880" y="2705100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Реакция на смену грунта очков не даёт</a:t>
            </a:r>
            <a:endParaRPr lang="en-US" sz="1400" dirty="0"/>
          </a:p>
        </p:txBody>
      </p:sp>
      <p:sp>
        <p:nvSpPr>
          <p:cNvPr id="16" name="criteria-rule-3"/>
          <p:cNvSpPr/>
          <p:nvPr/>
        </p:nvSpPr>
        <p:spPr>
          <a:xfrm>
            <a:off x="548640" y="340766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criteria-3-1"/>
          <p:cNvSpPr txBox="1"/>
          <p:nvPr/>
        </p:nvSpPr>
        <p:spPr>
          <a:xfrm>
            <a:off x="548640" y="3407664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Планирование на языковой модели · 15%</a:t>
            </a:r>
            <a:endParaRPr lang="en-US" sz="1400" dirty="0"/>
          </a:p>
        </p:txBody>
      </p:sp>
      <p:sp>
        <p:nvSpPr>
          <p:cNvPr id="18" name="criteria-3-2"/>
          <p:cNvSpPr txBox="1"/>
          <p:nvPr/>
        </p:nvSpPr>
        <p:spPr>
          <a:xfrm>
            <a:off x="3566160" y="3407664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QWEN и DeepSeek с сервера МАИ; проверка ответа и запасное правило; миссия словами 6 из 6</a:t>
            </a:r>
            <a:endParaRPr lang="en-US" sz="1400" dirty="0"/>
          </a:p>
        </p:txBody>
      </p:sp>
      <p:sp>
        <p:nvSpPr>
          <p:cNvPr id="19" name="criteria-3-3"/>
          <p:cNvSpPr txBox="1"/>
          <p:nvPr/>
        </p:nvSpPr>
        <p:spPr>
          <a:xfrm>
            <a:off x="8183880" y="3407664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Обычной миссии модель ничего не добавляет; ответ идёт 15 с</a:t>
            </a:r>
            <a:endParaRPr lang="en-US" sz="1400" dirty="0"/>
          </a:p>
        </p:txBody>
      </p:sp>
      <p:sp>
        <p:nvSpPr>
          <p:cNvPr id="20" name="criteria-rule-4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1" name="criteria-4-1"/>
          <p:cNvSpPr txBox="1"/>
          <p:nvPr/>
        </p:nvSpPr>
        <p:spPr>
          <a:xfrm>
            <a:off x="548640" y="4110228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Научный подход · 15%</a:t>
            </a:r>
            <a:endParaRPr lang="en-US" sz="1400" dirty="0"/>
          </a:p>
        </p:txBody>
      </p:sp>
      <p:sp>
        <p:nvSpPr>
          <p:cNvPr id="22" name="criteria-4-2"/>
          <p:cNvSpPr txBox="1"/>
          <p:nvPr/>
        </p:nvSpPr>
        <p:spPr>
          <a:xfrm>
            <a:off x="3566160" y="4110228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гипотез сверен со скрытой правдой: верны 9 из 10 подтверждённых</a:t>
            </a:r>
            <a:endParaRPr lang="en-US" sz="1400" dirty="0"/>
          </a:p>
        </p:txBody>
      </p:sp>
      <p:sp>
        <p:nvSpPr>
          <p:cNvPr id="23" name="criteria-4-3"/>
          <p:cNvSpPr txBox="1"/>
          <p:nvPr/>
        </p:nvSpPr>
        <p:spPr>
          <a:xfrm>
            <a:off x="8183880" y="4110228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Гипотезы выдвигает программа, а не модель</a:t>
            </a:r>
            <a:endParaRPr lang="en-US" sz="1400" dirty="0"/>
          </a:p>
        </p:txBody>
      </p:sp>
      <p:sp>
        <p:nvSpPr>
          <p:cNvPr id="24" name="criteria-rule-5"/>
          <p:cNvSpPr/>
          <p:nvPr/>
        </p:nvSpPr>
        <p:spPr>
          <a:xfrm>
            <a:off x="548640" y="481279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a-5-1"/>
          <p:cNvSpPr txBox="1"/>
          <p:nvPr/>
        </p:nvSpPr>
        <p:spPr>
          <a:xfrm>
            <a:off x="548640" y="4812792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Ассистент и процесс · 5%</a:t>
            </a:r>
            <a:endParaRPr lang="en-US" sz="1400" dirty="0"/>
          </a:p>
        </p:txBody>
      </p:sp>
      <p:sp>
        <p:nvSpPr>
          <p:cNvPr id="26" name="criteria-5-2"/>
          <p:cNvSpPr txBox="1"/>
          <p:nvPr/>
        </p:nvSpPr>
        <p:spPr>
          <a:xfrm>
            <a:off x="3566160" y="4812792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744 автоматические проверки; показ и серии опытов — одной командой</a:t>
            </a:r>
            <a:endParaRPr lang="en-US" sz="1400" dirty="0"/>
          </a:p>
        </p:txBody>
      </p:sp>
      <p:sp>
        <p:nvSpPr>
          <p:cNvPr id="27" name="criteria-5-3"/>
          <p:cNvSpPr txBox="1"/>
          <p:nvPr/>
        </p:nvSpPr>
        <p:spPr>
          <a:xfrm>
            <a:off x="8183880" y="4812792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Скиллы ассистента в общий репозиторий не выложены</a:t>
            </a:r>
            <a:endParaRPr lang="en-US" sz="1400" dirty="0"/>
          </a:p>
        </p:txBody>
      </p:sp>
      <p:sp>
        <p:nvSpPr>
          <p:cNvPr id="28" name="criteria-rule-6"/>
          <p:cNvSpPr/>
          <p:nvPr/>
        </p:nvSpPr>
        <p:spPr>
          <a:xfrm>
            <a:off x="548640" y="55153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a-6-1"/>
          <p:cNvSpPr txBox="1"/>
          <p:nvPr/>
        </p:nvSpPr>
        <p:spPr>
          <a:xfrm>
            <a:off x="548640" y="551535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Презентация и «ИИ как инфраструктура знаний» · 10%</a:t>
            </a:r>
            <a:endParaRPr lang="en-US" sz="1400" dirty="0"/>
          </a:p>
        </p:txBody>
      </p:sp>
      <p:sp>
        <p:nvSpPr>
          <p:cNvPr id="30" name="criteria-6-2"/>
          <p:cNvSpPr txBox="1"/>
          <p:nvPr/>
        </p:nvSpPr>
        <p:spPr>
          <a:xfrm>
            <a:off x="3566160" y="551535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Эта презентация, страница-объяснение и страница опытов</a:t>
            </a:r>
            <a:endParaRPr lang="en-US" sz="1400" dirty="0"/>
          </a:p>
        </p:txBody>
      </p:sp>
      <p:sp>
        <p:nvSpPr>
          <p:cNvPr id="31" name="criteria-6-3"/>
          <p:cNvSpPr txBox="1"/>
          <p:nvPr/>
        </p:nvSpPr>
        <p:spPr>
          <a:xfrm>
            <a:off x="8183880" y="551535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Связь с наукой — по литературе, не по внедрению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Опыты: числа и интервалы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 скобках — 95% интервал разности на одних сценариях. Всё, кроме строки Gazebo, — быстрый симулятор</a:t>
            </a:r>
            <a:endParaRPr lang="en-US" sz="1600" dirty="0"/>
          </a:p>
        </p:txBody>
      </p:sp>
      <p:sp>
        <p:nvSpPr>
          <p:cNvPr id="5" name="exp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сравнивали</a:t>
            </a:r>
            <a:endParaRPr lang="en-US" sz="1300" dirty="0"/>
          </a:p>
        </p:txBody>
      </p:sp>
      <p:sp>
        <p:nvSpPr>
          <p:cNvPr id="6" name="exp-head-2"/>
          <p:cNvSpPr txBox="1"/>
          <p:nvPr/>
        </p:nvSpPr>
        <p:spPr>
          <a:xfrm>
            <a:off x="3566160" y="1691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Где измерено</a:t>
            </a:r>
            <a:endParaRPr lang="en-US" sz="1300" dirty="0"/>
          </a:p>
        </p:txBody>
      </p:sp>
      <p:sp>
        <p:nvSpPr>
          <p:cNvPr id="7" name="exp-head-3"/>
          <p:cNvSpPr txBox="1"/>
          <p:nvPr/>
        </p:nvSpPr>
        <p:spPr>
          <a:xfrm>
            <a:off x="5897880" y="16916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Число и интервал</a:t>
            </a:r>
            <a:endParaRPr lang="en-US" sz="1300" dirty="0"/>
          </a:p>
        </p:txBody>
      </p:sp>
      <p:sp>
        <p:nvSpPr>
          <p:cNvPr id="8" name="exp-head-4"/>
          <p:cNvSpPr txBox="1"/>
          <p:nvPr/>
        </p:nvSpPr>
        <p:spPr>
          <a:xfrm>
            <a:off x="9189720" y="169164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9" name="exp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exp-1-1"/>
          <p:cNvSpPr txBox="1"/>
          <p:nvPr/>
        </p:nvSpPr>
        <p:spPr>
          <a:xfrm>
            <a:off x="548640" y="2002536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Адаптация против плана заранее</a:t>
            </a:r>
            <a:endParaRPr lang="en-US" sz="1300" dirty="0"/>
          </a:p>
        </p:txBody>
      </p:sp>
      <p:sp>
        <p:nvSpPr>
          <p:cNvPr id="11" name="exp-1-2"/>
          <p:cNvSpPr txBox="1"/>
          <p:nvPr/>
        </p:nvSpPr>
        <p:spPr>
          <a:xfrm>
            <a:off x="3566160" y="2002536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2" name="exp-1-3"/>
          <p:cNvSpPr txBox="1"/>
          <p:nvPr/>
        </p:nvSpPr>
        <p:spPr>
          <a:xfrm>
            <a:off x="5897880" y="2002536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72,7 против 59,3: +13,3 [+7,4; +19,0]</a:t>
            </a:r>
            <a:endParaRPr lang="en-US" sz="1300" dirty="0"/>
          </a:p>
        </p:txBody>
      </p:sp>
      <p:sp>
        <p:nvSpPr>
          <p:cNvPr id="13" name="exp-1-4"/>
          <p:cNvSpPr txBox="1"/>
          <p:nvPr/>
        </p:nvSpPr>
        <p:spPr>
          <a:xfrm>
            <a:off x="9189720" y="2002536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4" name="exp-rule-2"/>
          <p:cNvSpPr/>
          <p:nvPr/>
        </p:nvSpPr>
        <p:spPr>
          <a:xfrm>
            <a:off x="548640" y="242407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exp-2-1"/>
          <p:cNvSpPr txBox="1"/>
          <p:nvPr/>
        </p:nvSpPr>
        <p:spPr>
          <a:xfrm>
            <a:off x="548640" y="2424074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Пережидание сбоя датчика</a:t>
            </a:r>
            <a:endParaRPr lang="en-US" sz="1300" dirty="0"/>
          </a:p>
        </p:txBody>
      </p:sp>
      <p:sp>
        <p:nvSpPr>
          <p:cNvPr id="16" name="exp-2-2"/>
          <p:cNvSpPr txBox="1"/>
          <p:nvPr/>
        </p:nvSpPr>
        <p:spPr>
          <a:xfrm>
            <a:off x="3566160" y="2424074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7" name="exp-2-3"/>
          <p:cNvSpPr txBox="1"/>
          <p:nvPr/>
        </p:nvSpPr>
        <p:spPr>
          <a:xfrm>
            <a:off x="5897880" y="2424074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74,9 → 81,3: +6,4 [+2,9; +9,8]</a:t>
            </a:r>
            <a:endParaRPr lang="en-US" sz="1300" dirty="0"/>
          </a:p>
        </p:txBody>
      </p:sp>
      <p:sp>
        <p:nvSpPr>
          <p:cNvPr id="18" name="exp-2-4"/>
          <p:cNvSpPr txBox="1"/>
          <p:nvPr/>
        </p:nvSpPr>
        <p:spPr>
          <a:xfrm>
            <a:off x="9189720" y="2424074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9" name="exp-rule-3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exp-3-1"/>
          <p:cNvSpPr txBox="1"/>
          <p:nvPr/>
        </p:nvSpPr>
        <p:spPr>
          <a:xfrm>
            <a:off x="548640" y="2845613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Память об опасных зонах</a:t>
            </a:r>
            <a:endParaRPr lang="en-US" sz="1300" dirty="0"/>
          </a:p>
        </p:txBody>
      </p:sp>
      <p:sp>
        <p:nvSpPr>
          <p:cNvPr id="21" name="exp-3-2"/>
          <p:cNvSpPr txBox="1"/>
          <p:nvPr/>
        </p:nvSpPr>
        <p:spPr>
          <a:xfrm>
            <a:off x="3566160" y="2845613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три новые зоны</a:t>
            </a:r>
            <a:endParaRPr lang="en-US" sz="1300" dirty="0"/>
          </a:p>
        </p:txBody>
      </p:sp>
      <p:sp>
        <p:nvSpPr>
          <p:cNvPr id="22" name="exp-3-3"/>
          <p:cNvSpPr txBox="1"/>
          <p:nvPr/>
        </p:nvSpPr>
        <p:spPr>
          <a:xfrm>
            <a:off x="5897880" y="2845613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+3,5 [+0,4; +7,1]</a:t>
            </a:r>
            <a:endParaRPr lang="en-US" sz="1300" dirty="0"/>
          </a:p>
        </p:txBody>
      </p:sp>
      <p:sp>
        <p:nvSpPr>
          <p:cNvPr id="23" name="exp-3-4"/>
          <p:cNvSpPr txBox="1"/>
          <p:nvPr/>
        </p:nvSpPr>
        <p:spPr>
          <a:xfrm>
            <a:off x="9189720" y="2845613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только при трёх зонах</a:t>
            </a:r>
            <a:endParaRPr lang="en-US" sz="1300" dirty="0"/>
          </a:p>
        </p:txBody>
      </p:sp>
      <p:sp>
        <p:nvSpPr>
          <p:cNvPr id="24" name="exp-rule-4"/>
          <p:cNvSpPr/>
          <p:nvPr/>
        </p:nvSpPr>
        <p:spPr>
          <a:xfrm>
            <a:off x="548640" y="326715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exp-4-1"/>
          <p:cNvSpPr txBox="1"/>
          <p:nvPr/>
        </p:nvSpPr>
        <p:spPr>
          <a:xfrm>
            <a:off x="548640" y="3267151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Новые схемы планирования</a:t>
            </a:r>
            <a:endParaRPr lang="en-US" sz="1300" dirty="0"/>
          </a:p>
        </p:txBody>
      </p:sp>
      <p:sp>
        <p:nvSpPr>
          <p:cNvPr id="26" name="exp-4-2"/>
          <p:cNvSpPr txBox="1"/>
          <p:nvPr/>
        </p:nvSpPr>
        <p:spPr>
          <a:xfrm>
            <a:off x="3566160" y="3267151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27" name="exp-4-3"/>
          <p:cNvSpPr txBox="1"/>
          <p:nvPr/>
        </p:nvSpPr>
        <p:spPr>
          <a:xfrm>
            <a:off x="5897880" y="3267151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72,9 против 73,3: −0,4 [−2,7; +1,9]</a:t>
            </a:r>
            <a:endParaRPr lang="en-US" sz="1300" dirty="0"/>
          </a:p>
        </p:txBody>
      </p:sp>
      <p:sp>
        <p:nvSpPr>
          <p:cNvPr id="28" name="exp-4-4"/>
          <p:cNvSpPr txBox="1"/>
          <p:nvPr/>
        </p:nvSpPr>
        <p:spPr>
          <a:xfrm>
            <a:off x="9189720" y="3267151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9" name="exp-rule-5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exp-5-1"/>
          <p:cNvSpPr txBox="1"/>
          <p:nvPr/>
        </p:nvSpPr>
        <p:spPr>
          <a:xfrm>
            <a:off x="548640" y="3688690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Реакция на смену грунта</a:t>
            </a:r>
            <a:endParaRPr lang="en-US" sz="1300" dirty="0"/>
          </a:p>
        </p:txBody>
      </p:sp>
      <p:sp>
        <p:nvSpPr>
          <p:cNvPr id="31" name="exp-5-2"/>
          <p:cNvSpPr txBox="1"/>
          <p:nvPr/>
        </p:nvSpPr>
        <p:spPr>
          <a:xfrm>
            <a:off x="3566160" y="3688690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40 сценариев</a:t>
            </a:r>
            <a:endParaRPr lang="en-US" sz="1300" dirty="0"/>
          </a:p>
        </p:txBody>
      </p:sp>
      <p:sp>
        <p:nvSpPr>
          <p:cNvPr id="32" name="exp-5-3"/>
          <p:cNvSpPr txBox="1"/>
          <p:nvPr/>
        </p:nvSpPr>
        <p:spPr>
          <a:xfrm>
            <a:off x="5897880" y="3688690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+0,02 [−0,03; +0,07]</a:t>
            </a:r>
            <a:endParaRPr lang="en-US" sz="1300" dirty="0"/>
          </a:p>
        </p:txBody>
      </p:sp>
      <p:sp>
        <p:nvSpPr>
          <p:cNvPr id="33" name="exp-5-4"/>
          <p:cNvSpPr txBox="1"/>
          <p:nvPr/>
        </p:nvSpPr>
        <p:spPr>
          <a:xfrm>
            <a:off x="9189720" y="3688690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34" name="exp-rule-6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5" name="exp-6-1"/>
          <p:cNvSpPr txBox="1"/>
          <p:nvPr/>
        </p:nvSpPr>
        <p:spPr>
          <a:xfrm>
            <a:off x="548640" y="4110228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Потолок: агент знает всё заранее</a:t>
            </a:r>
            <a:endParaRPr lang="en-US" sz="1300" dirty="0"/>
          </a:p>
        </p:txBody>
      </p:sp>
      <p:sp>
        <p:nvSpPr>
          <p:cNvPr id="36" name="exp-6-2"/>
          <p:cNvSpPr txBox="1"/>
          <p:nvPr/>
        </p:nvSpPr>
        <p:spPr>
          <a:xfrm>
            <a:off x="3566160" y="4110228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37" name="exp-6-3"/>
          <p:cNvSpPr txBox="1"/>
          <p:nvPr/>
        </p:nvSpPr>
        <p:spPr>
          <a:xfrm>
            <a:off x="5897880" y="4110228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92,5; знает только места образцов — 87,8</a:t>
            </a:r>
            <a:endParaRPr lang="en-US" sz="1300" dirty="0"/>
          </a:p>
        </p:txBody>
      </p:sp>
      <p:sp>
        <p:nvSpPr>
          <p:cNvPr id="38" name="exp-6-4"/>
          <p:cNvSpPr txBox="1"/>
          <p:nvPr/>
        </p:nvSpPr>
        <p:spPr>
          <a:xfrm>
            <a:off x="9189720" y="4110228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знание важнее порядка обхода</a:t>
            </a:r>
            <a:endParaRPr lang="en-US" sz="1300" dirty="0"/>
          </a:p>
        </p:txBody>
      </p:sp>
      <p:sp>
        <p:nvSpPr>
          <p:cNvPr id="39" name="exp-rule-7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0" name="exp-7-1"/>
          <p:cNvSpPr txBox="1"/>
          <p:nvPr/>
        </p:nvSpPr>
        <p:spPr>
          <a:xfrm>
            <a:off x="548640" y="4531766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против быстрого</a:t>
            </a:r>
            <a:endParaRPr lang="en-US" sz="1300" dirty="0"/>
          </a:p>
        </p:txBody>
      </p:sp>
      <p:sp>
        <p:nvSpPr>
          <p:cNvPr id="41" name="exp-7-2"/>
          <p:cNvSpPr txBox="1"/>
          <p:nvPr/>
        </p:nvSpPr>
        <p:spPr>
          <a:xfrm>
            <a:off x="3566160" y="4531766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Gazebo, 9 пар трудных</a:t>
            </a:r>
            <a:endParaRPr lang="en-US" sz="1300" dirty="0"/>
          </a:p>
        </p:txBody>
      </p:sp>
      <p:sp>
        <p:nvSpPr>
          <p:cNvPr id="42" name="exp-7-3"/>
          <p:cNvSpPr txBox="1"/>
          <p:nvPr/>
        </p:nvSpPr>
        <p:spPr>
          <a:xfrm>
            <a:off x="5897880" y="4531766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76,2 против 75,9: +0,3 [−10,4; +11,1]</a:t>
            </a:r>
            <a:endParaRPr lang="en-US" sz="1300" dirty="0"/>
          </a:p>
        </p:txBody>
      </p:sp>
      <p:sp>
        <p:nvSpPr>
          <p:cNvPr id="43" name="exp-7-4"/>
          <p:cNvSpPr txBox="1"/>
          <p:nvPr/>
        </p:nvSpPr>
        <p:spPr>
          <a:xfrm>
            <a:off x="9189720" y="4531766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44" name="exp-rule-8"/>
          <p:cNvSpPr/>
          <p:nvPr/>
        </p:nvSpPr>
        <p:spPr>
          <a:xfrm>
            <a:off x="548640" y="49533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5" name="exp-8-1"/>
          <p:cNvSpPr txBox="1"/>
          <p:nvPr/>
        </p:nvSpPr>
        <p:spPr>
          <a:xfrm>
            <a:off x="548640" y="4953305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Ожидание ответа модели 15 с</a:t>
            </a:r>
            <a:endParaRPr lang="en-US" sz="1300" dirty="0"/>
          </a:p>
        </p:txBody>
      </p:sp>
      <p:sp>
        <p:nvSpPr>
          <p:cNvPr id="46" name="exp-8-2"/>
          <p:cNvSpPr txBox="1"/>
          <p:nvPr/>
        </p:nvSpPr>
        <p:spPr>
          <a:xfrm>
            <a:off x="3566160" y="4953305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20 сценариев</a:t>
            </a:r>
            <a:endParaRPr lang="en-US" sz="1300" dirty="0"/>
          </a:p>
        </p:txBody>
      </p:sp>
      <p:sp>
        <p:nvSpPr>
          <p:cNvPr id="47" name="exp-8-3"/>
          <p:cNvSpPr txBox="1"/>
          <p:nvPr/>
        </p:nvSpPr>
        <p:spPr>
          <a:xfrm>
            <a:off x="5897880" y="4953305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75,7 → 2,3: −73,4 [−98,5; −49,2]</a:t>
            </a:r>
            <a:endParaRPr lang="en-US" sz="1300" dirty="0"/>
          </a:p>
        </p:txBody>
      </p:sp>
      <p:sp>
        <p:nvSpPr>
          <p:cNvPr id="48" name="exp-8-4"/>
          <p:cNvSpPr txBox="1"/>
          <p:nvPr/>
        </p:nvSpPr>
        <p:spPr>
          <a:xfrm>
            <a:off x="9189720" y="4953305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ждать на месте нельзя</a:t>
            </a:r>
            <a:endParaRPr lang="en-US" sz="1300" dirty="0"/>
          </a:p>
        </p:txBody>
      </p:sp>
      <p:sp>
        <p:nvSpPr>
          <p:cNvPr id="49" name="exp-rule-9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0" name="exp-9-1"/>
          <p:cNvSpPr txBox="1"/>
          <p:nvPr/>
        </p:nvSpPr>
        <p:spPr>
          <a:xfrm>
            <a:off x="548640" y="5374843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Два робота: со связью и без</a:t>
            </a:r>
            <a:endParaRPr lang="en-US" sz="1300" dirty="0"/>
          </a:p>
        </p:txBody>
      </p:sp>
      <p:sp>
        <p:nvSpPr>
          <p:cNvPr id="51" name="exp-9-2"/>
          <p:cNvSpPr txBox="1"/>
          <p:nvPr/>
        </p:nvSpPr>
        <p:spPr>
          <a:xfrm>
            <a:off x="3566160" y="5374843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52" name="exp-9-3"/>
          <p:cNvSpPr txBox="1"/>
          <p:nvPr/>
        </p:nvSpPr>
        <p:spPr>
          <a:xfrm>
            <a:off x="5897880" y="5374843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 −25,9 с [−30,5; −21,2]</a:t>
            </a:r>
            <a:endParaRPr lang="en-US" sz="1300" dirty="0"/>
          </a:p>
        </p:txBody>
      </p:sp>
      <p:sp>
        <p:nvSpPr>
          <p:cNvPr id="53" name="exp-9-4"/>
          <p:cNvSpPr txBox="1"/>
          <p:nvPr/>
        </p:nvSpPr>
        <p:spPr>
          <a:xfrm>
            <a:off x="9189720" y="5374843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54" name="exp-rule-10"/>
          <p:cNvSpPr/>
          <p:nvPr/>
        </p:nvSpPr>
        <p:spPr>
          <a:xfrm>
            <a:off x="548640" y="579638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exp-10-1"/>
          <p:cNvSpPr txBox="1"/>
          <p:nvPr/>
        </p:nvSpPr>
        <p:spPr>
          <a:xfrm>
            <a:off x="548640" y="5796382"/>
            <a:ext cx="28346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То же: последний образец</a:t>
            </a:r>
            <a:endParaRPr lang="en-US" sz="1300" dirty="0"/>
          </a:p>
        </p:txBody>
      </p:sp>
      <p:sp>
        <p:nvSpPr>
          <p:cNvPr id="56" name="exp-10-2"/>
          <p:cNvSpPr txBox="1"/>
          <p:nvPr/>
        </p:nvSpPr>
        <p:spPr>
          <a:xfrm>
            <a:off x="3566160" y="5796382"/>
            <a:ext cx="214884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57" name="exp-10-3"/>
          <p:cNvSpPr txBox="1"/>
          <p:nvPr/>
        </p:nvSpPr>
        <p:spPr>
          <a:xfrm>
            <a:off x="5897880" y="5796382"/>
            <a:ext cx="3108960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+3,5 с [−0,6; +8,1]</a:t>
            </a:r>
            <a:endParaRPr lang="en-US" sz="1300" dirty="0"/>
          </a:p>
        </p:txBody>
      </p:sp>
      <p:sp>
        <p:nvSpPr>
          <p:cNvPr id="58" name="exp-10-4"/>
          <p:cNvSpPr txBox="1"/>
          <p:nvPr/>
        </p:nvSpPr>
        <p:spPr>
          <a:xfrm>
            <a:off x="9189720" y="5796382"/>
            <a:ext cx="2267712" cy="421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Ограничения и что не сделано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мы знаем о слабых местах и о чём нельзя говорить сильнее, чем показывают данные</a:t>
            </a:r>
            <a:endParaRPr lang="en-US" sz="1600" dirty="0"/>
          </a:p>
        </p:txBody>
      </p:sp>
      <p:sp>
        <p:nvSpPr>
          <p:cNvPr id="5" name="limits-1-card"/>
          <p:cNvSpPr/>
          <p:nvPr/>
        </p:nvSpPr>
        <p:spPr>
          <a:xfrm>
            <a:off x="548640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limits-1-head"/>
          <p:cNvSpPr txBox="1"/>
          <p:nvPr/>
        </p:nvSpPr>
        <p:spPr>
          <a:xfrm>
            <a:off x="822960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Измерения</a:t>
            </a:r>
            <a:endParaRPr lang="en-US" sz="1800" dirty="0"/>
          </a:p>
        </p:txBody>
      </p:sp>
      <p:sp>
        <p:nvSpPr>
          <p:cNvPr id="7" name="limits-1-list"/>
          <p:cNvSpPr txBox="1"/>
          <p:nvPr/>
        </p:nvSpPr>
        <p:spPr>
          <a:xfrm>
            <a:off x="822960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Серии опытов — в быстром симуляторе. В Gazebo — единицы прогонов (7, 5, 9 пар): это проверка работоспособности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Миссии словами: 6 сценариев по одному прогону — счёт прогонов, а не доля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Расход заряда и закон датчика — наши допущения: при другом законе датчика робот собирает намного меньше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SLAM: счёт миссии по своей карте с готовой не сравнивался; худший столб ушёл на 9,5 см при пороге 10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Два робота: в Gazebo один прогон; счёт команды со счётом одного не сравнивается</a:t>
            </a:r>
            <a:endParaRPr lang="en-US" sz="1600" dirty="0"/>
          </a:p>
        </p:txBody>
      </p:sp>
      <p:sp>
        <p:nvSpPr>
          <p:cNvPr id="8" name="limits-2-card"/>
          <p:cNvSpPr/>
          <p:nvPr/>
        </p:nvSpPr>
        <p:spPr>
          <a:xfrm>
            <a:off x="6231636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/>
        </p:spPr>
      </p:sp>
      <p:sp>
        <p:nvSpPr>
          <p:cNvPr id="9" name="limits-2-head"/>
          <p:cNvSpPr txBox="1"/>
          <p:nvPr/>
        </p:nvSpPr>
        <p:spPr>
          <a:xfrm>
            <a:off x="6505956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Не сделано</a:t>
            </a:r>
            <a:endParaRPr lang="en-US" sz="1800" dirty="0"/>
          </a:p>
        </p:txBody>
      </p:sp>
      <p:sp>
        <p:nvSpPr>
          <p:cNvPr id="10" name="limits-2-list"/>
          <p:cNvSpPr txBox="1"/>
          <p:nvPr/>
        </p:nvSpPr>
        <p:spPr>
          <a:xfrm>
            <a:off x="6505956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Модель вживую на показе: пока она думает, робот стоит. Режим «ехать, пока модель думает» — в работе, не принят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Гипотезы выдвигает и проверяет программа. Гипотезы от языковой модели — в работе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Реакция на смену грунта очков не даёт; исправление оставлено выключенным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Грунты — данные судьи: заряд уходит быстрее, но сам робот на них не замедляется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До потолка остаётся 11 очков: следующие потери разбираются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Архитектура: каналы между стендом и агентом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Имена и типы каналов — как в условии задачи; агент не видит ничего, кроме них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3014472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78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61944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825240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892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72712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1"/>
          <p:cNvSpPr/>
          <p:nvPr/>
        </p:nvSpPr>
        <p:spPr>
          <a:xfrm>
            <a:off x="4297680" y="292608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1-label"/>
          <p:cNvSpPr txBox="1"/>
          <p:nvPr/>
        </p:nvSpPr>
        <p:spPr>
          <a:xfrm>
            <a:off x="4297680" y="2267712"/>
            <a:ext cx="2697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/did/events</a:t>
            </a:r>
            <a:endParaRPr lang="en-US" sz="1200" dirty="0"/>
          </a:p>
        </p:txBody>
      </p:sp>
      <p:sp>
        <p:nvSpPr>
          <p:cNvPr id="32" name="chan-2"/>
          <p:cNvSpPr/>
          <p:nvPr/>
        </p:nvSpPr>
        <p:spPr>
          <a:xfrm>
            <a:off x="4297680" y="312724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2-label"/>
          <p:cNvSpPr txBox="1"/>
          <p:nvPr/>
        </p:nvSpPr>
        <p:spPr>
          <a:xfrm>
            <a:off x="4297680" y="316382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/did/finish</a:t>
            </a:r>
            <a:endParaRPr lang="en-US" sz="1200" dirty="0"/>
          </a:p>
        </p:txBody>
      </p:sp>
      <p:sp>
        <p:nvSpPr>
          <p:cNvPr id="34" name="chan-3"/>
          <p:cNvSpPr/>
          <p:nvPr/>
        </p:nvSpPr>
        <p:spPr>
          <a:xfrm>
            <a:off x="4297680" y="38587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3-label"/>
          <p:cNvSpPr txBox="1"/>
          <p:nvPr/>
        </p:nvSpPr>
        <p:spPr>
          <a:xfrm>
            <a:off x="4297680" y="360273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/odom</a:t>
            </a:r>
            <a:endParaRPr lang="en-US" sz="1200" dirty="0"/>
          </a:p>
        </p:txBody>
      </p:sp>
      <p:sp>
        <p:nvSpPr>
          <p:cNvPr id="36" name="chan-4"/>
          <p:cNvSpPr/>
          <p:nvPr/>
        </p:nvSpPr>
        <p:spPr>
          <a:xfrm>
            <a:off x="4297680" y="40599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4-label"/>
          <p:cNvSpPr txBox="1"/>
          <p:nvPr/>
        </p:nvSpPr>
        <p:spPr>
          <a:xfrm>
            <a:off x="4297680" y="40965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200" dirty="0"/>
          </a:p>
        </p:txBody>
      </p:sp>
      <p:sp>
        <p:nvSpPr>
          <p:cNvPr id="38" name="chain-1-box"/>
          <p:cNvSpPr/>
          <p:nvPr/>
        </p:nvSpPr>
        <p:spPr>
          <a:xfrm>
            <a:off x="548640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Запись прогона</a:t>
            </a:r>
            <a:endParaRPr lang="en-US" sz="16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400" dirty="0"/>
          </a:p>
        </p:txBody>
      </p:sp>
      <p:sp>
        <p:nvSpPr>
          <p:cNvPr id="41" name="chain-1-arrow"/>
          <p:cNvSpPr/>
          <p:nvPr/>
        </p:nvSpPr>
        <p:spPr>
          <a:xfrm>
            <a:off x="4023360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02836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04004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Серии опытов</a:t>
            </a:r>
            <a:endParaRPr lang="en-US" sz="16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04004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21 серия на одинаковых сценариях; разности с интервалами</a:t>
            </a:r>
            <a:endParaRPr lang="en-US" sz="1400" dirty="0"/>
          </a:p>
        </p:txBody>
      </p:sp>
      <p:sp>
        <p:nvSpPr>
          <p:cNvPr id="45" name="chain-2-arrow"/>
          <p:cNvSpPr/>
          <p:nvPr/>
        </p:nvSpPr>
        <p:spPr>
          <a:xfrm>
            <a:off x="7877556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257032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458200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600" dirty="0"/>
          </a:p>
        </p:txBody>
      </p:sp>
      <p:sp>
        <p:nvSpPr>
          <p:cNvPr id="48" name="chain-3-sub"/>
          <p:cNvSpPr txBox="1"/>
          <p:nvPr/>
        </p:nvSpPr>
        <p:spPr>
          <a:xfrm>
            <a:off x="8458200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400" dirty="0"/>
          </a:p>
        </p:txBody>
      </p:sp>
      <p:sp>
        <p:nvSpPr>
          <p:cNvPr id="49" name="record-arrow"/>
          <p:cNvSpPr/>
          <p:nvPr/>
        </p:nvSpPr>
        <p:spPr>
          <a:xfrm>
            <a:off x="2240280" y="4754880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финал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2026-10-08T18:24:29Z</dcterms:created>
  <dcterms:modified xsi:type="dcterms:W3CDTF">2026-10-08T18:24:29Z</dcterms:modified>
</cp:coreProperties>
</file>