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дача и замысел" id="{90379a93-921d-a8a0-6744-a8f8a81ad921}">
          <p14:sldIdLst>
            <p14:sldId id="256"/>
            <p14:sldId id="257"/>
            <p14:sldId id="258"/>
          </p14:sldIdLst>
        </p14:section>
        <p14:section name="Состояние и решения" id="{0f3db2ac-b0a9-c8e9-cf83-bbdbaaca45c8}">
          <p14:sldIdLst>
            <p14:sldId id="259"/>
            <p14:sldId id="260"/>
            <p14:sldId id="261"/>
            <p14:sldId id="262"/>
          </p14:sldIdLst>
        </p14:section>
        <p14:section name="Наука и адаптация" id="{b3c1ea8c-7dc2-a876-7523-bceb29ef4c68}">
          <p14:sldIdLst>
            <p14:sldId id="263"/>
            <p14:sldId id="264"/>
            <p14:sldId id="265"/>
            <p14:sldId id="266"/>
          </p14:sldIdLst>
        </p14:section>
        <p14:section name="План" id="{f241b717-95cc-f8f3-df4d-0df2d50e4a72}">
          <p14:sldIdLst>
            <p14:sldId id="267"/>
            <p14:sldId id="268"/>
          </p14:sldIdLst>
        </p14:section>
        <p14:section name="Приложение" id="{7f7bc903-5e9c-0f78-4d81-e91d0415dc95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81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181C"/>
                </a:solidFill>
                <a:latin typeface="+mn-lt"/>
              </a:rPr>
              <a:t>Медиана пути до сбора, м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Медиана пути, м</c:v>
                </c:pt>
              </c:strCache>
            </c:strRef>
          </c:tx>
          <c:spPr>
            <a:solidFill>
              <a:srgbClr val="B4B8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8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4B8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B8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Спираль и градиент</c:v>
                  </c:pt>
                  <c:pt idx="1">
                    <c:v>Градиентный подъём</c:v>
                  </c:pt>
                  <c:pt idx="2">
                    <c:v>Карта убеждений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15.51</c:v>
                </c:pt>
                <c:pt idx="1">
                  <c:v>5.75</c:v>
                </c:pt>
                <c:pt idx="2">
                  <c:v>4.7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18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81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81C"/>
                </a:solidFill>
                <a:latin typeface="+mn-lt"/>
              </a:rPr>
              <a:t>Накопленная невязка расхода батареи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Накопленная невязка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Sheet1!$A$2:$A$97</c:f>
              <c:multiLvlStrCache>
                <c:ptCount val="96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4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>8</c:v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>12</c:v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>16</c:v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>20</c:v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>24</c:v>
                  </c:pt>
                </c:lvl>
              </c:multiLvlStrCache>
            </c:multiLvlStrRef>
          </c:cat>
          <c:val>
            <c:numRef>
              <c:f>Sheet1!$B$2:$B$97</c:f>
              <c:numCache>
                <c:formatCode>General</c:formatCode>
                <c:ptCount val="96"/>
                <c:pt idx="0">
                  <c:v>1.54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2.82</c:v>
                </c:pt>
                <c:pt idx="10">
                  <c:v>2.55</c:v>
                </c:pt>
                <c:pt idx="11">
                  <c:v>1.7</c:v>
                </c:pt>
                <c:pt idx="12">
                  <c:v>0.91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0.46</c:v>
                </c:pt>
                <c:pt idx="19">
                  <c:v>0</c:v>
                </c:pt>
                <c:pt idx="20">
                  <c:v>0</c:v>
                </c:pt>
                <c:pt idx="21">
                  <c:v>1.05</c:v>
                </c:pt>
                <c:pt idx="22">
                  <c:v>1.09</c:v>
                </c:pt>
                <c:pt idx="23">
                  <c:v>0.09</c:v>
                </c:pt>
                <c:pt idx="24">
                  <c:v>0</c:v>
                </c:pt>
                <c:pt idx="25">
                  <c:v>0.04</c:v>
                </c:pt>
                <c:pt idx="26">
                  <c:v>1.48</c:v>
                </c:pt>
                <c:pt idx="27">
                  <c:v>0.71</c:v>
                </c:pt>
                <c:pt idx="28">
                  <c:v>0</c:v>
                </c:pt>
                <c:pt idx="29">
                  <c:v>0.5</c:v>
                </c:pt>
                <c:pt idx="30">
                  <c:v>0</c:v>
                </c:pt>
                <c:pt idx="31">
                  <c:v>0</c:v>
                </c:pt>
                <c:pt idx="32">
                  <c:v>0.38</c:v>
                </c:pt>
                <c:pt idx="33">
                  <c:v>0.46</c:v>
                </c:pt>
                <c:pt idx="34">
                  <c:v>0.05</c:v>
                </c:pt>
                <c:pt idx="35">
                  <c:v>0.22</c:v>
                </c:pt>
                <c:pt idx="36">
                  <c:v>0</c:v>
                </c:pt>
                <c:pt idx="37">
                  <c:v>0.52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0.2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0.91</c:v>
                </c:pt>
                <c:pt idx="47">
                  <c:v>1.15</c:v>
                </c:pt>
                <c:pt idx="48">
                  <c:v>2.51</c:v>
                </c:pt>
                <c:pt idx="49">
                  <c:v>4.79</c:v>
                </c:pt>
                <c:pt idx="50">
                  <c:v>5.75</c:v>
                </c:pt>
                <c:pt idx="51">
                  <c:v>0</c:v>
                </c:pt>
                <c:pt idx="52">
                  <c:v>0.08</c:v>
                </c:pt>
                <c:pt idx="53">
                  <c:v>0.17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0.19</c:v>
                </c:pt>
                <c:pt idx="59">
                  <c:v>0.18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0.26</c:v>
                </c:pt>
                <c:pt idx="64">
                  <c:v>0</c:v>
                </c:pt>
                <c:pt idx="65">
                  <c:v>0</c:v>
                </c:pt>
                <c:pt idx="66">
                  <c:v>0.21</c:v>
                </c:pt>
                <c:pt idx="67">
                  <c:v>0.87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1.09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0.91</c:v>
                </c:pt>
                <c:pt idx="77">
                  <c:v>0.38</c:v>
                </c:pt>
                <c:pt idx="78">
                  <c:v>0</c:v>
                </c:pt>
                <c:pt idx="79">
                  <c:v>0</c:v>
                </c:pt>
                <c:pt idx="80">
                  <c:v>1.18</c:v>
                </c:pt>
                <c:pt idx="81">
                  <c:v>1.43</c:v>
                </c:pt>
                <c:pt idx="82">
                  <c:v>1.69</c:v>
                </c:pt>
                <c:pt idx="83">
                  <c:v>2.33</c:v>
                </c:pt>
                <c:pt idx="84">
                  <c:v>2.18</c:v>
                </c:pt>
                <c:pt idx="85">
                  <c:v>1.04</c:v>
                </c:pt>
                <c:pt idx="86">
                  <c:v>0</c:v>
                </c:pt>
                <c:pt idx="87">
                  <c:v>0</c:v>
                </c:pt>
                <c:pt idx="88">
                  <c:v>0.87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0.08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Порог тревоги</c:v>
                </c:pt>
              </c:strCache>
            </c:strRef>
          </c:tx>
          <c:spPr>
            <a:solidFill>
              <a:srgbClr val="B4B8BD"/>
            </a:solidFill>
            <a:ln w="25400" cap="flat">
              <a:solidFill>
                <a:srgbClr val="B4B8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4B8BD"/>
              </a:solidFill>
              <a:ln w="9525" cap="flat">
                <a:solidFill>
                  <a:srgbClr val="B4B8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Sheet1!$A$2:$A$97</c:f>
              <c:multiLvlStrCache>
                <c:ptCount val="96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4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>8</c:v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>12</c:v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>16</c:v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>20</c:v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>24</c:v>
                  </c:pt>
                </c:lvl>
              </c:multiLvlStrCache>
            </c:multiLvlStrRef>
          </c:cat>
          <c:val>
            <c:numRef>
              <c:f>Sheet1!$C$2:$C$97</c:f>
              <c:numCache>
                <c:formatCode>General</c:formatCode>
                <c:ptCount val="9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16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168"/>
                    </a:solidFill>
                    <a:latin typeface="+mn-lt"/>
                  </a:rPr>
                  <a:t>путь по зоне, м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181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— команда «Изыскатель». Делаем агента, который сам ставит эксперименты на роботе в Gazebo. На картинке — настоящая арена и настоящий скан лидара из нашей симуляции.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Робот не знает, где образцы и где дорогие грунты. Датчик даёт одно шумное число без направления, батарея ограничена. В сложном сценарии среда меняется без предупреждения. Требуется замкнутый научный цикл: гипотеза, действие, данные, вывод.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идея. Агент хранит убеждения о мире в виде карт с неопределённостью. Каждый ход — эксперимент, выбранный по ожидаемой пользе на единицу батареи. Каждый вывод записывается в журнал с числом. Мы делаем не минимальную версию: целимся во все уровни и бонусные треки.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среда: Gazebo с роботом и наш судья, который считает батарею, датчик образцов, события и счёт. Справа агент из трёх контуров. LLM работает редко и только выбирает подцели. Исполнитель держит модель мира. Навигация крутится на десяти герцах. Граница между средой и агентом — только топики из условия.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уже работает. Симуляция поднимается одной командой и проверяется автоматическим тестом. На картинке три реальных скана лидара, наложенные на карту: 1023 точек, девяносто пять процентов лежат не дальше пяти сантиметров от стен карты. Попутно сняли противоречие условия про стартовую позу. Судья, контроллер и подключение LLM сейчас в работе.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Уровень один. Планировщик A-звезда работает по сетке реальной карты. Запас вокруг стен запрещён, у каждой клетки есть стоимость. На примере: путь в обход дорогого грунта длиннее, но тратит 4,6 единицы батареи вместо 7,1. Полный пересчёт занимает около 4 миллисекунд, поэтому перепланируем при каждом изменении карты. Это офлайн-прототип, контроллер в работе.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Уровень два. Модель не выдумывает координаты и не управляет скоростью. Код готовит пять-восемь исполнимых подцелей с числами. Модель выбирает и упорядочивает их, объясняет выбор и формулирует гипотезу. Ответ проверяется по схеме. При ошибке — один повтор с текстом ошибки, затем запасной планировщик без LLM. Резерв батареи на возврат считает код.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Уровень три. Датчик даёт только расстояние до ближайшего образца, без направления. Мы ведём карту вероятностей: первый замер исключает ближайшую окрестность, после движения остаётся дуга, затем точка. Первый эксперимент на упрощённой модели, 300 случайных положений: медиана пути 4,7 метра против 5,8 у градиентного подъёма, девяностый перцентиль 7,1 против 14,6. Это модель без Gazebo, проверка в симуляторе завтра.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Уровень четыре. Изменения среды не объявляются, поэтому агент следит за невязкой между прогнозом и фактом. Для грунтов это накопленная сумма по расходу батареи. На графике грунт стал дороже на двенадцатом метре, тревога сработала на 12,75. После тревоги агент переоценивает зону, и невязка уходит. На 2000 прогонах модели медианная задержка 1,0 метр, ложная тревога в 4,3 процента прогонов.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Адаптивность оценивается вместе с генерацией сценариев, поэтому сценарий у нас — это seed и уровень. На картинке сгенерированный сценарий hard: семь образцов, четыре грунта, опасная зона. Оракул знает мир заранее и перебирает порядок обхода: здесь он собирает все семь за 17,4 единицы батареи. Отношение расхода агента к расходу оракула — наша цена незнания. Научный цикл должен её снижать.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наших гипотез. У каждой есть метрика и порог, заданный заранее. Три уже проверены на моделях. По первой гипотезе результат частичный: хвост распределения сократился вдвое, но по медиане порог пока не взят. Остальные проверяем завтра на двух стендах: быстром кинематическом и в Gazebo.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Где мы сейчас и что дальше. Оранжевые уровни в работе сегодня, серые — завтра. Бонусные треки идут после уровней три и четыре в таком порядке: журнал гипотез, SLAM, два робота. Главный риск — время на интеграцию, поэтому агент обязан работать и без LLM, а судья и агент связаны только топиками.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Связь с темой форума. Результат прогона — не только счёт, но и журнал: гипотезы, эксперименты и вердикты, которые можно перепроверить по seed. И три вопроса к организаторам, от которых зависит наша завтрашняя работа.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Запасной слайд. Условие не задаёт законы расхода батареи и сигнала датчика, поэтому мы зафиксировали свою версию. Все параметры лежат в сценарии и меняются без правок агента.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Запасной слайд про риски. Для каждого риска есть признак, по которому мы его заметим, и готовый ответ.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59436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5760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«Изыскатель» · DID Hack 2026 · чекпоинт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8580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«Изыскатель» · DID Hack 2026 · чекпоинт 1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«Изыскатель»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Автономный ИИ-исследователь на TurtleBot3</a:t>
            </a:r>
            <a:endParaRPr lang="en-US" sz="2400" dirty="0"/>
          </a:p>
        </p:txBody>
      </p:sp>
      <p:sp>
        <p:nvSpPr>
          <p:cNvPr id="4" name="event"/>
          <p:cNvSpPr txBox="1"/>
          <p:nvPr/>
        </p:nvSpPr>
        <p:spPr>
          <a:xfrm>
            <a:off x="64008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DID Hack 2026 · чекпоинт 1</a:t>
            </a:r>
            <a:endParaRPr lang="en-US" sz="1600" dirty="0"/>
          </a:p>
        </p:txBody>
      </p:sp>
      <p:pic>
        <p:nvPicPr>
          <p:cNvPr id="5" name="title-arena" descr="Арена turtlebot3_world и точки реального скана лидар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868680"/>
            <a:ext cx="5433928" cy="5120640"/>
          </a:xfrm>
          <a:prstGeom prst="rect">
            <a:avLst/>
          </a:prstGeom>
        </p:spPr>
      </p:pic>
      <p:sp>
        <p:nvSpPr>
          <p:cNvPr id="6" name="title-caption"/>
          <p:cNvSpPr txBox="1"/>
          <p:nvPr/>
        </p:nvSpPr>
        <p:spPr>
          <a:xfrm>
            <a:off x="6720840" y="6080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Оранжевые точки — реальный скан лидара из симуляции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Задача: собрать образцы и вернуться на базу</a:t>
            </a:r>
            <a:endParaRPr lang="en-US" sz="3200" dirty="0"/>
          </a:p>
        </p:txBody>
      </p:sp>
      <p:pic>
        <p:nvPicPr>
          <p:cNvPr id="4" name="arena" descr="Карта арены: шестиугольник с девятью столбами, старт в точке минус 2.0, минус 0.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411619" cy="4160520"/>
          </a:xfrm>
          <a:prstGeom prst="rect">
            <a:avLst/>
          </a:prstGeom>
        </p:spPr>
      </p:pic>
      <p:sp>
        <p:nvSpPr>
          <p:cNvPr id="5" name="fact-1-card"/>
          <p:cNvSpPr/>
          <p:nvPr/>
        </p:nvSpPr>
        <p:spPr>
          <a:xfrm>
            <a:off x="5280299" y="1325880"/>
            <a:ext cx="3088566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6" name="fact-1-value"/>
          <p:cNvSpPr txBox="1"/>
          <p:nvPr/>
        </p:nvSpPr>
        <p:spPr>
          <a:xfrm>
            <a:off x="5508899" y="1508760"/>
            <a:ext cx="2631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3 · 5 · 7</a:t>
            </a:r>
            <a:endParaRPr lang="en-US" sz="3600" dirty="0"/>
          </a:p>
        </p:txBody>
      </p:sp>
      <p:sp>
        <p:nvSpPr>
          <p:cNvPr id="7" name="fact-1-label"/>
          <p:cNvSpPr txBox="1"/>
          <p:nvPr/>
        </p:nvSpPr>
        <p:spPr>
          <a:xfrm>
            <a:off x="5508899" y="2148840"/>
            <a:ext cx="26313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скрытых образцов в easy, medium и hard. Сбор — ближе 0,30 м</a:t>
            </a:r>
            <a:endParaRPr lang="en-US" sz="1400" dirty="0"/>
          </a:p>
        </p:txBody>
      </p:sp>
      <p:sp>
        <p:nvSpPr>
          <p:cNvPr id="8" name="fact-2-card"/>
          <p:cNvSpPr/>
          <p:nvPr/>
        </p:nvSpPr>
        <p:spPr>
          <a:xfrm>
            <a:off x="8551746" y="1325880"/>
            <a:ext cx="3088566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9" name="fact-2-value"/>
          <p:cNvSpPr txBox="1"/>
          <p:nvPr/>
        </p:nvSpPr>
        <p:spPr>
          <a:xfrm>
            <a:off x="8780346" y="1508760"/>
            <a:ext cx="2631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0…1</a:t>
            </a:r>
            <a:endParaRPr lang="en-US" sz="3600" dirty="0"/>
          </a:p>
        </p:txBody>
      </p:sp>
      <p:sp>
        <p:nvSpPr>
          <p:cNvPr id="10" name="fact-2-label"/>
          <p:cNvSpPr txBox="1"/>
          <p:nvPr/>
        </p:nvSpPr>
        <p:spPr>
          <a:xfrm>
            <a:off x="8780346" y="2148840"/>
            <a:ext cx="26313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скалярный шумный датчик близости. Направления не даёт</a:t>
            </a:r>
            <a:endParaRPr lang="en-US" sz="1400" dirty="0"/>
          </a:p>
        </p:txBody>
      </p:sp>
      <p:sp>
        <p:nvSpPr>
          <p:cNvPr id="11" name="fact-3-card"/>
          <p:cNvSpPr/>
          <p:nvPr/>
        </p:nvSpPr>
        <p:spPr>
          <a:xfrm>
            <a:off x="5280299" y="3474720"/>
            <a:ext cx="3088566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2" name="fact-3-value"/>
          <p:cNvSpPr txBox="1"/>
          <p:nvPr/>
        </p:nvSpPr>
        <p:spPr>
          <a:xfrm>
            <a:off x="5508899" y="3657600"/>
            <a:ext cx="2631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60</a:t>
            </a:r>
            <a:endParaRPr lang="en-US" sz="3600" dirty="0"/>
          </a:p>
        </p:txBody>
      </p:sp>
      <p:sp>
        <p:nvSpPr>
          <p:cNvPr id="13" name="fact-3-label"/>
          <p:cNvSpPr txBox="1"/>
          <p:nvPr/>
        </p:nvSpPr>
        <p:spPr>
          <a:xfrm>
            <a:off x="5508899" y="4297680"/>
            <a:ext cx="26313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единиц батареи. «Грунты» расходуют её быстрее</a:t>
            </a:r>
            <a:endParaRPr lang="en-US" sz="1400" dirty="0"/>
          </a:p>
        </p:txBody>
      </p:sp>
      <p:sp>
        <p:nvSpPr>
          <p:cNvPr id="14" name="fact-4-card"/>
          <p:cNvSpPr/>
          <p:nvPr/>
        </p:nvSpPr>
        <p:spPr>
          <a:xfrm>
            <a:off x="8551746" y="3474720"/>
            <a:ext cx="3088566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5" name="fact-4-value"/>
          <p:cNvSpPr txBox="1"/>
          <p:nvPr/>
        </p:nvSpPr>
        <p:spPr>
          <a:xfrm>
            <a:off x="8780346" y="3657600"/>
            <a:ext cx="2631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hard</a:t>
            </a:r>
            <a:endParaRPr lang="en-US" sz="3600" dirty="0"/>
          </a:p>
        </p:txBody>
      </p:sp>
      <p:sp>
        <p:nvSpPr>
          <p:cNvPr id="16" name="fact-4-label"/>
          <p:cNvSpPr txBox="1"/>
          <p:nvPr/>
        </p:nvSpPr>
        <p:spPr>
          <a:xfrm>
            <a:off x="8780346" y="4297680"/>
            <a:ext cx="26313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среда меняется без объявления: грунты, опасная зона, сбой датчика</a:t>
            </a:r>
            <a:endParaRPr lang="en-US" sz="1400" dirty="0"/>
          </a:p>
        </p:txBody>
      </p:sp>
      <p:sp>
        <p:nvSpPr>
          <p:cNvPr id="17" name="loop-1"/>
          <p:cNvSpPr txBox="1"/>
          <p:nvPr/>
        </p:nvSpPr>
        <p:spPr>
          <a:xfrm>
            <a:off x="548640" y="5687568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гипотеза</a:t>
            </a:r>
            <a:endParaRPr lang="en-US" sz="1400" dirty="0"/>
          </a:p>
        </p:txBody>
      </p:sp>
      <p:sp>
        <p:nvSpPr>
          <p:cNvPr id="18" name="loop-arrow-1"/>
          <p:cNvSpPr/>
          <p:nvPr/>
        </p:nvSpPr>
        <p:spPr>
          <a:xfrm>
            <a:off x="2450592" y="5916168"/>
            <a:ext cx="34061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loop-2"/>
          <p:cNvSpPr txBox="1"/>
          <p:nvPr/>
        </p:nvSpPr>
        <p:spPr>
          <a:xfrm>
            <a:off x="2864358" y="5687568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действие</a:t>
            </a:r>
            <a:endParaRPr lang="en-US" sz="1400" dirty="0"/>
          </a:p>
        </p:txBody>
      </p:sp>
      <p:sp>
        <p:nvSpPr>
          <p:cNvPr id="20" name="loop-arrow-2"/>
          <p:cNvSpPr/>
          <p:nvPr/>
        </p:nvSpPr>
        <p:spPr>
          <a:xfrm>
            <a:off x="4766310" y="5916168"/>
            <a:ext cx="34061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loop-3"/>
          <p:cNvSpPr txBox="1"/>
          <p:nvPr/>
        </p:nvSpPr>
        <p:spPr>
          <a:xfrm>
            <a:off x="5180076" y="5687568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данные</a:t>
            </a:r>
            <a:endParaRPr lang="en-US" sz="1400" dirty="0"/>
          </a:p>
        </p:txBody>
      </p:sp>
      <p:sp>
        <p:nvSpPr>
          <p:cNvPr id="22" name="loop-arrow-3"/>
          <p:cNvSpPr/>
          <p:nvPr/>
        </p:nvSpPr>
        <p:spPr>
          <a:xfrm>
            <a:off x="7082028" y="5916168"/>
            <a:ext cx="34061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loop-4"/>
          <p:cNvSpPr txBox="1"/>
          <p:nvPr/>
        </p:nvSpPr>
        <p:spPr>
          <a:xfrm>
            <a:off x="7495794" y="5687568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вывод</a:t>
            </a:r>
            <a:endParaRPr lang="en-US" sz="1400" dirty="0"/>
          </a:p>
        </p:txBody>
      </p:sp>
      <p:sp>
        <p:nvSpPr>
          <p:cNvPr id="24" name="loop-arrow-4"/>
          <p:cNvSpPr/>
          <p:nvPr/>
        </p:nvSpPr>
        <p:spPr>
          <a:xfrm>
            <a:off x="9397746" y="5916168"/>
            <a:ext cx="34061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loop-5"/>
          <p:cNvSpPr txBox="1"/>
          <p:nvPr/>
        </p:nvSpPr>
        <p:spPr>
          <a:xfrm>
            <a:off x="9811512" y="5687568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новая гипотеза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Замысел: агент-экспериментатор, а не сборщик</a:t>
            </a:r>
            <a:endParaRPr lang="en-US" sz="3200" dirty="0"/>
          </a:p>
        </p:txBody>
      </p:sp>
      <p:sp>
        <p:nvSpPr>
          <p:cNvPr id="3" name="evidence-dot"/>
          <p:cNvSpPr/>
          <p:nvPr/>
        </p:nvSpPr>
        <p:spPr>
          <a:xfrm>
            <a:off x="9015984" y="6473952"/>
            <a:ext cx="128016" cy="128016"/>
          </a:xfrm>
          <a:prstGeom prst="ellipse">
            <a:avLst/>
          </a:prstGeom>
          <a:solidFill>
            <a:srgbClr val="898781"/>
          </a:solidFill>
          <a:ln/>
        </p:spPr>
      </p:sp>
      <p:sp>
        <p:nvSpPr>
          <p:cNvPr id="4" name="evidence-label"/>
          <p:cNvSpPr txBox="1"/>
          <p:nvPr/>
        </p:nvSpPr>
        <p:spPr>
          <a:xfrm>
            <a:off x="9217152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проектное решение</a:t>
            </a:r>
            <a:endParaRPr lang="en-US" sz="1000" dirty="0"/>
          </a:p>
        </p:txBody>
      </p:sp>
      <p:sp>
        <p:nvSpPr>
          <p:cNvPr id="6" name="idea-1-card"/>
          <p:cNvSpPr/>
          <p:nvPr/>
        </p:nvSpPr>
        <p:spPr>
          <a:xfrm>
            <a:off x="548640" y="1371600"/>
            <a:ext cx="3447288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7" name="idea-1-badge"/>
          <p:cNvSpPr txBox="1"/>
          <p:nvPr/>
        </p:nvSpPr>
        <p:spPr>
          <a:xfrm>
            <a:off x="822960" y="1645920"/>
            <a:ext cx="646298" cy="566928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idea-1-head"/>
          <p:cNvSpPr txBox="1"/>
          <p:nvPr/>
        </p:nvSpPr>
        <p:spPr>
          <a:xfrm>
            <a:off x="822960" y="242316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Убеждения вместо догадок</a:t>
            </a:r>
            <a:endParaRPr lang="en-US" sz="2000" dirty="0"/>
          </a:p>
        </p:txBody>
      </p:sp>
      <p:sp>
        <p:nvSpPr>
          <p:cNvPr id="9" name="idea-1-body"/>
          <p:cNvSpPr txBox="1"/>
          <p:nvPr/>
        </p:nvSpPr>
        <p:spPr>
          <a:xfrm>
            <a:off x="822960" y="3200400"/>
            <a:ext cx="2898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Карта вероятностей образцов и карта стоимости грунтов с неопределённостью. Каждое измерение их обновляет.</a:t>
            </a:r>
            <a:endParaRPr lang="en-US" sz="1600" dirty="0"/>
          </a:p>
        </p:txBody>
      </p:sp>
      <p:sp>
        <p:nvSpPr>
          <p:cNvPr id="10" name="idea-2-card"/>
          <p:cNvSpPr/>
          <p:nvPr/>
        </p:nvSpPr>
        <p:spPr>
          <a:xfrm>
            <a:off x="4370832" y="1371600"/>
            <a:ext cx="3447288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11" name="idea-2-badge"/>
          <p:cNvSpPr txBox="1"/>
          <p:nvPr/>
        </p:nvSpPr>
        <p:spPr>
          <a:xfrm>
            <a:off x="4645152" y="1645920"/>
            <a:ext cx="646298" cy="566928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idea-2-head"/>
          <p:cNvSpPr txBox="1"/>
          <p:nvPr/>
        </p:nvSpPr>
        <p:spPr>
          <a:xfrm>
            <a:off x="4645152" y="242316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Действие — это эксперимент</a:t>
            </a:r>
            <a:endParaRPr lang="en-US" sz="2000" dirty="0"/>
          </a:p>
        </p:txBody>
      </p:sp>
      <p:sp>
        <p:nvSpPr>
          <p:cNvPr id="13" name="idea-2-body"/>
          <p:cNvSpPr txBox="1"/>
          <p:nvPr/>
        </p:nvSpPr>
        <p:spPr>
          <a:xfrm>
            <a:off x="4645152" y="3200400"/>
            <a:ext cx="2898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Следующий ход выбирается по ожидаемой пользе на единицу батареи: узнать новое, собрать или вернуться.</a:t>
            </a:r>
            <a:endParaRPr lang="en-US" sz="1600" dirty="0"/>
          </a:p>
        </p:txBody>
      </p:sp>
      <p:sp>
        <p:nvSpPr>
          <p:cNvPr id="14" name="idea-3-card"/>
          <p:cNvSpPr/>
          <p:nvPr/>
        </p:nvSpPr>
        <p:spPr>
          <a:xfrm>
            <a:off x="8193024" y="1371600"/>
            <a:ext cx="3447288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15" name="idea-3-badge"/>
          <p:cNvSpPr txBox="1"/>
          <p:nvPr/>
        </p:nvSpPr>
        <p:spPr>
          <a:xfrm>
            <a:off x="8467344" y="1645920"/>
            <a:ext cx="646298" cy="566928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16" name="idea-3-head"/>
          <p:cNvSpPr txBox="1"/>
          <p:nvPr/>
        </p:nvSpPr>
        <p:spPr>
          <a:xfrm>
            <a:off x="8467344" y="242316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Вывод — запись в журнал</a:t>
            </a:r>
            <a:endParaRPr lang="en-US" sz="2000" dirty="0"/>
          </a:p>
        </p:txBody>
      </p:sp>
      <p:sp>
        <p:nvSpPr>
          <p:cNvPr id="17" name="idea-3-body"/>
          <p:cNvSpPr txBox="1"/>
          <p:nvPr/>
        </p:nvSpPr>
        <p:spPr>
          <a:xfrm>
            <a:off x="8467344" y="3200400"/>
            <a:ext cx="2898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Гипотеза, прогноз, наблюдение, вердикт с числом. LLM формулирует и объясняет, статистика проверяет.</a:t>
            </a:r>
            <a:endParaRPr lang="en-US" sz="1600" dirty="0"/>
          </a:p>
        </p:txBody>
      </p:sp>
      <p:sp>
        <p:nvSpPr>
          <p:cNvPr id="18" name="ambition-card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19" name="ambition-text"/>
          <p:cNvSpPr txBox="1"/>
          <p:nvPr/>
        </p:nvSpPr>
        <p:spPr>
          <a:xfrm>
            <a:off x="868680" y="5074920"/>
            <a:ext cx="10451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Не MVP. </a:t>
            </a:r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Целимся во все пять уровней и бонусные треки: два робота, SLAM вместо готовой карты, журнал гипотез с вердиктами, навыки ассистента.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Архитектура: три контура с разной частотой</a:t>
            </a:r>
            <a:endParaRPr lang="en-US" sz="3200" dirty="0"/>
          </a:p>
        </p:txBody>
      </p:sp>
      <p:sp>
        <p:nvSpPr>
          <p:cNvPr id="3" name="evidence-dot"/>
          <p:cNvSpPr/>
          <p:nvPr/>
        </p:nvSpPr>
        <p:spPr>
          <a:xfrm>
            <a:off x="9015984" y="6473952"/>
            <a:ext cx="128016" cy="128016"/>
          </a:xfrm>
          <a:prstGeom prst="ellipse">
            <a:avLst/>
          </a:prstGeom>
          <a:solidFill>
            <a:srgbClr val="898781"/>
          </a:solidFill>
          <a:ln/>
        </p:spPr>
      </p:sp>
      <p:sp>
        <p:nvSpPr>
          <p:cNvPr id="4" name="evidence-label"/>
          <p:cNvSpPr txBox="1"/>
          <p:nvPr/>
        </p:nvSpPr>
        <p:spPr>
          <a:xfrm>
            <a:off x="9217152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проектное решение</a:t>
            </a:r>
            <a:endParaRPr lang="en-US" sz="1000" dirty="0"/>
          </a:p>
        </p:txBody>
      </p:sp>
      <p:sp>
        <p:nvSpPr>
          <p:cNvPr id="6" name="env-sim-card"/>
          <p:cNvSpPr/>
          <p:nvPr/>
        </p:nvSpPr>
        <p:spPr>
          <a:xfrm>
            <a:off x="548640" y="1371600"/>
            <a:ext cx="32461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7" name="env-sim-head"/>
          <p:cNvSpPr txBox="1"/>
          <p:nvPr/>
        </p:nvSpPr>
        <p:spPr>
          <a:xfrm>
            <a:off x="777240" y="15361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Gazebo Sim и TurtleBot3</a:t>
            </a:r>
            <a:endParaRPr lang="en-US" sz="1600" dirty="0"/>
          </a:p>
        </p:txBody>
      </p:sp>
      <p:sp>
        <p:nvSpPr>
          <p:cNvPr id="8" name="env-sim-body"/>
          <p:cNvSpPr txBox="1"/>
          <p:nvPr/>
        </p:nvSpPr>
        <p:spPr>
          <a:xfrm>
            <a:off x="777240" y="19659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Мир turtlebot3_world без изменений: лидар, одометрия, IMU</a:t>
            </a:r>
            <a:endParaRPr lang="en-US" sz="1400" dirty="0"/>
          </a:p>
        </p:txBody>
      </p:sp>
      <p:sp>
        <p:nvSpPr>
          <p:cNvPr id="9" name="env-sim-versions"/>
          <p:cNvSpPr txBox="1"/>
          <p:nvPr/>
        </p:nvSpPr>
        <p:spPr>
          <a:xfrm>
            <a:off x="777240" y="27614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ROS 2 Jazzy · Gazebo Sim 8.10</a:t>
            </a:r>
            <a:endParaRPr lang="en-US" sz="1200" dirty="0"/>
          </a:p>
        </p:txBody>
      </p:sp>
      <p:sp>
        <p:nvSpPr>
          <p:cNvPr id="10" name="env-judge-card"/>
          <p:cNvSpPr/>
          <p:nvPr/>
        </p:nvSpPr>
        <p:spPr>
          <a:xfrm>
            <a:off x="548640" y="3383280"/>
            <a:ext cx="32461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1" name="env-judge-head"/>
          <p:cNvSpPr txBox="1"/>
          <p:nvPr/>
        </p:nvSpPr>
        <p:spPr>
          <a:xfrm>
            <a:off x="777240" y="35478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Судья did_judge</a:t>
            </a:r>
            <a:endParaRPr lang="en-US" sz="1600" dirty="0"/>
          </a:p>
        </p:txBody>
      </p:sp>
      <p:sp>
        <p:nvSpPr>
          <p:cNvPr id="12" name="env-judge-body"/>
          <p:cNvSpPr txBox="1"/>
          <p:nvPr/>
        </p:nvSpPr>
        <p:spPr>
          <a:xfrm>
            <a:off x="777240" y="39776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Сценарий по seed, батарея, датчик образцов, события, счёт</a:t>
            </a:r>
            <a:endParaRPr lang="en-US" sz="1400" dirty="0"/>
          </a:p>
        </p:txBody>
      </p:sp>
      <p:sp>
        <p:nvSpPr>
          <p:cNvPr id="13" name="env-judge-twin"/>
          <p:cNvSpPr txBox="1"/>
          <p:nvPr/>
        </p:nvSpPr>
        <p:spPr>
          <a:xfrm>
            <a:off x="777240" y="47731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Та же логика — в стенде без Gazebo</a:t>
            </a:r>
            <a:endParaRPr lang="en-US" sz="1200" dirty="0"/>
          </a:p>
        </p:txBody>
      </p:sp>
      <p:sp>
        <p:nvSpPr>
          <p:cNvPr id="14" name="env-note"/>
          <p:cNvSpPr txBox="1"/>
          <p:nvPr/>
        </p:nvSpPr>
        <p:spPr>
          <a:xfrm>
            <a:off x="548640" y="537667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Граница — только топики из условия: судью организаторов можно подставить без правок агента.</a:t>
            </a:r>
            <a:endParaRPr lang="en-US" sz="1400" dirty="0"/>
          </a:p>
        </p:txBody>
      </p:sp>
      <p:sp>
        <p:nvSpPr>
          <p:cNvPr id="15" name="arrow-in"/>
          <p:cNvSpPr/>
          <p:nvPr/>
        </p:nvSpPr>
        <p:spPr>
          <a:xfrm>
            <a:off x="3904488" y="2286000"/>
            <a:ext cx="13716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arrow-in-label"/>
          <p:cNvSpPr txBox="1"/>
          <p:nvPr/>
        </p:nvSpPr>
        <p:spPr>
          <a:xfrm>
            <a:off x="3904488" y="148132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/scan  /odom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/did/battery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/did/sample_sensor</a:t>
            </a:r>
            <a:endParaRPr lang="en-US" sz="1100" dirty="0"/>
          </a:p>
        </p:txBody>
      </p:sp>
      <p:sp>
        <p:nvSpPr>
          <p:cNvPr id="17" name="arrow-out"/>
          <p:cNvSpPr/>
          <p:nvPr/>
        </p:nvSpPr>
        <p:spPr>
          <a:xfrm>
            <a:off x="3904488" y="4297680"/>
            <a:ext cx="13716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18" name="arrow-out-label"/>
          <p:cNvSpPr txBox="1"/>
          <p:nvPr/>
        </p:nvSpPr>
        <p:spPr>
          <a:xfrm>
            <a:off x="3904488" y="4389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/cmd_vel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/did/collect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/did/finish</a:t>
            </a:r>
            <a:endParaRPr lang="en-US" sz="1100" dirty="0"/>
          </a:p>
        </p:txBody>
      </p:sp>
      <p:sp>
        <p:nvSpPr>
          <p:cNvPr id="19" name="agent-card"/>
          <p:cNvSpPr/>
          <p:nvPr/>
        </p:nvSpPr>
        <p:spPr>
          <a:xfrm>
            <a:off x="5385816" y="1371600"/>
            <a:ext cx="6254496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/>
        </p:spPr>
      </p:sp>
      <p:sp>
        <p:nvSpPr>
          <p:cNvPr id="20" name="agent-head"/>
          <p:cNvSpPr txBox="1"/>
          <p:nvPr/>
        </p:nvSpPr>
        <p:spPr>
          <a:xfrm>
            <a:off x="5614416" y="1481328"/>
            <a:ext cx="5797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Агент did_agent</a:t>
            </a:r>
            <a:endParaRPr lang="en-US" sz="1600" dirty="0"/>
          </a:p>
        </p:txBody>
      </p:sp>
      <p:sp>
        <p:nvSpPr>
          <p:cNvPr id="21" name="layer-1-card"/>
          <p:cNvSpPr/>
          <p:nvPr/>
        </p:nvSpPr>
        <p:spPr>
          <a:xfrm>
            <a:off x="5614416" y="1965960"/>
            <a:ext cx="5797296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/>
        </p:spPr>
      </p:sp>
      <p:sp>
        <p:nvSpPr>
          <p:cNvPr id="22" name="layer-1-rate"/>
          <p:cNvSpPr txBox="1"/>
          <p:nvPr/>
        </p:nvSpPr>
        <p:spPr>
          <a:xfrm>
            <a:off x="5797296" y="2377440"/>
            <a:ext cx="128016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по событиям</a:t>
            </a:r>
            <a:endParaRPr lang="en-US" sz="1200" dirty="0"/>
          </a:p>
        </p:txBody>
      </p:sp>
      <p:sp>
        <p:nvSpPr>
          <p:cNvPr id="23" name="layer-1-head"/>
          <p:cNvSpPr txBox="1"/>
          <p:nvPr/>
        </p:nvSpPr>
        <p:spPr>
          <a:xfrm>
            <a:off x="7260336" y="2103120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Стратег на LLM</a:t>
            </a:r>
            <a:endParaRPr lang="en-US" sz="1600" dirty="0"/>
          </a:p>
        </p:txBody>
      </p:sp>
      <p:sp>
        <p:nvSpPr>
          <p:cNvPr id="24" name="layer-1-body"/>
          <p:cNvSpPr txBox="1"/>
          <p:nvPr/>
        </p:nvSpPr>
        <p:spPr>
          <a:xfrm>
            <a:off x="7260336" y="2496312"/>
            <a:ext cx="3968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Выбирает подцели из кандидатов, формулирует гипотезы, ведёт журнал</a:t>
            </a:r>
            <a:endParaRPr lang="en-US" sz="1400" dirty="0"/>
          </a:p>
        </p:txBody>
      </p:sp>
      <p:sp>
        <p:nvSpPr>
          <p:cNvPr id="25" name="layer-2-card"/>
          <p:cNvSpPr/>
          <p:nvPr/>
        </p:nvSpPr>
        <p:spPr>
          <a:xfrm>
            <a:off x="5614416" y="3337560"/>
            <a:ext cx="5797296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/>
        </p:spPr>
      </p:sp>
      <p:sp>
        <p:nvSpPr>
          <p:cNvPr id="26" name="layer-2-rate"/>
          <p:cNvSpPr txBox="1"/>
          <p:nvPr/>
        </p:nvSpPr>
        <p:spPr>
          <a:xfrm>
            <a:off x="5797296" y="3749040"/>
            <a:ext cx="128016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Гц</a:t>
            </a:r>
            <a:endParaRPr lang="en-US" sz="1200" dirty="0"/>
          </a:p>
        </p:txBody>
      </p:sp>
      <p:sp>
        <p:nvSpPr>
          <p:cNvPr id="27" name="layer-2-head"/>
          <p:cNvSpPr txBox="1"/>
          <p:nvPr/>
        </p:nvSpPr>
        <p:spPr>
          <a:xfrm>
            <a:off x="7260336" y="3474720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Исполнитель и модель мира</a:t>
            </a:r>
            <a:endParaRPr lang="en-US" sz="1600" dirty="0"/>
          </a:p>
        </p:txBody>
      </p:sp>
      <p:sp>
        <p:nvSpPr>
          <p:cNvPr id="28" name="layer-2-body"/>
          <p:cNvSpPr txBox="1"/>
          <p:nvPr/>
        </p:nvSpPr>
        <p:spPr>
          <a:xfrm>
            <a:off x="7260336" y="3867912"/>
            <a:ext cx="3968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Карты убеждений, кандидаты-эксперименты, резерв батареи на возврат</a:t>
            </a:r>
            <a:endParaRPr lang="en-US" sz="1400" dirty="0"/>
          </a:p>
        </p:txBody>
      </p:sp>
      <p:sp>
        <p:nvSpPr>
          <p:cNvPr id="29" name="layer-3-card"/>
          <p:cNvSpPr/>
          <p:nvPr/>
        </p:nvSpPr>
        <p:spPr>
          <a:xfrm>
            <a:off x="5614416" y="4709160"/>
            <a:ext cx="5797296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/>
        </p:spPr>
      </p:sp>
      <p:sp>
        <p:nvSpPr>
          <p:cNvPr id="30" name="layer-3-rate"/>
          <p:cNvSpPr txBox="1"/>
          <p:nvPr/>
        </p:nvSpPr>
        <p:spPr>
          <a:xfrm>
            <a:off x="5797296" y="5120640"/>
            <a:ext cx="128016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 Гц</a:t>
            </a:r>
            <a:endParaRPr lang="en-US" sz="1200" dirty="0"/>
          </a:p>
        </p:txBody>
      </p:sp>
      <p:sp>
        <p:nvSpPr>
          <p:cNvPr id="31" name="layer-3-head"/>
          <p:cNvSpPr txBox="1"/>
          <p:nvPr/>
        </p:nvSpPr>
        <p:spPr>
          <a:xfrm>
            <a:off x="7260336" y="4846320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Навигация и управление</a:t>
            </a:r>
            <a:endParaRPr lang="en-US" sz="1600" dirty="0"/>
          </a:p>
        </p:txBody>
      </p:sp>
      <p:sp>
        <p:nvSpPr>
          <p:cNvPr id="32" name="layer-3-body"/>
          <p:cNvSpPr txBox="1"/>
          <p:nvPr/>
        </p:nvSpPr>
        <p:spPr>
          <a:xfrm>
            <a:off x="7260336" y="5239512"/>
            <a:ext cx="3968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A* по карте стоимостей, путевые точки, /cmd_vel, стоп по лидару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Статус: среда работает и проверена измерением</a:t>
            </a:r>
            <a:endParaRPr lang="en-US" sz="3200" dirty="0"/>
          </a:p>
        </p:txBody>
      </p:sp>
      <p:sp>
        <p:nvSpPr>
          <p:cNvPr id="3" name="evidence-dot"/>
          <p:cNvSpPr/>
          <p:nvPr/>
        </p:nvSpPr>
        <p:spPr>
          <a:xfrm>
            <a:off x="9015984" y="6473952"/>
            <a:ext cx="128016" cy="128016"/>
          </a:xfrm>
          <a:prstGeom prst="ellipse">
            <a:avLst/>
          </a:prstGeom>
          <a:solidFill>
            <a:srgbClr val="0CA30C"/>
          </a:solidFill>
          <a:ln/>
        </p:spPr>
      </p:sp>
      <p:sp>
        <p:nvSpPr>
          <p:cNvPr id="4" name="evidence-label"/>
          <p:cNvSpPr txBox="1"/>
          <p:nvPr/>
        </p:nvSpPr>
        <p:spPr>
          <a:xfrm>
            <a:off x="9217152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данные симуляции</a:t>
            </a:r>
            <a:endParaRPr lang="en-US" sz="1000" dirty="0"/>
          </a:p>
        </p:txBody>
      </p:sp>
      <p:pic>
        <p:nvPicPr>
          <p:cNvPr id="6" name="lidar" descr="Три скана лидара из симуляции, наложенные на карту арен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365870" cy="4480560"/>
          </a:xfrm>
          <a:prstGeom prst="rect">
            <a:avLst/>
          </a:prstGeom>
        </p:spPr>
      </p:pic>
      <p:sp>
        <p:nvSpPr>
          <p:cNvPr id="7" name="lidar-caption"/>
          <p:cNvSpPr txBox="1"/>
          <p:nvPr/>
        </p:nvSpPr>
        <p:spPr>
          <a:xfrm>
            <a:off x="548640" y="5870448"/>
            <a:ext cx="4365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Три реальных скана из Gazebo поверх карты: 1 023 точки, позы по x: −2,00; −1,00; −0,09 м</a:t>
            </a:r>
            <a:endParaRPr lang="en-US" sz="1200" dirty="0"/>
          </a:p>
        </p:txBody>
      </p:sp>
      <p:sp>
        <p:nvSpPr>
          <p:cNvPr id="8" name="status-1-card"/>
          <p:cNvSpPr/>
          <p:nvPr/>
        </p:nvSpPr>
        <p:spPr>
          <a:xfrm>
            <a:off x="5280270" y="1325880"/>
            <a:ext cx="3088581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9" name="status-1-value"/>
          <p:cNvSpPr txBox="1"/>
          <p:nvPr/>
        </p:nvSpPr>
        <p:spPr>
          <a:xfrm>
            <a:off x="5508870" y="1508760"/>
            <a:ext cx="263138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0,86–0,96</a:t>
            </a:r>
            <a:endParaRPr lang="en-US" sz="3000" dirty="0"/>
          </a:p>
        </p:txBody>
      </p:sp>
      <p:sp>
        <p:nvSpPr>
          <p:cNvPr id="10" name="status-1-label"/>
          <p:cNvSpPr txBox="1"/>
          <p:nvPr/>
        </p:nvSpPr>
        <p:spPr>
          <a:xfrm>
            <a:off x="5508870" y="2148840"/>
            <a:ext cx="26313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real-time factor без окна Gazebo: 2 vCPU, без GPU</a:t>
            </a:r>
            <a:endParaRPr lang="en-US" sz="1400" dirty="0"/>
          </a:p>
        </p:txBody>
      </p:sp>
      <p:sp>
        <p:nvSpPr>
          <p:cNvPr id="11" name="status-2-card"/>
          <p:cNvSpPr/>
          <p:nvPr/>
        </p:nvSpPr>
        <p:spPr>
          <a:xfrm>
            <a:off x="8551731" y="1325880"/>
            <a:ext cx="3088581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2" name="status-2-value"/>
          <p:cNvSpPr txBox="1"/>
          <p:nvPr/>
        </p:nvSpPr>
        <p:spPr>
          <a:xfrm>
            <a:off x="8780331" y="1508760"/>
            <a:ext cx="263138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5 Гц</a:t>
            </a:r>
            <a:endParaRPr lang="en-US" sz="3000" dirty="0"/>
          </a:p>
        </p:txBody>
      </p:sp>
      <p:sp>
        <p:nvSpPr>
          <p:cNvPr id="13" name="status-2-label"/>
          <p:cNvSpPr txBox="1"/>
          <p:nvPr/>
        </p:nvSpPr>
        <p:spPr>
          <a:xfrm>
            <a:off x="8780331" y="2148840"/>
            <a:ext cx="26313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частота лидара; 327 из 360 лучей валидны</a:t>
            </a:r>
            <a:endParaRPr lang="en-US" sz="1400" dirty="0"/>
          </a:p>
        </p:txBody>
      </p:sp>
      <p:sp>
        <p:nvSpPr>
          <p:cNvPr id="14" name="status-3-card"/>
          <p:cNvSpPr/>
          <p:nvPr/>
        </p:nvSpPr>
        <p:spPr>
          <a:xfrm>
            <a:off x="5280270" y="3108960"/>
            <a:ext cx="3088581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5" name="status-3-value"/>
          <p:cNvSpPr txBox="1"/>
          <p:nvPr/>
        </p:nvSpPr>
        <p:spPr>
          <a:xfrm>
            <a:off x="5508870" y="3291840"/>
            <a:ext cx="263138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≤ 5 см</a:t>
            </a:r>
            <a:endParaRPr lang="en-US" sz="3000" dirty="0"/>
          </a:p>
        </p:txBody>
      </p:sp>
      <p:sp>
        <p:nvSpPr>
          <p:cNvPr id="16" name="status-3-label"/>
          <p:cNvSpPr txBox="1"/>
          <p:nvPr/>
        </p:nvSpPr>
        <p:spPr>
          <a:xfrm>
            <a:off x="5508870" y="3931920"/>
            <a:ext cx="26313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расхождение лидара с картой у 95% точек</a:t>
            </a:r>
            <a:endParaRPr lang="en-US" sz="1400" dirty="0"/>
          </a:p>
        </p:txBody>
      </p:sp>
      <p:sp>
        <p:nvSpPr>
          <p:cNvPr id="17" name="status-4-card"/>
          <p:cNvSpPr/>
          <p:nvPr/>
        </p:nvSpPr>
        <p:spPr>
          <a:xfrm>
            <a:off x="8551731" y="3108960"/>
            <a:ext cx="3088581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8" name="status-4-value"/>
          <p:cNvSpPr txBox="1"/>
          <p:nvPr/>
        </p:nvSpPr>
        <p:spPr>
          <a:xfrm>
            <a:off x="8780331" y="3291840"/>
            <a:ext cx="263138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 команда</a:t>
            </a:r>
            <a:endParaRPr lang="en-US" sz="3000" dirty="0"/>
          </a:p>
        </p:txBody>
      </p:sp>
      <p:sp>
        <p:nvSpPr>
          <p:cNvPr id="19" name="status-4-label"/>
          <p:cNvSpPr txBox="1"/>
          <p:nvPr/>
        </p:nvSpPr>
        <p:spPr>
          <a:xfrm>
            <a:off x="8780331" y="3931920"/>
            <a:ext cx="26313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pixi run sim; версии закреплены lock-файлом</a:t>
            </a:r>
            <a:endParaRPr lang="en-US" sz="1400" dirty="0"/>
          </a:p>
        </p:txBody>
      </p:sp>
      <p:sp>
        <p:nvSpPr>
          <p:cNvPr id="20" name="status-finding"/>
          <p:cNvSpPr txBox="1"/>
          <p:nvPr/>
        </p:nvSpPr>
        <p:spPr>
          <a:xfrm>
            <a:off x="5280270" y="4956048"/>
            <a:ext cx="63600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Сняли противоречие условия.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 старте одометрия равна (0; 0), значит мир = (−2,0; −0,5) + одометрия.</a:t>
            </a:r>
            <a:endParaRPr lang="en-US" sz="1400" dirty="0"/>
          </a:p>
        </p:txBody>
      </p:sp>
      <p:sp>
        <p:nvSpPr>
          <p:cNvPr id="21" name="status-wip"/>
          <p:cNvSpPr txBox="1"/>
          <p:nvPr/>
        </p:nvSpPr>
        <p:spPr>
          <a:xfrm>
            <a:off x="5280270" y="5596128"/>
            <a:ext cx="63600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 работе: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судья did_judge, контроллер пути, подключение LLM.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Навигация: дешёвый путь важнее короткого</a:t>
            </a:r>
            <a:endParaRPr lang="en-US" sz="3200" dirty="0"/>
          </a:p>
        </p:txBody>
      </p:sp>
      <p:sp>
        <p:nvSpPr>
          <p:cNvPr id="3" name="evidence-dot"/>
          <p:cNvSpPr/>
          <p:nvPr/>
        </p:nvSpPr>
        <p:spPr>
          <a:xfrm>
            <a:off x="9015984" y="6473952"/>
            <a:ext cx="128016" cy="12801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4" name="evidence-label"/>
          <p:cNvSpPr txBox="1"/>
          <p:nvPr/>
        </p:nvSpPr>
        <p:spPr>
          <a:xfrm>
            <a:off x="9217152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расчёт на реальной карте</a:t>
            </a:r>
            <a:endParaRPr lang="en-US" sz="1000" dirty="0"/>
          </a:p>
        </p:txBody>
      </p:sp>
      <p:pic>
        <p:nvPicPr>
          <p:cNvPr id="6" name="astar" descr="Два маршрута на карте: кратчайший через зону грунта и более длинный в обхо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323826" cy="4846320"/>
          </a:xfrm>
          <a:prstGeom prst="rect">
            <a:avLst/>
          </a:prstGeom>
        </p:spPr>
      </p:pic>
      <p:sp>
        <p:nvSpPr>
          <p:cNvPr id="7" name="nav-saving-card"/>
          <p:cNvSpPr/>
          <p:nvPr/>
        </p:nvSpPr>
        <p:spPr>
          <a:xfrm>
            <a:off x="5238226" y="1325880"/>
            <a:ext cx="3109603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8" name="nav-saving-value"/>
          <p:cNvSpPr txBox="1"/>
          <p:nvPr/>
        </p:nvSpPr>
        <p:spPr>
          <a:xfrm>
            <a:off x="5466826" y="1508760"/>
            <a:ext cx="2652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−35%</a:t>
            </a:r>
            <a:endParaRPr lang="en-US" sz="3400" dirty="0"/>
          </a:p>
        </p:txBody>
      </p:sp>
      <p:sp>
        <p:nvSpPr>
          <p:cNvPr id="9" name="nav-saving-label"/>
          <p:cNvSpPr txBox="1"/>
          <p:nvPr/>
        </p:nvSpPr>
        <p:spPr>
          <a:xfrm>
            <a:off x="5466826" y="2148840"/>
            <a:ext cx="26524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батареи на этом маршруте: 4,6 ед. вместо 7,1</a:t>
            </a:r>
            <a:endParaRPr lang="en-US" sz="1400" dirty="0"/>
          </a:p>
        </p:txBody>
      </p:sp>
      <p:sp>
        <p:nvSpPr>
          <p:cNvPr id="10" name="nav-speed-card"/>
          <p:cNvSpPr/>
          <p:nvPr/>
        </p:nvSpPr>
        <p:spPr>
          <a:xfrm>
            <a:off x="8530709" y="1325880"/>
            <a:ext cx="3109603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1" name="nav-speed-value"/>
          <p:cNvSpPr txBox="1"/>
          <p:nvPr/>
        </p:nvSpPr>
        <p:spPr>
          <a:xfrm>
            <a:off x="8759309" y="1508760"/>
            <a:ext cx="2652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4 мс</a:t>
            </a:r>
            <a:endParaRPr lang="en-US" sz="3400" dirty="0"/>
          </a:p>
        </p:txBody>
      </p:sp>
      <p:sp>
        <p:nvSpPr>
          <p:cNvPr id="12" name="nav-speed-label"/>
          <p:cNvSpPr txBox="1"/>
          <p:nvPr/>
        </p:nvSpPr>
        <p:spPr>
          <a:xfrm>
            <a:off x="8759309" y="2148840"/>
            <a:ext cx="26524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полный пересчёт пути: 5 607 клеток арены</a:t>
            </a:r>
            <a:endParaRPr lang="en-US" sz="1400" dirty="0"/>
          </a:p>
        </p:txBody>
      </p:sp>
      <p:sp>
        <p:nvSpPr>
          <p:cNvPr id="13" name="nav-row-1-badge"/>
          <p:cNvSpPr txBox="1"/>
          <p:nvPr/>
        </p:nvSpPr>
        <p:spPr>
          <a:xfrm>
            <a:off x="5238226" y="3246120"/>
            <a:ext cx="437815" cy="384048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nav-row-1-head"/>
          <p:cNvSpPr txBox="1"/>
          <p:nvPr/>
        </p:nvSpPr>
        <p:spPr>
          <a:xfrm>
            <a:off x="5832586" y="3200400"/>
            <a:ext cx="58077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Слои карты</a:t>
            </a:r>
            <a:endParaRPr lang="en-US" sz="1500" dirty="0"/>
          </a:p>
        </p:txBody>
      </p:sp>
      <p:sp>
        <p:nvSpPr>
          <p:cNvPr id="15" name="nav-row-1-body"/>
          <p:cNvSpPr txBox="1"/>
          <p:nvPr/>
        </p:nvSpPr>
        <p:spPr>
          <a:xfrm>
            <a:off x="5832586" y="3511296"/>
            <a:ext cx="5807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запрет у стен 0,20 м, стоимость грунта, опасные зоны</a:t>
            </a:r>
            <a:endParaRPr lang="en-US" sz="1400" dirty="0"/>
          </a:p>
        </p:txBody>
      </p:sp>
      <p:sp>
        <p:nvSpPr>
          <p:cNvPr id="16" name="nav-row-2-badge"/>
          <p:cNvSpPr txBox="1"/>
          <p:nvPr/>
        </p:nvSpPr>
        <p:spPr>
          <a:xfrm>
            <a:off x="5238226" y="4050792"/>
            <a:ext cx="437815" cy="384048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nav-row-2-head"/>
          <p:cNvSpPr txBox="1"/>
          <p:nvPr/>
        </p:nvSpPr>
        <p:spPr>
          <a:xfrm>
            <a:off x="5832586" y="4005072"/>
            <a:ext cx="58077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Путь → 6 путевых точек</a:t>
            </a:r>
            <a:endParaRPr lang="en-US" sz="1500" dirty="0"/>
          </a:p>
        </p:txBody>
      </p:sp>
      <p:sp>
        <p:nvSpPr>
          <p:cNvPr id="18" name="nav-row-2-body"/>
          <p:cNvSpPr txBox="1"/>
          <p:nvPr/>
        </p:nvSpPr>
        <p:spPr>
          <a:xfrm>
            <a:off x="5832586" y="4315968"/>
            <a:ext cx="5807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прямой отрезок берём, если он не дороже пути по клеткам</a:t>
            </a:r>
            <a:endParaRPr lang="en-US" sz="1400" dirty="0"/>
          </a:p>
        </p:txBody>
      </p:sp>
      <p:sp>
        <p:nvSpPr>
          <p:cNvPr id="19" name="nav-row-3-badge"/>
          <p:cNvSpPr txBox="1"/>
          <p:nvPr/>
        </p:nvSpPr>
        <p:spPr>
          <a:xfrm>
            <a:off x="5238226" y="4855464"/>
            <a:ext cx="437815" cy="384048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nav-row-3-head"/>
          <p:cNvSpPr txBox="1"/>
          <p:nvPr/>
        </p:nvSpPr>
        <p:spPr>
          <a:xfrm>
            <a:off x="5832586" y="4809744"/>
            <a:ext cx="58077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Контроллер 10 Гц</a:t>
            </a:r>
            <a:endParaRPr lang="en-US" sz="1500" dirty="0"/>
          </a:p>
        </p:txBody>
      </p:sp>
      <p:sp>
        <p:nvSpPr>
          <p:cNvPr id="21" name="nav-row-3-body"/>
          <p:cNvSpPr txBox="1"/>
          <p:nvPr/>
        </p:nvSpPr>
        <p:spPr>
          <a:xfrm>
            <a:off x="5832586" y="5120640"/>
            <a:ext cx="5807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TwistStamped в /cmd_vel, стоп по лидару, перепланирование</a:t>
            </a:r>
            <a:endParaRPr lang="en-US" sz="1400" dirty="0"/>
          </a:p>
        </p:txBody>
      </p:sp>
      <p:sp>
        <p:nvSpPr>
          <p:cNvPr id="22" name="nav-status"/>
          <p:cNvSpPr txBox="1"/>
          <p:nvPr/>
        </p:nvSpPr>
        <p:spPr>
          <a:xfrm>
            <a:off x="5238226" y="5669280"/>
            <a:ext cx="64020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Статус: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планировщик — офлайн-прототип, контроллер в работе.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LLM выбирает из проверенных кандидатов</a:t>
            </a:r>
            <a:endParaRPr lang="en-US" sz="3200" dirty="0"/>
          </a:p>
        </p:txBody>
      </p:sp>
      <p:sp>
        <p:nvSpPr>
          <p:cNvPr id="3" name="evidence-dot"/>
          <p:cNvSpPr/>
          <p:nvPr/>
        </p:nvSpPr>
        <p:spPr>
          <a:xfrm>
            <a:off x="9015984" y="6473952"/>
            <a:ext cx="128016" cy="128016"/>
          </a:xfrm>
          <a:prstGeom prst="ellipse">
            <a:avLst/>
          </a:prstGeom>
          <a:solidFill>
            <a:srgbClr val="898781"/>
          </a:solidFill>
          <a:ln/>
        </p:spPr>
      </p:sp>
      <p:sp>
        <p:nvSpPr>
          <p:cNvPr id="4" name="evidence-label"/>
          <p:cNvSpPr txBox="1"/>
          <p:nvPr/>
        </p:nvSpPr>
        <p:spPr>
          <a:xfrm>
            <a:off x="9217152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проектное решение</a:t>
            </a:r>
            <a:endParaRPr lang="en-US" sz="1000" dirty="0"/>
          </a:p>
        </p:txBody>
      </p:sp>
      <p:sp>
        <p:nvSpPr>
          <p:cNvPr id="6" name="llm-step-1-card"/>
          <p:cNvSpPr/>
          <p:nvPr/>
        </p:nvSpPr>
        <p:spPr>
          <a:xfrm>
            <a:off x="548640" y="1371600"/>
            <a:ext cx="2633472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7" name="llm-step-1-badge"/>
          <p:cNvSpPr txBox="1"/>
          <p:nvPr/>
        </p:nvSpPr>
        <p:spPr>
          <a:xfrm>
            <a:off x="777240" y="1572768"/>
            <a:ext cx="521208" cy="457200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llm-step-1-head"/>
          <p:cNvSpPr txBox="1"/>
          <p:nvPr/>
        </p:nvSpPr>
        <p:spPr>
          <a:xfrm>
            <a:off x="777240" y="2194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Состояние в текст</a:t>
            </a:r>
            <a:endParaRPr lang="en-US" sz="1600" dirty="0"/>
          </a:p>
        </p:txBody>
      </p:sp>
      <p:sp>
        <p:nvSpPr>
          <p:cNvPr id="9" name="llm-step-1-body"/>
          <p:cNvSpPr txBox="1"/>
          <p:nvPr/>
        </p:nvSpPr>
        <p:spPr>
          <a:xfrm>
            <a:off x="777240" y="260604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Поза, батарея, резерв на возврат, оценки грунтов, образцы, последние события</a:t>
            </a:r>
            <a:endParaRPr lang="en-US" sz="1400" dirty="0"/>
          </a:p>
        </p:txBody>
      </p:sp>
      <p:sp>
        <p:nvSpPr>
          <p:cNvPr id="10" name="llm-step-2-card"/>
          <p:cNvSpPr/>
          <p:nvPr/>
        </p:nvSpPr>
        <p:spPr>
          <a:xfrm>
            <a:off x="3368040" y="1371600"/>
            <a:ext cx="2633472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1" name="llm-step-2-badge"/>
          <p:cNvSpPr txBox="1"/>
          <p:nvPr/>
        </p:nvSpPr>
        <p:spPr>
          <a:xfrm>
            <a:off x="3596640" y="1572768"/>
            <a:ext cx="521208" cy="457200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llm-step-2-head"/>
          <p:cNvSpPr txBox="1"/>
          <p:nvPr/>
        </p:nvSpPr>
        <p:spPr>
          <a:xfrm>
            <a:off x="3596640" y="2194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Кандидаты от кода</a:t>
            </a:r>
            <a:endParaRPr lang="en-US" sz="1600" dirty="0"/>
          </a:p>
        </p:txBody>
      </p:sp>
      <p:sp>
        <p:nvSpPr>
          <p:cNvPr id="13" name="llm-step-2-body"/>
          <p:cNvSpPr txBox="1"/>
          <p:nvPr/>
        </p:nvSpPr>
        <p:spPr>
          <a:xfrm>
            <a:off x="3596640" y="260604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5–8 исполнимых подцелей с числами: польза, цена в батарее, риск</a:t>
            </a:r>
            <a:endParaRPr lang="en-US" sz="1400" dirty="0"/>
          </a:p>
        </p:txBody>
      </p:sp>
      <p:sp>
        <p:nvSpPr>
          <p:cNvPr id="14" name="llm-step-3-card"/>
          <p:cNvSpPr/>
          <p:nvPr/>
        </p:nvSpPr>
        <p:spPr>
          <a:xfrm>
            <a:off x="6187440" y="1371600"/>
            <a:ext cx="2633472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5" name="llm-step-3-badge"/>
          <p:cNvSpPr txBox="1"/>
          <p:nvPr/>
        </p:nvSpPr>
        <p:spPr>
          <a:xfrm>
            <a:off x="6416040" y="1572768"/>
            <a:ext cx="521208" cy="457200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llm-step-3-head"/>
          <p:cNvSpPr txBox="1"/>
          <p:nvPr/>
        </p:nvSpPr>
        <p:spPr>
          <a:xfrm>
            <a:off x="6416040" y="2194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Выбор модели</a:t>
            </a:r>
            <a:endParaRPr lang="en-US" sz="1600" dirty="0"/>
          </a:p>
        </p:txBody>
      </p:sp>
      <p:sp>
        <p:nvSpPr>
          <p:cNvPr id="17" name="llm-step-3-body"/>
          <p:cNvSpPr txBox="1"/>
          <p:nvPr/>
        </p:nvSpPr>
        <p:spPr>
          <a:xfrm>
            <a:off x="6416040" y="260604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Qwen или DeepSeek упорядочивает подцели и формулирует гипотезу. Ответ — JSON</a:t>
            </a:r>
            <a:endParaRPr lang="en-US" sz="1400" dirty="0"/>
          </a:p>
        </p:txBody>
      </p:sp>
      <p:sp>
        <p:nvSpPr>
          <p:cNvPr id="18" name="llm-step-4-card"/>
          <p:cNvSpPr/>
          <p:nvPr/>
        </p:nvSpPr>
        <p:spPr>
          <a:xfrm>
            <a:off x="9006840" y="1371600"/>
            <a:ext cx="2633472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9" name="llm-step-4-badge"/>
          <p:cNvSpPr txBox="1"/>
          <p:nvPr/>
        </p:nvSpPr>
        <p:spPr>
          <a:xfrm>
            <a:off x="9235440" y="1572768"/>
            <a:ext cx="521208" cy="457200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llm-step-4-head"/>
          <p:cNvSpPr txBox="1"/>
          <p:nvPr/>
        </p:nvSpPr>
        <p:spPr>
          <a:xfrm>
            <a:off x="9235440" y="2194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Проверка и запуск</a:t>
            </a:r>
            <a:endParaRPr lang="en-US" sz="1600" dirty="0"/>
          </a:p>
        </p:txBody>
      </p:sp>
      <p:sp>
        <p:nvSpPr>
          <p:cNvPr id="21" name="llm-step-4-body"/>
          <p:cNvSpPr txBox="1"/>
          <p:nvPr/>
        </p:nvSpPr>
        <p:spPr>
          <a:xfrm>
            <a:off x="9235440" y="260604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Схема, достижимость, резерв. Ошибка: повтор, затем планировщик без LLM</a:t>
            </a:r>
            <a:endParaRPr lang="en-US" sz="1400" dirty="0"/>
          </a:p>
        </p:txBody>
      </p:sp>
      <p:sp>
        <p:nvSpPr>
          <p:cNvPr id="22" name="llm-json-caption"/>
          <p:cNvSpPr txBox="1"/>
          <p:nvPr/>
        </p:nvSpPr>
        <p:spPr>
          <a:xfrm>
            <a:off x="548640" y="406908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Пример ответа модели</a:t>
            </a:r>
            <a:endParaRPr lang="en-US" sz="1200" dirty="0"/>
          </a:p>
        </p:txBody>
      </p:sp>
      <p:sp>
        <p:nvSpPr>
          <p:cNvPr id="23" name="llm-json-card"/>
          <p:cNvSpPr/>
          <p:nvPr/>
        </p:nvSpPr>
        <p:spPr>
          <a:xfrm>
            <a:off x="548640" y="4370832"/>
            <a:ext cx="6035040" cy="1783080"/>
          </a:xfrm>
          <a:prstGeom prst="roundRect">
            <a:avLst>
              <a:gd name="adj" fmla="val 4103"/>
            </a:avLst>
          </a:prstGeom>
          <a:solidFill>
            <a:schemeClr val="tx1"/>
          </a:solidFill>
          <a:ln/>
        </p:spPr>
      </p:sp>
      <p:sp>
        <p:nvSpPr>
          <p:cNvPr id="24" name="llm-json"/>
          <p:cNvSpPr txBox="1"/>
          <p:nvPr/>
        </p:nvSpPr>
        <p:spPr>
          <a:xfrm>
            <a:off x="822960" y="4370832"/>
            <a:ext cx="5486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{"hypothesis": "в секторе NE расход выше",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"subgoals": [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{"type": "explore", "region": "NE"},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{"type": "goto", "target": "candidate_S2"},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{"type": "collect"},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{"type": "return_to_base"}]}</a:t>
            </a:r>
            <a:endParaRPr lang="en-US" sz="1400" dirty="0"/>
          </a:p>
        </p:txBody>
      </p:sp>
      <p:sp>
        <p:nvSpPr>
          <p:cNvPr id="25" name="llm-guard-1-badge"/>
          <p:cNvSpPr txBox="1"/>
          <p:nvPr/>
        </p:nvSpPr>
        <p:spPr>
          <a:xfrm>
            <a:off x="6903720" y="4416552"/>
            <a:ext cx="416966" cy="365760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!</a:t>
            </a:r>
            <a:endParaRPr lang="en-US" sz="1100" dirty="0"/>
          </a:p>
        </p:txBody>
      </p:sp>
      <p:sp>
        <p:nvSpPr>
          <p:cNvPr id="26" name="llm-guard-1"/>
          <p:cNvSpPr txBox="1"/>
          <p:nvPr/>
        </p:nvSpPr>
        <p:spPr>
          <a:xfrm>
            <a:off x="7470648" y="4370832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LLM не управляет скоростью и не выдаёт координаты: только выбор из кандидатов.</a:t>
            </a:r>
            <a:endParaRPr lang="en-US" sz="1400" dirty="0"/>
          </a:p>
        </p:txBody>
      </p:sp>
      <p:sp>
        <p:nvSpPr>
          <p:cNvPr id="27" name="llm-guard-2-badge"/>
          <p:cNvSpPr txBox="1"/>
          <p:nvPr/>
        </p:nvSpPr>
        <p:spPr>
          <a:xfrm>
            <a:off x="6903720" y="5102352"/>
            <a:ext cx="416966" cy="365760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!</a:t>
            </a:r>
            <a:endParaRPr lang="en-US" sz="1100" dirty="0"/>
          </a:p>
        </p:txBody>
      </p:sp>
      <p:sp>
        <p:nvSpPr>
          <p:cNvPr id="28" name="llm-guard-2"/>
          <p:cNvSpPr txBox="1"/>
          <p:nvPr/>
        </p:nvSpPr>
        <p:spPr>
          <a:xfrm>
            <a:off x="7470648" y="5056632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Резерв на возврат считает код по верхней границе цены пути. План модели его не отменяет.</a:t>
            </a:r>
            <a:endParaRPr lang="en-US" sz="1400" dirty="0"/>
          </a:p>
        </p:txBody>
      </p:sp>
      <p:sp>
        <p:nvSpPr>
          <p:cNvPr id="29" name="llm-status"/>
          <p:cNvSpPr txBox="1"/>
          <p:nvPr/>
        </p:nvSpPr>
        <p:spPr>
          <a:xfrm>
            <a:off x="6903720" y="5760720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Статус: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контракт спроектирован, подключение к ai.mai.ru — следующий шаг.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Поиск образца: карта убеждений вместо градиента</a:t>
            </a:r>
            <a:endParaRPr lang="en-US" sz="3200" dirty="0"/>
          </a:p>
        </p:txBody>
      </p:sp>
      <p:sp>
        <p:nvSpPr>
          <p:cNvPr id="3" name="evidence-dot"/>
          <p:cNvSpPr/>
          <p:nvPr/>
        </p:nvSpPr>
        <p:spPr>
          <a:xfrm>
            <a:off x="9015984" y="6473952"/>
            <a:ext cx="128016" cy="128016"/>
          </a:xfrm>
          <a:prstGeom prst="ellipse">
            <a:avLst/>
          </a:prstGeom>
          <a:solidFill>
            <a:srgbClr val="FAB219"/>
          </a:solidFill>
          <a:ln/>
        </p:spPr>
      </p:sp>
      <p:sp>
        <p:nvSpPr>
          <p:cNvPr id="4" name="evidence-label"/>
          <p:cNvSpPr txBox="1"/>
          <p:nvPr/>
        </p:nvSpPr>
        <p:spPr>
          <a:xfrm>
            <a:off x="9217152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офлайн-модель</a:t>
            </a:r>
            <a:endParaRPr lang="en-US" sz="1000" dirty="0"/>
          </a:p>
        </p:txBody>
      </p:sp>
      <p:pic>
        <p:nvPicPr>
          <p:cNvPr id="6" name="belief" descr="Три карты вероятности положения образца: сначала широкая область, затем дуга, затем точ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036" y="1261872"/>
            <a:ext cx="9326880" cy="2845156"/>
          </a:xfrm>
          <a:prstGeom prst="rect">
            <a:avLst/>
          </a:prstGeom>
        </p:spPr>
      </p:pic>
      <p:graphicFrame>
        <p:nvGraphicFramePr>
          <p:cNvPr id="7" name="search-chart" descr=""/>
          <p:cNvGraphicFramePr/>
          <p:nvPr/>
        </p:nvGraphicFramePr>
        <p:xfrm>
          <a:off x="548640" y="4308196"/>
          <a:ext cx="4480560" cy="14813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earch-median-card"/>
          <p:cNvSpPr/>
          <p:nvPr/>
        </p:nvSpPr>
        <p:spPr>
          <a:xfrm>
            <a:off x="5212080" y="4308196"/>
            <a:ext cx="3122676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9" name="search-median-value"/>
          <p:cNvSpPr txBox="1"/>
          <p:nvPr/>
        </p:nvSpPr>
        <p:spPr>
          <a:xfrm>
            <a:off x="5440680" y="4491076"/>
            <a:ext cx="2665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−18%</a:t>
            </a:r>
            <a:endParaRPr lang="en-US" sz="3400" dirty="0"/>
          </a:p>
        </p:txBody>
      </p:sp>
      <p:sp>
        <p:nvSpPr>
          <p:cNvPr id="10" name="search-median-label"/>
          <p:cNvSpPr txBox="1"/>
          <p:nvPr/>
        </p:nvSpPr>
        <p:spPr>
          <a:xfrm>
            <a:off x="5440680" y="5131156"/>
            <a:ext cx="26654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медиана пути против градиента: 4,7 и 5,75 м</a:t>
            </a:r>
            <a:endParaRPr lang="en-US" sz="1400" dirty="0"/>
          </a:p>
        </p:txBody>
      </p:sp>
      <p:sp>
        <p:nvSpPr>
          <p:cNvPr id="11" name="search-p90-card"/>
          <p:cNvSpPr/>
          <p:nvPr/>
        </p:nvSpPr>
        <p:spPr>
          <a:xfrm>
            <a:off x="8517636" y="4308196"/>
            <a:ext cx="3122676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12" name="search-p90-value"/>
          <p:cNvSpPr txBox="1"/>
          <p:nvPr/>
        </p:nvSpPr>
        <p:spPr>
          <a:xfrm>
            <a:off x="8746236" y="4491076"/>
            <a:ext cx="2665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−51%</a:t>
            </a:r>
            <a:endParaRPr lang="en-US" sz="3400" dirty="0"/>
          </a:p>
        </p:txBody>
      </p:sp>
      <p:sp>
        <p:nvSpPr>
          <p:cNvPr id="13" name="search-p90-label"/>
          <p:cNvSpPr txBox="1"/>
          <p:nvPr/>
        </p:nvSpPr>
        <p:spPr>
          <a:xfrm>
            <a:off x="8746236" y="5131156"/>
            <a:ext cx="26654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90-й перцентиль: 7,1 против 14,6 м</a:t>
            </a:r>
            <a:endParaRPr lang="en-US" sz="1400" dirty="0"/>
          </a:p>
        </p:txBody>
      </p:sp>
      <p:sp>
        <p:nvSpPr>
          <p:cNvPr id="14" name="search-caveat"/>
          <p:cNvSpPr txBox="1"/>
          <p:nvPr/>
        </p:nvSpPr>
        <p:spPr>
          <a:xfrm>
            <a:off x="548640" y="5880964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Ложных сборов у карты убеждений нет, у градиента 0,08 на прогон. Предварительно, без Gazebo: 300 положений, один образец, датчик 1 − d / 2 м, шум σ = 0,05, движение по прямой.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Адаптация: замечаем разладку модели сами</a:t>
            </a:r>
            <a:endParaRPr lang="en-US" sz="3200" dirty="0"/>
          </a:p>
        </p:txBody>
      </p:sp>
      <p:sp>
        <p:nvSpPr>
          <p:cNvPr id="3" name="evidence-dot"/>
          <p:cNvSpPr/>
          <p:nvPr/>
        </p:nvSpPr>
        <p:spPr>
          <a:xfrm>
            <a:off x="9015984" y="6473952"/>
            <a:ext cx="128016" cy="128016"/>
          </a:xfrm>
          <a:prstGeom prst="ellipse">
            <a:avLst/>
          </a:prstGeom>
          <a:solidFill>
            <a:srgbClr val="FAB219"/>
          </a:solidFill>
          <a:ln/>
        </p:spPr>
      </p:sp>
      <p:sp>
        <p:nvSpPr>
          <p:cNvPr id="4" name="evidence-label"/>
          <p:cNvSpPr txBox="1"/>
          <p:nvPr/>
        </p:nvSpPr>
        <p:spPr>
          <a:xfrm>
            <a:off x="9217152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офлайн-модель</a:t>
            </a:r>
            <a:endParaRPr lang="en-US" sz="1000" dirty="0"/>
          </a:p>
        </p:txBody>
      </p:sp>
      <p:graphicFrame>
        <p:nvGraphicFramePr>
          <p:cNvPr id="6" name="cusum-chart" descr=""/>
          <p:cNvGraphicFramePr/>
          <p:nvPr/>
        </p:nvGraphicFramePr>
        <p:xfrm>
          <a:off x="548640" y="132588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usum-caption"/>
          <p:cNvSpPr txBox="1"/>
          <p:nvPr/>
        </p:nvSpPr>
        <p:spPr>
          <a:xfrm>
            <a:off x="548640" y="5349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Грунт ×2 стал ×3 на 12-м метре. Тревога на 12,75 м, после переоценки невязка уходит.</a:t>
            </a:r>
            <a:endParaRPr lang="en-US" sz="1400" dirty="0"/>
          </a:p>
        </p:txBody>
      </p:sp>
      <p:sp>
        <p:nvSpPr>
          <p:cNvPr id="8" name="cusum-delay-card"/>
          <p:cNvSpPr/>
          <p:nvPr/>
        </p:nvSpPr>
        <p:spPr>
          <a:xfrm>
            <a:off x="6903720" y="1325880"/>
            <a:ext cx="2276856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cusum-delay-value"/>
          <p:cNvSpPr txBox="1"/>
          <p:nvPr/>
        </p:nvSpPr>
        <p:spPr>
          <a:xfrm>
            <a:off x="7132320" y="1508760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1,0 м</a:t>
            </a:r>
            <a:endParaRPr lang="en-US" sz="3400" dirty="0"/>
          </a:p>
        </p:txBody>
      </p:sp>
      <p:sp>
        <p:nvSpPr>
          <p:cNvPr id="10" name="cusum-delay-label"/>
          <p:cNvSpPr txBox="1"/>
          <p:nvPr/>
        </p:nvSpPr>
        <p:spPr>
          <a:xfrm>
            <a:off x="7132320" y="21488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медианная задержка обнаружения</a:t>
            </a:r>
            <a:endParaRPr lang="en-US" sz="1400" dirty="0"/>
          </a:p>
        </p:txBody>
      </p:sp>
      <p:sp>
        <p:nvSpPr>
          <p:cNvPr id="11" name="cusum-false-card"/>
          <p:cNvSpPr/>
          <p:nvPr/>
        </p:nvSpPr>
        <p:spPr>
          <a:xfrm>
            <a:off x="9363456" y="1325880"/>
            <a:ext cx="2276856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2" name="cusum-false-value"/>
          <p:cNvSpPr txBox="1"/>
          <p:nvPr/>
        </p:nvSpPr>
        <p:spPr>
          <a:xfrm>
            <a:off x="9592056" y="1508760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4,3%</a:t>
            </a:r>
            <a:endParaRPr lang="en-US" sz="3400" dirty="0"/>
          </a:p>
        </p:txBody>
      </p:sp>
      <p:sp>
        <p:nvSpPr>
          <p:cNvPr id="13" name="cusum-false-label"/>
          <p:cNvSpPr txBox="1"/>
          <p:nvPr/>
        </p:nvSpPr>
        <p:spPr>
          <a:xfrm>
            <a:off x="9592056" y="21488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прогонов с ложной тревогой</a:t>
            </a:r>
            <a:endParaRPr lang="en-US" sz="1400" dirty="0"/>
          </a:p>
        </p:txBody>
      </p:sp>
      <p:sp>
        <p:nvSpPr>
          <p:cNvPr id="14" name="adapt-row-1-badge"/>
          <p:cNvSpPr txBox="1"/>
          <p:nvPr/>
        </p:nvSpPr>
        <p:spPr>
          <a:xfrm>
            <a:off x="6903720" y="3063240"/>
            <a:ext cx="437815" cy="384048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adapt-row-1-head"/>
          <p:cNvSpPr txBox="1"/>
          <p:nvPr/>
        </p:nvSpPr>
        <p:spPr>
          <a:xfrm>
            <a:off x="7498080" y="3017520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Смена грунта</a:t>
            </a:r>
            <a:endParaRPr lang="en-US" sz="1500" dirty="0"/>
          </a:p>
        </p:txBody>
      </p:sp>
      <p:sp>
        <p:nvSpPr>
          <p:cNvPr id="16" name="adapt-row-1-body"/>
          <p:cNvSpPr txBox="1"/>
          <p:nvPr/>
        </p:nvSpPr>
        <p:spPr>
          <a:xfrm>
            <a:off x="7498080" y="3328416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невязка расхода батареи: сброс уверенности в зоне, переоценка, новый маршрут</a:t>
            </a:r>
            <a:endParaRPr lang="en-US" sz="1400" dirty="0"/>
          </a:p>
        </p:txBody>
      </p:sp>
      <p:sp>
        <p:nvSpPr>
          <p:cNvPr id="17" name="adapt-row-2-badge"/>
          <p:cNvSpPr txBox="1"/>
          <p:nvPr/>
        </p:nvSpPr>
        <p:spPr>
          <a:xfrm>
            <a:off x="6903720" y="3977640"/>
            <a:ext cx="437815" cy="384048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adapt-row-2-head"/>
          <p:cNvSpPr txBox="1"/>
          <p:nvPr/>
        </p:nvSpPr>
        <p:spPr>
          <a:xfrm>
            <a:off x="7498080" y="3931920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Новая опасная зона</a:t>
            </a:r>
            <a:endParaRPr lang="en-US" sz="1500" dirty="0"/>
          </a:p>
        </p:txBody>
      </p:sp>
      <p:sp>
        <p:nvSpPr>
          <p:cNvPr id="19" name="adapt-row-2-body"/>
          <p:cNvSpPr txBox="1"/>
          <p:nvPr/>
        </p:nvSpPr>
        <p:spPr>
          <a:xfrm>
            <a:off x="7498080" y="4242816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штраф hazard_hit: запретная область вокруг точки</a:t>
            </a:r>
            <a:endParaRPr lang="en-US" sz="1400" dirty="0"/>
          </a:p>
        </p:txBody>
      </p:sp>
      <p:sp>
        <p:nvSpPr>
          <p:cNvPr id="20" name="adapt-row-3-badge"/>
          <p:cNvSpPr txBox="1"/>
          <p:nvPr/>
        </p:nvSpPr>
        <p:spPr>
          <a:xfrm>
            <a:off x="6903720" y="4892040"/>
            <a:ext cx="437815" cy="384048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adapt-row-3-head"/>
          <p:cNvSpPr txBox="1"/>
          <p:nvPr/>
        </p:nvSpPr>
        <p:spPr>
          <a:xfrm>
            <a:off x="7498080" y="4846320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Сбой датчика</a:t>
            </a:r>
            <a:endParaRPr lang="en-US" sz="1500" dirty="0"/>
          </a:p>
        </p:txBody>
      </p:sp>
      <p:sp>
        <p:nvSpPr>
          <p:cNvPr id="22" name="adapt-row-3-body"/>
          <p:cNvSpPr txBox="1"/>
          <p:nvPr/>
        </p:nvSpPr>
        <p:spPr>
          <a:xfrm>
            <a:off x="7498080" y="5157216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разброс показаний вне нормы: идём по карте убеждений, сбор только при уверенности</a:t>
            </a:r>
            <a:endParaRPr lang="en-US" sz="1400" dirty="0"/>
          </a:p>
        </p:txBody>
      </p:sp>
      <p:sp>
        <p:nvSpPr>
          <p:cNvPr id="23" name="cusum-caveat"/>
          <p:cNvSpPr txBox="1"/>
          <p:nvPr/>
        </p:nvSpPr>
        <p:spPr>
          <a:xfrm>
            <a:off x="6903720" y="5870448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Модель детектора: 2 000 прогонов, шум замера 0,15 ед. на 0,25 м пути.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Генератор сценариев и оракул как мера качества</a:t>
            </a:r>
            <a:endParaRPr lang="en-US" sz="3200" dirty="0"/>
          </a:p>
        </p:txBody>
      </p:sp>
      <p:sp>
        <p:nvSpPr>
          <p:cNvPr id="3" name="evidence-dot"/>
          <p:cNvSpPr/>
          <p:nvPr/>
        </p:nvSpPr>
        <p:spPr>
          <a:xfrm>
            <a:off x="9015984" y="6473952"/>
            <a:ext cx="128016" cy="12801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4" name="evidence-label"/>
          <p:cNvSpPr txBox="1"/>
          <p:nvPr/>
        </p:nvSpPr>
        <p:spPr>
          <a:xfrm>
            <a:off x="9217152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расчёт на реальной карте</a:t>
            </a:r>
            <a:endParaRPr lang="en-US" sz="1000" dirty="0"/>
          </a:p>
        </p:txBody>
      </p:sp>
      <p:pic>
        <p:nvPicPr>
          <p:cNvPr id="6" name="scenario" descr="Сгенерированный сценарий: семь образцов, четыре зоны грунта, опасная зона и маршрут оракул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323826" cy="4846320"/>
          </a:xfrm>
          <a:prstGeom prst="rect">
            <a:avLst/>
          </a:prstGeom>
        </p:spPr>
      </p:pic>
      <p:graphicFrame>
        <p:nvGraphicFramePr>
          <p:cNvPr id="11" name="level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38226" y="1325880"/>
          <a:ext cx="640208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097280"/>
                <a:gridCol w="1005840"/>
                <a:gridCol w="315596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Уровень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Образцы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Грунты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События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easy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hard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грунты, зона, датчик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oracle-count-card"/>
          <p:cNvSpPr/>
          <p:nvPr/>
        </p:nvSpPr>
        <p:spPr>
          <a:xfrm>
            <a:off x="5238226" y="3108960"/>
            <a:ext cx="3109603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oracle-count-value"/>
          <p:cNvSpPr txBox="1"/>
          <p:nvPr/>
        </p:nvSpPr>
        <p:spPr>
          <a:xfrm>
            <a:off x="5466826" y="3291840"/>
            <a:ext cx="2652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7 из 7</a:t>
            </a:r>
            <a:endParaRPr lang="en-US" sz="3000" dirty="0"/>
          </a:p>
        </p:txBody>
      </p:sp>
      <p:sp>
        <p:nvSpPr>
          <p:cNvPr id="10" name="oracle-count-label"/>
          <p:cNvSpPr txBox="1"/>
          <p:nvPr/>
        </p:nvSpPr>
        <p:spPr>
          <a:xfrm>
            <a:off x="5466826" y="3931920"/>
            <a:ext cx="26524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образцов собирает оракул в этом сценарии</a:t>
            </a:r>
            <a:endParaRPr lang="en-US" sz="1400" dirty="0"/>
          </a:p>
        </p:txBody>
      </p:sp>
      <p:sp>
        <p:nvSpPr>
          <p:cNvPr id="11" name="oracle-energy-card"/>
          <p:cNvSpPr/>
          <p:nvPr/>
        </p:nvSpPr>
        <p:spPr>
          <a:xfrm>
            <a:off x="8530709" y="3108960"/>
            <a:ext cx="3109603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2" name="oracle-energy-value"/>
          <p:cNvSpPr txBox="1"/>
          <p:nvPr/>
        </p:nvSpPr>
        <p:spPr>
          <a:xfrm>
            <a:off x="8759309" y="3291840"/>
            <a:ext cx="2652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17,4 из 60</a:t>
            </a:r>
            <a:endParaRPr lang="en-US" sz="3000" dirty="0"/>
          </a:p>
        </p:txBody>
      </p:sp>
      <p:sp>
        <p:nvSpPr>
          <p:cNvPr id="13" name="oracle-energy-label"/>
          <p:cNvSpPr txBox="1"/>
          <p:nvPr/>
        </p:nvSpPr>
        <p:spPr>
          <a:xfrm>
            <a:off x="8759309" y="3931920"/>
            <a:ext cx="26524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единиц батареи нужно оракулу: 13,9 м пути</a:t>
            </a:r>
            <a:endParaRPr lang="en-US" sz="1400" dirty="0"/>
          </a:p>
        </p:txBody>
      </p:sp>
      <p:sp>
        <p:nvSpPr>
          <p:cNvPr id="14" name="regret"/>
          <p:cNvSpPr txBox="1"/>
          <p:nvPr/>
        </p:nvSpPr>
        <p:spPr>
          <a:xfrm>
            <a:off x="5238226" y="4754880"/>
            <a:ext cx="64020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Цена незнания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= расход агента / расход оракула. Научный цикл обязан её снижать.</a:t>
            </a:r>
            <a:endParaRPr lang="en-US" sz="1400" dirty="0"/>
          </a:p>
        </p:txBody>
      </p:sp>
      <p:sp>
        <p:nvSpPr>
          <p:cNvPr id="15" name="scenario-status"/>
          <p:cNvSpPr txBox="1"/>
          <p:nvPr/>
        </p:nvSpPr>
        <p:spPr>
          <a:xfrm>
            <a:off x="5238226" y="5486400"/>
            <a:ext cx="64020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Статус: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генератор и оракул — офлайн-прототип, узел did_judge в работе.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Гипотезы: что проверяем и чем измеряем</a:t>
            </a:r>
            <a:endParaRPr lang="en-US" sz="3200" dirty="0"/>
          </a:p>
        </p:txBody>
      </p:sp>
      <p:sp>
        <p:nvSpPr>
          <p:cNvPr id="3" name="evidence-dot"/>
          <p:cNvSpPr/>
          <p:nvPr/>
        </p:nvSpPr>
        <p:spPr>
          <a:xfrm>
            <a:off x="9015984" y="6473952"/>
            <a:ext cx="128016" cy="128016"/>
          </a:xfrm>
          <a:prstGeom prst="ellipse">
            <a:avLst/>
          </a:prstGeom>
          <a:solidFill>
            <a:srgbClr val="898781"/>
          </a:solidFill>
          <a:ln/>
        </p:spPr>
      </p:sp>
      <p:sp>
        <p:nvSpPr>
          <p:cNvPr id="4" name="evidence-label"/>
          <p:cNvSpPr txBox="1"/>
          <p:nvPr/>
        </p:nvSpPr>
        <p:spPr>
          <a:xfrm>
            <a:off x="9217152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проектное решение</a:t>
            </a:r>
            <a:endParaRPr lang="en-US" sz="1000" dirty="0"/>
          </a:p>
        </p:txBody>
      </p:sp>
      <p:graphicFrame>
        <p:nvGraphicFramePr>
          <p:cNvPr id="12" name="hypothes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663440"/>
                <a:gridCol w="3520440"/>
                <a:gridCol w="22677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№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Гипотеза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Метрика и порог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Сейчас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Карта убеждений находит образец короче, чем градиент и спираль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Путь: медиана −20%, P90 −30%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Модель: −18% и −51%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Множитель грунта узнаётся за 1,5 м пути по зоне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Ошибка оценки не больше 20%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День 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Знание грунтов экономит батарею на миссии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Расход на 15% ниже, чем у кратчайшего пути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Один маршрут: −35%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LLM, выбирающая из кандидатов, не даёт неисполнимых планов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 отказов проверки; счёт не ниже жадного правила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День 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Смена грунта видна по невязке расхода батареи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Задержка до 1 м, ложных тревог до 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Модель: 1,0 м и 4,3%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Резерв по верхней границе цены пути гарантирует возврат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Возврат на базу в 99% прогонов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День 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hypotheses-note"/>
          <p:cNvSpPr txBox="1"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Два стенда проверки: быстрый кинематический для сотен прогонов и Gazebo для физики. Мера качества — отношение к оракулу.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План: от базового агента к полному циклу</a:t>
            </a:r>
            <a:endParaRPr lang="en-US" sz="3200" dirty="0"/>
          </a:p>
        </p:txBody>
      </p:sp>
      <p:sp>
        <p:nvSpPr>
          <p:cNvPr id="3" name="evidence-dot"/>
          <p:cNvSpPr/>
          <p:nvPr/>
        </p:nvSpPr>
        <p:spPr>
          <a:xfrm>
            <a:off x="9015984" y="6473952"/>
            <a:ext cx="128016" cy="128016"/>
          </a:xfrm>
          <a:prstGeom prst="ellipse">
            <a:avLst/>
          </a:prstGeom>
          <a:solidFill>
            <a:srgbClr val="898781"/>
          </a:solidFill>
          <a:ln/>
        </p:spPr>
      </p:sp>
      <p:sp>
        <p:nvSpPr>
          <p:cNvPr id="4" name="evidence-label"/>
          <p:cNvSpPr txBox="1"/>
          <p:nvPr/>
        </p:nvSpPr>
        <p:spPr>
          <a:xfrm>
            <a:off x="9217152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проектное решение</a:t>
            </a:r>
            <a:endParaRPr lang="en-US" sz="1000" dirty="0"/>
          </a:p>
        </p:txBody>
      </p:sp>
      <p:sp>
        <p:nvSpPr>
          <p:cNvPr id="6" name="level-0-badge"/>
          <p:cNvSpPr txBox="1"/>
          <p:nvPr/>
        </p:nvSpPr>
        <p:spPr>
          <a:xfrm>
            <a:off x="548640" y="1417320"/>
            <a:ext cx="750540" cy="658368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</a:t>
            </a:r>
            <a:endParaRPr lang="en-US" sz="2000" dirty="0"/>
          </a:p>
        </p:txBody>
      </p:sp>
      <p:sp>
        <p:nvSpPr>
          <p:cNvPr id="7" name="level-0-head"/>
          <p:cNvSpPr txBox="1"/>
          <p:nvPr/>
        </p:nvSpPr>
        <p:spPr>
          <a:xfrm>
            <a:off x="548640" y="224028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Среда</a:t>
            </a:r>
            <a:endParaRPr lang="en-US" sz="1600" dirty="0"/>
          </a:p>
        </p:txBody>
      </p:sp>
      <p:sp>
        <p:nvSpPr>
          <p:cNvPr id="8" name="level-0-status"/>
          <p:cNvSpPr txBox="1"/>
          <p:nvPr/>
        </p:nvSpPr>
        <p:spPr>
          <a:xfrm>
            <a:off x="548640" y="2615184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симуляция проверена, судья в работе</a:t>
            </a:r>
            <a:endParaRPr lang="en-US" sz="1400" dirty="0"/>
          </a:p>
        </p:txBody>
      </p:sp>
      <p:sp>
        <p:nvSpPr>
          <p:cNvPr id="9" name="level-1-badge"/>
          <p:cNvSpPr txBox="1"/>
          <p:nvPr/>
        </p:nvSpPr>
        <p:spPr>
          <a:xfrm>
            <a:off x="2804922" y="1417320"/>
            <a:ext cx="750540" cy="658368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level-1-head"/>
          <p:cNvSpPr txBox="1"/>
          <p:nvPr/>
        </p:nvSpPr>
        <p:spPr>
          <a:xfrm>
            <a:off x="2804922" y="224028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Навигация</a:t>
            </a:r>
            <a:endParaRPr lang="en-US" sz="1600" dirty="0"/>
          </a:p>
        </p:txBody>
      </p:sp>
      <p:sp>
        <p:nvSpPr>
          <p:cNvPr id="11" name="level-1-status"/>
          <p:cNvSpPr txBox="1"/>
          <p:nvPr/>
        </p:nvSpPr>
        <p:spPr>
          <a:xfrm>
            <a:off x="2804922" y="2615184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A* — прототип, контроллер в работе</a:t>
            </a:r>
            <a:endParaRPr lang="en-US" sz="1400" dirty="0"/>
          </a:p>
        </p:txBody>
      </p:sp>
      <p:sp>
        <p:nvSpPr>
          <p:cNvPr id="12" name="level-2-badge"/>
          <p:cNvSpPr txBox="1"/>
          <p:nvPr/>
        </p:nvSpPr>
        <p:spPr>
          <a:xfrm>
            <a:off x="5061204" y="1417320"/>
            <a:ext cx="750540" cy="658368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level-2-head"/>
          <p:cNvSpPr txBox="1"/>
          <p:nvPr/>
        </p:nvSpPr>
        <p:spPr>
          <a:xfrm>
            <a:off x="5061204" y="224028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LLM-планировщик</a:t>
            </a:r>
            <a:endParaRPr lang="en-US" sz="1600" dirty="0"/>
          </a:p>
        </p:txBody>
      </p:sp>
      <p:sp>
        <p:nvSpPr>
          <p:cNvPr id="14" name="level-2-status"/>
          <p:cNvSpPr txBox="1"/>
          <p:nvPr/>
        </p:nvSpPr>
        <p:spPr>
          <a:xfrm>
            <a:off x="5061204" y="2615184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контракт готов, идёт подключение</a:t>
            </a:r>
            <a:endParaRPr lang="en-US" sz="1400" dirty="0"/>
          </a:p>
        </p:txBody>
      </p:sp>
      <p:sp>
        <p:nvSpPr>
          <p:cNvPr id="15" name="level-3-badge"/>
          <p:cNvSpPr txBox="1"/>
          <p:nvPr/>
        </p:nvSpPr>
        <p:spPr>
          <a:xfrm>
            <a:off x="7317486" y="1417320"/>
            <a:ext cx="750540" cy="658368"/>
          </a:xfrm>
          <a:prstGeom prst="hexagon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level-3-head"/>
          <p:cNvSpPr txBox="1"/>
          <p:nvPr/>
        </p:nvSpPr>
        <p:spPr>
          <a:xfrm>
            <a:off x="7317486" y="224028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Научный цикл</a:t>
            </a:r>
            <a:endParaRPr lang="en-US" sz="1600" dirty="0"/>
          </a:p>
        </p:txBody>
      </p:sp>
      <p:sp>
        <p:nvSpPr>
          <p:cNvPr id="17" name="level-3-status"/>
          <p:cNvSpPr txBox="1"/>
          <p:nvPr/>
        </p:nvSpPr>
        <p:spPr>
          <a:xfrm>
            <a:off x="7317486" y="2615184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день 2, утро</a:t>
            </a:r>
            <a:endParaRPr lang="en-US" sz="1400" dirty="0"/>
          </a:p>
        </p:txBody>
      </p:sp>
      <p:sp>
        <p:nvSpPr>
          <p:cNvPr id="18" name="level-4-badge"/>
          <p:cNvSpPr txBox="1"/>
          <p:nvPr/>
        </p:nvSpPr>
        <p:spPr>
          <a:xfrm>
            <a:off x="9573768" y="1417320"/>
            <a:ext cx="750540" cy="658368"/>
          </a:xfrm>
          <a:prstGeom prst="hexagon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level-4-head"/>
          <p:cNvSpPr txBox="1"/>
          <p:nvPr/>
        </p:nvSpPr>
        <p:spPr>
          <a:xfrm>
            <a:off x="9573768" y="224028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Адаптация</a:t>
            </a:r>
            <a:endParaRPr lang="en-US" sz="1600" dirty="0"/>
          </a:p>
        </p:txBody>
      </p:sp>
      <p:sp>
        <p:nvSpPr>
          <p:cNvPr id="20" name="level-4-status"/>
          <p:cNvSpPr txBox="1"/>
          <p:nvPr/>
        </p:nvSpPr>
        <p:spPr>
          <a:xfrm>
            <a:off x="9573768" y="2615184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день 2</a:t>
            </a:r>
            <a:endParaRPr lang="en-US" sz="1400" dirty="0"/>
          </a:p>
        </p:txBody>
      </p:sp>
      <p:sp>
        <p:nvSpPr>
          <p:cNvPr id="21" name="bonus-head"/>
          <p:cNvSpPr txBox="1"/>
          <p:nvPr/>
        </p:nvSpPr>
        <p:spPr>
          <a:xfrm>
            <a:off x="548640" y="3474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Бонусные треки</a:t>
            </a:r>
            <a:endParaRPr lang="en-US" sz="1600" dirty="0"/>
          </a:p>
        </p:txBody>
      </p:sp>
      <p:sp>
        <p:nvSpPr>
          <p:cNvPr id="22" name="bonus-1-card"/>
          <p:cNvSpPr/>
          <p:nvPr/>
        </p:nvSpPr>
        <p:spPr>
          <a:xfrm>
            <a:off x="548640" y="3931920"/>
            <a:ext cx="263347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3" name="bonus-1-head"/>
          <p:cNvSpPr txBox="1"/>
          <p:nvPr/>
        </p:nvSpPr>
        <p:spPr>
          <a:xfrm>
            <a:off x="749808" y="4059936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Два робота</a:t>
            </a:r>
            <a:endParaRPr lang="en-US" sz="1500" dirty="0"/>
          </a:p>
        </p:txBody>
      </p:sp>
      <p:sp>
        <p:nvSpPr>
          <p:cNvPr id="24" name="bonus-1-body"/>
          <p:cNvSpPr txBox="1"/>
          <p:nvPr/>
        </p:nvSpPr>
        <p:spPr>
          <a:xfrm>
            <a:off x="749808" y="4425696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общая карта убеждений, раздел задач аукционом</a:t>
            </a:r>
            <a:endParaRPr lang="en-US" sz="1400" dirty="0"/>
          </a:p>
        </p:txBody>
      </p:sp>
      <p:sp>
        <p:nvSpPr>
          <p:cNvPr id="25" name="bonus-2-card"/>
          <p:cNvSpPr/>
          <p:nvPr/>
        </p:nvSpPr>
        <p:spPr>
          <a:xfrm>
            <a:off x="3368040" y="3931920"/>
            <a:ext cx="263347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6" name="bonus-2-head"/>
          <p:cNvSpPr txBox="1"/>
          <p:nvPr/>
        </p:nvSpPr>
        <p:spPr>
          <a:xfrm>
            <a:off x="3569208" y="4059936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SLAM</a:t>
            </a:r>
            <a:endParaRPr lang="en-US" sz="1500" dirty="0"/>
          </a:p>
        </p:txBody>
      </p:sp>
      <p:sp>
        <p:nvSpPr>
          <p:cNvPr id="27" name="bonus-2-body"/>
          <p:cNvSpPr txBox="1"/>
          <p:nvPr/>
        </p:nvSpPr>
        <p:spPr>
          <a:xfrm>
            <a:off x="3569208" y="4425696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SLAM Toolbox вместо готовой карты</a:t>
            </a:r>
            <a:endParaRPr lang="en-US" sz="1400" dirty="0"/>
          </a:p>
        </p:txBody>
      </p:sp>
      <p:sp>
        <p:nvSpPr>
          <p:cNvPr id="28" name="bonus-3-card"/>
          <p:cNvSpPr/>
          <p:nvPr/>
        </p:nvSpPr>
        <p:spPr>
          <a:xfrm>
            <a:off x="6187440" y="3931920"/>
            <a:ext cx="263347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9" name="bonus-3-head"/>
          <p:cNvSpPr txBox="1"/>
          <p:nvPr/>
        </p:nvSpPr>
        <p:spPr>
          <a:xfrm>
            <a:off x="6388608" y="4059936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Научный агент</a:t>
            </a:r>
            <a:endParaRPr lang="en-US" sz="1500" dirty="0"/>
          </a:p>
        </p:txBody>
      </p:sp>
      <p:sp>
        <p:nvSpPr>
          <p:cNvPr id="30" name="bonus-3-body"/>
          <p:cNvSpPr txBox="1"/>
          <p:nvPr/>
        </p:nvSpPr>
        <p:spPr>
          <a:xfrm>
            <a:off x="6388608" y="4425696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журнал гипотез с числовыми вердиктами</a:t>
            </a:r>
            <a:endParaRPr lang="en-US" sz="1400" dirty="0"/>
          </a:p>
        </p:txBody>
      </p:sp>
      <p:sp>
        <p:nvSpPr>
          <p:cNvPr id="31" name="bonus-4-card"/>
          <p:cNvSpPr/>
          <p:nvPr/>
        </p:nvSpPr>
        <p:spPr>
          <a:xfrm>
            <a:off x="9006840" y="3931920"/>
            <a:ext cx="263347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2" name="bonus-4-head"/>
          <p:cNvSpPr txBox="1"/>
          <p:nvPr/>
        </p:nvSpPr>
        <p:spPr>
          <a:xfrm>
            <a:off x="9208008" y="4059936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Ассистент</a:t>
            </a:r>
            <a:endParaRPr lang="en-US" sz="1500" dirty="0"/>
          </a:p>
        </p:txBody>
      </p:sp>
      <p:sp>
        <p:nvSpPr>
          <p:cNvPr id="33" name="bonus-4-body"/>
          <p:cNvSpPr txBox="1"/>
          <p:nvPr/>
        </p:nvSpPr>
        <p:spPr>
          <a:xfrm>
            <a:off x="9208008" y="4425696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навыки для ROS и Gazebo, логи разработки</a:t>
            </a:r>
            <a:endParaRPr lang="en-US" sz="1400" dirty="0"/>
          </a:p>
        </p:txBody>
      </p:sp>
      <p:sp>
        <p:nvSpPr>
          <p:cNvPr id="34" name="risk"/>
          <p:cNvSpPr txBox="1"/>
          <p:nvPr/>
        </p:nvSpPr>
        <p:spPr>
          <a:xfrm>
            <a:off x="548640" y="546811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Главный риск — время на интеграцию.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Страховка: агент работает и без LLM, а судья и агент связаны только топиками из условия.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858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Каждый прогон оставляет проверяемое знание</a:t>
            </a:r>
            <a:endParaRPr lang="en-US" sz="4000" dirty="0"/>
          </a:p>
        </p:txBody>
      </p:sp>
      <p:sp>
        <p:nvSpPr>
          <p:cNvPr id="3" name="closing-text"/>
          <p:cNvSpPr txBox="1"/>
          <p:nvPr/>
        </p:nvSpPr>
        <p:spPr>
          <a:xfrm>
            <a:off x="640080" y="251460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Журнал «Изыскателя» — это гипотеза, эксперимент, вердикт с числом и seed сценария. Его может перепроверить человек или другой агент. Так ИИ становится инфраструктурой знаний, а не чёрным ящиком.</a:t>
            </a:r>
            <a:endParaRPr lang="en-US" sz="2000" dirty="0"/>
          </a:p>
        </p:txBody>
      </p:sp>
      <p:sp>
        <p:nvSpPr>
          <p:cNvPr id="4" name="questions-card"/>
          <p:cNvSpPr/>
          <p:nvPr/>
        </p:nvSpPr>
        <p:spPr>
          <a:xfrm>
            <a:off x="6583680" y="2514600"/>
            <a:ext cx="4965192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/>
        </p:spPr>
      </p:sp>
      <p:sp>
        <p:nvSpPr>
          <p:cNvPr id="5" name="questions-head"/>
          <p:cNvSpPr txBox="1"/>
          <p:nvPr/>
        </p:nvSpPr>
        <p:spPr>
          <a:xfrm>
            <a:off x="6858000" y="272491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Вопросы к организаторам</a:t>
            </a:r>
            <a:endParaRPr lang="en-US" sz="1800" dirty="0"/>
          </a:p>
        </p:txBody>
      </p:sp>
      <p:sp>
        <p:nvSpPr>
          <p:cNvPr id="6" name="question-1-badge"/>
          <p:cNvSpPr txBox="1"/>
          <p:nvPr/>
        </p:nvSpPr>
        <p:spPr>
          <a:xfrm>
            <a:off x="6858000" y="3364992"/>
            <a:ext cx="416966" cy="365760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question-1"/>
          <p:cNvSpPr txBox="1"/>
          <p:nvPr/>
        </p:nvSpPr>
        <p:spPr>
          <a:xfrm>
            <a:off x="7424928" y="331012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Будет ли готовый судья /did/* или пишем свой?</a:t>
            </a:r>
            <a:endParaRPr lang="en-US" sz="1500" dirty="0"/>
          </a:p>
        </p:txBody>
      </p:sp>
      <p:sp>
        <p:nvSpPr>
          <p:cNvPr id="8" name="question-2-badge"/>
          <p:cNvSpPr txBox="1"/>
          <p:nvPr/>
        </p:nvSpPr>
        <p:spPr>
          <a:xfrm>
            <a:off x="6858000" y="4096512"/>
            <a:ext cx="416966" cy="365760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question-2"/>
          <p:cNvSpPr txBox="1"/>
          <p:nvPr/>
        </p:nvSpPr>
        <p:spPr>
          <a:xfrm>
            <a:off x="7424928" y="404164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Совместим ли API ai.mai.ru с форматом OpenAI?</a:t>
            </a:r>
            <a:endParaRPr lang="en-US" sz="1500" dirty="0"/>
          </a:p>
        </p:txBody>
      </p:sp>
      <p:sp>
        <p:nvSpPr>
          <p:cNvPr id="10" name="question-3-badge"/>
          <p:cNvSpPr txBox="1"/>
          <p:nvPr/>
        </p:nvSpPr>
        <p:spPr>
          <a:xfrm>
            <a:off x="6858000" y="4828032"/>
            <a:ext cx="416966" cy="365760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question-3"/>
          <p:cNvSpPr txBox="1"/>
          <p:nvPr/>
        </p:nvSpPr>
        <p:spPr>
          <a:xfrm>
            <a:off x="7424928" y="47731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На чьём сценарии пройдёт финальный прогон?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Приложение: модель среды v0</a:t>
            </a:r>
            <a:endParaRPr lang="en-US" sz="3200" dirty="0"/>
          </a:p>
        </p:txBody>
      </p:sp>
      <p:sp>
        <p:nvSpPr>
          <p:cNvPr id="3" name="evidence-dot"/>
          <p:cNvSpPr/>
          <p:nvPr/>
        </p:nvSpPr>
        <p:spPr>
          <a:xfrm>
            <a:off x="9015984" y="6473952"/>
            <a:ext cx="128016" cy="128016"/>
          </a:xfrm>
          <a:prstGeom prst="ellipse">
            <a:avLst/>
          </a:prstGeom>
          <a:solidFill>
            <a:srgbClr val="898781"/>
          </a:solidFill>
          <a:ln/>
        </p:spPr>
      </p:sp>
      <p:sp>
        <p:nvSpPr>
          <p:cNvPr id="4" name="evidence-label"/>
          <p:cNvSpPr txBox="1"/>
          <p:nvPr/>
        </p:nvSpPr>
        <p:spPr>
          <a:xfrm>
            <a:off x="9217152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проектное решение</a:t>
            </a:r>
            <a:endParaRPr lang="en-US" sz="1000" dirty="0"/>
          </a:p>
        </p:txBody>
      </p:sp>
      <p:graphicFrame>
        <p:nvGraphicFramePr>
          <p:cNvPr id="15" name="world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Параметр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Решение v0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Батарея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Старт 60. Расход 1 ед./м × множитель грунта и 0,02 ед./с на простое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Грунты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Эллипсы поперечником 0,8–1,9 м, множитель ×2, ×3 или ×4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Датчик образцов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 = 1 − d / 2 м, обрезка до 0…1, шум σ = 0,05, частота 5 Гц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Сбор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Успех при d ≤ 0,30 м, иначе событие false_collect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Опасная зона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Событие hazard_hit, датчик слепнет на 10 с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События hard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По времени симуляции, без объявления: грунт, новая зона, сбой датчика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Счёт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+100 образец, +50 возврат, −20 ложный сбор, −30 опасная зона, −10 столкновение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world-note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Параметры наши: условие их не задаёт. Уточним у организаторов.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Приложение: риски и ответы</a:t>
            </a:r>
            <a:endParaRPr lang="en-US" sz="3200" dirty="0"/>
          </a:p>
        </p:txBody>
      </p:sp>
      <p:sp>
        <p:nvSpPr>
          <p:cNvPr id="3" name="evidence-dot"/>
          <p:cNvSpPr/>
          <p:nvPr/>
        </p:nvSpPr>
        <p:spPr>
          <a:xfrm>
            <a:off x="9015984" y="6473952"/>
            <a:ext cx="128016" cy="128016"/>
          </a:xfrm>
          <a:prstGeom prst="ellipse">
            <a:avLst/>
          </a:prstGeom>
          <a:solidFill>
            <a:srgbClr val="898781"/>
          </a:solidFill>
          <a:ln/>
        </p:spPr>
      </p:sp>
      <p:sp>
        <p:nvSpPr>
          <p:cNvPr id="4" name="evidence-label"/>
          <p:cNvSpPr txBox="1"/>
          <p:nvPr/>
        </p:nvSpPr>
        <p:spPr>
          <a:xfrm>
            <a:off x="9217152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проектное решение</a:t>
            </a:r>
            <a:endParaRPr lang="en-US" sz="1000" dirty="0"/>
          </a:p>
        </p:txBody>
      </p:sp>
      <p:graphicFrame>
        <p:nvGraphicFramePr>
          <p:cNvPr id="16" name="ris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291840"/>
                <a:gridCol w="414223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Риск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Как заметим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Ответ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LLM недоступна или отвечает не по схеме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Проверка ответа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Повтор с текстом ошибки, затем планировщик без LLM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Одометрия уплывает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Лидар расходится с картой больше 10 см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Коррекция позы по лидару, резерв — AMCL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Симуляция медленная на слабой машине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Real-time factor ниже 0,8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Отладка на кинематическом стенде, Gazebo для проверки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Судья организаторов отличается от нашего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Сверка топиков и правил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Меняем параметры сценария: агент видит только топики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 успеваем бонусные треки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План на утро дня 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Порядок: уровни 3–4, журнал, SLAM, два робота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zyskatel">
  <a:themeElements>
    <a:clrScheme name="Izyskatel">
      <a:dk1>
        <a:srgbClr val="14181C"/>
      </a:dk1>
      <a:lt1>
        <a:srgbClr val="FFFFFF"/>
      </a:lt1>
      <a:dk2>
        <a:srgbClr val="2B3138"/>
      </a:dk2>
      <a:lt2>
        <a:srgbClr val="EEF0F2"/>
      </a:lt2>
      <a:accent1>
        <a:srgbClr val="EB6834"/>
      </a:accent1>
      <a:accent2>
        <a:srgbClr val="2A78D6"/>
      </a:accent2>
      <a:accent3>
        <a:srgbClr val="1BAF7A"/>
      </a:accent3>
      <a:accent4>
        <a:srgbClr val="EDA100"/>
      </a:accent4>
      <a:accent5>
        <a:srgbClr val="5B6168"/>
      </a:accent5>
      <a:accent6>
        <a:srgbClr val="D03B3B"/>
      </a:accent6>
      <a:hlink>
        <a:srgbClr val="2A78D6"/>
      </a:hlink>
      <a:folHlink>
        <a:srgbClr val="4A3AA7"/>
      </a:folHlink>
    </a:clrScheme>
    <a:fontScheme name="Izyskate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«Изыскатель» — чекпоинт 1</dc:title>
  <dc:subject>DID Hack 2026: автономный ИИ-исследователь на TurtleBot3</dc:subject>
  <dc:creator>Команда «Изыскатель»</dc:creator>
  <cp:lastModifiedBy>Команда «Изыскатель»</cp:lastModifiedBy>
  <cp:revision>1</cp:revision>
  <dcterms:created xsi:type="dcterms:W3CDTF">2026-10-07T14:32:38Z</dcterms:created>
  <dcterms:modified xsi:type="dcterms:W3CDTF">2026-10-07T14:32:38Z</dcterms:modified>
</cp:coreProperties>
</file>