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к работали" id="{4c6ca5f3-111e-a6dd-1e0b-1129f93ab671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ИИ-агентами мы работали как в лаборатории: человек ею руководит, агенты в ней работают. Человек задаёт цель, роли и ограничения и принимает решения на развилках. Ведущий агент ведёт план, пишет задания остальным, сводит их работу в общий код и сам пересчитывает числа. Исследователи читают литературу и кода не пишут. Инженеры пишут код и ставят опыты, каждый в своей копии кода. Отдельная модель-ревьюер читает каждую правку до вливания и ищет ошибки. Советников зовём редко, на развилках. Каждое исследование идёт по одному кругу: вопрос и гипотеза, задание, код и опыт, независимое ревью, исправления, вливание, пересчёт чисел. За сутки — 45 поручений агентам, и все 11 ревью вернули работу на доработку: ни одна не прошла с первого раза. Агенты работали часами без участия человека, но направление, роли и приоритеты задавал человек.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одно исследование, каждый значок — один шаг: обзор исследователя, работа инженера или ревью. Галочка — работа принята. В первых двух исследованиях ревью нашло 7 ошибок, и два вывода пришлось перевернуть. В обзорах литературы проверка нашла две выдуманные ссылки. Робот с языковой моделью выполнил миссию, заданную словами, 6 из 6; робот с простым правилом — ни разу. Ожидание ответа модели стоило 73 очка; если робот едет, пока модель думает, возвращается 42 — эту работу ревью вернуло, она ещё не принята. В Gazebo робот вернулся на базу в прогонах 8 из 9, после правки — 7 из 7. Разбор потерь дал плюс шесть очков на трудном уровне. Не всё закончилось выигрышем: один опыт его не показал, новые схемы агента оказались не лучше нынешней, одну работу ревью вернуло, и мы её отложили. Качество держится на устройстве процесса, а не на вере в один ответ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ИИ-исследователь на роботе-платформе · DID Hack 2026 · работа с ИИ-агентами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1.png"/><Relationship Id="rId4" Type="http://schemas.openxmlformats.org/officeDocument/2006/relationships/image" Target="../media/image-1-4.png"/><Relationship Id="rId5" Type="http://schemas.openxmlformats.org/officeDocument/2006/relationships/image" Target="../media/image-1-1.png"/><Relationship Id="rId6" Type="http://schemas.openxmlformats.org/officeDocument/2006/relationships/image" Target="../media/image-1-4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1.png"/><Relationship Id="rId5" Type="http://schemas.openxmlformats.org/officeDocument/2006/relationships/image" Target="../media/image-2-3.png"/><Relationship Id="rId6" Type="http://schemas.openxmlformats.org/officeDocument/2006/relationships/image" Target="../media/image-2-2.png"/><Relationship Id="rId7" Type="http://schemas.openxmlformats.org/officeDocument/2006/relationships/image" Target="../media/image-2-3.png"/><Relationship Id="rId8" Type="http://schemas.openxmlformats.org/officeDocument/2006/relationships/image" Target="../media/image-2-2.png"/><Relationship Id="rId9" Type="http://schemas.openxmlformats.org/officeDocument/2006/relationships/image" Target="../media/image-2-3.png"/><Relationship Id="rId10" Type="http://schemas.openxmlformats.org/officeDocument/2006/relationships/image" Target="../media/image-2-2.png"/><Relationship Id="rId11" Type="http://schemas.openxmlformats.org/officeDocument/2006/relationships/image" Target="../media/image-2-3.png"/><Relationship Id="rId12" Type="http://schemas.openxmlformats.org/officeDocument/2006/relationships/image" Target="../media/image-2-2.png"/><Relationship Id="rId13" Type="http://schemas.openxmlformats.org/officeDocument/2006/relationships/image" Target="../media/image-2-1.png"/><Relationship Id="rId14" Type="http://schemas.openxmlformats.org/officeDocument/2006/relationships/image" Target="../media/image-2-1.png"/><Relationship Id="rId15" Type="http://schemas.openxmlformats.org/officeDocument/2006/relationships/image" Target="../media/image-2-1.png"/><Relationship Id="rId16" Type="http://schemas.openxmlformats.org/officeDocument/2006/relationships/image" Target="../media/image-2-1.png"/><Relationship Id="rId17" Type="http://schemas.openxmlformats.org/officeDocument/2006/relationships/image" Target="../media/image-2-2.png"/><Relationship Id="rId18" Type="http://schemas.openxmlformats.org/officeDocument/2006/relationships/image" Target="../media/image-2-1.png"/><Relationship Id="rId19" Type="http://schemas.openxmlformats.org/officeDocument/2006/relationships/image" Target="../media/image-2-2.png"/><Relationship Id="rId20" Type="http://schemas.openxmlformats.org/officeDocument/2006/relationships/image" Target="../media/image-2-3.png"/><Relationship Id="rId21" Type="http://schemas.openxmlformats.org/officeDocument/2006/relationships/image" Target="../media/image-2-2.png"/><Relationship Id="rId22" Type="http://schemas.openxmlformats.org/officeDocument/2006/relationships/image" Target="../media/image-2-1.png"/><Relationship Id="rId23" Type="http://schemas.openxmlformats.org/officeDocument/2006/relationships/image" Target="../media/image-2-2.png"/><Relationship Id="rId24" Type="http://schemas.openxmlformats.org/officeDocument/2006/relationships/image" Target="../media/image-2-2.png"/><Relationship Id="rId25" Type="http://schemas.openxmlformats.org/officeDocument/2006/relationships/image" Target="../media/image-2-2.png"/><Relationship Id="rId26" Type="http://schemas.openxmlformats.org/officeDocument/2006/relationships/image" Target="../media/image-2-3.png"/><Relationship Id="rId27" Type="http://schemas.openxmlformats.org/officeDocument/2006/relationships/image" Target="../media/image-2-2.png"/><Relationship Id="rId28" Type="http://schemas.openxmlformats.org/officeDocument/2006/relationships/image" Target="../media/image-2-3.png"/><Relationship Id="rId29" Type="http://schemas.openxmlformats.org/officeDocument/2006/relationships/image" Target="../media/image-2-2.png"/><Relationship Id="rId30" Type="http://schemas.openxmlformats.org/officeDocument/2006/relationships/image" Target="../media/image-2-3.png"/><Relationship Id="rId31" Type="http://schemas.openxmlformats.org/officeDocument/2006/relationships/image" Target="../media/image-2-2.png"/><Relationship Id="rId32" Type="http://schemas.openxmlformats.org/officeDocument/2006/relationships/image" Target="../media/image-2-3.png"/><Relationship Id="rId33" Type="http://schemas.openxmlformats.org/officeDocument/2006/relationships/image" Target="../media/image-2-2.png"/><Relationship Id="rId34" Type="http://schemas.openxmlformats.org/officeDocument/2006/relationships/image" Target="../media/image-2-2.png"/><Relationship Id="rId35" Type="http://schemas.openxmlformats.org/officeDocument/2006/relationships/image" Target="../media/image-2-3.png"/><Relationship Id="rId36" Type="http://schemas.openxmlformats.org/officeDocument/2006/relationships/image" Target="../media/image-2-2.png"/><Relationship Id="rId37" Type="http://schemas.openxmlformats.org/officeDocument/2006/relationships/image" Target="../media/image-2-2.png"/><Relationship Id="rId38" Type="http://schemas.openxmlformats.org/officeDocument/2006/relationships/image" Target="../media/image-2-3.png"/><Relationship Id="rId39" Type="http://schemas.openxmlformats.org/officeDocument/2006/relationships/image" Target="../media/image-2-2.png"/><Relationship Id="rId40" Type="http://schemas.openxmlformats.org/officeDocument/2006/relationships/image" Target="../media/image-2-2.png"/><Relationship Id="rId41" Type="http://schemas.openxmlformats.org/officeDocument/2006/relationships/image" Target="../media/image-2-3.png"/><Relationship Id="rId42" Type="http://schemas.openxmlformats.org/officeDocument/2006/relationships/image" Target="../media/image-2-2.png"/><Relationship Id="rId43" Type="http://schemas.openxmlformats.org/officeDocument/2006/relationships/image" Target="../media/image-2-2.png"/><Relationship Id="rId44" Type="http://schemas.openxmlformats.org/officeDocument/2006/relationships/image" Target="../media/image-2-3.png"/><Relationship Id="rId45" Type="http://schemas.openxmlformats.org/officeDocument/2006/relationships/image" Target="../media/image-2-1.png"/><Relationship Id="rId46" Type="http://schemas.openxmlformats.org/officeDocument/2006/relationships/image" Target="../media/image-2-2.png"/><Relationship Id="rId47" Type="http://schemas.openxmlformats.org/officeDocument/2006/relationships/image" Target="../media/image-2-3.png"/><Relationship Id="rId48" Type="http://schemas.openxmlformats.org/officeDocument/2006/relationships/image" Target="../media/image-2-2.png"/><Relationship Id="rId49" Type="http://schemas.openxmlformats.org/officeDocument/2006/relationships/image" Target="../media/image-2-3.png"/><Relationship Id="rId50" Type="http://schemas.openxmlformats.org/officeDocument/2006/relationships/image" Target="../media/image-2-2.png"/><Relationship Id="rId51" Type="http://schemas.openxmlformats.org/officeDocument/2006/relationships/slideLayout" Target="../slideLayouts/slideLayout2.xml"/><Relationship Id="rId5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Человек руководит лабораторией, агенты в ней работают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Агенты работали часами без участия человека, но направление, роли и приоритеты задавал человек</a:t>
            </a:r>
            <a:endParaRPr lang="en-US" sz="1600" dirty="0"/>
          </a:p>
        </p:txBody>
      </p:sp>
      <p:sp>
        <p:nvSpPr>
          <p:cNvPr id="5" name="human-card"/>
          <p:cNvSpPr/>
          <p:nvPr/>
        </p:nvSpPr>
        <p:spPr>
          <a:xfrm>
            <a:off x="548640" y="1691640"/>
            <a:ext cx="2103120" cy="2432304"/>
          </a:xfrm>
          <a:prstGeom prst="roundRect">
            <a:avLst>
              <a:gd name="adj" fmla="val 3478"/>
            </a:avLst>
          </a:prstGeom>
          <a:solidFill>
            <a:schemeClr val="tx2"/>
          </a:solidFill>
          <a:ln/>
        </p:spPr>
      </p:sp>
      <p:sp>
        <p:nvSpPr>
          <p:cNvPr id="6" name="human-head"/>
          <p:cNvSpPr txBox="1"/>
          <p:nvPr/>
        </p:nvSpPr>
        <p:spPr>
          <a:xfrm>
            <a:off x="749808" y="1837944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Человек</a:t>
            </a:r>
            <a:endParaRPr lang="en-US" sz="1800" dirty="0"/>
          </a:p>
        </p:txBody>
      </p:sp>
      <p:sp>
        <p:nvSpPr>
          <p:cNvPr id="7" name="human-list"/>
          <p:cNvSpPr txBox="1"/>
          <p:nvPr/>
        </p:nvSpPr>
        <p:spPr>
          <a:xfrm>
            <a:off x="749808" y="224028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цель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роли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ограничения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решения на развилках</a:t>
            </a:r>
            <a:endParaRPr lang="en-US" sz="1600" dirty="0"/>
          </a:p>
        </p:txBody>
      </p:sp>
      <p:sp>
        <p:nvSpPr>
          <p:cNvPr id="8" name="human-caption"/>
          <p:cNvSpPr txBox="1"/>
          <p:nvPr/>
        </p:nvSpPr>
        <p:spPr>
          <a:xfrm>
            <a:off x="749808" y="3648456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около 40 сообщений за сутки</a:t>
            </a:r>
            <a:endParaRPr lang="en-US" sz="1200" dirty="0"/>
          </a:p>
        </p:txBody>
      </p:sp>
      <p:sp>
        <p:nvSpPr>
          <p:cNvPr id="9" name="arrow-human-lead"/>
          <p:cNvSpPr/>
          <p:nvPr/>
        </p:nvSpPr>
        <p:spPr>
          <a:xfrm>
            <a:off x="2724912" y="2907792"/>
            <a:ext cx="219456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lead-card"/>
          <p:cNvSpPr/>
          <p:nvPr/>
        </p:nvSpPr>
        <p:spPr>
          <a:xfrm>
            <a:off x="3017520" y="1691640"/>
            <a:ext cx="2286000" cy="2432304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/>
        </p:spPr>
      </p:sp>
      <p:sp>
        <p:nvSpPr>
          <p:cNvPr id="11" name="lead-head"/>
          <p:cNvSpPr txBox="1"/>
          <p:nvPr/>
        </p:nvSpPr>
        <p:spPr>
          <a:xfrm>
            <a:off x="3218688" y="1837944"/>
            <a:ext cx="1883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Ведущий агент</a:t>
            </a:r>
            <a:endParaRPr lang="en-US" sz="1800" dirty="0"/>
          </a:p>
        </p:txBody>
      </p:sp>
      <p:sp>
        <p:nvSpPr>
          <p:cNvPr id="12" name="lead-list"/>
          <p:cNvSpPr txBox="1"/>
          <p:nvPr/>
        </p:nvSpPr>
        <p:spPr>
          <a:xfrm>
            <a:off x="3218688" y="224028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ведёт план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пишет задания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сводит ветки</a:t>
            </a:r>
            <a:endParaRPr lang="en-US" sz="16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пересчитывает числа</a:t>
            </a:r>
            <a:endParaRPr lang="en-US" sz="1600" dirty="0"/>
          </a:p>
        </p:txBody>
      </p:sp>
      <p:pic>
        <p:nvPicPr>
          <p:cNvPr id="13" name="lead-logo" descr="/Users/a/MAI/DID/presentation/assets/logos/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822192"/>
            <a:ext cx="173736" cy="173736"/>
          </a:xfrm>
          <a:prstGeom prst="rect">
            <a:avLst/>
          </a:prstGeom>
        </p:spPr>
      </p:pic>
      <p:sp>
        <p:nvSpPr>
          <p:cNvPr id="14" name="lead-model"/>
          <p:cNvSpPr txBox="1"/>
          <p:nvPr/>
        </p:nvSpPr>
        <p:spPr>
          <a:xfrm>
            <a:off x="3474720" y="3739896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15" name="arrow-lead-roles"/>
          <p:cNvSpPr/>
          <p:nvPr/>
        </p:nvSpPr>
        <p:spPr>
          <a:xfrm>
            <a:off x="5376672" y="2907792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role-1-card"/>
          <p:cNvSpPr/>
          <p:nvPr/>
        </p:nvSpPr>
        <p:spPr>
          <a:xfrm>
            <a:off x="566928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17" name="role-1-head"/>
          <p:cNvSpPr txBox="1"/>
          <p:nvPr/>
        </p:nvSpPr>
        <p:spPr>
          <a:xfrm>
            <a:off x="585216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Исследователи</a:t>
            </a:r>
            <a:endParaRPr lang="en-US" sz="1600" dirty="0"/>
          </a:p>
        </p:txBody>
      </p:sp>
      <p:sp>
        <p:nvSpPr>
          <p:cNvPr id="18" name="role-1-body"/>
          <p:cNvSpPr txBox="1"/>
          <p:nvPr/>
        </p:nvSpPr>
        <p:spPr>
          <a:xfrm>
            <a:off x="585216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обзоры литературы; кода не пишут</a:t>
            </a:r>
            <a:endParaRPr lang="en-US" sz="1600" dirty="0"/>
          </a:p>
        </p:txBody>
      </p:sp>
      <p:pic>
        <p:nvPicPr>
          <p:cNvPr id="19" name="role-1-logo-1" descr="/Users/a/MAI/DID/presentation/assets/logos/ge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96896"/>
            <a:ext cx="173736" cy="173736"/>
          </a:xfrm>
          <a:prstGeom prst="rect">
            <a:avLst/>
          </a:prstGeom>
        </p:spPr>
      </p:pic>
      <p:sp>
        <p:nvSpPr>
          <p:cNvPr id="20" name="role-1-model"/>
          <p:cNvSpPr txBox="1"/>
          <p:nvPr/>
        </p:nvSpPr>
        <p:spPr>
          <a:xfrm>
            <a:off x="610819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Gemini 3.8 Flash</a:t>
            </a:r>
            <a:endParaRPr lang="en-US" sz="1200" dirty="0"/>
          </a:p>
        </p:txBody>
      </p:sp>
      <p:sp>
        <p:nvSpPr>
          <p:cNvPr id="21" name="role-2-card"/>
          <p:cNvSpPr/>
          <p:nvPr/>
        </p:nvSpPr>
        <p:spPr>
          <a:xfrm>
            <a:off x="8709660" y="1691640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2" name="role-2-head"/>
          <p:cNvSpPr txBox="1"/>
          <p:nvPr/>
        </p:nvSpPr>
        <p:spPr>
          <a:xfrm>
            <a:off x="8892540" y="1801368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Инженеры</a:t>
            </a:r>
            <a:endParaRPr lang="en-US" sz="1600" dirty="0"/>
          </a:p>
        </p:txBody>
      </p:sp>
      <p:sp>
        <p:nvSpPr>
          <p:cNvPr id="23" name="role-2-body"/>
          <p:cNvSpPr txBox="1"/>
          <p:nvPr/>
        </p:nvSpPr>
        <p:spPr>
          <a:xfrm>
            <a:off x="8892540" y="2084832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код, опыт, отчёт — каждый в своей копии кода</a:t>
            </a:r>
            <a:endParaRPr lang="en-US" sz="1600" dirty="0"/>
          </a:p>
        </p:txBody>
      </p:sp>
      <p:pic>
        <p:nvPicPr>
          <p:cNvPr id="24" name="role-2-logo-1" descr="/Users/a/MAI/DID/presentation/assets/logos/clau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2540" y="2596896"/>
            <a:ext cx="173736" cy="173736"/>
          </a:xfrm>
          <a:prstGeom prst="rect">
            <a:avLst/>
          </a:prstGeom>
        </p:spPr>
      </p:pic>
      <p:sp>
        <p:nvSpPr>
          <p:cNvPr id="25" name="role-2-model"/>
          <p:cNvSpPr txBox="1"/>
          <p:nvPr/>
        </p:nvSpPr>
        <p:spPr>
          <a:xfrm>
            <a:off x="9148572" y="2587752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Opus 5.5</a:t>
            </a:r>
            <a:endParaRPr lang="en-US" sz="1200" dirty="0"/>
          </a:p>
        </p:txBody>
      </p:sp>
      <p:sp>
        <p:nvSpPr>
          <p:cNvPr id="26" name="role-3-card"/>
          <p:cNvSpPr/>
          <p:nvPr/>
        </p:nvSpPr>
        <p:spPr>
          <a:xfrm>
            <a:off x="566928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27" name="role-3-head"/>
          <p:cNvSpPr txBox="1"/>
          <p:nvPr/>
        </p:nvSpPr>
        <p:spPr>
          <a:xfrm>
            <a:off x="585216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Ревьюер (проверяющий)</a:t>
            </a:r>
            <a:endParaRPr lang="en-US" sz="1600" dirty="0"/>
          </a:p>
        </p:txBody>
      </p:sp>
      <p:sp>
        <p:nvSpPr>
          <p:cNvPr id="28" name="role-3-body"/>
          <p:cNvSpPr txBox="1"/>
          <p:nvPr/>
        </p:nvSpPr>
        <p:spPr>
          <a:xfrm>
            <a:off x="585216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читает разницу, ищет ошибки, ничего не меняет</a:t>
            </a:r>
            <a:endParaRPr lang="en-US" sz="1600" dirty="0"/>
          </a:p>
        </p:txBody>
      </p:sp>
      <p:pic>
        <p:nvPicPr>
          <p:cNvPr id="29" name="role-3-logo-1" descr="/Users/a/MAI/DID/presentation/assets/logos/opena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3867912"/>
            <a:ext cx="173736" cy="173736"/>
          </a:xfrm>
          <a:prstGeom prst="rect">
            <a:avLst/>
          </a:prstGeom>
        </p:spPr>
      </p:pic>
      <p:sp>
        <p:nvSpPr>
          <p:cNvPr id="30" name="role-3-model"/>
          <p:cNvSpPr txBox="1"/>
          <p:nvPr/>
        </p:nvSpPr>
        <p:spPr>
          <a:xfrm>
            <a:off x="6108192" y="3858768"/>
            <a:ext cx="23088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GPT-6.1 Sol</a:t>
            </a:r>
            <a:endParaRPr lang="en-US" sz="1200" dirty="0"/>
          </a:p>
        </p:txBody>
      </p:sp>
      <p:sp>
        <p:nvSpPr>
          <p:cNvPr id="31" name="role-4-card"/>
          <p:cNvSpPr/>
          <p:nvPr/>
        </p:nvSpPr>
        <p:spPr>
          <a:xfrm>
            <a:off x="8709660" y="2962656"/>
            <a:ext cx="2930652" cy="1161288"/>
          </a:xfrm>
          <a:prstGeom prst="roundRect">
            <a:avLst>
              <a:gd name="adj" fmla="val 6299"/>
            </a:avLst>
          </a:prstGeom>
          <a:solidFill>
            <a:schemeClr val="bg2"/>
          </a:solidFill>
          <a:ln/>
        </p:spPr>
      </p:sp>
      <p:sp>
        <p:nvSpPr>
          <p:cNvPr id="32" name="role-4-head"/>
          <p:cNvSpPr txBox="1"/>
          <p:nvPr/>
        </p:nvSpPr>
        <p:spPr>
          <a:xfrm>
            <a:off x="8892540" y="3072384"/>
            <a:ext cx="2564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Советники</a:t>
            </a:r>
            <a:endParaRPr lang="en-US" sz="1600" dirty="0"/>
          </a:p>
        </p:txBody>
      </p:sp>
      <p:sp>
        <p:nvSpPr>
          <p:cNvPr id="33" name="role-4-body"/>
          <p:cNvSpPr txBox="1"/>
          <p:nvPr/>
        </p:nvSpPr>
        <p:spPr>
          <a:xfrm>
            <a:off x="8892540" y="3355848"/>
            <a:ext cx="26106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редко, только на развилках</a:t>
            </a:r>
            <a:endParaRPr lang="en-US" sz="1600" dirty="0"/>
          </a:p>
        </p:txBody>
      </p:sp>
      <p:pic>
        <p:nvPicPr>
          <p:cNvPr id="34" name="role-4-logo-1" descr="/Users/a/MAI/DID/presentation/assets/logos/claud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92540" y="3867912"/>
            <a:ext cx="173736" cy="173736"/>
          </a:xfrm>
          <a:prstGeom prst="rect">
            <a:avLst/>
          </a:prstGeom>
        </p:spPr>
      </p:pic>
      <p:pic>
        <p:nvPicPr>
          <p:cNvPr id="35" name="role-4-logo-2" descr="/Users/a/MAI/DID/presentation/assets/logos/opena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1140" y="3867912"/>
            <a:ext cx="173736" cy="173736"/>
          </a:xfrm>
          <a:prstGeom prst="rect">
            <a:avLst/>
          </a:prstGeom>
        </p:spPr>
      </p:pic>
      <p:sp>
        <p:nvSpPr>
          <p:cNvPr id="36" name="role-4-model"/>
          <p:cNvSpPr txBox="1"/>
          <p:nvPr/>
        </p:nvSpPr>
        <p:spPr>
          <a:xfrm>
            <a:off x="9377172" y="3858768"/>
            <a:ext cx="20802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Fable 5.1 и GPT-6 Astra</a:t>
            </a:r>
            <a:endParaRPr lang="en-US" sz="1200" dirty="0"/>
          </a:p>
        </p:txBody>
      </p:sp>
      <p:sp>
        <p:nvSpPr>
          <p:cNvPr id="37" name="cycle-label"/>
          <p:cNvSpPr txBox="1"/>
          <p:nvPr/>
        </p:nvSpPr>
        <p:spPr>
          <a:xfrm>
            <a:off x="548640" y="4215384"/>
            <a:ext cx="11091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Цикл одного исследования</a:t>
            </a:r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   ветка — отдельная копия кода; ревью — независимая проверка кода другой моделью</a:t>
            </a:r>
            <a:endParaRPr lang="en-US" sz="1300" dirty="0"/>
          </a:p>
        </p:txBody>
      </p:sp>
      <p:sp>
        <p:nvSpPr>
          <p:cNvPr id="38" name="cycle-1-card"/>
          <p:cNvSpPr/>
          <p:nvPr/>
        </p:nvSpPr>
        <p:spPr>
          <a:xfrm>
            <a:off x="548640" y="4507992"/>
            <a:ext cx="129667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39" name="cycle-1-text"/>
          <p:cNvSpPr txBox="1"/>
          <p:nvPr/>
        </p:nvSpPr>
        <p:spPr>
          <a:xfrm>
            <a:off x="548640" y="4507992"/>
            <a:ext cx="12966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вопрос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 гипотеза</a:t>
            </a:r>
            <a:endParaRPr lang="en-US" sz="1600" dirty="0"/>
          </a:p>
        </p:txBody>
      </p:sp>
      <p:sp>
        <p:nvSpPr>
          <p:cNvPr id="40" name="cycle-1-arrow"/>
          <p:cNvSpPr/>
          <p:nvPr/>
        </p:nvSpPr>
        <p:spPr>
          <a:xfrm>
            <a:off x="187274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cycle-2-card"/>
          <p:cNvSpPr/>
          <p:nvPr/>
        </p:nvSpPr>
        <p:spPr>
          <a:xfrm>
            <a:off x="2064771" y="4507992"/>
            <a:ext cx="997442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2" name="cycle-2-text"/>
          <p:cNvSpPr txBox="1"/>
          <p:nvPr/>
        </p:nvSpPr>
        <p:spPr>
          <a:xfrm>
            <a:off x="2064771" y="4507992"/>
            <a:ext cx="9974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задание</a:t>
            </a:r>
            <a:endParaRPr lang="en-US" sz="1600" dirty="0"/>
          </a:p>
        </p:txBody>
      </p:sp>
      <p:sp>
        <p:nvSpPr>
          <p:cNvPr id="43" name="cycle-2-arrow"/>
          <p:cNvSpPr/>
          <p:nvPr/>
        </p:nvSpPr>
        <p:spPr>
          <a:xfrm>
            <a:off x="308964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4" name="cycle-3-card"/>
          <p:cNvSpPr/>
          <p:nvPr/>
        </p:nvSpPr>
        <p:spPr>
          <a:xfrm>
            <a:off x="3281670" y="4507992"/>
            <a:ext cx="1994885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45" name="cycle-3-text"/>
          <p:cNvSpPr txBox="1"/>
          <p:nvPr/>
        </p:nvSpPr>
        <p:spPr>
          <a:xfrm>
            <a:off x="3281670" y="4507992"/>
            <a:ext cx="199488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код и опыт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отдельной ветке</a:t>
            </a:r>
            <a:endParaRPr lang="en-US" sz="1600" dirty="0"/>
          </a:p>
        </p:txBody>
      </p:sp>
      <p:sp>
        <p:nvSpPr>
          <p:cNvPr id="46" name="cycle-3-arrow"/>
          <p:cNvSpPr/>
          <p:nvPr/>
        </p:nvSpPr>
        <p:spPr>
          <a:xfrm>
            <a:off x="5303987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7" name="cycle-4-card"/>
          <p:cNvSpPr/>
          <p:nvPr/>
        </p:nvSpPr>
        <p:spPr>
          <a:xfrm>
            <a:off x="5496011" y="4507992"/>
            <a:ext cx="1595908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48" name="cycle-4-text"/>
          <p:cNvSpPr txBox="1"/>
          <p:nvPr/>
        </p:nvSpPr>
        <p:spPr>
          <a:xfrm>
            <a:off x="5496011" y="4507992"/>
            <a:ext cx="159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независимое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ревью</a:t>
            </a:r>
            <a:endParaRPr lang="en-US" sz="1600" dirty="0"/>
          </a:p>
        </p:txBody>
      </p:sp>
      <p:sp>
        <p:nvSpPr>
          <p:cNvPr id="49" name="cycle-4-arrow"/>
          <p:cNvSpPr/>
          <p:nvPr/>
        </p:nvSpPr>
        <p:spPr>
          <a:xfrm>
            <a:off x="7119350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0" name="cycle-5-card"/>
          <p:cNvSpPr/>
          <p:nvPr/>
        </p:nvSpPr>
        <p:spPr>
          <a:xfrm>
            <a:off x="7311374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1" name="cycle-5-text"/>
          <p:cNvSpPr txBox="1"/>
          <p:nvPr/>
        </p:nvSpPr>
        <p:spPr>
          <a:xfrm>
            <a:off x="7311374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исправления</a:t>
            </a:r>
            <a:endParaRPr lang="en-US" sz="1600" dirty="0"/>
          </a:p>
        </p:txBody>
      </p:sp>
      <p:sp>
        <p:nvSpPr>
          <p:cNvPr id="52" name="cycle-5-arrow"/>
          <p:cNvSpPr/>
          <p:nvPr/>
        </p:nvSpPr>
        <p:spPr>
          <a:xfrm>
            <a:off x="8735226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3" name="cycle-6-card"/>
          <p:cNvSpPr/>
          <p:nvPr/>
        </p:nvSpPr>
        <p:spPr>
          <a:xfrm>
            <a:off x="8927250" y="4507992"/>
            <a:ext cx="1396419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4" name="cycle-6-text"/>
          <p:cNvSpPr txBox="1"/>
          <p:nvPr/>
        </p:nvSpPr>
        <p:spPr>
          <a:xfrm>
            <a:off x="8927250" y="4507992"/>
            <a:ext cx="139641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вливание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в общий код</a:t>
            </a:r>
            <a:endParaRPr lang="en-US" sz="1600" dirty="0"/>
          </a:p>
        </p:txBody>
      </p:sp>
      <p:sp>
        <p:nvSpPr>
          <p:cNvPr id="55" name="cycle-6-arrow"/>
          <p:cNvSpPr/>
          <p:nvPr/>
        </p:nvSpPr>
        <p:spPr>
          <a:xfrm>
            <a:off x="10351101" y="4809744"/>
            <a:ext cx="16459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6" name="cycle-7-card"/>
          <p:cNvSpPr/>
          <p:nvPr/>
        </p:nvSpPr>
        <p:spPr>
          <a:xfrm>
            <a:off x="10543125" y="4507992"/>
            <a:ext cx="1097187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/>
        </p:spPr>
      </p:sp>
      <p:sp>
        <p:nvSpPr>
          <p:cNvPr id="57" name="cycle-7-text"/>
          <p:cNvSpPr txBox="1"/>
          <p:nvPr/>
        </p:nvSpPr>
        <p:spPr>
          <a:xfrm>
            <a:off x="10543125" y="4507992"/>
            <a:ext cx="109718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пересчёт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чисел</a:t>
            </a:r>
            <a:endParaRPr lang="en-US" sz="1600" dirty="0"/>
          </a:p>
        </p:txBody>
      </p:sp>
      <p:sp>
        <p:nvSpPr>
          <p:cNvPr id="58" name="num-1-card"/>
          <p:cNvSpPr/>
          <p:nvPr/>
        </p:nvSpPr>
        <p:spPr>
          <a:xfrm>
            <a:off x="548640" y="5239512"/>
            <a:ext cx="201168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59" name="num-1-value"/>
          <p:cNvSpPr txBox="1"/>
          <p:nvPr/>
        </p:nvSpPr>
        <p:spPr>
          <a:xfrm>
            <a:off x="749808" y="5294376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24 часа</a:t>
            </a:r>
            <a:endParaRPr lang="en-US" sz="2800" dirty="0"/>
          </a:p>
        </p:txBody>
      </p:sp>
      <p:sp>
        <p:nvSpPr>
          <p:cNvPr id="60" name="num-1-label"/>
          <p:cNvSpPr txBox="1"/>
          <p:nvPr/>
        </p:nvSpPr>
        <p:spPr>
          <a:xfrm>
            <a:off x="749808" y="5724144"/>
            <a:ext cx="16824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одна непрерывная сессия</a:t>
            </a:r>
            <a:endParaRPr lang="en-US" sz="1300" dirty="0"/>
          </a:p>
        </p:txBody>
      </p:sp>
      <p:sp>
        <p:nvSpPr>
          <p:cNvPr id="61" name="num-2-card"/>
          <p:cNvSpPr/>
          <p:nvPr/>
        </p:nvSpPr>
        <p:spPr>
          <a:xfrm>
            <a:off x="2697480" y="5239512"/>
            <a:ext cx="18288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2" name="num-2-value"/>
          <p:cNvSpPr txBox="1"/>
          <p:nvPr/>
        </p:nvSpPr>
        <p:spPr>
          <a:xfrm>
            <a:off x="2898648" y="529437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</a:t>
            </a:r>
            <a:endParaRPr lang="en-US" sz="2800" dirty="0"/>
          </a:p>
        </p:txBody>
      </p:sp>
      <p:sp>
        <p:nvSpPr>
          <p:cNvPr id="63" name="num-2-label"/>
          <p:cNvSpPr txBox="1"/>
          <p:nvPr/>
        </p:nvSpPr>
        <p:spPr>
          <a:xfrm>
            <a:off x="2898648" y="5724144"/>
            <a:ext cx="14996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поручений агентам</a:t>
            </a:r>
            <a:endParaRPr lang="en-US" sz="1300" dirty="0"/>
          </a:p>
        </p:txBody>
      </p:sp>
      <p:sp>
        <p:nvSpPr>
          <p:cNvPr id="64" name="num-3-card"/>
          <p:cNvSpPr/>
          <p:nvPr/>
        </p:nvSpPr>
        <p:spPr>
          <a:xfrm>
            <a:off x="4663440" y="5239512"/>
            <a:ext cx="2514600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5" name="num-3-value"/>
          <p:cNvSpPr txBox="1"/>
          <p:nvPr/>
        </p:nvSpPr>
        <p:spPr>
          <a:xfrm>
            <a:off x="4864608" y="5294376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11 из 11</a:t>
            </a:r>
            <a:endParaRPr lang="en-US" sz="2800" dirty="0"/>
          </a:p>
        </p:txBody>
      </p:sp>
      <p:sp>
        <p:nvSpPr>
          <p:cNvPr id="66" name="num-3-label"/>
          <p:cNvSpPr txBox="1"/>
          <p:nvPr/>
        </p:nvSpPr>
        <p:spPr>
          <a:xfrm>
            <a:off x="4864608" y="5724144"/>
            <a:ext cx="21854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ревью вернули работу на доработку</a:t>
            </a:r>
            <a:endParaRPr lang="en-US" sz="1300" dirty="0"/>
          </a:p>
        </p:txBody>
      </p:sp>
      <p:sp>
        <p:nvSpPr>
          <p:cNvPr id="67" name="num-4-card"/>
          <p:cNvSpPr/>
          <p:nvPr/>
        </p:nvSpPr>
        <p:spPr>
          <a:xfrm>
            <a:off x="7315200" y="5239512"/>
            <a:ext cx="4325112" cy="978408"/>
          </a:xfrm>
          <a:prstGeom prst="roundRect">
            <a:avLst>
              <a:gd name="adj" fmla="val 7477"/>
            </a:avLst>
          </a:prstGeom>
          <a:solidFill>
            <a:schemeClr val="bg2"/>
          </a:solidFill>
          <a:ln/>
        </p:spPr>
      </p:sp>
      <p:sp>
        <p:nvSpPr>
          <p:cNvPr id="68" name="num-4-1-value"/>
          <p:cNvSpPr txBox="1"/>
          <p:nvPr/>
        </p:nvSpPr>
        <p:spPr>
          <a:xfrm>
            <a:off x="7516368" y="529437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104</a:t>
            </a:r>
            <a:endParaRPr lang="en-US" sz="2800" dirty="0"/>
          </a:p>
        </p:txBody>
      </p:sp>
      <p:sp>
        <p:nvSpPr>
          <p:cNvPr id="69" name="num-4-1-label"/>
          <p:cNvSpPr txBox="1"/>
          <p:nvPr/>
        </p:nvSpPr>
        <p:spPr>
          <a:xfrm>
            <a:off x="7516368" y="5724144"/>
            <a:ext cx="11887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правки кода (коммита)</a:t>
            </a:r>
            <a:endParaRPr lang="en-US" sz="1300" dirty="0"/>
          </a:p>
        </p:txBody>
      </p:sp>
      <p:sp>
        <p:nvSpPr>
          <p:cNvPr id="70" name="num-4-2-value"/>
          <p:cNvSpPr txBox="1"/>
          <p:nvPr/>
        </p:nvSpPr>
        <p:spPr>
          <a:xfrm>
            <a:off x="8796528" y="5294376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600+</a:t>
            </a:r>
            <a:endParaRPr lang="en-US" sz="2800" dirty="0"/>
          </a:p>
        </p:txBody>
      </p:sp>
      <p:sp>
        <p:nvSpPr>
          <p:cNvPr id="71" name="num-4-2-label"/>
          <p:cNvSpPr txBox="1"/>
          <p:nvPr/>
        </p:nvSpPr>
        <p:spPr>
          <a:xfrm>
            <a:off x="8796528" y="5724144"/>
            <a:ext cx="14173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автоматических проверок</a:t>
            </a:r>
            <a:endParaRPr lang="en-US" sz="1300" dirty="0"/>
          </a:p>
        </p:txBody>
      </p:sp>
      <p:sp>
        <p:nvSpPr>
          <p:cNvPr id="72" name="num-4-3-value"/>
          <p:cNvSpPr txBox="1"/>
          <p:nvPr/>
        </p:nvSpPr>
        <p:spPr>
          <a:xfrm>
            <a:off x="10305288" y="5294376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7 500</a:t>
            </a:r>
            <a:endParaRPr lang="en-US" sz="2800" dirty="0"/>
          </a:p>
        </p:txBody>
      </p:sp>
      <p:sp>
        <p:nvSpPr>
          <p:cNvPr id="73" name="num-4-3-label"/>
          <p:cNvSpPr txBox="1"/>
          <p:nvPr/>
        </p:nvSpPr>
        <p:spPr>
          <a:xfrm>
            <a:off x="10305288" y="5724144"/>
            <a:ext cx="10972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прогонов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Как прошли исследования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0"/>
            <a:ext cx="11091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Каждая строка — одно исследование, каждый значок — один шаг: какая модель работала и чем закончилось</a:t>
            </a:r>
            <a:endParaRPr lang="en-US" sz="1600" dirty="0"/>
          </a:p>
        </p:txBody>
      </p:sp>
      <p:sp>
        <p:nvSpPr>
          <p:cNvPr id="5" name="legend-1-chip-tile"/>
          <p:cNvSpPr/>
          <p:nvPr/>
        </p:nvSpPr>
        <p:spPr>
          <a:xfrm>
            <a:off x="548640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" name="legend-1-chip" descr="/Users/a/MAI/DID/presentation/assets/logos/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" y="1741932"/>
            <a:ext cx="173736" cy="173736"/>
          </a:xfrm>
          <a:prstGeom prst="rect">
            <a:avLst/>
          </a:prstGeom>
        </p:spPr>
      </p:pic>
      <p:sp>
        <p:nvSpPr>
          <p:cNvPr id="7" name="legend-1-word"/>
          <p:cNvSpPr txBox="1"/>
          <p:nvPr/>
        </p:nvSpPr>
        <p:spPr>
          <a:xfrm>
            <a:off x="877824" y="1691640"/>
            <a:ext cx="2787091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Gemini 3.8 Flash — исследователь</a:t>
            </a:r>
            <a:endParaRPr lang="en-US" sz="1300" dirty="0"/>
          </a:p>
        </p:txBody>
      </p:sp>
      <p:sp>
        <p:nvSpPr>
          <p:cNvPr id="8" name="legend-2-chip-tile"/>
          <p:cNvSpPr/>
          <p:nvPr/>
        </p:nvSpPr>
        <p:spPr>
          <a:xfrm>
            <a:off x="3866083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" name="legend-2-chip" descr="/Users/a/MAI/DID/presentation/assets/logos/clau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231" y="1741932"/>
            <a:ext cx="173736" cy="173736"/>
          </a:xfrm>
          <a:prstGeom prst="rect">
            <a:avLst/>
          </a:prstGeom>
        </p:spPr>
      </p:pic>
      <p:sp>
        <p:nvSpPr>
          <p:cNvPr id="10" name="legend-2-word"/>
          <p:cNvSpPr txBox="1"/>
          <p:nvPr/>
        </p:nvSpPr>
        <p:spPr>
          <a:xfrm>
            <a:off x="4195267" y="1691640"/>
            <a:ext cx="218541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Claude Opus 5.5 — инженер</a:t>
            </a:r>
            <a:endParaRPr lang="en-US" sz="1300" dirty="0"/>
          </a:p>
        </p:txBody>
      </p:sp>
      <p:sp>
        <p:nvSpPr>
          <p:cNvPr id="11" name="legend-3-chip-tile"/>
          <p:cNvSpPr/>
          <p:nvPr/>
        </p:nvSpPr>
        <p:spPr>
          <a:xfrm>
            <a:off x="6581851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" name="legend-3-chip" descr="/Users/a/MAI/DID/presentation/assets/logos/openai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2999" y="1741932"/>
            <a:ext cx="173736" cy="173736"/>
          </a:xfrm>
          <a:prstGeom prst="rect">
            <a:avLst/>
          </a:prstGeom>
        </p:spPr>
      </p:pic>
      <p:sp>
        <p:nvSpPr>
          <p:cNvPr id="13" name="legend-3-word"/>
          <p:cNvSpPr txBox="1"/>
          <p:nvPr/>
        </p:nvSpPr>
        <p:spPr>
          <a:xfrm>
            <a:off x="6911035" y="1691640"/>
            <a:ext cx="184160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GPT-6.1 Sol — ревьюер</a:t>
            </a:r>
            <a:endParaRPr lang="en-US" sz="1300" dirty="0"/>
          </a:p>
        </p:txBody>
      </p:sp>
      <p:sp>
        <p:nvSpPr>
          <p:cNvPr id="14" name="legend-4-chip"/>
          <p:cNvSpPr txBox="1"/>
          <p:nvPr/>
        </p:nvSpPr>
        <p:spPr>
          <a:xfrm>
            <a:off x="8953805" y="17007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" name="legend-4-word"/>
          <p:cNvSpPr txBox="1"/>
          <p:nvPr/>
        </p:nvSpPr>
        <p:spPr>
          <a:xfrm>
            <a:off x="9282989" y="1691640"/>
            <a:ext cx="123992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работа принята</a:t>
            </a:r>
            <a:endParaRPr lang="en-US" sz="1300" dirty="0"/>
          </a:p>
        </p:txBody>
      </p:sp>
      <p:sp>
        <p:nvSpPr>
          <p:cNvPr id="16" name="lane-1-rule"/>
          <p:cNvSpPr/>
          <p:nvPr/>
        </p:nvSpPr>
        <p:spPr>
          <a:xfrm>
            <a:off x="548640" y="2093976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7" name="lane-1-name"/>
          <p:cNvSpPr txBox="1"/>
          <p:nvPr/>
        </p:nvSpPr>
        <p:spPr>
          <a:xfrm>
            <a:off x="548640" y="2093976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R1, R4. Среда и гипотезы</a:t>
            </a:r>
            <a:endParaRPr lang="en-US" sz="1600" dirty="0"/>
          </a:p>
        </p:txBody>
      </p:sp>
      <p:sp>
        <p:nvSpPr>
          <p:cNvPr id="18" name="lane-1-chip-1-tile"/>
          <p:cNvSpPr/>
          <p:nvPr/>
        </p:nvSpPr>
        <p:spPr>
          <a:xfrm>
            <a:off x="425196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9" name="lane-1-chip-1" descr="/Users/a/MAI/DID/presentation/assets/logos/gemini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08" y="2160893"/>
            <a:ext cx="173736" cy="173736"/>
          </a:xfrm>
          <a:prstGeom prst="rect">
            <a:avLst/>
          </a:prstGeom>
        </p:spPr>
      </p:pic>
      <p:sp>
        <p:nvSpPr>
          <p:cNvPr id="20" name="lane-1-chip-2-tile"/>
          <p:cNvSpPr/>
          <p:nvPr/>
        </p:nvSpPr>
        <p:spPr>
          <a:xfrm>
            <a:off x="454456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1" name="lane-1-chip-2" descr="/Users/a/MAI/DID/presentation/assets/logos/opena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5716" y="2160893"/>
            <a:ext cx="173736" cy="173736"/>
          </a:xfrm>
          <a:prstGeom prst="rect">
            <a:avLst/>
          </a:prstGeom>
        </p:spPr>
      </p:pic>
      <p:sp>
        <p:nvSpPr>
          <p:cNvPr id="22" name="lane-1-chip-3-tile"/>
          <p:cNvSpPr/>
          <p:nvPr/>
        </p:nvSpPr>
        <p:spPr>
          <a:xfrm>
            <a:off x="483717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3" name="lane-1-chip-3" descr="/Users/a/MAI/DID/presentation/assets/logos/clau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8324" y="2160893"/>
            <a:ext cx="173736" cy="173736"/>
          </a:xfrm>
          <a:prstGeom prst="rect">
            <a:avLst/>
          </a:prstGeom>
        </p:spPr>
      </p:pic>
      <p:sp>
        <p:nvSpPr>
          <p:cNvPr id="24" name="lane-1-chip-4-tile"/>
          <p:cNvSpPr/>
          <p:nvPr/>
        </p:nvSpPr>
        <p:spPr>
          <a:xfrm>
            <a:off x="512978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5" name="lane-1-chip-4" descr="/Users/a/MAI/DID/presentation/assets/logos/openai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0932" y="2160893"/>
            <a:ext cx="173736" cy="173736"/>
          </a:xfrm>
          <a:prstGeom prst="rect">
            <a:avLst/>
          </a:prstGeom>
        </p:spPr>
      </p:pic>
      <p:sp>
        <p:nvSpPr>
          <p:cNvPr id="26" name="lane-1-chip-5-tile"/>
          <p:cNvSpPr/>
          <p:nvPr/>
        </p:nvSpPr>
        <p:spPr>
          <a:xfrm>
            <a:off x="542239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7" name="lane-1-chip-5" descr="/Users/a/MAI/DID/presentation/assets/logos/claud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540" y="2160893"/>
            <a:ext cx="173736" cy="173736"/>
          </a:xfrm>
          <a:prstGeom prst="rect">
            <a:avLst/>
          </a:prstGeom>
        </p:spPr>
      </p:pic>
      <p:sp>
        <p:nvSpPr>
          <p:cNvPr id="28" name="lane-1-chip-6-tile"/>
          <p:cNvSpPr/>
          <p:nvPr/>
        </p:nvSpPr>
        <p:spPr>
          <a:xfrm>
            <a:off x="5715000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29" name="lane-1-chip-6" descr="/Users/a/MAI/DID/presentation/assets/logos/openai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56148" y="2160893"/>
            <a:ext cx="173736" cy="173736"/>
          </a:xfrm>
          <a:prstGeom prst="rect">
            <a:avLst/>
          </a:prstGeom>
        </p:spPr>
      </p:pic>
      <p:sp>
        <p:nvSpPr>
          <p:cNvPr id="30" name="lane-1-chip-7-tile"/>
          <p:cNvSpPr/>
          <p:nvPr/>
        </p:nvSpPr>
        <p:spPr>
          <a:xfrm>
            <a:off x="6007608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1" name="lane-1-chip-7" descr="/Users/a/MAI/DID/presentation/assets/logos/claud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48756" y="2160893"/>
            <a:ext cx="173736" cy="173736"/>
          </a:xfrm>
          <a:prstGeom prst="rect">
            <a:avLst/>
          </a:prstGeom>
        </p:spPr>
      </p:pic>
      <p:sp>
        <p:nvSpPr>
          <p:cNvPr id="32" name="lane-1-chip-8-tile"/>
          <p:cNvSpPr/>
          <p:nvPr/>
        </p:nvSpPr>
        <p:spPr>
          <a:xfrm>
            <a:off x="6300216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3" name="lane-1-chip-8" descr="/Users/a/MAI/DID/presentation/assets/logos/openai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1364" y="2160893"/>
            <a:ext cx="173736" cy="173736"/>
          </a:xfrm>
          <a:prstGeom prst="rect">
            <a:avLst/>
          </a:prstGeom>
        </p:spPr>
      </p:pic>
      <p:sp>
        <p:nvSpPr>
          <p:cNvPr id="34" name="lane-1-chip-9-tile"/>
          <p:cNvSpPr/>
          <p:nvPr/>
        </p:nvSpPr>
        <p:spPr>
          <a:xfrm>
            <a:off x="6592824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35" name="lane-1-chip-9" descr="/Users/a/MAI/DID/presentation/assets/logos/claud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33972" y="2160893"/>
            <a:ext cx="173736" cy="173736"/>
          </a:xfrm>
          <a:prstGeom prst="rect">
            <a:avLst/>
          </a:prstGeom>
        </p:spPr>
      </p:pic>
      <p:sp>
        <p:nvSpPr>
          <p:cNvPr id="36" name="lane-1-chip-10"/>
          <p:cNvSpPr txBox="1"/>
          <p:nvPr/>
        </p:nvSpPr>
        <p:spPr>
          <a:xfrm>
            <a:off x="6885432" y="211974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37" name="lane-1-result"/>
          <p:cNvSpPr txBox="1"/>
          <p:nvPr/>
        </p:nvSpPr>
        <p:spPr>
          <a:xfrm>
            <a:off x="7315200" y="2093976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 ошибок найдено, два вывода перевёрнуты</a:t>
            </a:r>
            <a:endParaRPr lang="en-US" sz="1400" dirty="0"/>
          </a:p>
        </p:txBody>
      </p:sp>
      <p:sp>
        <p:nvSpPr>
          <p:cNvPr id="38" name="lane-2-rule"/>
          <p:cNvSpPr/>
          <p:nvPr/>
        </p:nvSpPr>
        <p:spPr>
          <a:xfrm>
            <a:off x="548640" y="2401547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39" name="lane-2-name"/>
          <p:cNvSpPr txBox="1"/>
          <p:nvPr/>
        </p:nvSpPr>
        <p:spPr>
          <a:xfrm>
            <a:off x="548640" y="2401547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K1–K4. Обзоры литературы</a:t>
            </a:r>
            <a:endParaRPr lang="en-US" sz="1600" dirty="0"/>
          </a:p>
        </p:txBody>
      </p:sp>
      <p:sp>
        <p:nvSpPr>
          <p:cNvPr id="40" name="lane-2-chip-1-tile"/>
          <p:cNvSpPr/>
          <p:nvPr/>
        </p:nvSpPr>
        <p:spPr>
          <a:xfrm>
            <a:off x="425196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1" name="lane-2-chip-1" descr="/Users/a/MAI/DID/presentation/assets/logos/gemini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3108" y="2468464"/>
            <a:ext cx="173736" cy="173736"/>
          </a:xfrm>
          <a:prstGeom prst="rect">
            <a:avLst/>
          </a:prstGeom>
        </p:spPr>
      </p:pic>
      <p:sp>
        <p:nvSpPr>
          <p:cNvPr id="42" name="lane-2-chip-2-tile"/>
          <p:cNvSpPr/>
          <p:nvPr/>
        </p:nvSpPr>
        <p:spPr>
          <a:xfrm>
            <a:off x="4544568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3" name="lane-2-chip-2" descr="/Users/a/MAI/DID/presentation/assets/logos/gemini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85716" y="2468464"/>
            <a:ext cx="173736" cy="173736"/>
          </a:xfrm>
          <a:prstGeom prst="rect">
            <a:avLst/>
          </a:prstGeom>
        </p:spPr>
      </p:pic>
      <p:sp>
        <p:nvSpPr>
          <p:cNvPr id="44" name="lane-2-chip-3-tile"/>
          <p:cNvSpPr/>
          <p:nvPr/>
        </p:nvSpPr>
        <p:spPr>
          <a:xfrm>
            <a:off x="4837176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5" name="lane-2-chip-3" descr="/Users/a/MAI/DID/presentation/assets/logos/gemini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78324" y="2468464"/>
            <a:ext cx="173736" cy="173736"/>
          </a:xfrm>
          <a:prstGeom prst="rect">
            <a:avLst/>
          </a:prstGeom>
        </p:spPr>
      </p:pic>
      <p:sp>
        <p:nvSpPr>
          <p:cNvPr id="46" name="lane-2-chip-4-tile"/>
          <p:cNvSpPr/>
          <p:nvPr/>
        </p:nvSpPr>
        <p:spPr>
          <a:xfrm>
            <a:off x="5129784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7" name="lane-2-chip-4" descr="/Users/a/MAI/DID/presentation/assets/logos/gemini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0932" y="2468464"/>
            <a:ext cx="173736" cy="173736"/>
          </a:xfrm>
          <a:prstGeom prst="rect">
            <a:avLst/>
          </a:prstGeom>
        </p:spPr>
      </p:pic>
      <p:sp>
        <p:nvSpPr>
          <p:cNvPr id="48" name="lane-2-chip-5-tile"/>
          <p:cNvSpPr/>
          <p:nvPr/>
        </p:nvSpPr>
        <p:spPr>
          <a:xfrm>
            <a:off x="5422392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49" name="lane-2-chip-5" descr="/Users/a/MAI/DID/presentation/assets/logos/claude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63540" y="2468464"/>
            <a:ext cx="173736" cy="173736"/>
          </a:xfrm>
          <a:prstGeom prst="rect">
            <a:avLst/>
          </a:prstGeom>
        </p:spPr>
      </p:pic>
      <p:sp>
        <p:nvSpPr>
          <p:cNvPr id="50" name="lane-2-chip-6"/>
          <p:cNvSpPr txBox="1"/>
          <p:nvPr/>
        </p:nvSpPr>
        <p:spPr>
          <a:xfrm>
            <a:off x="5715000" y="2427316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51" name="lane-2-result"/>
          <p:cNvSpPr txBox="1"/>
          <p:nvPr/>
        </p:nvSpPr>
        <p:spPr>
          <a:xfrm>
            <a:off x="7315200" y="2401547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проверка нашла две выдуманные ссылки</a:t>
            </a:r>
            <a:endParaRPr lang="en-US" sz="1400" dirty="0"/>
          </a:p>
        </p:txBody>
      </p:sp>
      <p:sp>
        <p:nvSpPr>
          <p:cNvPr id="52" name="lane-3-rule"/>
          <p:cNvSpPr/>
          <p:nvPr/>
        </p:nvSpPr>
        <p:spPr>
          <a:xfrm>
            <a:off x="548640" y="2709118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53" name="lane-3-name"/>
          <p:cNvSpPr txBox="1"/>
          <p:nvPr/>
        </p:nvSpPr>
        <p:spPr>
          <a:xfrm>
            <a:off x="548640" y="2709118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R13. Миссия, заданная словами</a:t>
            </a:r>
            <a:endParaRPr lang="en-US" sz="1600" dirty="0"/>
          </a:p>
        </p:txBody>
      </p:sp>
      <p:sp>
        <p:nvSpPr>
          <p:cNvPr id="54" name="lane-3-chip-1-tile"/>
          <p:cNvSpPr/>
          <p:nvPr/>
        </p:nvSpPr>
        <p:spPr>
          <a:xfrm>
            <a:off x="4251960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5" name="lane-3-chip-1" descr="/Users/a/MAI/DID/presentation/assets/logos/gemini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93108" y="2776035"/>
            <a:ext cx="173736" cy="173736"/>
          </a:xfrm>
          <a:prstGeom prst="rect">
            <a:avLst/>
          </a:prstGeom>
        </p:spPr>
      </p:pic>
      <p:sp>
        <p:nvSpPr>
          <p:cNvPr id="56" name="lane-3-chip-2-tile"/>
          <p:cNvSpPr/>
          <p:nvPr/>
        </p:nvSpPr>
        <p:spPr>
          <a:xfrm>
            <a:off x="4544568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7" name="lane-3-chip-2" descr="/Users/a/MAI/DID/presentation/assets/logos/claud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85716" y="2776035"/>
            <a:ext cx="173736" cy="173736"/>
          </a:xfrm>
          <a:prstGeom prst="rect">
            <a:avLst/>
          </a:prstGeom>
        </p:spPr>
      </p:pic>
      <p:sp>
        <p:nvSpPr>
          <p:cNvPr id="58" name="lane-3-chip-3-tile"/>
          <p:cNvSpPr/>
          <p:nvPr/>
        </p:nvSpPr>
        <p:spPr>
          <a:xfrm>
            <a:off x="4837176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59" name="lane-3-chip-3" descr="/Users/a/MAI/DID/presentation/assets/logos/openai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78324" y="2776035"/>
            <a:ext cx="173736" cy="173736"/>
          </a:xfrm>
          <a:prstGeom prst="rect">
            <a:avLst/>
          </a:prstGeom>
        </p:spPr>
      </p:pic>
      <p:sp>
        <p:nvSpPr>
          <p:cNvPr id="60" name="lane-3-chip-4-tile"/>
          <p:cNvSpPr/>
          <p:nvPr/>
        </p:nvSpPr>
        <p:spPr>
          <a:xfrm>
            <a:off x="5129784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1" name="lane-3-chip-4" descr="/Users/a/MAI/DID/presentation/assets/logos/claude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70932" y="2776035"/>
            <a:ext cx="173736" cy="173736"/>
          </a:xfrm>
          <a:prstGeom prst="rect">
            <a:avLst/>
          </a:prstGeom>
        </p:spPr>
      </p:pic>
      <p:sp>
        <p:nvSpPr>
          <p:cNvPr id="62" name="lane-3-chip-5"/>
          <p:cNvSpPr txBox="1"/>
          <p:nvPr/>
        </p:nvSpPr>
        <p:spPr>
          <a:xfrm>
            <a:off x="5422392" y="2734887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63" name="lane-3-result"/>
          <p:cNvSpPr txBox="1"/>
          <p:nvPr/>
        </p:nvSpPr>
        <p:spPr>
          <a:xfrm>
            <a:off x="7315200" y="2709118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модель — миссия 6 из 6, правило — 0 из 6</a:t>
            </a:r>
            <a:endParaRPr lang="en-US" sz="1400" dirty="0"/>
          </a:p>
        </p:txBody>
      </p:sp>
      <p:sp>
        <p:nvSpPr>
          <p:cNvPr id="64" name="lane-4-rule"/>
          <p:cNvSpPr/>
          <p:nvPr/>
        </p:nvSpPr>
        <p:spPr>
          <a:xfrm>
            <a:off x="548640" y="3016689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65" name="lane-4-name"/>
          <p:cNvSpPr txBox="1"/>
          <p:nvPr/>
        </p:nvSpPr>
        <p:spPr>
          <a:xfrm>
            <a:off x="548640" y="3016689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R3 → R16. Цена ожидания модели</a:t>
            </a:r>
            <a:endParaRPr lang="en-US" sz="1600" dirty="0"/>
          </a:p>
        </p:txBody>
      </p:sp>
      <p:sp>
        <p:nvSpPr>
          <p:cNvPr id="66" name="lane-4-chip-1-tile"/>
          <p:cNvSpPr/>
          <p:nvPr/>
        </p:nvSpPr>
        <p:spPr>
          <a:xfrm>
            <a:off x="425196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7" name="lane-4-chip-1" descr="/Users/a/MAI/DID/presentation/assets/logos/gemini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3108" y="3083606"/>
            <a:ext cx="173736" cy="173736"/>
          </a:xfrm>
          <a:prstGeom prst="rect">
            <a:avLst/>
          </a:prstGeom>
        </p:spPr>
      </p:pic>
      <p:sp>
        <p:nvSpPr>
          <p:cNvPr id="68" name="lane-4-chip-2-tile"/>
          <p:cNvSpPr/>
          <p:nvPr/>
        </p:nvSpPr>
        <p:spPr>
          <a:xfrm>
            <a:off x="454456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69" name="lane-4-chip-2" descr="/Users/a/MAI/DID/presentation/assets/logos/claude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585716" y="3083606"/>
            <a:ext cx="173736" cy="173736"/>
          </a:xfrm>
          <a:prstGeom prst="rect">
            <a:avLst/>
          </a:prstGeom>
        </p:spPr>
      </p:pic>
      <p:sp>
        <p:nvSpPr>
          <p:cNvPr id="70" name="lane-4-chip-3-tile"/>
          <p:cNvSpPr/>
          <p:nvPr/>
        </p:nvSpPr>
        <p:spPr>
          <a:xfrm>
            <a:off x="4837176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1" name="lane-4-chip-3" descr="/Users/a/MAI/DID/presentation/assets/logos/claude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878324" y="3083606"/>
            <a:ext cx="173736" cy="173736"/>
          </a:xfrm>
          <a:prstGeom prst="rect">
            <a:avLst/>
          </a:prstGeom>
        </p:spPr>
      </p:pic>
      <p:sp>
        <p:nvSpPr>
          <p:cNvPr id="72" name="lane-4-chip-4"/>
          <p:cNvSpPr txBox="1"/>
          <p:nvPr/>
        </p:nvSpPr>
        <p:spPr>
          <a:xfrm>
            <a:off x="5129784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73" name="lane-4-next"/>
          <p:cNvSpPr txBox="1"/>
          <p:nvPr/>
        </p:nvSpPr>
        <p:spPr>
          <a:xfrm>
            <a:off x="5422392" y="3016689"/>
            <a:ext cx="256032" cy="307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74" name="lane-4-chip-6-tile"/>
          <p:cNvSpPr/>
          <p:nvPr/>
        </p:nvSpPr>
        <p:spPr>
          <a:xfrm>
            <a:off x="5715000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5" name="lane-4-chip-6" descr="/Users/a/MAI/DID/presentation/assets/logos/claud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756148" y="3083606"/>
            <a:ext cx="173736" cy="173736"/>
          </a:xfrm>
          <a:prstGeom prst="rect">
            <a:avLst/>
          </a:prstGeom>
        </p:spPr>
      </p:pic>
      <p:sp>
        <p:nvSpPr>
          <p:cNvPr id="76" name="lane-4-chip-7-tile"/>
          <p:cNvSpPr/>
          <p:nvPr/>
        </p:nvSpPr>
        <p:spPr>
          <a:xfrm>
            <a:off x="6007608" y="3042458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77" name="lane-4-chip-7" descr="/Users/a/MAI/DID/presentation/assets/logos/openai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48756" y="3083606"/>
            <a:ext cx="173736" cy="173736"/>
          </a:xfrm>
          <a:prstGeom prst="rect">
            <a:avLst/>
          </a:prstGeom>
        </p:spPr>
      </p:pic>
      <p:sp>
        <p:nvSpPr>
          <p:cNvPr id="78" name="lane-4-result"/>
          <p:cNvSpPr txBox="1"/>
          <p:nvPr/>
        </p:nvSpPr>
        <p:spPr>
          <a:xfrm>
            <a:off x="7315200" y="3016689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ждать — минус 73 очка; ехать, пока думает: +42</a:t>
            </a:r>
            <a:endParaRPr lang="en-US" sz="1400" dirty="0"/>
          </a:p>
        </p:txBody>
      </p:sp>
      <p:sp>
        <p:nvSpPr>
          <p:cNvPr id="79" name="lane-5-rule"/>
          <p:cNvSpPr/>
          <p:nvPr/>
        </p:nvSpPr>
        <p:spPr>
          <a:xfrm>
            <a:off x="548640" y="3324260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80" name="lane-5-name"/>
          <p:cNvSpPr txBox="1"/>
          <p:nvPr/>
        </p:nvSpPr>
        <p:spPr>
          <a:xfrm>
            <a:off x="548640" y="3324260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R10. Смена грунта на пути</a:t>
            </a:r>
            <a:endParaRPr lang="en-US" sz="1600" dirty="0"/>
          </a:p>
        </p:txBody>
      </p:sp>
      <p:sp>
        <p:nvSpPr>
          <p:cNvPr id="81" name="lane-5-chip-1-tile"/>
          <p:cNvSpPr/>
          <p:nvPr/>
        </p:nvSpPr>
        <p:spPr>
          <a:xfrm>
            <a:off x="4251960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2" name="lane-5-chip-1" descr="/Users/a/MAI/DID/presentation/assets/logos/claud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293108" y="3391177"/>
            <a:ext cx="173736" cy="173736"/>
          </a:xfrm>
          <a:prstGeom prst="rect">
            <a:avLst/>
          </a:prstGeom>
        </p:spPr>
      </p:pic>
      <p:sp>
        <p:nvSpPr>
          <p:cNvPr id="83" name="lane-5-chip-2-tile"/>
          <p:cNvSpPr/>
          <p:nvPr/>
        </p:nvSpPr>
        <p:spPr>
          <a:xfrm>
            <a:off x="4544568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4" name="lane-5-chip-2" descr="/Users/a/MAI/DID/presentation/assets/logos/openai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585716" y="3391177"/>
            <a:ext cx="173736" cy="173736"/>
          </a:xfrm>
          <a:prstGeom prst="rect">
            <a:avLst/>
          </a:prstGeom>
        </p:spPr>
      </p:pic>
      <p:sp>
        <p:nvSpPr>
          <p:cNvPr id="85" name="lane-5-chip-3-tile"/>
          <p:cNvSpPr/>
          <p:nvPr/>
        </p:nvSpPr>
        <p:spPr>
          <a:xfrm>
            <a:off x="4837176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6" name="lane-5-chip-3" descr="/Users/a/MAI/DID/presentation/assets/logos/claude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878324" y="3391177"/>
            <a:ext cx="173736" cy="173736"/>
          </a:xfrm>
          <a:prstGeom prst="rect">
            <a:avLst/>
          </a:prstGeom>
        </p:spPr>
      </p:pic>
      <p:sp>
        <p:nvSpPr>
          <p:cNvPr id="87" name="lane-5-chip-4-tile"/>
          <p:cNvSpPr/>
          <p:nvPr/>
        </p:nvSpPr>
        <p:spPr>
          <a:xfrm>
            <a:off x="5129784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88" name="lane-5-chip-4" descr="/Users/a/MAI/DID/presentation/assets/logos/openai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5170932" y="3391177"/>
            <a:ext cx="173736" cy="173736"/>
          </a:xfrm>
          <a:prstGeom prst="rect">
            <a:avLst/>
          </a:prstGeom>
        </p:spPr>
      </p:pic>
      <p:sp>
        <p:nvSpPr>
          <p:cNvPr id="89" name="lane-5-chip-5"/>
          <p:cNvSpPr txBox="1"/>
          <p:nvPr/>
        </p:nvSpPr>
        <p:spPr>
          <a:xfrm>
            <a:off x="5422392" y="3350029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90" name="lane-5-result"/>
          <p:cNvSpPr txBox="1"/>
          <p:nvPr/>
        </p:nvSpPr>
        <p:spPr>
          <a:xfrm>
            <a:off x="7315200" y="3324260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выигрыш не показан — так и записано</a:t>
            </a:r>
            <a:endParaRPr lang="en-US" sz="1400" dirty="0"/>
          </a:p>
        </p:txBody>
      </p:sp>
      <p:sp>
        <p:nvSpPr>
          <p:cNvPr id="91" name="lane-6-rule"/>
          <p:cNvSpPr/>
          <p:nvPr/>
        </p:nvSpPr>
        <p:spPr>
          <a:xfrm>
            <a:off x="548640" y="363183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92" name="lane-6-name"/>
          <p:cNvSpPr txBox="1"/>
          <p:nvPr/>
        </p:nvSpPr>
        <p:spPr>
          <a:xfrm>
            <a:off x="548640" y="363183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G2. Потеря положения в Gazebo</a:t>
            </a:r>
            <a:endParaRPr lang="en-US" sz="1600" dirty="0"/>
          </a:p>
        </p:txBody>
      </p:sp>
      <p:sp>
        <p:nvSpPr>
          <p:cNvPr id="93" name="lane-6-chip-1-tile"/>
          <p:cNvSpPr/>
          <p:nvPr/>
        </p:nvSpPr>
        <p:spPr>
          <a:xfrm>
            <a:off x="4251960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4" name="lane-6-chip-1" descr="/Users/a/MAI/DID/presentation/assets/logos/claude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293108" y="3698748"/>
            <a:ext cx="173736" cy="173736"/>
          </a:xfrm>
          <a:prstGeom prst="rect">
            <a:avLst/>
          </a:prstGeom>
        </p:spPr>
      </p:pic>
      <p:sp>
        <p:nvSpPr>
          <p:cNvPr id="95" name="lane-6-chip-2-tile"/>
          <p:cNvSpPr/>
          <p:nvPr/>
        </p:nvSpPr>
        <p:spPr>
          <a:xfrm>
            <a:off x="4544568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6" name="lane-6-chip-2" descr="/Users/a/MAI/DID/presentation/assets/logos/openai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585716" y="3698748"/>
            <a:ext cx="173736" cy="173736"/>
          </a:xfrm>
          <a:prstGeom prst="rect">
            <a:avLst/>
          </a:prstGeom>
        </p:spPr>
      </p:pic>
      <p:sp>
        <p:nvSpPr>
          <p:cNvPr id="97" name="lane-6-chip-3-tile"/>
          <p:cNvSpPr/>
          <p:nvPr/>
        </p:nvSpPr>
        <p:spPr>
          <a:xfrm>
            <a:off x="4837176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98" name="lane-6-chip-3" descr="/Users/a/MAI/DID/presentation/assets/logos/claude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878324" y="3698748"/>
            <a:ext cx="173736" cy="173736"/>
          </a:xfrm>
          <a:prstGeom prst="rect">
            <a:avLst/>
          </a:prstGeom>
        </p:spPr>
      </p:pic>
      <p:sp>
        <p:nvSpPr>
          <p:cNvPr id="99" name="lane-6-chip-4"/>
          <p:cNvSpPr txBox="1"/>
          <p:nvPr/>
        </p:nvSpPr>
        <p:spPr>
          <a:xfrm>
            <a:off x="5129784" y="3657600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00" name="lane-6-result"/>
          <p:cNvSpPr txBox="1"/>
          <p:nvPr/>
        </p:nvSpPr>
        <p:spPr>
          <a:xfrm>
            <a:off x="7315200" y="363183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возврат на базу в Gazebo: 8 из 9 → 7 из 7</a:t>
            </a:r>
            <a:endParaRPr lang="en-US" sz="1400" dirty="0"/>
          </a:p>
        </p:txBody>
      </p:sp>
      <p:sp>
        <p:nvSpPr>
          <p:cNvPr id="101" name="lane-7-rule"/>
          <p:cNvSpPr/>
          <p:nvPr/>
        </p:nvSpPr>
        <p:spPr>
          <a:xfrm>
            <a:off x="548640" y="3939401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02" name="lane-7-name"/>
          <p:cNvSpPr txBox="1"/>
          <p:nvPr/>
        </p:nvSpPr>
        <p:spPr>
          <a:xfrm>
            <a:off x="548640" y="3939401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P1. Где робот теряет очки</a:t>
            </a:r>
            <a:endParaRPr lang="en-US" sz="1600" dirty="0"/>
          </a:p>
        </p:txBody>
      </p:sp>
      <p:sp>
        <p:nvSpPr>
          <p:cNvPr id="103" name="lane-7-chip-1-tile"/>
          <p:cNvSpPr/>
          <p:nvPr/>
        </p:nvSpPr>
        <p:spPr>
          <a:xfrm>
            <a:off x="4251960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4" name="lane-7-chip-1" descr="/Users/a/MAI/DID/presentation/assets/logos/claude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293108" y="4006319"/>
            <a:ext cx="173736" cy="173736"/>
          </a:xfrm>
          <a:prstGeom prst="rect">
            <a:avLst/>
          </a:prstGeom>
        </p:spPr>
      </p:pic>
      <p:sp>
        <p:nvSpPr>
          <p:cNvPr id="105" name="lane-7-chip-2-tile"/>
          <p:cNvSpPr/>
          <p:nvPr/>
        </p:nvSpPr>
        <p:spPr>
          <a:xfrm>
            <a:off x="4544568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6" name="lane-7-chip-2" descr="/Users/a/MAI/DID/presentation/assets/logos/openai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585716" y="4006319"/>
            <a:ext cx="173736" cy="173736"/>
          </a:xfrm>
          <a:prstGeom prst="rect">
            <a:avLst/>
          </a:prstGeom>
        </p:spPr>
      </p:pic>
      <p:sp>
        <p:nvSpPr>
          <p:cNvPr id="107" name="lane-7-chip-3-tile"/>
          <p:cNvSpPr/>
          <p:nvPr/>
        </p:nvSpPr>
        <p:spPr>
          <a:xfrm>
            <a:off x="4837176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08" name="lane-7-chip-3" descr="/Users/a/MAI/DID/presentation/assets/logos/claude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878324" y="4006319"/>
            <a:ext cx="173736" cy="173736"/>
          </a:xfrm>
          <a:prstGeom prst="rect">
            <a:avLst/>
          </a:prstGeom>
        </p:spPr>
      </p:pic>
      <p:sp>
        <p:nvSpPr>
          <p:cNvPr id="109" name="lane-7-chip-4"/>
          <p:cNvSpPr txBox="1"/>
          <p:nvPr/>
        </p:nvSpPr>
        <p:spPr>
          <a:xfrm>
            <a:off x="5129784" y="3965171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10" name="lane-7-result"/>
          <p:cNvSpPr txBox="1"/>
          <p:nvPr/>
        </p:nvSpPr>
        <p:spPr>
          <a:xfrm>
            <a:off x="7315200" y="3939401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пережидает сбой датчика: +6,4 очка</a:t>
            </a:r>
            <a:endParaRPr lang="en-US" sz="1400" dirty="0"/>
          </a:p>
        </p:txBody>
      </p:sp>
      <p:sp>
        <p:nvSpPr>
          <p:cNvPr id="111" name="lane-8-rule"/>
          <p:cNvSpPr/>
          <p:nvPr/>
        </p:nvSpPr>
        <p:spPr>
          <a:xfrm>
            <a:off x="548640" y="4246972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12" name="lane-8-name"/>
          <p:cNvSpPr txBox="1"/>
          <p:nvPr/>
        </p:nvSpPr>
        <p:spPr>
          <a:xfrm>
            <a:off x="548640" y="4246972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A1. Новые схемы агента</a:t>
            </a:r>
            <a:endParaRPr lang="en-US" sz="1600" dirty="0"/>
          </a:p>
        </p:txBody>
      </p:sp>
      <p:sp>
        <p:nvSpPr>
          <p:cNvPr id="113" name="lane-8-chip-1-tile"/>
          <p:cNvSpPr/>
          <p:nvPr/>
        </p:nvSpPr>
        <p:spPr>
          <a:xfrm>
            <a:off x="4251960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4" name="lane-8-chip-1" descr="/Users/a/MAI/DID/presentation/assets/logos/claude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293108" y="4313890"/>
            <a:ext cx="173736" cy="173736"/>
          </a:xfrm>
          <a:prstGeom prst="rect">
            <a:avLst/>
          </a:prstGeom>
        </p:spPr>
      </p:pic>
      <p:sp>
        <p:nvSpPr>
          <p:cNvPr id="115" name="lane-8-chip-2-tile"/>
          <p:cNvSpPr/>
          <p:nvPr/>
        </p:nvSpPr>
        <p:spPr>
          <a:xfrm>
            <a:off x="4544568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6" name="lane-8-chip-2" descr="/Users/a/MAI/DID/presentation/assets/logos/openai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585716" y="4313890"/>
            <a:ext cx="173736" cy="173736"/>
          </a:xfrm>
          <a:prstGeom prst="rect">
            <a:avLst/>
          </a:prstGeom>
        </p:spPr>
      </p:pic>
      <p:sp>
        <p:nvSpPr>
          <p:cNvPr id="117" name="lane-8-chip-3-tile"/>
          <p:cNvSpPr/>
          <p:nvPr/>
        </p:nvSpPr>
        <p:spPr>
          <a:xfrm>
            <a:off x="4837176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18" name="lane-8-chip-3" descr="/Users/a/MAI/DID/presentation/assets/logos/claude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878324" y="4313890"/>
            <a:ext cx="173736" cy="173736"/>
          </a:xfrm>
          <a:prstGeom prst="rect">
            <a:avLst/>
          </a:prstGeom>
        </p:spPr>
      </p:pic>
      <p:sp>
        <p:nvSpPr>
          <p:cNvPr id="119" name="lane-8-chip-4"/>
          <p:cNvSpPr txBox="1"/>
          <p:nvPr/>
        </p:nvSpPr>
        <p:spPr>
          <a:xfrm>
            <a:off x="5129784" y="4272742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20" name="lane-8-result"/>
          <p:cNvSpPr txBox="1"/>
          <p:nvPr/>
        </p:nvSpPr>
        <p:spPr>
          <a:xfrm>
            <a:off x="7315200" y="4246972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не лучше нынешней; потолок — 92,5 очка</a:t>
            </a:r>
            <a:endParaRPr lang="en-US" sz="1400" dirty="0"/>
          </a:p>
        </p:txBody>
      </p:sp>
      <p:sp>
        <p:nvSpPr>
          <p:cNvPr id="121" name="lane-9-rule"/>
          <p:cNvSpPr/>
          <p:nvPr/>
        </p:nvSpPr>
        <p:spPr>
          <a:xfrm>
            <a:off x="548640" y="4554543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22" name="lane-9-name"/>
          <p:cNvSpPr txBox="1"/>
          <p:nvPr/>
        </p:nvSpPr>
        <p:spPr>
          <a:xfrm>
            <a:off x="548640" y="4554543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M1. Два робота с координацией</a:t>
            </a:r>
            <a:endParaRPr lang="en-US" sz="1600" dirty="0"/>
          </a:p>
        </p:txBody>
      </p:sp>
      <p:sp>
        <p:nvSpPr>
          <p:cNvPr id="123" name="lane-9-chip-1-tile"/>
          <p:cNvSpPr/>
          <p:nvPr/>
        </p:nvSpPr>
        <p:spPr>
          <a:xfrm>
            <a:off x="4251960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4" name="lane-9-chip-1" descr="/Users/a/MAI/DID/presentation/assets/logos/claude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293108" y="4621461"/>
            <a:ext cx="173736" cy="173736"/>
          </a:xfrm>
          <a:prstGeom prst="rect">
            <a:avLst/>
          </a:prstGeom>
        </p:spPr>
      </p:pic>
      <p:sp>
        <p:nvSpPr>
          <p:cNvPr id="125" name="lane-9-chip-2-tile"/>
          <p:cNvSpPr/>
          <p:nvPr/>
        </p:nvSpPr>
        <p:spPr>
          <a:xfrm>
            <a:off x="4544568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6" name="lane-9-chip-2" descr="/Users/a/MAI/DID/presentation/assets/logos/openai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585716" y="4621461"/>
            <a:ext cx="173736" cy="173736"/>
          </a:xfrm>
          <a:prstGeom prst="rect">
            <a:avLst/>
          </a:prstGeom>
        </p:spPr>
      </p:pic>
      <p:sp>
        <p:nvSpPr>
          <p:cNvPr id="127" name="lane-9-chip-3-tile"/>
          <p:cNvSpPr/>
          <p:nvPr/>
        </p:nvSpPr>
        <p:spPr>
          <a:xfrm>
            <a:off x="4837176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28" name="lane-9-chip-3" descr="/Users/a/MAI/DID/presentation/assets/logos/claude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878324" y="4621461"/>
            <a:ext cx="173736" cy="173736"/>
          </a:xfrm>
          <a:prstGeom prst="rect">
            <a:avLst/>
          </a:prstGeom>
        </p:spPr>
      </p:pic>
      <p:sp>
        <p:nvSpPr>
          <p:cNvPr id="129" name="lane-9-chip-4"/>
          <p:cNvSpPr txBox="1"/>
          <p:nvPr/>
        </p:nvSpPr>
        <p:spPr>
          <a:xfrm>
            <a:off x="5129784" y="4580313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30" name="lane-9-result"/>
          <p:cNvSpPr txBox="1"/>
          <p:nvPr/>
        </p:nvSpPr>
        <p:spPr>
          <a:xfrm>
            <a:off x="7315200" y="4554543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прогон короче на 31 с, заряда на четверть меньше</a:t>
            </a:r>
            <a:endParaRPr lang="en-US" sz="1400" dirty="0"/>
          </a:p>
        </p:txBody>
      </p:sp>
      <p:sp>
        <p:nvSpPr>
          <p:cNvPr id="131" name="lane-10-rule"/>
          <p:cNvSpPr/>
          <p:nvPr/>
        </p:nvSpPr>
        <p:spPr>
          <a:xfrm>
            <a:off x="548640" y="4862114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2" name="lane-10-name"/>
          <p:cNvSpPr txBox="1"/>
          <p:nvPr/>
        </p:nvSpPr>
        <p:spPr>
          <a:xfrm>
            <a:off x="548640" y="4862114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R14. Самокалибровка датчика</a:t>
            </a:r>
            <a:endParaRPr lang="en-US" sz="1600" dirty="0"/>
          </a:p>
        </p:txBody>
      </p:sp>
      <p:sp>
        <p:nvSpPr>
          <p:cNvPr id="133" name="lane-10-chip-1-tile"/>
          <p:cNvSpPr/>
          <p:nvPr/>
        </p:nvSpPr>
        <p:spPr>
          <a:xfrm>
            <a:off x="4251960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4" name="lane-10-chip-1" descr="/Users/a/MAI/DID/presentation/assets/logos/claude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4293108" y="4929032"/>
            <a:ext cx="173736" cy="173736"/>
          </a:xfrm>
          <a:prstGeom prst="rect">
            <a:avLst/>
          </a:prstGeom>
        </p:spPr>
      </p:pic>
      <p:sp>
        <p:nvSpPr>
          <p:cNvPr id="135" name="lane-10-chip-2-tile"/>
          <p:cNvSpPr/>
          <p:nvPr/>
        </p:nvSpPr>
        <p:spPr>
          <a:xfrm>
            <a:off x="4544568" y="4887884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36" name="lane-10-chip-2" descr="/Users/a/MAI/DID/presentation/assets/logos/openai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4585716" y="4929032"/>
            <a:ext cx="173736" cy="173736"/>
          </a:xfrm>
          <a:prstGeom prst="rect">
            <a:avLst/>
          </a:prstGeom>
        </p:spPr>
      </p:pic>
      <p:sp>
        <p:nvSpPr>
          <p:cNvPr id="137" name="lane-10-result"/>
          <p:cNvSpPr txBox="1"/>
          <p:nvPr/>
        </p:nvSpPr>
        <p:spPr>
          <a:xfrm>
            <a:off x="7315200" y="4862114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ревью вернуло работу; отложена</a:t>
            </a:r>
            <a:endParaRPr lang="en-US" sz="1400" dirty="0"/>
          </a:p>
        </p:txBody>
      </p:sp>
      <p:sp>
        <p:nvSpPr>
          <p:cNvPr id="138" name="lane-11-rule"/>
          <p:cNvSpPr/>
          <p:nvPr/>
        </p:nvSpPr>
        <p:spPr>
          <a:xfrm>
            <a:off x="548640" y="5169685"/>
            <a:ext cx="11091672" cy="0"/>
          </a:xfrm>
          <a:prstGeom prst="line">
            <a:avLst/>
          </a:prstGeom>
          <a:noFill/>
          <a:ln w="12700">
            <a:solidFill>
              <a:schemeClr val="bg2"/>
            </a:solidFill>
            <a:prstDash val="solid"/>
          </a:ln>
        </p:spPr>
      </p:sp>
      <p:sp>
        <p:nvSpPr>
          <p:cNvPr id="139" name="lane-11-name"/>
          <p:cNvSpPr txBox="1"/>
          <p:nvPr/>
        </p:nvSpPr>
        <p:spPr>
          <a:xfrm>
            <a:off x="548640" y="5169685"/>
            <a:ext cx="3611880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F2. SLAM вместо готовой карты</a:t>
            </a:r>
            <a:endParaRPr lang="en-US" sz="1600" dirty="0"/>
          </a:p>
        </p:txBody>
      </p:sp>
      <p:sp>
        <p:nvSpPr>
          <p:cNvPr id="140" name="lane-11-chip-1-tile"/>
          <p:cNvSpPr/>
          <p:nvPr/>
        </p:nvSpPr>
        <p:spPr>
          <a:xfrm>
            <a:off x="425196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1" name="lane-11-chip-1" descr="/Users/a/MAI/DID/presentation/assets/logos/gemini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293108" y="5236603"/>
            <a:ext cx="173736" cy="173736"/>
          </a:xfrm>
          <a:prstGeom prst="rect">
            <a:avLst/>
          </a:prstGeom>
        </p:spPr>
      </p:pic>
      <p:sp>
        <p:nvSpPr>
          <p:cNvPr id="142" name="lane-11-chip-2-tile"/>
          <p:cNvSpPr/>
          <p:nvPr/>
        </p:nvSpPr>
        <p:spPr>
          <a:xfrm>
            <a:off x="454456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3" name="lane-11-chip-2" descr="/Users/a/MAI/DID/presentation/assets/logos/claude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585716" y="5236603"/>
            <a:ext cx="173736" cy="173736"/>
          </a:xfrm>
          <a:prstGeom prst="rect">
            <a:avLst/>
          </a:prstGeom>
        </p:spPr>
      </p:pic>
      <p:sp>
        <p:nvSpPr>
          <p:cNvPr id="144" name="lane-11-chip-3-tile"/>
          <p:cNvSpPr/>
          <p:nvPr/>
        </p:nvSpPr>
        <p:spPr>
          <a:xfrm>
            <a:off x="4837176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5" name="lane-11-chip-3" descr="/Users/a/MAI/DID/presentation/assets/logos/openai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78324" y="5236603"/>
            <a:ext cx="173736" cy="173736"/>
          </a:xfrm>
          <a:prstGeom prst="rect">
            <a:avLst/>
          </a:prstGeom>
        </p:spPr>
      </p:pic>
      <p:sp>
        <p:nvSpPr>
          <p:cNvPr id="146" name="lane-11-chip-4-tile"/>
          <p:cNvSpPr/>
          <p:nvPr/>
        </p:nvSpPr>
        <p:spPr>
          <a:xfrm>
            <a:off x="5129784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7" name="lane-11-chip-4" descr="/Users/a/MAI/DID/presentation/assets/logos/claude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70932" y="5236603"/>
            <a:ext cx="173736" cy="173736"/>
          </a:xfrm>
          <a:prstGeom prst="rect">
            <a:avLst/>
          </a:prstGeom>
        </p:spPr>
      </p:pic>
      <p:sp>
        <p:nvSpPr>
          <p:cNvPr id="148" name="lane-11-chip-5-tile"/>
          <p:cNvSpPr/>
          <p:nvPr/>
        </p:nvSpPr>
        <p:spPr>
          <a:xfrm>
            <a:off x="5422392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49" name="lane-11-chip-5" descr="/Users/a/MAI/DID/presentation/assets/logos/openai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463540" y="5236603"/>
            <a:ext cx="173736" cy="173736"/>
          </a:xfrm>
          <a:prstGeom prst="rect">
            <a:avLst/>
          </a:prstGeom>
        </p:spPr>
      </p:pic>
      <p:sp>
        <p:nvSpPr>
          <p:cNvPr id="150" name="lane-11-chip-6-tile"/>
          <p:cNvSpPr/>
          <p:nvPr/>
        </p:nvSpPr>
        <p:spPr>
          <a:xfrm>
            <a:off x="5715000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/>
        </p:spPr>
      </p:sp>
      <p:pic>
        <p:nvPicPr>
          <p:cNvPr id="151" name="lane-11-chip-6" descr="/Users/a/MAI/DID/presentation/assets/logos/claude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756148" y="5236603"/>
            <a:ext cx="173736" cy="173736"/>
          </a:xfrm>
          <a:prstGeom prst="rect">
            <a:avLst/>
          </a:prstGeom>
        </p:spPr>
      </p:pic>
      <p:sp>
        <p:nvSpPr>
          <p:cNvPr id="152" name="lane-11-chip-7"/>
          <p:cNvSpPr txBox="1"/>
          <p:nvPr/>
        </p:nvSpPr>
        <p:spPr>
          <a:xfrm>
            <a:off x="6007608" y="5195455"/>
            <a:ext cx="256032" cy="256032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✓</a:t>
            </a:r>
            <a:endParaRPr lang="en-US" sz="1300" dirty="0"/>
          </a:p>
        </p:txBody>
      </p:sp>
      <p:sp>
        <p:nvSpPr>
          <p:cNvPr id="153" name="lane-11-result"/>
          <p:cNvSpPr txBox="1"/>
          <p:nvPr/>
        </p:nvSpPr>
        <p:spPr>
          <a:xfrm>
            <a:off x="7315200" y="5169685"/>
            <a:ext cx="4325112" cy="3075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карта робота совпала с готовой на 96–99%</a:t>
            </a:r>
            <a:endParaRPr lang="en-US" sz="1400" dirty="0"/>
          </a:p>
        </p:txBody>
      </p:sp>
      <p:sp>
        <p:nvSpPr>
          <p:cNvPr id="154" name="conclusion-card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155" name="conclusion-text"/>
          <p:cNvSpPr txBox="1"/>
          <p:nvPr/>
        </p:nvSpPr>
        <p:spPr>
          <a:xfrm>
            <a:off x="822960" y="5577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Вывод.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Качество держится на устройстве процесса — отдельная ветка, независимое ревью, пересчёт чисел, — а не на вере в один ответ модели.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D Researcher">
  <a:themeElements>
    <a:clrScheme name="DID Researcher">
      <a:dk1>
        <a:srgbClr val="14181C"/>
      </a:dk1>
      <a:lt1>
        <a:srgbClr val="FFFFFF"/>
      </a:lt1>
      <a:dk2>
        <a:srgbClr val="2B3138"/>
      </a:dk2>
      <a:lt2>
        <a:srgbClr val="EEF0F2"/>
      </a:lt2>
      <a:accent1>
        <a:srgbClr val="EB6834"/>
      </a:accent1>
      <a:accent2>
        <a:srgbClr val="2A78D6"/>
      </a:accent2>
      <a:accent3>
        <a:srgbClr val="1BAF7A"/>
      </a:accent3>
      <a:accent4>
        <a:srgbClr val="EDA100"/>
      </a:accent4>
      <a:accent5>
        <a:srgbClr val="5B6168"/>
      </a:accent5>
      <a:accent6>
        <a:srgbClr val="D03B3B"/>
      </a:accent6>
      <a:hlink>
        <a:srgbClr val="2A78D6"/>
      </a:hlink>
      <a:folHlink>
        <a:srgbClr val="4A3AA7"/>
      </a:folHlink>
    </a:clrScheme>
    <a:fontScheme name="DID Research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ИИ-исследователь на роботе-платформе — как работали с ИИ-агентами</dc:title>
  <dc:subject>PptxGenJS Presentation</dc:subject>
  <dc:creator>PptxGenJS</dc:creator>
  <cp:lastModifiedBy>PptxGenJS</cp:lastModifiedBy>
  <cp:revision>1</cp:revision>
  <dcterms:created xsi:type="dcterms:W3CDTF">2026-10-08T16:30:07Z</dcterms:created>
  <dcterms:modified xsi:type="dcterms:W3CDTF">2026-10-08T16:30:07Z</dcterms:modified>
</cp:coreProperties>
</file>