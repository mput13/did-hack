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к работали" id="{d9100d93-d33a-22d9-6ebb-5a582e984e63}">
          <p14:sldIdLst>
            <p14:sldId id="256"/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 ИИ-агентами мы работали как в лаборатории: человек ею руководит, агенты в ней работают. Человек задаёт цель, роли и ограничения и принимает решения на развилках. Ведущий агент ведёт план, пишет задания остальным, сводит их работу в общий код и сам пересчитывает числа. Исследователи читают литературу и кода не пишут. Инженеры пишут код и ставят опыты, каждый в своей копии кода. Отдельная модель-ревьюер читает каждую работу и ищет ошибки. Советников зовём редко, на развилках. Каждое исследование идёт по одному кругу: вопрос и гипотеза, задание, код и опыт, независимое ревью, исправления, вливание, пересчёт чисел. Больше 75 поручений агентам и 27 кругов ревью: ни одна из 15 работ не прошла ревью с первого раза. Агенты работали часами без участия человека, но направление, роли и приоритеты задавал человек.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Каждая строка — одно исследование, каждый значок — один шаг: обзор исследователя, работа инженера или ревью. Галочка — работа принята. В первых двух исследованиях ревью нашло 7 ошибок, и два вывода пришлось перевернуть. В обзорах литературы проверка нашла две выдуманные ссылки. Робот с языковой моделью выполнил миссии, заданные словами, в 45–46 из 48 прогонов на каждой из трёх моделей; робот с правилом, которое текст не читает, — ни разу. На имитаторе модели с задержкой 15 секунд ожидание ответа стоило 73 очка; если робот в это время едет по правилу, возвращается 42. Режим по умолчанию выключен. В Gazebo робот вернулся на базу в прогонах 8 из 9, после правки — 7 из 7. Разбор потерь дал плюс шесть очков на трудном уровне. Не всё закончилось выигрышем: для реакции на смену грунта, новых схем агента и пяти правок по разбору потерь выигрыш не показан. Это записано как результаты. Качество держится на устройстве процесса, а не на вере в один ответ модели.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1672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ИИ-исследователь на роботе-платформе · DID Hack 2026 · работа с ИИ-агентами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1.png"/><Relationship Id="rId4" Type="http://schemas.openxmlformats.org/officeDocument/2006/relationships/image" Target="../media/image-1-4.png"/><Relationship Id="rId5" Type="http://schemas.openxmlformats.org/officeDocument/2006/relationships/image" Target="../media/image-1-1.png"/><Relationship Id="rId6" Type="http://schemas.openxmlformats.org/officeDocument/2006/relationships/image" Target="../media/image-1-4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1.png"/><Relationship Id="rId5" Type="http://schemas.openxmlformats.org/officeDocument/2006/relationships/image" Target="../media/image-2-3.png"/><Relationship Id="rId6" Type="http://schemas.openxmlformats.org/officeDocument/2006/relationships/image" Target="../media/image-2-2.png"/><Relationship Id="rId7" Type="http://schemas.openxmlformats.org/officeDocument/2006/relationships/image" Target="../media/image-2-3.png"/><Relationship Id="rId8" Type="http://schemas.openxmlformats.org/officeDocument/2006/relationships/image" Target="../media/image-2-2.png"/><Relationship Id="rId9" Type="http://schemas.openxmlformats.org/officeDocument/2006/relationships/image" Target="../media/image-2-3.png"/><Relationship Id="rId10" Type="http://schemas.openxmlformats.org/officeDocument/2006/relationships/image" Target="../media/image-2-2.png"/><Relationship Id="rId11" Type="http://schemas.openxmlformats.org/officeDocument/2006/relationships/image" Target="../media/image-2-3.png"/><Relationship Id="rId12" Type="http://schemas.openxmlformats.org/officeDocument/2006/relationships/image" Target="../media/image-2-2.png"/><Relationship Id="rId13" Type="http://schemas.openxmlformats.org/officeDocument/2006/relationships/image" Target="../media/image-2-1.png"/><Relationship Id="rId14" Type="http://schemas.openxmlformats.org/officeDocument/2006/relationships/image" Target="../media/image-2-1.png"/><Relationship Id="rId15" Type="http://schemas.openxmlformats.org/officeDocument/2006/relationships/image" Target="../media/image-2-1.png"/><Relationship Id="rId16" Type="http://schemas.openxmlformats.org/officeDocument/2006/relationships/image" Target="../media/image-2-1.png"/><Relationship Id="rId17" Type="http://schemas.openxmlformats.org/officeDocument/2006/relationships/image" Target="../media/image-2-2.png"/><Relationship Id="rId18" Type="http://schemas.openxmlformats.org/officeDocument/2006/relationships/image" Target="../media/image-2-1.png"/><Relationship Id="rId19" Type="http://schemas.openxmlformats.org/officeDocument/2006/relationships/image" Target="../media/image-2-2.png"/><Relationship Id="rId20" Type="http://schemas.openxmlformats.org/officeDocument/2006/relationships/image" Target="../media/image-2-3.png"/><Relationship Id="rId21" Type="http://schemas.openxmlformats.org/officeDocument/2006/relationships/image" Target="../media/image-2-2.png"/><Relationship Id="rId22" Type="http://schemas.openxmlformats.org/officeDocument/2006/relationships/image" Target="../media/image-2-2.png"/><Relationship Id="rId23" Type="http://schemas.openxmlformats.org/officeDocument/2006/relationships/image" Target="../media/image-2-3.png"/><Relationship Id="rId24" Type="http://schemas.openxmlformats.org/officeDocument/2006/relationships/image" Target="../media/image-2-2.png"/><Relationship Id="rId25" Type="http://schemas.openxmlformats.org/officeDocument/2006/relationships/image" Target="../media/image-2-2.png"/><Relationship Id="rId26" Type="http://schemas.openxmlformats.org/officeDocument/2006/relationships/image" Target="../media/image-2-3.png"/><Relationship Id="rId27" Type="http://schemas.openxmlformats.org/officeDocument/2006/relationships/image" Target="../media/image-2-2.png"/><Relationship Id="rId28" Type="http://schemas.openxmlformats.org/officeDocument/2006/relationships/image" Target="../media/image-2-3.png"/><Relationship Id="rId29" Type="http://schemas.openxmlformats.org/officeDocument/2006/relationships/image" Target="../media/image-2-2.png"/><Relationship Id="rId30" Type="http://schemas.openxmlformats.org/officeDocument/2006/relationships/image" Target="../media/image-2-2.png"/><Relationship Id="rId31" Type="http://schemas.openxmlformats.org/officeDocument/2006/relationships/image" Target="../media/image-2-3.png"/><Relationship Id="rId32" Type="http://schemas.openxmlformats.org/officeDocument/2006/relationships/image" Target="../media/image-2-2.png"/><Relationship Id="rId33" Type="http://schemas.openxmlformats.org/officeDocument/2006/relationships/image" Target="../media/image-2-3.png"/><Relationship Id="rId34" Type="http://schemas.openxmlformats.org/officeDocument/2006/relationships/image" Target="../media/image-2-2.png"/><Relationship Id="rId35" Type="http://schemas.openxmlformats.org/officeDocument/2006/relationships/image" Target="../media/image-2-3.png"/><Relationship Id="rId36" Type="http://schemas.openxmlformats.org/officeDocument/2006/relationships/image" Target="../media/image-2-2.png"/><Relationship Id="rId37" Type="http://schemas.openxmlformats.org/officeDocument/2006/relationships/image" Target="../media/image-2-2.png"/><Relationship Id="rId38" Type="http://schemas.openxmlformats.org/officeDocument/2006/relationships/image" Target="../media/image-2-3.png"/><Relationship Id="rId39" Type="http://schemas.openxmlformats.org/officeDocument/2006/relationships/image" Target="../media/image-2-2.png"/><Relationship Id="rId40" Type="http://schemas.openxmlformats.org/officeDocument/2006/relationships/image" Target="../media/image-2-3.png"/><Relationship Id="rId41" Type="http://schemas.openxmlformats.org/officeDocument/2006/relationships/image" Target="../media/image-2-2.png"/><Relationship Id="rId42" Type="http://schemas.openxmlformats.org/officeDocument/2006/relationships/image" Target="../media/image-2-3.png"/><Relationship Id="rId43" Type="http://schemas.openxmlformats.org/officeDocument/2006/relationships/image" Target="../media/image-2-2.png"/><Relationship Id="rId44" Type="http://schemas.openxmlformats.org/officeDocument/2006/relationships/image" Target="../media/image-2-3.png"/><Relationship Id="rId45" Type="http://schemas.openxmlformats.org/officeDocument/2006/relationships/image" Target="../media/image-2-2.png"/><Relationship Id="rId46" Type="http://schemas.openxmlformats.org/officeDocument/2006/relationships/image" Target="../media/image-2-3.png"/><Relationship Id="rId47" Type="http://schemas.openxmlformats.org/officeDocument/2006/relationships/image" Target="../media/image-2-2.png"/><Relationship Id="rId48" Type="http://schemas.openxmlformats.org/officeDocument/2006/relationships/image" Target="../media/image-2-2.png"/><Relationship Id="rId49" Type="http://schemas.openxmlformats.org/officeDocument/2006/relationships/image" Target="../media/image-2-3.png"/><Relationship Id="rId50" Type="http://schemas.openxmlformats.org/officeDocument/2006/relationships/image" Target="../media/image-2-2.png"/><Relationship Id="rId51" Type="http://schemas.openxmlformats.org/officeDocument/2006/relationships/image" Target="../media/image-2-2.png"/><Relationship Id="rId52" Type="http://schemas.openxmlformats.org/officeDocument/2006/relationships/image" Target="../media/image-2-3.png"/><Relationship Id="rId53" Type="http://schemas.openxmlformats.org/officeDocument/2006/relationships/image" Target="../media/image-2-2.png"/><Relationship Id="rId54" Type="http://schemas.openxmlformats.org/officeDocument/2006/relationships/image" Target="../media/image-2-2.png"/><Relationship Id="rId55" Type="http://schemas.openxmlformats.org/officeDocument/2006/relationships/image" Target="../media/image-2-3.png"/><Relationship Id="rId56" Type="http://schemas.openxmlformats.org/officeDocument/2006/relationships/image" Target="../media/image-2-2.png"/><Relationship Id="rId57" Type="http://schemas.openxmlformats.org/officeDocument/2006/relationships/image" Target="../media/image-2-3.png"/><Relationship Id="rId58" Type="http://schemas.openxmlformats.org/officeDocument/2006/relationships/image" Target="../media/image-2-2.png"/><Relationship Id="rId59" Type="http://schemas.openxmlformats.org/officeDocument/2006/relationships/image" Target="../media/image-2-2.png"/><Relationship Id="rId60" Type="http://schemas.openxmlformats.org/officeDocument/2006/relationships/image" Target="../media/image-2-3.png"/><Relationship Id="rId61" Type="http://schemas.openxmlformats.org/officeDocument/2006/relationships/image" Target="../media/image-2-2.png"/><Relationship Id="rId62" Type="http://schemas.openxmlformats.org/officeDocument/2006/relationships/image" Target="../media/image-2-2.png"/><Relationship Id="rId63" Type="http://schemas.openxmlformats.org/officeDocument/2006/relationships/image" Target="../media/image-2-3.png"/><Relationship Id="rId64" Type="http://schemas.openxmlformats.org/officeDocument/2006/relationships/image" Target="../media/image-2-2.png"/><Relationship Id="rId65" Type="http://schemas.openxmlformats.org/officeDocument/2006/relationships/image" Target="../media/image-2-3.png"/><Relationship Id="rId66" Type="http://schemas.openxmlformats.org/officeDocument/2006/relationships/image" Target="../media/image-2-2.png"/><Relationship Id="rId67" Type="http://schemas.openxmlformats.org/officeDocument/2006/relationships/image" Target="../media/image-2-3.png"/><Relationship Id="rId68" Type="http://schemas.openxmlformats.org/officeDocument/2006/relationships/image" Target="../media/image-2-2.png"/><Relationship Id="rId69" Type="http://schemas.openxmlformats.org/officeDocument/2006/relationships/image" Target="../media/image-2-1.png"/><Relationship Id="rId70" Type="http://schemas.openxmlformats.org/officeDocument/2006/relationships/image" Target="../media/image-2-2.png"/><Relationship Id="rId71" Type="http://schemas.openxmlformats.org/officeDocument/2006/relationships/image" Target="../media/image-2-3.png"/><Relationship Id="rId72" Type="http://schemas.openxmlformats.org/officeDocument/2006/relationships/image" Target="../media/image-2-2.png"/><Relationship Id="rId73" Type="http://schemas.openxmlformats.org/officeDocument/2006/relationships/image" Target="../media/image-2-3.png"/><Relationship Id="rId74" Type="http://schemas.openxmlformats.org/officeDocument/2006/relationships/image" Target="../media/image-2-2.png"/><Relationship Id="rId75" Type="http://schemas.openxmlformats.org/officeDocument/2006/relationships/image" Target="../media/image-2-3.png"/><Relationship Id="rId76" Type="http://schemas.openxmlformats.org/officeDocument/2006/relationships/slideLayout" Target="../slideLayouts/slideLayout2.xml"/><Relationship Id="rId77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Человек руководит лабораторией, агенты в ней работают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Агенты работали часами без участия человека, но направление, роли и приоритеты задавал человек</a:t>
            </a:r>
            <a:endParaRPr lang="en-US" sz="1600" dirty="0"/>
          </a:p>
        </p:txBody>
      </p:sp>
      <p:sp>
        <p:nvSpPr>
          <p:cNvPr id="5" name="human-card"/>
          <p:cNvSpPr/>
          <p:nvPr/>
        </p:nvSpPr>
        <p:spPr>
          <a:xfrm>
            <a:off x="548640" y="1691640"/>
            <a:ext cx="2103120" cy="2432304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/>
        </p:spPr>
      </p:sp>
      <p:sp>
        <p:nvSpPr>
          <p:cNvPr id="6" name="human-head"/>
          <p:cNvSpPr txBox="1"/>
          <p:nvPr/>
        </p:nvSpPr>
        <p:spPr>
          <a:xfrm>
            <a:off x="749808" y="1837944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Человек</a:t>
            </a:r>
            <a:endParaRPr lang="en-US" sz="1800" dirty="0"/>
          </a:p>
        </p:txBody>
      </p:sp>
      <p:sp>
        <p:nvSpPr>
          <p:cNvPr id="7" name="human-list"/>
          <p:cNvSpPr txBox="1"/>
          <p:nvPr/>
        </p:nvSpPr>
        <p:spPr>
          <a:xfrm>
            <a:off x="749808" y="224028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цель</a:t>
            </a:r>
            <a:endParaRPr lang="en-US" sz="16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роли</a:t>
            </a:r>
            <a:endParaRPr lang="en-US" sz="16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ограничения</a:t>
            </a:r>
            <a:endParaRPr lang="en-US" sz="16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решения на развилках</a:t>
            </a:r>
            <a:endParaRPr lang="en-US" sz="1600" dirty="0"/>
          </a:p>
        </p:txBody>
      </p:sp>
      <p:sp>
        <p:nvSpPr>
          <p:cNvPr id="8" name="human-caption"/>
          <p:cNvSpPr txBox="1"/>
          <p:nvPr/>
        </p:nvSpPr>
        <p:spPr>
          <a:xfrm>
            <a:off x="749808" y="3648456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около 70 сообщений за 1,5 суток</a:t>
            </a:r>
            <a:endParaRPr lang="en-US" sz="1200" dirty="0"/>
          </a:p>
        </p:txBody>
      </p:sp>
      <p:sp>
        <p:nvSpPr>
          <p:cNvPr id="9" name="arrow-human-lead"/>
          <p:cNvSpPr/>
          <p:nvPr/>
        </p:nvSpPr>
        <p:spPr>
          <a:xfrm>
            <a:off x="2724912" y="2907792"/>
            <a:ext cx="219456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0" name="lead-card"/>
          <p:cNvSpPr/>
          <p:nvPr/>
        </p:nvSpPr>
        <p:spPr>
          <a:xfrm>
            <a:off x="3017520" y="1691640"/>
            <a:ext cx="2286000" cy="2432304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</p:sp>
      <p:sp>
        <p:nvSpPr>
          <p:cNvPr id="11" name="lead-head"/>
          <p:cNvSpPr txBox="1"/>
          <p:nvPr/>
        </p:nvSpPr>
        <p:spPr>
          <a:xfrm>
            <a:off x="3218688" y="1837944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Ведущий агент</a:t>
            </a:r>
            <a:endParaRPr lang="en-US" sz="1800" dirty="0"/>
          </a:p>
        </p:txBody>
      </p:sp>
      <p:sp>
        <p:nvSpPr>
          <p:cNvPr id="12" name="lead-list"/>
          <p:cNvSpPr txBox="1"/>
          <p:nvPr/>
        </p:nvSpPr>
        <p:spPr>
          <a:xfrm>
            <a:off x="3218688" y="224028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ведёт план</a:t>
            </a:r>
            <a:endParaRPr lang="en-US" sz="16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пишет задания</a:t>
            </a:r>
            <a:endParaRPr lang="en-US" sz="16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сводит ветки</a:t>
            </a:r>
            <a:endParaRPr lang="en-US" sz="16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пересчитывает числа</a:t>
            </a:r>
            <a:endParaRPr lang="en-US" sz="1600" dirty="0"/>
          </a:p>
        </p:txBody>
      </p:sp>
      <p:pic>
        <p:nvPicPr>
          <p:cNvPr id="13" name="lead-logo" descr="/Users/a/MAI/DID/presentation/assets/logos/clau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18688" y="3822192"/>
            <a:ext cx="173736" cy="173736"/>
          </a:xfrm>
          <a:prstGeom prst="rect">
            <a:avLst/>
          </a:prstGeom>
        </p:spPr>
      </p:pic>
      <p:sp>
        <p:nvSpPr>
          <p:cNvPr id="14" name="lead-model"/>
          <p:cNvSpPr txBox="1"/>
          <p:nvPr/>
        </p:nvSpPr>
        <p:spPr>
          <a:xfrm>
            <a:off x="3474720" y="3739896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Claude Opus 5.5</a:t>
            </a:r>
            <a:endParaRPr lang="en-US" sz="1200" dirty="0"/>
          </a:p>
        </p:txBody>
      </p:sp>
      <p:sp>
        <p:nvSpPr>
          <p:cNvPr id="15" name="arrow-lead-roles"/>
          <p:cNvSpPr/>
          <p:nvPr/>
        </p:nvSpPr>
        <p:spPr>
          <a:xfrm>
            <a:off x="5376672" y="2907792"/>
            <a:ext cx="219456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6" name="role-1-card"/>
          <p:cNvSpPr/>
          <p:nvPr/>
        </p:nvSpPr>
        <p:spPr>
          <a:xfrm>
            <a:off x="5669280" y="1691640"/>
            <a:ext cx="2930652" cy="1161288"/>
          </a:xfrm>
          <a:prstGeom prst="roundRect">
            <a:avLst>
              <a:gd name="adj" fmla="val 6299"/>
            </a:avLst>
          </a:prstGeom>
          <a:solidFill>
            <a:schemeClr val="bg2"/>
          </a:solidFill>
          <a:ln/>
        </p:spPr>
      </p:sp>
      <p:sp>
        <p:nvSpPr>
          <p:cNvPr id="17" name="role-1-head"/>
          <p:cNvSpPr txBox="1"/>
          <p:nvPr/>
        </p:nvSpPr>
        <p:spPr>
          <a:xfrm>
            <a:off x="5852160" y="1801368"/>
            <a:ext cx="25648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Исследователи</a:t>
            </a:r>
            <a:endParaRPr lang="en-US" sz="1600" dirty="0"/>
          </a:p>
        </p:txBody>
      </p:sp>
      <p:sp>
        <p:nvSpPr>
          <p:cNvPr id="18" name="role-1-body"/>
          <p:cNvSpPr txBox="1"/>
          <p:nvPr/>
        </p:nvSpPr>
        <p:spPr>
          <a:xfrm>
            <a:off x="5852160" y="2084832"/>
            <a:ext cx="26106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обзоры литературы; кода не пишут</a:t>
            </a:r>
            <a:endParaRPr lang="en-US" sz="1600" dirty="0"/>
          </a:p>
        </p:txBody>
      </p:sp>
      <p:pic>
        <p:nvPicPr>
          <p:cNvPr id="19" name="role-1-logo-1" descr="/Users/a/MAI/DID/presentation/assets/logos/gemin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596896"/>
            <a:ext cx="173736" cy="173736"/>
          </a:xfrm>
          <a:prstGeom prst="rect">
            <a:avLst/>
          </a:prstGeom>
        </p:spPr>
      </p:pic>
      <p:sp>
        <p:nvSpPr>
          <p:cNvPr id="20" name="role-1-model"/>
          <p:cNvSpPr txBox="1"/>
          <p:nvPr/>
        </p:nvSpPr>
        <p:spPr>
          <a:xfrm>
            <a:off x="6108192" y="2587752"/>
            <a:ext cx="230886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Gemini 3.8 Flash</a:t>
            </a:r>
            <a:endParaRPr lang="en-US" sz="1200" dirty="0"/>
          </a:p>
        </p:txBody>
      </p:sp>
      <p:sp>
        <p:nvSpPr>
          <p:cNvPr id="21" name="role-2-card"/>
          <p:cNvSpPr/>
          <p:nvPr/>
        </p:nvSpPr>
        <p:spPr>
          <a:xfrm>
            <a:off x="8709660" y="1691640"/>
            <a:ext cx="2930652" cy="1161288"/>
          </a:xfrm>
          <a:prstGeom prst="roundRect">
            <a:avLst>
              <a:gd name="adj" fmla="val 6299"/>
            </a:avLst>
          </a:prstGeom>
          <a:solidFill>
            <a:schemeClr val="bg2"/>
          </a:solidFill>
          <a:ln/>
        </p:spPr>
      </p:sp>
      <p:sp>
        <p:nvSpPr>
          <p:cNvPr id="22" name="role-2-head"/>
          <p:cNvSpPr txBox="1"/>
          <p:nvPr/>
        </p:nvSpPr>
        <p:spPr>
          <a:xfrm>
            <a:off x="8892540" y="1801368"/>
            <a:ext cx="25648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Инженеры</a:t>
            </a:r>
            <a:endParaRPr lang="en-US" sz="1600" dirty="0"/>
          </a:p>
        </p:txBody>
      </p:sp>
      <p:sp>
        <p:nvSpPr>
          <p:cNvPr id="23" name="role-2-body"/>
          <p:cNvSpPr txBox="1"/>
          <p:nvPr/>
        </p:nvSpPr>
        <p:spPr>
          <a:xfrm>
            <a:off x="8892540" y="2084832"/>
            <a:ext cx="26106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код, опыт, отчёт — каждый в своей копии кода</a:t>
            </a:r>
            <a:endParaRPr lang="en-US" sz="1600" dirty="0"/>
          </a:p>
        </p:txBody>
      </p:sp>
      <p:pic>
        <p:nvPicPr>
          <p:cNvPr id="24" name="role-2-logo-1" descr="/Users/a/MAI/DID/presentation/assets/logos/clau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2540" y="2596896"/>
            <a:ext cx="173736" cy="173736"/>
          </a:xfrm>
          <a:prstGeom prst="rect">
            <a:avLst/>
          </a:prstGeom>
        </p:spPr>
      </p:pic>
      <p:sp>
        <p:nvSpPr>
          <p:cNvPr id="25" name="role-2-model"/>
          <p:cNvSpPr txBox="1"/>
          <p:nvPr/>
        </p:nvSpPr>
        <p:spPr>
          <a:xfrm>
            <a:off x="9148572" y="2587752"/>
            <a:ext cx="230886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Claude Opus 5.5</a:t>
            </a:r>
            <a:endParaRPr lang="en-US" sz="1200" dirty="0"/>
          </a:p>
        </p:txBody>
      </p:sp>
      <p:sp>
        <p:nvSpPr>
          <p:cNvPr id="26" name="role-3-card"/>
          <p:cNvSpPr/>
          <p:nvPr/>
        </p:nvSpPr>
        <p:spPr>
          <a:xfrm>
            <a:off x="5669280" y="2962656"/>
            <a:ext cx="2930652" cy="1161288"/>
          </a:xfrm>
          <a:prstGeom prst="roundRect">
            <a:avLst>
              <a:gd name="adj" fmla="val 6299"/>
            </a:avLst>
          </a:prstGeom>
          <a:solidFill>
            <a:schemeClr val="bg2"/>
          </a:solidFill>
          <a:ln/>
        </p:spPr>
      </p:sp>
      <p:sp>
        <p:nvSpPr>
          <p:cNvPr id="27" name="role-3-head"/>
          <p:cNvSpPr txBox="1"/>
          <p:nvPr/>
        </p:nvSpPr>
        <p:spPr>
          <a:xfrm>
            <a:off x="5852160" y="3072384"/>
            <a:ext cx="25648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Ревьюер (проверяющий)</a:t>
            </a:r>
            <a:endParaRPr lang="en-US" sz="1600" dirty="0"/>
          </a:p>
        </p:txBody>
      </p:sp>
      <p:sp>
        <p:nvSpPr>
          <p:cNvPr id="28" name="role-3-body"/>
          <p:cNvSpPr txBox="1"/>
          <p:nvPr/>
        </p:nvSpPr>
        <p:spPr>
          <a:xfrm>
            <a:off x="5852160" y="3355848"/>
            <a:ext cx="26106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читает разницу, ищет ошибки, ничего не меняет</a:t>
            </a:r>
            <a:endParaRPr lang="en-US" sz="1600" dirty="0"/>
          </a:p>
        </p:txBody>
      </p:sp>
      <p:pic>
        <p:nvPicPr>
          <p:cNvPr id="29" name="role-3-logo-1" descr="/Users/a/MAI/DID/presentation/assets/logos/openai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3867912"/>
            <a:ext cx="173736" cy="173736"/>
          </a:xfrm>
          <a:prstGeom prst="rect">
            <a:avLst/>
          </a:prstGeom>
        </p:spPr>
      </p:pic>
      <p:sp>
        <p:nvSpPr>
          <p:cNvPr id="30" name="role-3-model"/>
          <p:cNvSpPr txBox="1"/>
          <p:nvPr/>
        </p:nvSpPr>
        <p:spPr>
          <a:xfrm>
            <a:off x="6108192" y="3858768"/>
            <a:ext cx="230886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GPT-6.1 Sol</a:t>
            </a:r>
            <a:endParaRPr lang="en-US" sz="1200" dirty="0"/>
          </a:p>
        </p:txBody>
      </p:sp>
      <p:sp>
        <p:nvSpPr>
          <p:cNvPr id="31" name="role-4-card"/>
          <p:cNvSpPr/>
          <p:nvPr/>
        </p:nvSpPr>
        <p:spPr>
          <a:xfrm>
            <a:off x="8709660" y="2962656"/>
            <a:ext cx="2930652" cy="1161288"/>
          </a:xfrm>
          <a:prstGeom prst="roundRect">
            <a:avLst>
              <a:gd name="adj" fmla="val 6299"/>
            </a:avLst>
          </a:prstGeom>
          <a:solidFill>
            <a:schemeClr val="bg2"/>
          </a:solidFill>
          <a:ln/>
        </p:spPr>
      </p:sp>
      <p:sp>
        <p:nvSpPr>
          <p:cNvPr id="32" name="role-4-head"/>
          <p:cNvSpPr txBox="1"/>
          <p:nvPr/>
        </p:nvSpPr>
        <p:spPr>
          <a:xfrm>
            <a:off x="8892540" y="3072384"/>
            <a:ext cx="25648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Советники</a:t>
            </a:r>
            <a:endParaRPr lang="en-US" sz="1600" dirty="0"/>
          </a:p>
        </p:txBody>
      </p:sp>
      <p:sp>
        <p:nvSpPr>
          <p:cNvPr id="33" name="role-4-body"/>
          <p:cNvSpPr txBox="1"/>
          <p:nvPr/>
        </p:nvSpPr>
        <p:spPr>
          <a:xfrm>
            <a:off x="8892540" y="3355848"/>
            <a:ext cx="26106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редко, только на развилках</a:t>
            </a:r>
            <a:endParaRPr lang="en-US" sz="1600" dirty="0"/>
          </a:p>
        </p:txBody>
      </p:sp>
      <p:pic>
        <p:nvPicPr>
          <p:cNvPr id="34" name="role-4-logo-1" descr="/Users/a/MAI/DID/presentation/assets/logos/claud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2540" y="3867912"/>
            <a:ext cx="173736" cy="173736"/>
          </a:xfrm>
          <a:prstGeom prst="rect">
            <a:avLst/>
          </a:prstGeom>
        </p:spPr>
      </p:pic>
      <p:pic>
        <p:nvPicPr>
          <p:cNvPr id="35" name="role-4-logo-2" descr="/Users/a/MAI/DID/presentation/assets/logos/openai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1140" y="3867912"/>
            <a:ext cx="173736" cy="173736"/>
          </a:xfrm>
          <a:prstGeom prst="rect">
            <a:avLst/>
          </a:prstGeom>
        </p:spPr>
      </p:pic>
      <p:sp>
        <p:nvSpPr>
          <p:cNvPr id="36" name="role-4-model"/>
          <p:cNvSpPr txBox="1"/>
          <p:nvPr/>
        </p:nvSpPr>
        <p:spPr>
          <a:xfrm>
            <a:off x="9377172" y="3858768"/>
            <a:ext cx="208026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Fable 5.1 и GPT-6 Astra</a:t>
            </a:r>
            <a:endParaRPr lang="en-US" sz="1200" dirty="0"/>
          </a:p>
        </p:txBody>
      </p:sp>
      <p:sp>
        <p:nvSpPr>
          <p:cNvPr id="37" name="cycle-label"/>
          <p:cNvSpPr txBox="1"/>
          <p:nvPr/>
        </p:nvSpPr>
        <p:spPr>
          <a:xfrm>
            <a:off x="548640" y="4215384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Цикл одного исследования</a:t>
            </a:r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   ветка — отдельная копия кода; ревью — независимая проверка кода другой моделью</a:t>
            </a:r>
            <a:endParaRPr lang="en-US" sz="1300" dirty="0"/>
          </a:p>
        </p:txBody>
      </p:sp>
      <p:sp>
        <p:nvSpPr>
          <p:cNvPr id="38" name="cycle-1-card"/>
          <p:cNvSpPr/>
          <p:nvPr/>
        </p:nvSpPr>
        <p:spPr>
          <a:xfrm>
            <a:off x="548640" y="4507992"/>
            <a:ext cx="1296675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/>
        </p:spPr>
      </p:sp>
      <p:sp>
        <p:nvSpPr>
          <p:cNvPr id="39" name="cycle-1-text"/>
          <p:cNvSpPr txBox="1"/>
          <p:nvPr/>
        </p:nvSpPr>
        <p:spPr>
          <a:xfrm>
            <a:off x="548640" y="4507992"/>
            <a:ext cx="12966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вопрос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и гипотеза</a:t>
            </a:r>
            <a:endParaRPr lang="en-US" sz="1600" dirty="0"/>
          </a:p>
        </p:txBody>
      </p:sp>
      <p:sp>
        <p:nvSpPr>
          <p:cNvPr id="40" name="cycle-1-arrow"/>
          <p:cNvSpPr/>
          <p:nvPr/>
        </p:nvSpPr>
        <p:spPr>
          <a:xfrm>
            <a:off x="1872747" y="4809744"/>
            <a:ext cx="164592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41" name="cycle-2-card"/>
          <p:cNvSpPr/>
          <p:nvPr/>
        </p:nvSpPr>
        <p:spPr>
          <a:xfrm>
            <a:off x="2064771" y="4507992"/>
            <a:ext cx="997442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/>
        </p:spPr>
      </p:sp>
      <p:sp>
        <p:nvSpPr>
          <p:cNvPr id="42" name="cycle-2-text"/>
          <p:cNvSpPr txBox="1"/>
          <p:nvPr/>
        </p:nvSpPr>
        <p:spPr>
          <a:xfrm>
            <a:off x="2064771" y="4507992"/>
            <a:ext cx="99744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задание</a:t>
            </a:r>
            <a:endParaRPr lang="en-US" sz="1600" dirty="0"/>
          </a:p>
        </p:txBody>
      </p:sp>
      <p:sp>
        <p:nvSpPr>
          <p:cNvPr id="43" name="cycle-2-arrow"/>
          <p:cNvSpPr/>
          <p:nvPr/>
        </p:nvSpPr>
        <p:spPr>
          <a:xfrm>
            <a:off x="3089646" y="4809744"/>
            <a:ext cx="164592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44" name="cycle-3-card"/>
          <p:cNvSpPr/>
          <p:nvPr/>
        </p:nvSpPr>
        <p:spPr>
          <a:xfrm>
            <a:off x="3281670" y="4507992"/>
            <a:ext cx="1994885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/>
        </p:spPr>
      </p:sp>
      <p:sp>
        <p:nvSpPr>
          <p:cNvPr id="45" name="cycle-3-text"/>
          <p:cNvSpPr txBox="1"/>
          <p:nvPr/>
        </p:nvSpPr>
        <p:spPr>
          <a:xfrm>
            <a:off x="3281670" y="4507992"/>
            <a:ext cx="199488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код и опыт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в отдельной ветке</a:t>
            </a:r>
            <a:endParaRPr lang="en-US" sz="1600" dirty="0"/>
          </a:p>
        </p:txBody>
      </p:sp>
      <p:sp>
        <p:nvSpPr>
          <p:cNvPr id="46" name="cycle-3-arrow"/>
          <p:cNvSpPr/>
          <p:nvPr/>
        </p:nvSpPr>
        <p:spPr>
          <a:xfrm>
            <a:off x="5303987" y="4809744"/>
            <a:ext cx="164592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47" name="cycle-4-card"/>
          <p:cNvSpPr/>
          <p:nvPr/>
        </p:nvSpPr>
        <p:spPr>
          <a:xfrm>
            <a:off x="5496011" y="4507992"/>
            <a:ext cx="1595908" cy="603504"/>
          </a:xfrm>
          <a:prstGeom prst="roundRect">
            <a:avLst>
              <a:gd name="adj" fmla="val 12121"/>
            </a:avLst>
          </a:prstGeom>
          <a:solidFill>
            <a:schemeClr val="accent1"/>
          </a:solidFill>
          <a:ln/>
        </p:spPr>
      </p:sp>
      <p:sp>
        <p:nvSpPr>
          <p:cNvPr id="48" name="cycle-4-text"/>
          <p:cNvSpPr txBox="1"/>
          <p:nvPr/>
        </p:nvSpPr>
        <p:spPr>
          <a:xfrm>
            <a:off x="5496011" y="4507992"/>
            <a:ext cx="15959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независимое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ревью</a:t>
            </a:r>
            <a:endParaRPr lang="en-US" sz="1600" dirty="0"/>
          </a:p>
        </p:txBody>
      </p:sp>
      <p:sp>
        <p:nvSpPr>
          <p:cNvPr id="49" name="cycle-4-arrow"/>
          <p:cNvSpPr/>
          <p:nvPr/>
        </p:nvSpPr>
        <p:spPr>
          <a:xfrm>
            <a:off x="7119350" y="4809744"/>
            <a:ext cx="164592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50" name="cycle-5-card"/>
          <p:cNvSpPr/>
          <p:nvPr/>
        </p:nvSpPr>
        <p:spPr>
          <a:xfrm>
            <a:off x="7311374" y="4507992"/>
            <a:ext cx="1396419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/>
        </p:spPr>
      </p:sp>
      <p:sp>
        <p:nvSpPr>
          <p:cNvPr id="51" name="cycle-5-text"/>
          <p:cNvSpPr txBox="1"/>
          <p:nvPr/>
        </p:nvSpPr>
        <p:spPr>
          <a:xfrm>
            <a:off x="7311374" y="4507992"/>
            <a:ext cx="139641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исправления</a:t>
            </a:r>
            <a:endParaRPr lang="en-US" sz="1600" dirty="0"/>
          </a:p>
        </p:txBody>
      </p:sp>
      <p:sp>
        <p:nvSpPr>
          <p:cNvPr id="52" name="cycle-5-arrow"/>
          <p:cNvSpPr/>
          <p:nvPr/>
        </p:nvSpPr>
        <p:spPr>
          <a:xfrm>
            <a:off x="8735226" y="4809744"/>
            <a:ext cx="164592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53" name="cycle-6-card"/>
          <p:cNvSpPr/>
          <p:nvPr/>
        </p:nvSpPr>
        <p:spPr>
          <a:xfrm>
            <a:off x="8927250" y="4507992"/>
            <a:ext cx="1396419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/>
        </p:spPr>
      </p:sp>
      <p:sp>
        <p:nvSpPr>
          <p:cNvPr id="54" name="cycle-6-text"/>
          <p:cNvSpPr txBox="1"/>
          <p:nvPr/>
        </p:nvSpPr>
        <p:spPr>
          <a:xfrm>
            <a:off x="8927250" y="4507992"/>
            <a:ext cx="139641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вливание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в общий код</a:t>
            </a:r>
            <a:endParaRPr lang="en-US" sz="1600" dirty="0"/>
          </a:p>
        </p:txBody>
      </p:sp>
      <p:sp>
        <p:nvSpPr>
          <p:cNvPr id="55" name="cycle-6-arrow"/>
          <p:cNvSpPr/>
          <p:nvPr/>
        </p:nvSpPr>
        <p:spPr>
          <a:xfrm>
            <a:off x="10351101" y="4809744"/>
            <a:ext cx="164592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56" name="cycle-7-card"/>
          <p:cNvSpPr/>
          <p:nvPr/>
        </p:nvSpPr>
        <p:spPr>
          <a:xfrm>
            <a:off x="10543125" y="4507992"/>
            <a:ext cx="1097187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/>
        </p:spPr>
      </p:sp>
      <p:sp>
        <p:nvSpPr>
          <p:cNvPr id="57" name="cycle-7-text"/>
          <p:cNvSpPr txBox="1"/>
          <p:nvPr/>
        </p:nvSpPr>
        <p:spPr>
          <a:xfrm>
            <a:off x="10543125" y="4507992"/>
            <a:ext cx="109718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пересчёт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чисел</a:t>
            </a:r>
            <a:endParaRPr lang="en-US" sz="1600" dirty="0"/>
          </a:p>
        </p:txBody>
      </p:sp>
      <p:sp>
        <p:nvSpPr>
          <p:cNvPr id="58" name="num-1-card"/>
          <p:cNvSpPr/>
          <p:nvPr/>
        </p:nvSpPr>
        <p:spPr>
          <a:xfrm>
            <a:off x="548640" y="5239512"/>
            <a:ext cx="2011680" cy="978408"/>
          </a:xfrm>
          <a:prstGeom prst="roundRect">
            <a:avLst>
              <a:gd name="adj" fmla="val 7477"/>
            </a:avLst>
          </a:prstGeom>
          <a:solidFill>
            <a:schemeClr val="bg2"/>
          </a:solidFill>
          <a:ln/>
        </p:spPr>
      </p:sp>
      <p:sp>
        <p:nvSpPr>
          <p:cNvPr id="59" name="num-1-value"/>
          <p:cNvSpPr txBox="1"/>
          <p:nvPr/>
        </p:nvSpPr>
        <p:spPr>
          <a:xfrm>
            <a:off x="749808" y="529437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1,5 суток</a:t>
            </a:r>
            <a:endParaRPr lang="en-US" sz="2800" dirty="0"/>
          </a:p>
        </p:txBody>
      </p:sp>
      <p:sp>
        <p:nvSpPr>
          <p:cNvPr id="60" name="num-1-label"/>
          <p:cNvSpPr txBox="1"/>
          <p:nvPr/>
        </p:nvSpPr>
        <p:spPr>
          <a:xfrm>
            <a:off x="749808" y="5724144"/>
            <a:ext cx="16824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одна непрерывная сессия</a:t>
            </a:r>
            <a:endParaRPr lang="en-US" sz="1300" dirty="0"/>
          </a:p>
        </p:txBody>
      </p:sp>
      <p:sp>
        <p:nvSpPr>
          <p:cNvPr id="61" name="num-2-card"/>
          <p:cNvSpPr/>
          <p:nvPr/>
        </p:nvSpPr>
        <p:spPr>
          <a:xfrm>
            <a:off x="2697480" y="5239512"/>
            <a:ext cx="1828800" cy="978408"/>
          </a:xfrm>
          <a:prstGeom prst="roundRect">
            <a:avLst>
              <a:gd name="adj" fmla="val 7477"/>
            </a:avLst>
          </a:prstGeom>
          <a:solidFill>
            <a:schemeClr val="bg2"/>
          </a:solidFill>
          <a:ln/>
        </p:spPr>
      </p:sp>
      <p:sp>
        <p:nvSpPr>
          <p:cNvPr id="62" name="num-2-value"/>
          <p:cNvSpPr txBox="1"/>
          <p:nvPr/>
        </p:nvSpPr>
        <p:spPr>
          <a:xfrm>
            <a:off x="2898648" y="5294376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75+</a:t>
            </a:r>
            <a:endParaRPr lang="en-US" sz="2800" dirty="0"/>
          </a:p>
        </p:txBody>
      </p:sp>
      <p:sp>
        <p:nvSpPr>
          <p:cNvPr id="63" name="num-2-label"/>
          <p:cNvSpPr txBox="1"/>
          <p:nvPr/>
        </p:nvSpPr>
        <p:spPr>
          <a:xfrm>
            <a:off x="2898648" y="5724144"/>
            <a:ext cx="14996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поручений агентам</a:t>
            </a:r>
            <a:endParaRPr lang="en-US" sz="1300" dirty="0"/>
          </a:p>
        </p:txBody>
      </p:sp>
      <p:sp>
        <p:nvSpPr>
          <p:cNvPr id="64" name="num-3-card"/>
          <p:cNvSpPr/>
          <p:nvPr/>
        </p:nvSpPr>
        <p:spPr>
          <a:xfrm>
            <a:off x="4663440" y="5239512"/>
            <a:ext cx="2514600" cy="978408"/>
          </a:xfrm>
          <a:prstGeom prst="roundRect">
            <a:avLst>
              <a:gd name="adj" fmla="val 7477"/>
            </a:avLst>
          </a:prstGeom>
          <a:solidFill>
            <a:schemeClr val="bg2"/>
          </a:solidFill>
          <a:ln/>
        </p:spPr>
      </p:sp>
      <p:sp>
        <p:nvSpPr>
          <p:cNvPr id="65" name="num-3-value"/>
          <p:cNvSpPr txBox="1"/>
          <p:nvPr/>
        </p:nvSpPr>
        <p:spPr>
          <a:xfrm>
            <a:off x="4864608" y="5294376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15 из 15</a:t>
            </a:r>
            <a:endParaRPr lang="en-US" sz="2800" dirty="0"/>
          </a:p>
        </p:txBody>
      </p:sp>
      <p:sp>
        <p:nvSpPr>
          <p:cNvPr id="66" name="num-3-label"/>
          <p:cNvSpPr txBox="1"/>
          <p:nvPr/>
        </p:nvSpPr>
        <p:spPr>
          <a:xfrm>
            <a:off x="4864608" y="5724144"/>
            <a:ext cx="21854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работ не прошли ревью с первого раза</a:t>
            </a:r>
            <a:endParaRPr lang="en-US" sz="1300" dirty="0"/>
          </a:p>
        </p:txBody>
      </p:sp>
      <p:sp>
        <p:nvSpPr>
          <p:cNvPr id="67" name="num-4-card"/>
          <p:cNvSpPr/>
          <p:nvPr/>
        </p:nvSpPr>
        <p:spPr>
          <a:xfrm>
            <a:off x="7315200" y="5239512"/>
            <a:ext cx="4325112" cy="978408"/>
          </a:xfrm>
          <a:prstGeom prst="roundRect">
            <a:avLst>
              <a:gd name="adj" fmla="val 7477"/>
            </a:avLst>
          </a:prstGeom>
          <a:solidFill>
            <a:schemeClr val="bg2"/>
          </a:solidFill>
          <a:ln/>
        </p:spPr>
      </p:sp>
      <p:sp>
        <p:nvSpPr>
          <p:cNvPr id="68" name="num-4-1-value"/>
          <p:cNvSpPr txBox="1"/>
          <p:nvPr/>
        </p:nvSpPr>
        <p:spPr>
          <a:xfrm>
            <a:off x="7516368" y="529437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241</a:t>
            </a:r>
            <a:endParaRPr lang="en-US" sz="2800" dirty="0"/>
          </a:p>
        </p:txBody>
      </p:sp>
      <p:sp>
        <p:nvSpPr>
          <p:cNvPr id="69" name="num-4-1-label"/>
          <p:cNvSpPr txBox="1"/>
          <p:nvPr/>
        </p:nvSpPr>
        <p:spPr>
          <a:xfrm>
            <a:off x="7516368" y="5724144"/>
            <a:ext cx="1005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правок кода (коммитов)</a:t>
            </a:r>
            <a:endParaRPr lang="en-US" sz="1300" dirty="0"/>
          </a:p>
        </p:txBody>
      </p:sp>
      <p:sp>
        <p:nvSpPr>
          <p:cNvPr id="70" name="num-4-2-value"/>
          <p:cNvSpPr txBox="1"/>
          <p:nvPr/>
        </p:nvSpPr>
        <p:spPr>
          <a:xfrm>
            <a:off x="8613648" y="5294376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982</a:t>
            </a:r>
            <a:endParaRPr lang="en-US" sz="2800" dirty="0"/>
          </a:p>
        </p:txBody>
      </p:sp>
      <p:sp>
        <p:nvSpPr>
          <p:cNvPr id="71" name="num-4-2-label"/>
          <p:cNvSpPr txBox="1"/>
          <p:nvPr/>
        </p:nvSpPr>
        <p:spPr>
          <a:xfrm>
            <a:off x="8613648" y="5724144"/>
            <a:ext cx="12344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автоматических проверок</a:t>
            </a:r>
            <a:endParaRPr lang="en-US" sz="1300" dirty="0"/>
          </a:p>
        </p:txBody>
      </p:sp>
      <p:sp>
        <p:nvSpPr>
          <p:cNvPr id="72" name="num-4-3-value"/>
          <p:cNvSpPr txBox="1"/>
          <p:nvPr/>
        </p:nvSpPr>
        <p:spPr>
          <a:xfrm>
            <a:off x="9939528" y="5294376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24 000+</a:t>
            </a:r>
            <a:endParaRPr lang="en-US" sz="2800" dirty="0"/>
          </a:p>
        </p:txBody>
      </p:sp>
      <p:sp>
        <p:nvSpPr>
          <p:cNvPr id="73" name="num-4-3-label"/>
          <p:cNvSpPr txBox="1"/>
          <p:nvPr/>
        </p:nvSpPr>
        <p:spPr>
          <a:xfrm>
            <a:off x="9939528" y="5724144"/>
            <a:ext cx="1463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прогонов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Как прошли исследования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Каждая строка — одно исследование, каждый значок — один шаг: какая модель работала и чем закончилось</a:t>
            </a:r>
            <a:endParaRPr lang="en-US" sz="1600" dirty="0"/>
          </a:p>
        </p:txBody>
      </p:sp>
      <p:sp>
        <p:nvSpPr>
          <p:cNvPr id="5" name="legend-1-chip-tile"/>
          <p:cNvSpPr/>
          <p:nvPr/>
        </p:nvSpPr>
        <p:spPr>
          <a:xfrm>
            <a:off x="548640" y="1700784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pic>
        <p:nvPicPr>
          <p:cNvPr id="6" name="legend-1-chip" descr="/Users/a/MAI/DID/presentation/assets/logos/gemin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" y="1741932"/>
            <a:ext cx="155448" cy="155448"/>
          </a:xfrm>
          <a:prstGeom prst="rect">
            <a:avLst/>
          </a:prstGeom>
        </p:spPr>
      </p:pic>
      <p:sp>
        <p:nvSpPr>
          <p:cNvPr id="7" name="legend-1-word"/>
          <p:cNvSpPr txBox="1"/>
          <p:nvPr/>
        </p:nvSpPr>
        <p:spPr>
          <a:xfrm>
            <a:off x="859536" y="1691640"/>
            <a:ext cx="2787091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Gemini 3.8 Flash — исследователь</a:t>
            </a:r>
            <a:endParaRPr lang="en-US" sz="1300" dirty="0"/>
          </a:p>
        </p:txBody>
      </p:sp>
      <p:sp>
        <p:nvSpPr>
          <p:cNvPr id="8" name="legend-2-chip-tile"/>
          <p:cNvSpPr/>
          <p:nvPr/>
        </p:nvSpPr>
        <p:spPr>
          <a:xfrm>
            <a:off x="3847795" y="1700784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pic>
        <p:nvPicPr>
          <p:cNvPr id="9" name="legend-2-chip" descr="/Users/a/MAI/DID/presentation/assets/logos/clau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8943" y="1741932"/>
            <a:ext cx="155448" cy="155448"/>
          </a:xfrm>
          <a:prstGeom prst="rect">
            <a:avLst/>
          </a:prstGeom>
        </p:spPr>
      </p:pic>
      <p:sp>
        <p:nvSpPr>
          <p:cNvPr id="10" name="legend-2-word"/>
          <p:cNvSpPr txBox="1"/>
          <p:nvPr/>
        </p:nvSpPr>
        <p:spPr>
          <a:xfrm>
            <a:off x="4158691" y="1691640"/>
            <a:ext cx="21854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Claude Opus 5.5 — инженер</a:t>
            </a:r>
            <a:endParaRPr lang="en-US" sz="1300" dirty="0"/>
          </a:p>
        </p:txBody>
      </p:sp>
      <p:sp>
        <p:nvSpPr>
          <p:cNvPr id="11" name="legend-3-chip-tile"/>
          <p:cNvSpPr/>
          <p:nvPr/>
        </p:nvSpPr>
        <p:spPr>
          <a:xfrm>
            <a:off x="6545275" y="1700784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pic>
        <p:nvPicPr>
          <p:cNvPr id="12" name="legend-3-chip" descr="/Users/a/MAI/DID/presentation/assets/logos/opena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6423" y="1741932"/>
            <a:ext cx="155448" cy="155448"/>
          </a:xfrm>
          <a:prstGeom prst="rect">
            <a:avLst/>
          </a:prstGeom>
        </p:spPr>
      </p:pic>
      <p:sp>
        <p:nvSpPr>
          <p:cNvPr id="13" name="legend-3-word"/>
          <p:cNvSpPr txBox="1"/>
          <p:nvPr/>
        </p:nvSpPr>
        <p:spPr>
          <a:xfrm>
            <a:off x="6856171" y="1691640"/>
            <a:ext cx="1841602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GPT-6.1 Sol — ревьюер</a:t>
            </a:r>
            <a:endParaRPr lang="en-US" sz="1300" dirty="0"/>
          </a:p>
        </p:txBody>
      </p:sp>
      <p:sp>
        <p:nvSpPr>
          <p:cNvPr id="14" name="legend-4-chip"/>
          <p:cNvSpPr txBox="1"/>
          <p:nvPr/>
        </p:nvSpPr>
        <p:spPr>
          <a:xfrm>
            <a:off x="8898941" y="1700784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✓</a:t>
            </a:r>
            <a:endParaRPr lang="en-US" sz="1300" dirty="0"/>
          </a:p>
        </p:txBody>
      </p:sp>
      <p:sp>
        <p:nvSpPr>
          <p:cNvPr id="15" name="legend-4-word"/>
          <p:cNvSpPr txBox="1"/>
          <p:nvPr/>
        </p:nvSpPr>
        <p:spPr>
          <a:xfrm>
            <a:off x="9209837" y="1691640"/>
            <a:ext cx="123992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работа принята</a:t>
            </a:r>
            <a:endParaRPr lang="en-US" sz="1300" dirty="0"/>
          </a:p>
        </p:txBody>
      </p:sp>
      <p:sp>
        <p:nvSpPr>
          <p:cNvPr id="16" name="lane-1-rule"/>
          <p:cNvSpPr/>
          <p:nvPr/>
        </p:nvSpPr>
        <p:spPr>
          <a:xfrm>
            <a:off x="548640" y="2057400"/>
            <a:ext cx="11091672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17" name="lane-1-name"/>
          <p:cNvSpPr txBox="1"/>
          <p:nvPr/>
        </p:nvSpPr>
        <p:spPr>
          <a:xfrm>
            <a:off x="548640" y="2057400"/>
            <a:ext cx="3611880" cy="2792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R1, R4. Среда и гипотезы</a:t>
            </a:r>
            <a:endParaRPr lang="en-US" sz="1600" dirty="0"/>
          </a:p>
        </p:txBody>
      </p:sp>
      <p:sp>
        <p:nvSpPr>
          <p:cNvPr id="18" name="lane-1-chip-1-tile"/>
          <p:cNvSpPr/>
          <p:nvPr/>
        </p:nvSpPr>
        <p:spPr>
          <a:xfrm>
            <a:off x="4251960" y="2078150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pic>
        <p:nvPicPr>
          <p:cNvPr id="19" name="lane-1-chip-1" descr="/Users/a/MAI/DID/presentation/assets/logos/gemini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3108" y="2119298"/>
            <a:ext cx="155448" cy="155448"/>
          </a:xfrm>
          <a:prstGeom prst="rect">
            <a:avLst/>
          </a:prstGeom>
        </p:spPr>
      </p:pic>
      <p:sp>
        <p:nvSpPr>
          <p:cNvPr id="20" name="lane-1-chip-2-tile"/>
          <p:cNvSpPr/>
          <p:nvPr/>
        </p:nvSpPr>
        <p:spPr>
          <a:xfrm>
            <a:off x="4526280" y="2078150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pic>
        <p:nvPicPr>
          <p:cNvPr id="21" name="lane-1-chip-2" descr="/Users/a/MAI/DID/presentation/assets/logos/openai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7428" y="2119298"/>
            <a:ext cx="155448" cy="155448"/>
          </a:xfrm>
          <a:prstGeom prst="rect">
            <a:avLst/>
          </a:prstGeom>
        </p:spPr>
      </p:pic>
      <p:sp>
        <p:nvSpPr>
          <p:cNvPr id="22" name="lane-1-chip-3-tile"/>
          <p:cNvSpPr/>
          <p:nvPr/>
        </p:nvSpPr>
        <p:spPr>
          <a:xfrm>
            <a:off x="4800600" y="2078150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pic>
        <p:nvPicPr>
          <p:cNvPr id="23" name="lane-1-chip-3" descr="/Users/a/MAI/DID/presentation/assets/logos/claud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1748" y="2119298"/>
            <a:ext cx="155448" cy="155448"/>
          </a:xfrm>
          <a:prstGeom prst="rect">
            <a:avLst/>
          </a:prstGeom>
        </p:spPr>
      </p:pic>
      <p:sp>
        <p:nvSpPr>
          <p:cNvPr id="24" name="lane-1-chip-4-tile"/>
          <p:cNvSpPr/>
          <p:nvPr/>
        </p:nvSpPr>
        <p:spPr>
          <a:xfrm>
            <a:off x="5074920" y="2078150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pic>
        <p:nvPicPr>
          <p:cNvPr id="25" name="lane-1-chip-4" descr="/Users/a/MAI/DID/presentation/assets/logos/openai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16068" y="2119298"/>
            <a:ext cx="155448" cy="155448"/>
          </a:xfrm>
          <a:prstGeom prst="rect">
            <a:avLst/>
          </a:prstGeom>
        </p:spPr>
      </p:pic>
      <p:sp>
        <p:nvSpPr>
          <p:cNvPr id="26" name="lane-1-chip-5-tile"/>
          <p:cNvSpPr/>
          <p:nvPr/>
        </p:nvSpPr>
        <p:spPr>
          <a:xfrm>
            <a:off x="5349240" y="2078150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pic>
        <p:nvPicPr>
          <p:cNvPr id="27" name="lane-1-chip-5" descr="/Users/a/MAI/DID/presentation/assets/logos/claud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90388" y="2119298"/>
            <a:ext cx="155448" cy="155448"/>
          </a:xfrm>
          <a:prstGeom prst="rect">
            <a:avLst/>
          </a:prstGeom>
        </p:spPr>
      </p:pic>
      <p:sp>
        <p:nvSpPr>
          <p:cNvPr id="28" name="lane-1-chip-6-tile"/>
          <p:cNvSpPr/>
          <p:nvPr/>
        </p:nvSpPr>
        <p:spPr>
          <a:xfrm>
            <a:off x="5623560" y="2078150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pic>
        <p:nvPicPr>
          <p:cNvPr id="29" name="lane-1-chip-6" descr="/Users/a/MAI/DID/presentation/assets/logos/openai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64708" y="2119298"/>
            <a:ext cx="155448" cy="155448"/>
          </a:xfrm>
          <a:prstGeom prst="rect">
            <a:avLst/>
          </a:prstGeom>
        </p:spPr>
      </p:pic>
      <p:sp>
        <p:nvSpPr>
          <p:cNvPr id="30" name="lane-1-chip-7-tile"/>
          <p:cNvSpPr/>
          <p:nvPr/>
        </p:nvSpPr>
        <p:spPr>
          <a:xfrm>
            <a:off x="5897880" y="2078150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pic>
        <p:nvPicPr>
          <p:cNvPr id="31" name="lane-1-chip-7" descr="/Users/a/MAI/DID/presentation/assets/logos/claud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39028" y="2119298"/>
            <a:ext cx="155448" cy="155448"/>
          </a:xfrm>
          <a:prstGeom prst="rect">
            <a:avLst/>
          </a:prstGeom>
        </p:spPr>
      </p:pic>
      <p:sp>
        <p:nvSpPr>
          <p:cNvPr id="32" name="lane-1-chip-8-tile"/>
          <p:cNvSpPr/>
          <p:nvPr/>
        </p:nvSpPr>
        <p:spPr>
          <a:xfrm>
            <a:off x="6172200" y="2078150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pic>
        <p:nvPicPr>
          <p:cNvPr id="33" name="lane-1-chip-8" descr="/Users/a/MAI/DID/presentation/assets/logos/openai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13348" y="2119298"/>
            <a:ext cx="155448" cy="155448"/>
          </a:xfrm>
          <a:prstGeom prst="rect">
            <a:avLst/>
          </a:prstGeom>
        </p:spPr>
      </p:pic>
      <p:sp>
        <p:nvSpPr>
          <p:cNvPr id="34" name="lane-1-chip-9-tile"/>
          <p:cNvSpPr/>
          <p:nvPr/>
        </p:nvSpPr>
        <p:spPr>
          <a:xfrm>
            <a:off x="6446520" y="2078150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pic>
        <p:nvPicPr>
          <p:cNvPr id="35" name="lane-1-chip-9" descr="/Users/a/MAI/DID/presentation/assets/logos/claud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87668" y="2119298"/>
            <a:ext cx="155448" cy="155448"/>
          </a:xfrm>
          <a:prstGeom prst="rect">
            <a:avLst/>
          </a:prstGeom>
        </p:spPr>
      </p:pic>
      <p:sp>
        <p:nvSpPr>
          <p:cNvPr id="36" name="lane-1-chip-10"/>
          <p:cNvSpPr txBox="1"/>
          <p:nvPr/>
        </p:nvSpPr>
        <p:spPr>
          <a:xfrm>
            <a:off x="6720840" y="2078150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✓</a:t>
            </a:r>
            <a:endParaRPr lang="en-US" sz="1300" dirty="0"/>
          </a:p>
        </p:txBody>
      </p:sp>
      <p:sp>
        <p:nvSpPr>
          <p:cNvPr id="37" name="lane-1-result"/>
          <p:cNvSpPr txBox="1"/>
          <p:nvPr/>
        </p:nvSpPr>
        <p:spPr>
          <a:xfrm>
            <a:off x="7132320" y="2057400"/>
            <a:ext cx="4507992" cy="2792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7 ошибок найдено, два вывода перевёрнуты</a:t>
            </a:r>
            <a:endParaRPr lang="en-US" sz="1400" dirty="0"/>
          </a:p>
        </p:txBody>
      </p:sp>
      <p:sp>
        <p:nvSpPr>
          <p:cNvPr id="38" name="lane-2-rule"/>
          <p:cNvSpPr/>
          <p:nvPr/>
        </p:nvSpPr>
        <p:spPr>
          <a:xfrm>
            <a:off x="548640" y="2336644"/>
            <a:ext cx="11091672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39" name="lane-2-name"/>
          <p:cNvSpPr txBox="1"/>
          <p:nvPr/>
        </p:nvSpPr>
        <p:spPr>
          <a:xfrm>
            <a:off x="548640" y="2336644"/>
            <a:ext cx="3611880" cy="2792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K1–K4. Обзоры литературы</a:t>
            </a:r>
            <a:endParaRPr lang="en-US" sz="1600" dirty="0"/>
          </a:p>
        </p:txBody>
      </p:sp>
      <p:sp>
        <p:nvSpPr>
          <p:cNvPr id="40" name="lane-2-chip-1-tile"/>
          <p:cNvSpPr/>
          <p:nvPr/>
        </p:nvSpPr>
        <p:spPr>
          <a:xfrm>
            <a:off x="4251960" y="2357394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pic>
        <p:nvPicPr>
          <p:cNvPr id="41" name="lane-2-chip-1" descr="/Users/a/MAI/DID/presentation/assets/logos/gemini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93108" y="2398542"/>
            <a:ext cx="155448" cy="155448"/>
          </a:xfrm>
          <a:prstGeom prst="rect">
            <a:avLst/>
          </a:prstGeom>
        </p:spPr>
      </p:pic>
      <p:sp>
        <p:nvSpPr>
          <p:cNvPr id="42" name="lane-2-chip-2-tile"/>
          <p:cNvSpPr/>
          <p:nvPr/>
        </p:nvSpPr>
        <p:spPr>
          <a:xfrm>
            <a:off x="4526280" y="2357394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pic>
        <p:nvPicPr>
          <p:cNvPr id="43" name="lane-2-chip-2" descr="/Users/a/MAI/DID/presentation/assets/logos/gemini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67428" y="2398542"/>
            <a:ext cx="155448" cy="155448"/>
          </a:xfrm>
          <a:prstGeom prst="rect">
            <a:avLst/>
          </a:prstGeom>
        </p:spPr>
      </p:pic>
      <p:sp>
        <p:nvSpPr>
          <p:cNvPr id="44" name="lane-2-chip-3-tile"/>
          <p:cNvSpPr/>
          <p:nvPr/>
        </p:nvSpPr>
        <p:spPr>
          <a:xfrm>
            <a:off x="4800600" y="2357394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pic>
        <p:nvPicPr>
          <p:cNvPr id="45" name="lane-2-chip-3" descr="/Users/a/MAI/DID/presentation/assets/logos/gemini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41748" y="2398542"/>
            <a:ext cx="155448" cy="155448"/>
          </a:xfrm>
          <a:prstGeom prst="rect">
            <a:avLst/>
          </a:prstGeom>
        </p:spPr>
      </p:pic>
      <p:sp>
        <p:nvSpPr>
          <p:cNvPr id="46" name="lane-2-chip-4-tile"/>
          <p:cNvSpPr/>
          <p:nvPr/>
        </p:nvSpPr>
        <p:spPr>
          <a:xfrm>
            <a:off x="5074920" y="2357394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pic>
        <p:nvPicPr>
          <p:cNvPr id="47" name="lane-2-chip-4" descr="/Users/a/MAI/DID/presentation/assets/logos/gemini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116068" y="2398542"/>
            <a:ext cx="155448" cy="155448"/>
          </a:xfrm>
          <a:prstGeom prst="rect">
            <a:avLst/>
          </a:prstGeom>
        </p:spPr>
      </p:pic>
      <p:sp>
        <p:nvSpPr>
          <p:cNvPr id="48" name="lane-2-chip-5-tile"/>
          <p:cNvSpPr/>
          <p:nvPr/>
        </p:nvSpPr>
        <p:spPr>
          <a:xfrm>
            <a:off x="5349240" y="2357394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pic>
        <p:nvPicPr>
          <p:cNvPr id="49" name="lane-2-chip-5" descr="/Users/a/MAI/DID/presentation/assets/logos/claude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390388" y="2398542"/>
            <a:ext cx="155448" cy="155448"/>
          </a:xfrm>
          <a:prstGeom prst="rect">
            <a:avLst/>
          </a:prstGeom>
        </p:spPr>
      </p:pic>
      <p:sp>
        <p:nvSpPr>
          <p:cNvPr id="50" name="lane-2-chip-6"/>
          <p:cNvSpPr txBox="1"/>
          <p:nvPr/>
        </p:nvSpPr>
        <p:spPr>
          <a:xfrm>
            <a:off x="5623560" y="2357394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✓</a:t>
            </a:r>
            <a:endParaRPr lang="en-US" sz="1300" dirty="0"/>
          </a:p>
        </p:txBody>
      </p:sp>
      <p:sp>
        <p:nvSpPr>
          <p:cNvPr id="51" name="lane-2-result"/>
          <p:cNvSpPr txBox="1"/>
          <p:nvPr/>
        </p:nvSpPr>
        <p:spPr>
          <a:xfrm>
            <a:off x="7132320" y="2336644"/>
            <a:ext cx="4507992" cy="2792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проверка нашла две выдуманные ссылки</a:t>
            </a:r>
            <a:endParaRPr lang="en-US" sz="1400" dirty="0"/>
          </a:p>
        </p:txBody>
      </p:sp>
      <p:sp>
        <p:nvSpPr>
          <p:cNvPr id="52" name="lane-3-rule"/>
          <p:cNvSpPr/>
          <p:nvPr/>
        </p:nvSpPr>
        <p:spPr>
          <a:xfrm>
            <a:off x="548640" y="2615887"/>
            <a:ext cx="11091672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53" name="lane-3-name"/>
          <p:cNvSpPr txBox="1"/>
          <p:nvPr/>
        </p:nvSpPr>
        <p:spPr>
          <a:xfrm>
            <a:off x="548640" y="2615887"/>
            <a:ext cx="3611880" cy="2792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R13 → L3. Миссия словами</a:t>
            </a:r>
            <a:endParaRPr lang="en-US" sz="1600" dirty="0"/>
          </a:p>
        </p:txBody>
      </p:sp>
      <p:sp>
        <p:nvSpPr>
          <p:cNvPr id="54" name="lane-3-chip-1-tile"/>
          <p:cNvSpPr/>
          <p:nvPr/>
        </p:nvSpPr>
        <p:spPr>
          <a:xfrm>
            <a:off x="4251960" y="2636637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pic>
        <p:nvPicPr>
          <p:cNvPr id="55" name="lane-3-chip-1" descr="/Users/a/MAI/DID/presentation/assets/logos/gemini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293108" y="2677785"/>
            <a:ext cx="155448" cy="155448"/>
          </a:xfrm>
          <a:prstGeom prst="rect">
            <a:avLst/>
          </a:prstGeom>
        </p:spPr>
      </p:pic>
      <p:sp>
        <p:nvSpPr>
          <p:cNvPr id="56" name="lane-3-chip-2-tile"/>
          <p:cNvSpPr/>
          <p:nvPr/>
        </p:nvSpPr>
        <p:spPr>
          <a:xfrm>
            <a:off x="4526280" y="2636637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pic>
        <p:nvPicPr>
          <p:cNvPr id="57" name="lane-3-chip-2" descr="/Users/a/MAI/DID/presentation/assets/logos/claude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67428" y="2677785"/>
            <a:ext cx="155448" cy="155448"/>
          </a:xfrm>
          <a:prstGeom prst="rect">
            <a:avLst/>
          </a:prstGeom>
        </p:spPr>
      </p:pic>
      <p:sp>
        <p:nvSpPr>
          <p:cNvPr id="58" name="lane-3-chip-3-tile"/>
          <p:cNvSpPr/>
          <p:nvPr/>
        </p:nvSpPr>
        <p:spPr>
          <a:xfrm>
            <a:off x="4800600" y="2636637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pic>
        <p:nvPicPr>
          <p:cNvPr id="59" name="lane-3-chip-3" descr="/Users/a/MAI/DID/presentation/assets/logos/openai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841748" y="2677785"/>
            <a:ext cx="155448" cy="155448"/>
          </a:xfrm>
          <a:prstGeom prst="rect">
            <a:avLst/>
          </a:prstGeom>
        </p:spPr>
      </p:pic>
      <p:sp>
        <p:nvSpPr>
          <p:cNvPr id="60" name="lane-3-chip-4-tile"/>
          <p:cNvSpPr/>
          <p:nvPr/>
        </p:nvSpPr>
        <p:spPr>
          <a:xfrm>
            <a:off x="5074920" y="2636637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pic>
        <p:nvPicPr>
          <p:cNvPr id="61" name="lane-3-chip-4" descr="/Users/a/MAI/DID/presentation/assets/logos/claude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116068" y="2677785"/>
            <a:ext cx="155448" cy="155448"/>
          </a:xfrm>
          <a:prstGeom prst="rect">
            <a:avLst/>
          </a:prstGeom>
        </p:spPr>
      </p:pic>
      <p:sp>
        <p:nvSpPr>
          <p:cNvPr id="62" name="lane-3-chip-5"/>
          <p:cNvSpPr txBox="1"/>
          <p:nvPr/>
        </p:nvSpPr>
        <p:spPr>
          <a:xfrm>
            <a:off x="5349240" y="2636637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✓</a:t>
            </a:r>
            <a:endParaRPr lang="en-US" sz="1300" dirty="0"/>
          </a:p>
        </p:txBody>
      </p:sp>
      <p:sp>
        <p:nvSpPr>
          <p:cNvPr id="63" name="lane-3-next"/>
          <p:cNvSpPr txBox="1"/>
          <p:nvPr/>
        </p:nvSpPr>
        <p:spPr>
          <a:xfrm>
            <a:off x="5623560" y="2615887"/>
            <a:ext cx="237744" cy="279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→</a:t>
            </a:r>
            <a:endParaRPr lang="en-US" sz="1400" dirty="0"/>
          </a:p>
        </p:txBody>
      </p:sp>
      <p:sp>
        <p:nvSpPr>
          <p:cNvPr id="64" name="lane-3-chip-7-tile"/>
          <p:cNvSpPr/>
          <p:nvPr/>
        </p:nvSpPr>
        <p:spPr>
          <a:xfrm>
            <a:off x="5897880" y="2636637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pic>
        <p:nvPicPr>
          <p:cNvPr id="65" name="lane-3-chip-7" descr="/Users/a/MAI/DID/presentation/assets/logos/claude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939028" y="2677785"/>
            <a:ext cx="155448" cy="155448"/>
          </a:xfrm>
          <a:prstGeom prst="rect">
            <a:avLst/>
          </a:prstGeom>
        </p:spPr>
      </p:pic>
      <p:sp>
        <p:nvSpPr>
          <p:cNvPr id="66" name="lane-3-chip-8-tile"/>
          <p:cNvSpPr/>
          <p:nvPr/>
        </p:nvSpPr>
        <p:spPr>
          <a:xfrm>
            <a:off x="6172200" y="2636637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pic>
        <p:nvPicPr>
          <p:cNvPr id="67" name="lane-3-chip-8" descr="/Users/a/MAI/DID/presentation/assets/logos/openai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213348" y="2677785"/>
            <a:ext cx="155448" cy="155448"/>
          </a:xfrm>
          <a:prstGeom prst="rect">
            <a:avLst/>
          </a:prstGeom>
        </p:spPr>
      </p:pic>
      <p:sp>
        <p:nvSpPr>
          <p:cNvPr id="68" name="lane-3-chip-9-tile"/>
          <p:cNvSpPr/>
          <p:nvPr/>
        </p:nvSpPr>
        <p:spPr>
          <a:xfrm>
            <a:off x="6446520" y="2636637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pic>
        <p:nvPicPr>
          <p:cNvPr id="69" name="lane-3-chip-9" descr="/Users/a/MAI/DID/presentation/assets/logos/claude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487668" y="2677785"/>
            <a:ext cx="155448" cy="155448"/>
          </a:xfrm>
          <a:prstGeom prst="rect">
            <a:avLst/>
          </a:prstGeom>
        </p:spPr>
      </p:pic>
      <p:sp>
        <p:nvSpPr>
          <p:cNvPr id="70" name="lane-3-chip-10"/>
          <p:cNvSpPr txBox="1"/>
          <p:nvPr/>
        </p:nvSpPr>
        <p:spPr>
          <a:xfrm>
            <a:off x="6720840" y="2636637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✓</a:t>
            </a:r>
            <a:endParaRPr lang="en-US" sz="1300" dirty="0"/>
          </a:p>
        </p:txBody>
      </p:sp>
      <p:sp>
        <p:nvSpPr>
          <p:cNvPr id="71" name="lane-3-result"/>
          <p:cNvSpPr txBox="1"/>
          <p:nvPr/>
        </p:nvSpPr>
        <p:spPr>
          <a:xfrm>
            <a:off x="7132320" y="2615887"/>
            <a:ext cx="4507992" cy="2792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модель — 45–46 из 48 прогонов, правило — 0 из 48</a:t>
            </a:r>
            <a:endParaRPr lang="en-US" sz="1400" dirty="0"/>
          </a:p>
        </p:txBody>
      </p:sp>
      <p:sp>
        <p:nvSpPr>
          <p:cNvPr id="72" name="lane-4-rule"/>
          <p:cNvSpPr/>
          <p:nvPr/>
        </p:nvSpPr>
        <p:spPr>
          <a:xfrm>
            <a:off x="548640" y="2895131"/>
            <a:ext cx="11091672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73" name="lane-4-name"/>
          <p:cNvSpPr txBox="1"/>
          <p:nvPr/>
        </p:nvSpPr>
        <p:spPr>
          <a:xfrm>
            <a:off x="548640" y="2895131"/>
            <a:ext cx="3611880" cy="2792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R16. Ехать, пока модель думает</a:t>
            </a:r>
            <a:endParaRPr lang="en-US" sz="1600" dirty="0"/>
          </a:p>
        </p:txBody>
      </p:sp>
      <p:sp>
        <p:nvSpPr>
          <p:cNvPr id="74" name="lane-4-chip-1-tile"/>
          <p:cNvSpPr/>
          <p:nvPr/>
        </p:nvSpPr>
        <p:spPr>
          <a:xfrm>
            <a:off x="4251960" y="2915881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pic>
        <p:nvPicPr>
          <p:cNvPr id="75" name="lane-4-chip-1" descr="/Users/a/MAI/DID/presentation/assets/logos/claude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293108" y="2957029"/>
            <a:ext cx="155448" cy="155448"/>
          </a:xfrm>
          <a:prstGeom prst="rect">
            <a:avLst/>
          </a:prstGeom>
        </p:spPr>
      </p:pic>
      <p:sp>
        <p:nvSpPr>
          <p:cNvPr id="76" name="lane-4-chip-2-tile"/>
          <p:cNvSpPr/>
          <p:nvPr/>
        </p:nvSpPr>
        <p:spPr>
          <a:xfrm>
            <a:off x="4526280" y="2915881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pic>
        <p:nvPicPr>
          <p:cNvPr id="77" name="lane-4-chip-2" descr="/Users/a/MAI/DID/presentation/assets/logos/openai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567428" y="2957029"/>
            <a:ext cx="155448" cy="155448"/>
          </a:xfrm>
          <a:prstGeom prst="rect">
            <a:avLst/>
          </a:prstGeom>
        </p:spPr>
      </p:pic>
      <p:sp>
        <p:nvSpPr>
          <p:cNvPr id="78" name="lane-4-chip-3-tile"/>
          <p:cNvSpPr/>
          <p:nvPr/>
        </p:nvSpPr>
        <p:spPr>
          <a:xfrm>
            <a:off x="4800600" y="2915881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pic>
        <p:nvPicPr>
          <p:cNvPr id="79" name="lane-4-chip-3" descr="/Users/a/MAI/DID/presentation/assets/logos/claude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841748" y="2957029"/>
            <a:ext cx="155448" cy="155448"/>
          </a:xfrm>
          <a:prstGeom prst="rect">
            <a:avLst/>
          </a:prstGeom>
        </p:spPr>
      </p:pic>
      <p:sp>
        <p:nvSpPr>
          <p:cNvPr id="80" name="lane-4-chip-4-tile"/>
          <p:cNvSpPr/>
          <p:nvPr/>
        </p:nvSpPr>
        <p:spPr>
          <a:xfrm>
            <a:off x="5074920" y="2915881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pic>
        <p:nvPicPr>
          <p:cNvPr id="81" name="lane-4-chip-4" descr="/Users/a/MAI/DID/presentation/assets/logos/openai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116068" y="2957029"/>
            <a:ext cx="155448" cy="155448"/>
          </a:xfrm>
          <a:prstGeom prst="rect">
            <a:avLst/>
          </a:prstGeom>
        </p:spPr>
      </p:pic>
      <p:sp>
        <p:nvSpPr>
          <p:cNvPr id="82" name="lane-4-chip-5-tile"/>
          <p:cNvSpPr/>
          <p:nvPr/>
        </p:nvSpPr>
        <p:spPr>
          <a:xfrm>
            <a:off x="5349240" y="2915881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pic>
        <p:nvPicPr>
          <p:cNvPr id="83" name="lane-4-chip-5" descr="/Users/a/MAI/DID/presentation/assets/logos/claude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390388" y="2957029"/>
            <a:ext cx="155448" cy="155448"/>
          </a:xfrm>
          <a:prstGeom prst="rect">
            <a:avLst/>
          </a:prstGeom>
        </p:spPr>
      </p:pic>
      <p:sp>
        <p:nvSpPr>
          <p:cNvPr id="84" name="lane-4-chip-6"/>
          <p:cNvSpPr txBox="1"/>
          <p:nvPr/>
        </p:nvSpPr>
        <p:spPr>
          <a:xfrm>
            <a:off x="5623560" y="2915881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✓</a:t>
            </a:r>
            <a:endParaRPr lang="en-US" sz="1300" dirty="0"/>
          </a:p>
        </p:txBody>
      </p:sp>
      <p:sp>
        <p:nvSpPr>
          <p:cNvPr id="85" name="lane-4-result"/>
          <p:cNvSpPr txBox="1"/>
          <p:nvPr/>
        </p:nvSpPr>
        <p:spPr>
          <a:xfrm>
            <a:off x="7132320" y="2895131"/>
            <a:ext cx="4507992" cy="2792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на имитаторе: ждать −73 очка, ехать по правилу +42</a:t>
            </a:r>
            <a:endParaRPr lang="en-US" sz="1400" dirty="0"/>
          </a:p>
        </p:txBody>
      </p:sp>
      <p:sp>
        <p:nvSpPr>
          <p:cNvPr id="86" name="lane-5-rule"/>
          <p:cNvSpPr/>
          <p:nvPr/>
        </p:nvSpPr>
        <p:spPr>
          <a:xfrm>
            <a:off x="548640" y="3174375"/>
            <a:ext cx="11091672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87" name="lane-5-name"/>
          <p:cNvSpPr txBox="1"/>
          <p:nvPr/>
        </p:nvSpPr>
        <p:spPr>
          <a:xfrm>
            <a:off x="548640" y="3174375"/>
            <a:ext cx="3611880" cy="2792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R10. Смена грунта на пути</a:t>
            </a:r>
            <a:endParaRPr lang="en-US" sz="1600" dirty="0"/>
          </a:p>
        </p:txBody>
      </p:sp>
      <p:sp>
        <p:nvSpPr>
          <p:cNvPr id="88" name="lane-5-chip-1-tile"/>
          <p:cNvSpPr/>
          <p:nvPr/>
        </p:nvSpPr>
        <p:spPr>
          <a:xfrm>
            <a:off x="4251960" y="3195125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pic>
        <p:nvPicPr>
          <p:cNvPr id="89" name="lane-5-chip-1" descr="/Users/a/MAI/DID/presentation/assets/logos/claude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293108" y="3236273"/>
            <a:ext cx="155448" cy="155448"/>
          </a:xfrm>
          <a:prstGeom prst="rect">
            <a:avLst/>
          </a:prstGeom>
        </p:spPr>
      </p:pic>
      <p:sp>
        <p:nvSpPr>
          <p:cNvPr id="90" name="lane-5-chip-2-tile"/>
          <p:cNvSpPr/>
          <p:nvPr/>
        </p:nvSpPr>
        <p:spPr>
          <a:xfrm>
            <a:off x="4526280" y="3195125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pic>
        <p:nvPicPr>
          <p:cNvPr id="91" name="lane-5-chip-2" descr="/Users/a/MAI/DID/presentation/assets/logos/openai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567428" y="3236273"/>
            <a:ext cx="155448" cy="155448"/>
          </a:xfrm>
          <a:prstGeom prst="rect">
            <a:avLst/>
          </a:prstGeom>
        </p:spPr>
      </p:pic>
      <p:sp>
        <p:nvSpPr>
          <p:cNvPr id="92" name="lane-5-chip-3-tile"/>
          <p:cNvSpPr/>
          <p:nvPr/>
        </p:nvSpPr>
        <p:spPr>
          <a:xfrm>
            <a:off x="4800600" y="3195125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pic>
        <p:nvPicPr>
          <p:cNvPr id="93" name="lane-5-chip-3" descr="/Users/a/MAI/DID/presentation/assets/logos/claude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841748" y="3236273"/>
            <a:ext cx="155448" cy="155448"/>
          </a:xfrm>
          <a:prstGeom prst="rect">
            <a:avLst/>
          </a:prstGeom>
        </p:spPr>
      </p:pic>
      <p:sp>
        <p:nvSpPr>
          <p:cNvPr id="94" name="lane-5-chip-4-tile"/>
          <p:cNvSpPr/>
          <p:nvPr/>
        </p:nvSpPr>
        <p:spPr>
          <a:xfrm>
            <a:off x="5074920" y="3195125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pic>
        <p:nvPicPr>
          <p:cNvPr id="95" name="lane-5-chip-4" descr="/Users/a/MAI/DID/presentation/assets/logos/openai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116068" y="3236273"/>
            <a:ext cx="155448" cy="155448"/>
          </a:xfrm>
          <a:prstGeom prst="rect">
            <a:avLst/>
          </a:prstGeom>
        </p:spPr>
      </p:pic>
      <p:sp>
        <p:nvSpPr>
          <p:cNvPr id="96" name="lane-5-chip-5"/>
          <p:cNvSpPr txBox="1"/>
          <p:nvPr/>
        </p:nvSpPr>
        <p:spPr>
          <a:xfrm>
            <a:off x="5349240" y="3195125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✓</a:t>
            </a:r>
            <a:endParaRPr lang="en-US" sz="1300" dirty="0"/>
          </a:p>
        </p:txBody>
      </p:sp>
      <p:sp>
        <p:nvSpPr>
          <p:cNvPr id="97" name="lane-5-result"/>
          <p:cNvSpPr txBox="1"/>
          <p:nvPr/>
        </p:nvSpPr>
        <p:spPr>
          <a:xfrm>
            <a:off x="7132320" y="3174375"/>
            <a:ext cx="4507992" cy="2792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выигрыш не показан — так и записано</a:t>
            </a:r>
            <a:endParaRPr lang="en-US" sz="1400" dirty="0"/>
          </a:p>
        </p:txBody>
      </p:sp>
      <p:sp>
        <p:nvSpPr>
          <p:cNvPr id="98" name="lane-6-rule"/>
          <p:cNvSpPr/>
          <p:nvPr/>
        </p:nvSpPr>
        <p:spPr>
          <a:xfrm>
            <a:off x="548640" y="3453618"/>
            <a:ext cx="11091672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99" name="lane-6-name"/>
          <p:cNvSpPr txBox="1"/>
          <p:nvPr/>
        </p:nvSpPr>
        <p:spPr>
          <a:xfrm>
            <a:off x="548640" y="3453618"/>
            <a:ext cx="3611880" cy="2792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G2 → G3. Положение и сторожа</a:t>
            </a:r>
            <a:endParaRPr lang="en-US" sz="1600" dirty="0"/>
          </a:p>
        </p:txBody>
      </p:sp>
      <p:sp>
        <p:nvSpPr>
          <p:cNvPr id="100" name="lane-6-chip-1-tile"/>
          <p:cNvSpPr/>
          <p:nvPr/>
        </p:nvSpPr>
        <p:spPr>
          <a:xfrm>
            <a:off x="4251960" y="3474368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pic>
        <p:nvPicPr>
          <p:cNvPr id="101" name="lane-6-chip-1" descr="/Users/a/MAI/DID/presentation/assets/logos/claude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293108" y="3515516"/>
            <a:ext cx="155448" cy="155448"/>
          </a:xfrm>
          <a:prstGeom prst="rect">
            <a:avLst/>
          </a:prstGeom>
        </p:spPr>
      </p:pic>
      <p:sp>
        <p:nvSpPr>
          <p:cNvPr id="102" name="lane-6-chip-2-tile"/>
          <p:cNvSpPr/>
          <p:nvPr/>
        </p:nvSpPr>
        <p:spPr>
          <a:xfrm>
            <a:off x="4526280" y="3474368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pic>
        <p:nvPicPr>
          <p:cNvPr id="103" name="lane-6-chip-2" descr="/Users/a/MAI/DID/presentation/assets/logos/openai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567428" y="3515516"/>
            <a:ext cx="155448" cy="155448"/>
          </a:xfrm>
          <a:prstGeom prst="rect">
            <a:avLst/>
          </a:prstGeom>
        </p:spPr>
      </p:pic>
      <p:sp>
        <p:nvSpPr>
          <p:cNvPr id="104" name="lane-6-chip-3-tile"/>
          <p:cNvSpPr/>
          <p:nvPr/>
        </p:nvSpPr>
        <p:spPr>
          <a:xfrm>
            <a:off x="4800600" y="3474368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pic>
        <p:nvPicPr>
          <p:cNvPr id="105" name="lane-6-chip-3" descr="/Users/a/MAI/DID/presentation/assets/logos/claude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841748" y="3515516"/>
            <a:ext cx="155448" cy="155448"/>
          </a:xfrm>
          <a:prstGeom prst="rect">
            <a:avLst/>
          </a:prstGeom>
        </p:spPr>
      </p:pic>
      <p:sp>
        <p:nvSpPr>
          <p:cNvPr id="106" name="lane-6-chip-4"/>
          <p:cNvSpPr txBox="1"/>
          <p:nvPr/>
        </p:nvSpPr>
        <p:spPr>
          <a:xfrm>
            <a:off x="5074920" y="3474368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✓</a:t>
            </a:r>
            <a:endParaRPr lang="en-US" sz="1300" dirty="0"/>
          </a:p>
        </p:txBody>
      </p:sp>
      <p:sp>
        <p:nvSpPr>
          <p:cNvPr id="107" name="lane-6-next"/>
          <p:cNvSpPr txBox="1"/>
          <p:nvPr/>
        </p:nvSpPr>
        <p:spPr>
          <a:xfrm>
            <a:off x="5349240" y="3453618"/>
            <a:ext cx="237744" cy="279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→</a:t>
            </a:r>
            <a:endParaRPr lang="en-US" sz="1400" dirty="0"/>
          </a:p>
        </p:txBody>
      </p:sp>
      <p:sp>
        <p:nvSpPr>
          <p:cNvPr id="108" name="lane-6-chip-6-tile"/>
          <p:cNvSpPr/>
          <p:nvPr/>
        </p:nvSpPr>
        <p:spPr>
          <a:xfrm>
            <a:off x="5623560" y="3474368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pic>
        <p:nvPicPr>
          <p:cNvPr id="109" name="lane-6-chip-6" descr="/Users/a/MAI/DID/presentation/assets/logos/claude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5664708" y="3515516"/>
            <a:ext cx="155448" cy="155448"/>
          </a:xfrm>
          <a:prstGeom prst="rect">
            <a:avLst/>
          </a:prstGeom>
        </p:spPr>
      </p:pic>
      <p:sp>
        <p:nvSpPr>
          <p:cNvPr id="110" name="lane-6-chip-7-tile"/>
          <p:cNvSpPr/>
          <p:nvPr/>
        </p:nvSpPr>
        <p:spPr>
          <a:xfrm>
            <a:off x="5897880" y="3474368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pic>
        <p:nvPicPr>
          <p:cNvPr id="111" name="lane-6-chip-7" descr="/Users/a/MAI/DID/presentation/assets/logos/openai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5939028" y="3515516"/>
            <a:ext cx="155448" cy="155448"/>
          </a:xfrm>
          <a:prstGeom prst="rect">
            <a:avLst/>
          </a:prstGeom>
        </p:spPr>
      </p:pic>
      <p:sp>
        <p:nvSpPr>
          <p:cNvPr id="112" name="lane-6-chip-8-tile"/>
          <p:cNvSpPr/>
          <p:nvPr/>
        </p:nvSpPr>
        <p:spPr>
          <a:xfrm>
            <a:off x="6172200" y="3474368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pic>
        <p:nvPicPr>
          <p:cNvPr id="113" name="lane-6-chip-8" descr="/Users/a/MAI/DID/presentation/assets/logos/claude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6213348" y="3515516"/>
            <a:ext cx="155448" cy="155448"/>
          </a:xfrm>
          <a:prstGeom prst="rect">
            <a:avLst/>
          </a:prstGeom>
        </p:spPr>
      </p:pic>
      <p:sp>
        <p:nvSpPr>
          <p:cNvPr id="114" name="lane-6-chip-9-tile"/>
          <p:cNvSpPr/>
          <p:nvPr/>
        </p:nvSpPr>
        <p:spPr>
          <a:xfrm>
            <a:off x="6446520" y="3474368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pic>
        <p:nvPicPr>
          <p:cNvPr id="115" name="lane-6-chip-9" descr="/Users/a/MAI/DID/presentation/assets/logos/openai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6487668" y="3515516"/>
            <a:ext cx="155448" cy="155448"/>
          </a:xfrm>
          <a:prstGeom prst="rect">
            <a:avLst/>
          </a:prstGeom>
        </p:spPr>
      </p:pic>
      <p:sp>
        <p:nvSpPr>
          <p:cNvPr id="116" name="lane-6-chip-10"/>
          <p:cNvSpPr txBox="1"/>
          <p:nvPr/>
        </p:nvSpPr>
        <p:spPr>
          <a:xfrm>
            <a:off x="6720840" y="3474368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✓</a:t>
            </a:r>
            <a:endParaRPr lang="en-US" sz="1300" dirty="0"/>
          </a:p>
        </p:txBody>
      </p:sp>
      <p:sp>
        <p:nvSpPr>
          <p:cNvPr id="117" name="lane-6-result"/>
          <p:cNvSpPr txBox="1"/>
          <p:nvPr/>
        </p:nvSpPr>
        <p:spPr>
          <a:xfrm>
            <a:off x="7132320" y="3453618"/>
            <a:ext cx="4507992" cy="2792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возврат на базу в Gazebo: 8 из 9 → 7 из 7</a:t>
            </a:r>
            <a:endParaRPr lang="en-US" sz="1400" dirty="0"/>
          </a:p>
        </p:txBody>
      </p:sp>
      <p:sp>
        <p:nvSpPr>
          <p:cNvPr id="118" name="lane-7-rule"/>
          <p:cNvSpPr/>
          <p:nvPr/>
        </p:nvSpPr>
        <p:spPr>
          <a:xfrm>
            <a:off x="548640" y="3732862"/>
            <a:ext cx="11091672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119" name="lane-7-name"/>
          <p:cNvSpPr txBox="1"/>
          <p:nvPr/>
        </p:nvSpPr>
        <p:spPr>
          <a:xfrm>
            <a:off x="548640" y="3732862"/>
            <a:ext cx="3611880" cy="2792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P1 → P2. Где робот теряет очки</a:t>
            </a:r>
            <a:endParaRPr lang="en-US" sz="1600" dirty="0"/>
          </a:p>
        </p:txBody>
      </p:sp>
      <p:sp>
        <p:nvSpPr>
          <p:cNvPr id="120" name="lane-7-chip-1-tile"/>
          <p:cNvSpPr/>
          <p:nvPr/>
        </p:nvSpPr>
        <p:spPr>
          <a:xfrm>
            <a:off x="4251960" y="3753612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pic>
        <p:nvPicPr>
          <p:cNvPr id="121" name="lane-7-chip-1" descr="/Users/a/MAI/DID/presentation/assets/logos/claude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4293108" y="3794760"/>
            <a:ext cx="155448" cy="155448"/>
          </a:xfrm>
          <a:prstGeom prst="rect">
            <a:avLst/>
          </a:prstGeom>
        </p:spPr>
      </p:pic>
      <p:sp>
        <p:nvSpPr>
          <p:cNvPr id="122" name="lane-7-chip-2-tile"/>
          <p:cNvSpPr/>
          <p:nvPr/>
        </p:nvSpPr>
        <p:spPr>
          <a:xfrm>
            <a:off x="4526280" y="3753612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pic>
        <p:nvPicPr>
          <p:cNvPr id="123" name="lane-7-chip-2" descr="/Users/a/MAI/DID/presentation/assets/logos/openai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4567428" y="3794760"/>
            <a:ext cx="155448" cy="155448"/>
          </a:xfrm>
          <a:prstGeom prst="rect">
            <a:avLst/>
          </a:prstGeom>
        </p:spPr>
      </p:pic>
      <p:sp>
        <p:nvSpPr>
          <p:cNvPr id="124" name="lane-7-chip-3-tile"/>
          <p:cNvSpPr/>
          <p:nvPr/>
        </p:nvSpPr>
        <p:spPr>
          <a:xfrm>
            <a:off x="4800600" y="3753612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pic>
        <p:nvPicPr>
          <p:cNvPr id="125" name="lane-7-chip-3" descr="/Users/a/MAI/DID/presentation/assets/logos/claude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4841748" y="3794760"/>
            <a:ext cx="155448" cy="155448"/>
          </a:xfrm>
          <a:prstGeom prst="rect">
            <a:avLst/>
          </a:prstGeom>
        </p:spPr>
      </p:pic>
      <p:sp>
        <p:nvSpPr>
          <p:cNvPr id="126" name="lane-7-chip-4-tile"/>
          <p:cNvSpPr/>
          <p:nvPr/>
        </p:nvSpPr>
        <p:spPr>
          <a:xfrm>
            <a:off x="5074920" y="3753612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pic>
        <p:nvPicPr>
          <p:cNvPr id="127" name="lane-7-chip-4" descr="/Users/a/MAI/DID/presentation/assets/logos/openai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5116068" y="3794760"/>
            <a:ext cx="155448" cy="155448"/>
          </a:xfrm>
          <a:prstGeom prst="rect">
            <a:avLst/>
          </a:prstGeom>
        </p:spPr>
      </p:pic>
      <p:sp>
        <p:nvSpPr>
          <p:cNvPr id="128" name="lane-7-chip-5"/>
          <p:cNvSpPr txBox="1"/>
          <p:nvPr/>
        </p:nvSpPr>
        <p:spPr>
          <a:xfrm>
            <a:off x="5349240" y="3753612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✓</a:t>
            </a:r>
            <a:endParaRPr lang="en-US" sz="1300" dirty="0"/>
          </a:p>
        </p:txBody>
      </p:sp>
      <p:sp>
        <p:nvSpPr>
          <p:cNvPr id="129" name="lane-7-next"/>
          <p:cNvSpPr txBox="1"/>
          <p:nvPr/>
        </p:nvSpPr>
        <p:spPr>
          <a:xfrm>
            <a:off x="5623560" y="3732862"/>
            <a:ext cx="237744" cy="279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→</a:t>
            </a:r>
            <a:endParaRPr lang="en-US" sz="1400" dirty="0"/>
          </a:p>
        </p:txBody>
      </p:sp>
      <p:sp>
        <p:nvSpPr>
          <p:cNvPr id="130" name="lane-7-chip-7-tile"/>
          <p:cNvSpPr/>
          <p:nvPr/>
        </p:nvSpPr>
        <p:spPr>
          <a:xfrm>
            <a:off x="5897880" y="3753612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pic>
        <p:nvPicPr>
          <p:cNvPr id="131" name="lane-7-chip-7" descr="/Users/a/MAI/DID/presentation/assets/logos/claude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5939028" y="3794760"/>
            <a:ext cx="155448" cy="155448"/>
          </a:xfrm>
          <a:prstGeom prst="rect">
            <a:avLst/>
          </a:prstGeom>
        </p:spPr>
      </p:pic>
      <p:sp>
        <p:nvSpPr>
          <p:cNvPr id="132" name="lane-7-chip-8-tile"/>
          <p:cNvSpPr/>
          <p:nvPr/>
        </p:nvSpPr>
        <p:spPr>
          <a:xfrm>
            <a:off x="6172200" y="3753612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pic>
        <p:nvPicPr>
          <p:cNvPr id="133" name="lane-7-chip-8" descr="/Users/a/MAI/DID/presentation/assets/logos/openai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6213348" y="3794760"/>
            <a:ext cx="155448" cy="155448"/>
          </a:xfrm>
          <a:prstGeom prst="rect">
            <a:avLst/>
          </a:prstGeom>
        </p:spPr>
      </p:pic>
      <p:sp>
        <p:nvSpPr>
          <p:cNvPr id="134" name="lane-7-chip-9-tile"/>
          <p:cNvSpPr/>
          <p:nvPr/>
        </p:nvSpPr>
        <p:spPr>
          <a:xfrm>
            <a:off x="6446520" y="3753612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pic>
        <p:nvPicPr>
          <p:cNvPr id="135" name="lane-7-chip-9" descr="/Users/a/MAI/DID/presentation/assets/logos/claude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6487668" y="3794760"/>
            <a:ext cx="155448" cy="155448"/>
          </a:xfrm>
          <a:prstGeom prst="rect">
            <a:avLst/>
          </a:prstGeom>
        </p:spPr>
      </p:pic>
      <p:sp>
        <p:nvSpPr>
          <p:cNvPr id="136" name="lane-7-chip-10"/>
          <p:cNvSpPr txBox="1"/>
          <p:nvPr/>
        </p:nvSpPr>
        <p:spPr>
          <a:xfrm>
            <a:off x="6720840" y="3753612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✓</a:t>
            </a:r>
            <a:endParaRPr lang="en-US" sz="1300" dirty="0"/>
          </a:p>
        </p:txBody>
      </p:sp>
      <p:sp>
        <p:nvSpPr>
          <p:cNvPr id="137" name="lane-7-result"/>
          <p:cNvSpPr txBox="1"/>
          <p:nvPr/>
        </p:nvSpPr>
        <p:spPr>
          <a:xfrm>
            <a:off x="7132320" y="3732862"/>
            <a:ext cx="4507992" cy="2792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сбой датчика: +6,4; пять правок: не показано</a:t>
            </a:r>
            <a:endParaRPr lang="en-US" sz="1400" dirty="0"/>
          </a:p>
        </p:txBody>
      </p:sp>
      <p:sp>
        <p:nvSpPr>
          <p:cNvPr id="138" name="lane-8-rule"/>
          <p:cNvSpPr/>
          <p:nvPr/>
        </p:nvSpPr>
        <p:spPr>
          <a:xfrm>
            <a:off x="548640" y="4012106"/>
            <a:ext cx="11091672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139" name="lane-8-name"/>
          <p:cNvSpPr txBox="1"/>
          <p:nvPr/>
        </p:nvSpPr>
        <p:spPr>
          <a:xfrm>
            <a:off x="548640" y="4012106"/>
            <a:ext cx="3611880" cy="2792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A1. Новые схемы агента</a:t>
            </a:r>
            <a:endParaRPr lang="en-US" sz="1600" dirty="0"/>
          </a:p>
        </p:txBody>
      </p:sp>
      <p:sp>
        <p:nvSpPr>
          <p:cNvPr id="140" name="lane-8-chip-1-tile"/>
          <p:cNvSpPr/>
          <p:nvPr/>
        </p:nvSpPr>
        <p:spPr>
          <a:xfrm>
            <a:off x="4251960" y="4032856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pic>
        <p:nvPicPr>
          <p:cNvPr id="141" name="lane-8-chip-1" descr="/Users/a/MAI/DID/presentation/assets/logos/claude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4293108" y="4074004"/>
            <a:ext cx="155448" cy="155448"/>
          </a:xfrm>
          <a:prstGeom prst="rect">
            <a:avLst/>
          </a:prstGeom>
        </p:spPr>
      </p:pic>
      <p:sp>
        <p:nvSpPr>
          <p:cNvPr id="142" name="lane-8-chip-2-tile"/>
          <p:cNvSpPr/>
          <p:nvPr/>
        </p:nvSpPr>
        <p:spPr>
          <a:xfrm>
            <a:off x="4526280" y="4032856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pic>
        <p:nvPicPr>
          <p:cNvPr id="143" name="lane-8-chip-2" descr="/Users/a/MAI/DID/presentation/assets/logos/openai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4567428" y="4074004"/>
            <a:ext cx="155448" cy="155448"/>
          </a:xfrm>
          <a:prstGeom prst="rect">
            <a:avLst/>
          </a:prstGeom>
        </p:spPr>
      </p:pic>
      <p:sp>
        <p:nvSpPr>
          <p:cNvPr id="144" name="lane-8-chip-3-tile"/>
          <p:cNvSpPr/>
          <p:nvPr/>
        </p:nvSpPr>
        <p:spPr>
          <a:xfrm>
            <a:off x="4800600" y="4032856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pic>
        <p:nvPicPr>
          <p:cNvPr id="145" name="lane-8-chip-3" descr="/Users/a/MAI/DID/presentation/assets/logos/claude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4841748" y="4074004"/>
            <a:ext cx="155448" cy="155448"/>
          </a:xfrm>
          <a:prstGeom prst="rect">
            <a:avLst/>
          </a:prstGeom>
        </p:spPr>
      </p:pic>
      <p:sp>
        <p:nvSpPr>
          <p:cNvPr id="146" name="lane-8-chip-4"/>
          <p:cNvSpPr txBox="1"/>
          <p:nvPr/>
        </p:nvSpPr>
        <p:spPr>
          <a:xfrm>
            <a:off x="5074920" y="4032856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✓</a:t>
            </a:r>
            <a:endParaRPr lang="en-US" sz="1300" dirty="0"/>
          </a:p>
        </p:txBody>
      </p:sp>
      <p:sp>
        <p:nvSpPr>
          <p:cNvPr id="147" name="lane-8-result"/>
          <p:cNvSpPr txBox="1"/>
          <p:nvPr/>
        </p:nvSpPr>
        <p:spPr>
          <a:xfrm>
            <a:off x="7132320" y="4012106"/>
            <a:ext cx="4507992" cy="2792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не лучше нынешней; с подсказками — 92,5 очка</a:t>
            </a:r>
            <a:endParaRPr lang="en-US" sz="1400" dirty="0"/>
          </a:p>
        </p:txBody>
      </p:sp>
      <p:sp>
        <p:nvSpPr>
          <p:cNvPr id="148" name="lane-9-rule"/>
          <p:cNvSpPr/>
          <p:nvPr/>
        </p:nvSpPr>
        <p:spPr>
          <a:xfrm>
            <a:off x="548640" y="4291350"/>
            <a:ext cx="11091672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149" name="lane-9-name"/>
          <p:cNvSpPr txBox="1"/>
          <p:nvPr/>
        </p:nvSpPr>
        <p:spPr>
          <a:xfrm>
            <a:off x="548640" y="4291350"/>
            <a:ext cx="3611880" cy="2792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R12. Выбор опыта с учётом цены</a:t>
            </a:r>
            <a:endParaRPr lang="en-US" sz="1600" dirty="0"/>
          </a:p>
        </p:txBody>
      </p:sp>
      <p:sp>
        <p:nvSpPr>
          <p:cNvPr id="150" name="lane-9-chip-1-tile"/>
          <p:cNvSpPr/>
          <p:nvPr/>
        </p:nvSpPr>
        <p:spPr>
          <a:xfrm>
            <a:off x="4251960" y="4312099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pic>
        <p:nvPicPr>
          <p:cNvPr id="151" name="lane-9-chip-1" descr="/Users/a/MAI/DID/presentation/assets/logos/claude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4293108" y="4353247"/>
            <a:ext cx="155448" cy="155448"/>
          </a:xfrm>
          <a:prstGeom prst="rect">
            <a:avLst/>
          </a:prstGeom>
        </p:spPr>
      </p:pic>
      <p:sp>
        <p:nvSpPr>
          <p:cNvPr id="152" name="lane-9-chip-2-tile"/>
          <p:cNvSpPr/>
          <p:nvPr/>
        </p:nvSpPr>
        <p:spPr>
          <a:xfrm>
            <a:off x="4526280" y="4312099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pic>
        <p:nvPicPr>
          <p:cNvPr id="153" name="lane-9-chip-2" descr="/Users/a/MAI/DID/presentation/assets/logos/openai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4567428" y="4353247"/>
            <a:ext cx="155448" cy="155448"/>
          </a:xfrm>
          <a:prstGeom prst="rect">
            <a:avLst/>
          </a:prstGeom>
        </p:spPr>
      </p:pic>
      <p:sp>
        <p:nvSpPr>
          <p:cNvPr id="154" name="lane-9-chip-3-tile"/>
          <p:cNvSpPr/>
          <p:nvPr/>
        </p:nvSpPr>
        <p:spPr>
          <a:xfrm>
            <a:off x="4800600" y="4312099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pic>
        <p:nvPicPr>
          <p:cNvPr id="155" name="lane-9-chip-3" descr="/Users/a/MAI/DID/presentation/assets/logos/claude.png">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4841748" y="4353247"/>
            <a:ext cx="155448" cy="155448"/>
          </a:xfrm>
          <a:prstGeom prst="rect">
            <a:avLst/>
          </a:prstGeom>
        </p:spPr>
      </p:pic>
      <p:sp>
        <p:nvSpPr>
          <p:cNvPr id="156" name="lane-9-chip-4"/>
          <p:cNvSpPr txBox="1"/>
          <p:nvPr/>
        </p:nvSpPr>
        <p:spPr>
          <a:xfrm>
            <a:off x="5074920" y="4312099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✓</a:t>
            </a:r>
            <a:endParaRPr lang="en-US" sz="1300" dirty="0"/>
          </a:p>
        </p:txBody>
      </p:sp>
      <p:sp>
        <p:nvSpPr>
          <p:cNvPr id="157" name="lane-9-result"/>
          <p:cNvSpPr txBox="1"/>
          <p:nvPr/>
        </p:nvSpPr>
        <p:spPr>
          <a:xfrm>
            <a:off x="7132320" y="4291350"/>
            <a:ext cx="4507992" cy="2792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расход на расследование: 0,54 → 0,08</a:t>
            </a:r>
            <a:endParaRPr lang="en-US" sz="1400" dirty="0"/>
          </a:p>
        </p:txBody>
      </p:sp>
      <p:sp>
        <p:nvSpPr>
          <p:cNvPr id="158" name="lane-10-rule"/>
          <p:cNvSpPr/>
          <p:nvPr/>
        </p:nvSpPr>
        <p:spPr>
          <a:xfrm>
            <a:off x="548640" y="4570593"/>
            <a:ext cx="11091672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159" name="lane-10-name"/>
          <p:cNvSpPr txBox="1"/>
          <p:nvPr/>
        </p:nvSpPr>
        <p:spPr>
          <a:xfrm>
            <a:off x="548640" y="4570593"/>
            <a:ext cx="3611880" cy="2792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R14. Самокалибровка датчика</a:t>
            </a:r>
            <a:endParaRPr lang="en-US" sz="1600" dirty="0"/>
          </a:p>
        </p:txBody>
      </p:sp>
      <p:sp>
        <p:nvSpPr>
          <p:cNvPr id="160" name="lane-10-chip-1-tile"/>
          <p:cNvSpPr/>
          <p:nvPr/>
        </p:nvSpPr>
        <p:spPr>
          <a:xfrm>
            <a:off x="4251960" y="4591343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pic>
        <p:nvPicPr>
          <p:cNvPr id="161" name="lane-10-chip-1" descr="/Users/a/MAI/DID/presentation/assets/logos/claude.png">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4293108" y="4632491"/>
            <a:ext cx="155448" cy="155448"/>
          </a:xfrm>
          <a:prstGeom prst="rect">
            <a:avLst/>
          </a:prstGeom>
        </p:spPr>
      </p:pic>
      <p:sp>
        <p:nvSpPr>
          <p:cNvPr id="162" name="lane-10-chip-2-tile"/>
          <p:cNvSpPr/>
          <p:nvPr/>
        </p:nvSpPr>
        <p:spPr>
          <a:xfrm>
            <a:off x="4526280" y="4591343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pic>
        <p:nvPicPr>
          <p:cNvPr id="163" name="lane-10-chip-2" descr="/Users/a/MAI/DID/presentation/assets/logos/openai.png">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4567428" y="4632491"/>
            <a:ext cx="155448" cy="155448"/>
          </a:xfrm>
          <a:prstGeom prst="rect">
            <a:avLst/>
          </a:prstGeom>
        </p:spPr>
      </p:pic>
      <p:sp>
        <p:nvSpPr>
          <p:cNvPr id="164" name="lane-10-chip-3-tile"/>
          <p:cNvSpPr/>
          <p:nvPr/>
        </p:nvSpPr>
        <p:spPr>
          <a:xfrm>
            <a:off x="4800600" y="4591343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pic>
        <p:nvPicPr>
          <p:cNvPr id="165" name="lane-10-chip-3" descr="/Users/a/MAI/DID/presentation/assets/logos/claude.png">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4841748" y="4632491"/>
            <a:ext cx="155448" cy="155448"/>
          </a:xfrm>
          <a:prstGeom prst="rect">
            <a:avLst/>
          </a:prstGeom>
        </p:spPr>
      </p:pic>
      <p:sp>
        <p:nvSpPr>
          <p:cNvPr id="166" name="lane-10-chip-4-tile"/>
          <p:cNvSpPr/>
          <p:nvPr/>
        </p:nvSpPr>
        <p:spPr>
          <a:xfrm>
            <a:off x="5074920" y="4591343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pic>
        <p:nvPicPr>
          <p:cNvPr id="167" name="lane-10-chip-4" descr="/Users/a/MAI/DID/presentation/assets/logos/openai.png">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5116068" y="4632491"/>
            <a:ext cx="155448" cy="155448"/>
          </a:xfrm>
          <a:prstGeom prst="rect">
            <a:avLst/>
          </a:prstGeom>
        </p:spPr>
      </p:pic>
      <p:sp>
        <p:nvSpPr>
          <p:cNvPr id="168" name="lane-10-chip-5-tile"/>
          <p:cNvSpPr/>
          <p:nvPr/>
        </p:nvSpPr>
        <p:spPr>
          <a:xfrm>
            <a:off x="5349240" y="4591343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pic>
        <p:nvPicPr>
          <p:cNvPr id="169" name="lane-10-chip-5" descr="/Users/a/MAI/DID/presentation/assets/logos/claude.png">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5390388" y="4632491"/>
            <a:ext cx="155448" cy="155448"/>
          </a:xfrm>
          <a:prstGeom prst="rect">
            <a:avLst/>
          </a:prstGeom>
        </p:spPr>
      </p:pic>
      <p:sp>
        <p:nvSpPr>
          <p:cNvPr id="170" name="lane-10-chip-6"/>
          <p:cNvSpPr txBox="1"/>
          <p:nvPr/>
        </p:nvSpPr>
        <p:spPr>
          <a:xfrm>
            <a:off x="5623560" y="4591343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✓</a:t>
            </a:r>
            <a:endParaRPr lang="en-US" sz="1300" dirty="0"/>
          </a:p>
        </p:txBody>
      </p:sp>
      <p:sp>
        <p:nvSpPr>
          <p:cNvPr id="171" name="lane-10-result"/>
          <p:cNvSpPr txBox="1"/>
          <p:nvPr/>
        </p:nvSpPr>
        <p:spPr>
          <a:xfrm>
            <a:off x="7132320" y="4570593"/>
            <a:ext cx="4507992" cy="2792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неверный закон датчика: 1% → 71% образцов</a:t>
            </a:r>
            <a:endParaRPr lang="en-US" sz="1400" dirty="0"/>
          </a:p>
        </p:txBody>
      </p:sp>
      <p:sp>
        <p:nvSpPr>
          <p:cNvPr id="172" name="lane-11-rule"/>
          <p:cNvSpPr/>
          <p:nvPr/>
        </p:nvSpPr>
        <p:spPr>
          <a:xfrm>
            <a:off x="548640" y="4849837"/>
            <a:ext cx="11091672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173" name="lane-11-name"/>
          <p:cNvSpPr txBox="1"/>
          <p:nvPr/>
        </p:nvSpPr>
        <p:spPr>
          <a:xfrm>
            <a:off x="548640" y="4849837"/>
            <a:ext cx="3611880" cy="2792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J1. Быстрая модель-сторож</a:t>
            </a:r>
            <a:endParaRPr lang="en-US" sz="1600" dirty="0"/>
          </a:p>
        </p:txBody>
      </p:sp>
      <p:sp>
        <p:nvSpPr>
          <p:cNvPr id="174" name="lane-11-chip-1-tile"/>
          <p:cNvSpPr/>
          <p:nvPr/>
        </p:nvSpPr>
        <p:spPr>
          <a:xfrm>
            <a:off x="4251960" y="4870587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pic>
        <p:nvPicPr>
          <p:cNvPr id="175" name="lane-11-chip-1" descr="/Users/a/MAI/DID/presentation/assets/logos/claude.png">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4293108" y="4911735"/>
            <a:ext cx="155448" cy="155448"/>
          </a:xfrm>
          <a:prstGeom prst="rect">
            <a:avLst/>
          </a:prstGeom>
        </p:spPr>
      </p:pic>
      <p:sp>
        <p:nvSpPr>
          <p:cNvPr id="176" name="lane-11-chip-2-tile"/>
          <p:cNvSpPr/>
          <p:nvPr/>
        </p:nvSpPr>
        <p:spPr>
          <a:xfrm>
            <a:off x="4526280" y="4870587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pic>
        <p:nvPicPr>
          <p:cNvPr id="177" name="lane-11-chip-2" descr="/Users/a/MAI/DID/presentation/assets/logos/openai.png">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4567428" y="4911735"/>
            <a:ext cx="155448" cy="155448"/>
          </a:xfrm>
          <a:prstGeom prst="rect">
            <a:avLst/>
          </a:prstGeom>
        </p:spPr>
      </p:pic>
      <p:sp>
        <p:nvSpPr>
          <p:cNvPr id="178" name="lane-11-chip-3-tile"/>
          <p:cNvSpPr/>
          <p:nvPr/>
        </p:nvSpPr>
        <p:spPr>
          <a:xfrm>
            <a:off x="4800600" y="4870587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pic>
        <p:nvPicPr>
          <p:cNvPr id="179" name="lane-11-chip-3" descr="/Users/a/MAI/DID/presentation/assets/logos/claude.png">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4841748" y="4911735"/>
            <a:ext cx="155448" cy="155448"/>
          </a:xfrm>
          <a:prstGeom prst="rect">
            <a:avLst/>
          </a:prstGeom>
        </p:spPr>
      </p:pic>
      <p:sp>
        <p:nvSpPr>
          <p:cNvPr id="180" name="lane-11-chip-4-tile"/>
          <p:cNvSpPr/>
          <p:nvPr/>
        </p:nvSpPr>
        <p:spPr>
          <a:xfrm>
            <a:off x="5074920" y="4870587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pic>
        <p:nvPicPr>
          <p:cNvPr id="181" name="lane-11-chip-4" descr="/Users/a/MAI/DID/presentation/assets/logos/claude.png">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5116068" y="4911735"/>
            <a:ext cx="155448" cy="155448"/>
          </a:xfrm>
          <a:prstGeom prst="rect">
            <a:avLst/>
          </a:prstGeom>
        </p:spPr>
      </p:pic>
      <p:sp>
        <p:nvSpPr>
          <p:cNvPr id="182" name="lane-11-chip-5-tile"/>
          <p:cNvSpPr/>
          <p:nvPr/>
        </p:nvSpPr>
        <p:spPr>
          <a:xfrm>
            <a:off x="5349240" y="4870587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pic>
        <p:nvPicPr>
          <p:cNvPr id="183" name="lane-11-chip-5" descr="/Users/a/MAI/DID/presentation/assets/logos/openai.png">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5390388" y="4911735"/>
            <a:ext cx="155448" cy="155448"/>
          </a:xfrm>
          <a:prstGeom prst="rect">
            <a:avLst/>
          </a:prstGeom>
        </p:spPr>
      </p:pic>
      <p:sp>
        <p:nvSpPr>
          <p:cNvPr id="184" name="lane-11-chip-6"/>
          <p:cNvSpPr txBox="1"/>
          <p:nvPr/>
        </p:nvSpPr>
        <p:spPr>
          <a:xfrm>
            <a:off x="5623560" y="4870587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✓</a:t>
            </a:r>
            <a:endParaRPr lang="en-US" sz="1300" dirty="0"/>
          </a:p>
        </p:txBody>
      </p:sp>
      <p:sp>
        <p:nvSpPr>
          <p:cNvPr id="185" name="lane-11-result"/>
          <p:cNvSpPr txBox="1"/>
          <p:nvPr/>
        </p:nvSpPr>
        <p:spPr>
          <a:xfrm>
            <a:off x="7132320" y="4849837"/>
            <a:ext cx="4507992" cy="2792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миссия «ровно два образца»: 20 из 20</a:t>
            </a:r>
            <a:endParaRPr lang="en-US" sz="1400" dirty="0"/>
          </a:p>
        </p:txBody>
      </p:sp>
      <p:sp>
        <p:nvSpPr>
          <p:cNvPr id="186" name="lane-12-rule"/>
          <p:cNvSpPr/>
          <p:nvPr/>
        </p:nvSpPr>
        <p:spPr>
          <a:xfrm>
            <a:off x="548640" y="5129081"/>
            <a:ext cx="11091672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187" name="lane-12-name"/>
          <p:cNvSpPr txBox="1"/>
          <p:nvPr/>
        </p:nvSpPr>
        <p:spPr>
          <a:xfrm>
            <a:off x="548640" y="5129081"/>
            <a:ext cx="3611880" cy="2792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M1. Два робота с координацией</a:t>
            </a:r>
            <a:endParaRPr lang="en-US" sz="1600" dirty="0"/>
          </a:p>
        </p:txBody>
      </p:sp>
      <p:sp>
        <p:nvSpPr>
          <p:cNvPr id="188" name="lane-12-chip-1-tile"/>
          <p:cNvSpPr/>
          <p:nvPr/>
        </p:nvSpPr>
        <p:spPr>
          <a:xfrm>
            <a:off x="4251960" y="5149830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pic>
        <p:nvPicPr>
          <p:cNvPr id="189" name="lane-12-chip-1" descr="/Users/a/MAI/DID/presentation/assets/logos/claude.png">    </p:cNvPr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4293108" y="5190978"/>
            <a:ext cx="155448" cy="155448"/>
          </a:xfrm>
          <a:prstGeom prst="rect">
            <a:avLst/>
          </a:prstGeom>
        </p:spPr>
      </p:pic>
      <p:sp>
        <p:nvSpPr>
          <p:cNvPr id="190" name="lane-12-chip-2-tile"/>
          <p:cNvSpPr/>
          <p:nvPr/>
        </p:nvSpPr>
        <p:spPr>
          <a:xfrm>
            <a:off x="4526280" y="5149830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pic>
        <p:nvPicPr>
          <p:cNvPr id="191" name="lane-12-chip-2" descr="/Users/a/MAI/DID/presentation/assets/logos/openai.png">    </p:cNvPr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4567428" y="5190978"/>
            <a:ext cx="155448" cy="155448"/>
          </a:xfrm>
          <a:prstGeom prst="rect">
            <a:avLst/>
          </a:prstGeom>
        </p:spPr>
      </p:pic>
      <p:sp>
        <p:nvSpPr>
          <p:cNvPr id="192" name="lane-12-chip-3-tile"/>
          <p:cNvSpPr/>
          <p:nvPr/>
        </p:nvSpPr>
        <p:spPr>
          <a:xfrm>
            <a:off x="4800600" y="5149830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pic>
        <p:nvPicPr>
          <p:cNvPr id="193" name="lane-12-chip-3" descr="/Users/a/MAI/DID/presentation/assets/logos/claude.png">    </p:cNvPr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4841748" y="5190978"/>
            <a:ext cx="155448" cy="155448"/>
          </a:xfrm>
          <a:prstGeom prst="rect">
            <a:avLst/>
          </a:prstGeom>
        </p:spPr>
      </p:pic>
      <p:sp>
        <p:nvSpPr>
          <p:cNvPr id="194" name="lane-12-chip-4-tile"/>
          <p:cNvSpPr/>
          <p:nvPr/>
        </p:nvSpPr>
        <p:spPr>
          <a:xfrm>
            <a:off x="5074920" y="5149830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pic>
        <p:nvPicPr>
          <p:cNvPr id="195" name="lane-12-chip-4" descr="/Users/a/MAI/DID/presentation/assets/logos/openai.png">    </p:cNvPr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5116068" y="5190978"/>
            <a:ext cx="155448" cy="155448"/>
          </a:xfrm>
          <a:prstGeom prst="rect">
            <a:avLst/>
          </a:prstGeom>
        </p:spPr>
      </p:pic>
      <p:sp>
        <p:nvSpPr>
          <p:cNvPr id="196" name="lane-12-chip-5-tile"/>
          <p:cNvSpPr/>
          <p:nvPr/>
        </p:nvSpPr>
        <p:spPr>
          <a:xfrm>
            <a:off x="5349240" y="5149830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pic>
        <p:nvPicPr>
          <p:cNvPr id="197" name="lane-12-chip-5" descr="/Users/a/MAI/DID/presentation/assets/logos/claude.png">    </p:cNvPr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5390388" y="5190978"/>
            <a:ext cx="155448" cy="155448"/>
          </a:xfrm>
          <a:prstGeom prst="rect">
            <a:avLst/>
          </a:prstGeom>
        </p:spPr>
      </p:pic>
      <p:sp>
        <p:nvSpPr>
          <p:cNvPr id="198" name="lane-12-chip-6"/>
          <p:cNvSpPr txBox="1"/>
          <p:nvPr/>
        </p:nvSpPr>
        <p:spPr>
          <a:xfrm>
            <a:off x="5623560" y="5149830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✓</a:t>
            </a:r>
            <a:endParaRPr lang="en-US" sz="1300" dirty="0"/>
          </a:p>
        </p:txBody>
      </p:sp>
      <p:sp>
        <p:nvSpPr>
          <p:cNvPr id="199" name="lane-12-result"/>
          <p:cNvSpPr txBox="1"/>
          <p:nvPr/>
        </p:nvSpPr>
        <p:spPr>
          <a:xfrm>
            <a:off x="7132320" y="5129081"/>
            <a:ext cx="4507992" cy="2792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прогон короче на 26 с, заряда на четверть меньше</a:t>
            </a:r>
            <a:endParaRPr lang="en-US" sz="1400" dirty="0"/>
          </a:p>
        </p:txBody>
      </p:sp>
      <p:sp>
        <p:nvSpPr>
          <p:cNvPr id="200" name="lane-13-rule"/>
          <p:cNvSpPr/>
          <p:nvPr/>
        </p:nvSpPr>
        <p:spPr>
          <a:xfrm>
            <a:off x="548640" y="5408324"/>
            <a:ext cx="11091672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201" name="lane-13-name"/>
          <p:cNvSpPr txBox="1"/>
          <p:nvPr/>
        </p:nvSpPr>
        <p:spPr>
          <a:xfrm>
            <a:off x="548640" y="5408324"/>
            <a:ext cx="3611880" cy="2792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F2. SLAM вместо готовой карты</a:t>
            </a:r>
            <a:endParaRPr lang="en-US" sz="1600" dirty="0"/>
          </a:p>
        </p:txBody>
      </p:sp>
      <p:sp>
        <p:nvSpPr>
          <p:cNvPr id="202" name="lane-13-chip-1-tile"/>
          <p:cNvSpPr/>
          <p:nvPr/>
        </p:nvSpPr>
        <p:spPr>
          <a:xfrm>
            <a:off x="4251960" y="5429074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pic>
        <p:nvPicPr>
          <p:cNvPr id="203" name="lane-13-chip-1" descr="/Users/a/MAI/DID/presentation/assets/logos/gemini.png">    </p:cNvPr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4293108" y="5470222"/>
            <a:ext cx="155448" cy="155448"/>
          </a:xfrm>
          <a:prstGeom prst="rect">
            <a:avLst/>
          </a:prstGeom>
        </p:spPr>
      </p:pic>
      <p:sp>
        <p:nvSpPr>
          <p:cNvPr id="204" name="lane-13-chip-2-tile"/>
          <p:cNvSpPr/>
          <p:nvPr/>
        </p:nvSpPr>
        <p:spPr>
          <a:xfrm>
            <a:off x="4526280" y="5429074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pic>
        <p:nvPicPr>
          <p:cNvPr id="205" name="lane-13-chip-2" descr="/Users/a/MAI/DID/presentation/assets/logos/claude.png">    </p:cNvPr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4567428" y="5470222"/>
            <a:ext cx="155448" cy="155448"/>
          </a:xfrm>
          <a:prstGeom prst="rect">
            <a:avLst/>
          </a:prstGeom>
        </p:spPr>
      </p:pic>
      <p:sp>
        <p:nvSpPr>
          <p:cNvPr id="206" name="lane-13-chip-3-tile"/>
          <p:cNvSpPr/>
          <p:nvPr/>
        </p:nvSpPr>
        <p:spPr>
          <a:xfrm>
            <a:off x="4800600" y="5429074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pic>
        <p:nvPicPr>
          <p:cNvPr id="207" name="lane-13-chip-3" descr="/Users/a/MAI/DID/presentation/assets/logos/openai.png">    </p:cNvPr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4841748" y="5470222"/>
            <a:ext cx="155448" cy="155448"/>
          </a:xfrm>
          <a:prstGeom prst="rect">
            <a:avLst/>
          </a:prstGeom>
        </p:spPr>
      </p:pic>
      <p:sp>
        <p:nvSpPr>
          <p:cNvPr id="208" name="lane-13-chip-4-tile"/>
          <p:cNvSpPr/>
          <p:nvPr/>
        </p:nvSpPr>
        <p:spPr>
          <a:xfrm>
            <a:off x="5074920" y="5429074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pic>
        <p:nvPicPr>
          <p:cNvPr id="209" name="lane-13-chip-4" descr="/Users/a/MAI/DID/presentation/assets/logos/claude.png">    </p:cNvPr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5116068" y="5470222"/>
            <a:ext cx="155448" cy="155448"/>
          </a:xfrm>
          <a:prstGeom prst="rect">
            <a:avLst/>
          </a:prstGeom>
        </p:spPr>
      </p:pic>
      <p:sp>
        <p:nvSpPr>
          <p:cNvPr id="210" name="lane-13-chip-5-tile"/>
          <p:cNvSpPr/>
          <p:nvPr/>
        </p:nvSpPr>
        <p:spPr>
          <a:xfrm>
            <a:off x="5349240" y="5429074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pic>
        <p:nvPicPr>
          <p:cNvPr id="211" name="lane-13-chip-5" descr="/Users/a/MAI/DID/presentation/assets/logos/openai.png">    </p:cNvPr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5390388" y="5470222"/>
            <a:ext cx="155448" cy="155448"/>
          </a:xfrm>
          <a:prstGeom prst="rect">
            <a:avLst/>
          </a:prstGeom>
        </p:spPr>
      </p:pic>
      <p:sp>
        <p:nvSpPr>
          <p:cNvPr id="212" name="lane-13-chip-6-tile"/>
          <p:cNvSpPr/>
          <p:nvPr/>
        </p:nvSpPr>
        <p:spPr>
          <a:xfrm>
            <a:off x="5623560" y="5429074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pic>
        <p:nvPicPr>
          <p:cNvPr id="213" name="lane-13-chip-6" descr="/Users/a/MAI/DID/presentation/assets/logos/claude.png">    </p:cNvPr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5664708" y="5470222"/>
            <a:ext cx="155448" cy="155448"/>
          </a:xfrm>
          <a:prstGeom prst="rect">
            <a:avLst/>
          </a:prstGeom>
        </p:spPr>
      </p:pic>
      <p:sp>
        <p:nvSpPr>
          <p:cNvPr id="214" name="lane-13-chip-7-tile"/>
          <p:cNvSpPr/>
          <p:nvPr/>
        </p:nvSpPr>
        <p:spPr>
          <a:xfrm>
            <a:off x="5897880" y="5429074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</p:sp>
      <p:pic>
        <p:nvPicPr>
          <p:cNvPr id="215" name="lane-13-chip-7" descr="/Users/a/MAI/DID/presentation/assets/logos/openai.png">    </p:cNvPr>
          <p:cNvPicPr>
            <a:picLocks noChangeAspect="1"/>
          </p:cNvPicPr>
          <p:nvPr/>
        </p:nvPicPr>
        <p:blipFill>
          <a:blip r:embed="rId75"/>
          <a:stretch>
            <a:fillRect/>
          </a:stretch>
        </p:blipFill>
        <p:spPr>
          <a:xfrm>
            <a:off x="5939028" y="5470222"/>
            <a:ext cx="155448" cy="155448"/>
          </a:xfrm>
          <a:prstGeom prst="rect">
            <a:avLst/>
          </a:prstGeom>
        </p:spPr>
      </p:pic>
      <p:sp>
        <p:nvSpPr>
          <p:cNvPr id="216" name="lane-13-chip-8"/>
          <p:cNvSpPr txBox="1"/>
          <p:nvPr/>
        </p:nvSpPr>
        <p:spPr>
          <a:xfrm>
            <a:off x="6172200" y="5429074"/>
            <a:ext cx="237744" cy="237744"/>
          </a:xfrm>
          <a:prstGeom prst="roundRect">
            <a:avLst>
              <a:gd name="adj" fmla="val 15385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✓</a:t>
            </a:r>
            <a:endParaRPr lang="en-US" sz="1300" dirty="0"/>
          </a:p>
        </p:txBody>
      </p:sp>
      <p:sp>
        <p:nvSpPr>
          <p:cNvPr id="217" name="lane-13-result"/>
          <p:cNvSpPr txBox="1"/>
          <p:nvPr/>
        </p:nvSpPr>
        <p:spPr>
          <a:xfrm>
            <a:off x="7132320" y="5408324"/>
            <a:ext cx="4507992" cy="2792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карта робота совпала с готовой на 96–99%</a:t>
            </a:r>
            <a:endParaRPr lang="en-US" sz="1400" dirty="0"/>
          </a:p>
        </p:txBody>
      </p:sp>
      <p:sp>
        <p:nvSpPr>
          <p:cNvPr id="218" name="conclusion-card"/>
          <p:cNvSpPr/>
          <p:nvPr/>
        </p:nvSpPr>
        <p:spPr>
          <a:xfrm>
            <a:off x="548640" y="5760720"/>
            <a:ext cx="11091672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/>
        </p:spPr>
      </p:sp>
      <p:sp>
        <p:nvSpPr>
          <p:cNvPr id="219" name="conclusion-text"/>
          <p:cNvSpPr txBox="1"/>
          <p:nvPr/>
        </p:nvSpPr>
        <p:spPr>
          <a:xfrm>
            <a:off x="822960" y="576072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Вывод. </a:t>
            </a:r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Качество держится на устройстве процесса, а не на вере в один ответ модели.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D Researcher">
  <a:themeElements>
    <a:clrScheme name="DID Researcher">
      <a:dk1>
        <a:srgbClr val="14181C"/>
      </a:dk1>
      <a:lt1>
        <a:srgbClr val="FFFFFF"/>
      </a:lt1>
      <a:dk2>
        <a:srgbClr val="2B3138"/>
      </a:dk2>
      <a:lt2>
        <a:srgbClr val="EEF0F2"/>
      </a:lt2>
      <a:accent1>
        <a:srgbClr val="EB6834"/>
      </a:accent1>
      <a:accent2>
        <a:srgbClr val="2A78D6"/>
      </a:accent2>
      <a:accent3>
        <a:srgbClr val="1BAF7A"/>
      </a:accent3>
      <a:accent4>
        <a:srgbClr val="EDA100"/>
      </a:accent4>
      <a:accent5>
        <a:srgbClr val="5B6168"/>
      </a:accent5>
      <a:accent6>
        <a:srgbClr val="D03B3B"/>
      </a:accent6>
      <a:hlink>
        <a:srgbClr val="2A78D6"/>
      </a:hlink>
      <a:folHlink>
        <a:srgbClr val="4A3AA7"/>
      </a:folHlink>
    </a:clrScheme>
    <a:fontScheme name="DID Researche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ИИ-исследователь на роботе-платформе — как работали с ИИ-агентами</dc:title>
  <dc:subject>PptxGenJS Presentation</dc:subject>
  <dc:creator>PptxGenJS</dc:creator>
  <cp:lastModifiedBy>PptxGenJS</cp:lastModifiedBy>
  <cp:revision>1</cp:revision>
  <dcterms:created xsi:type="dcterms:W3CDTF">2026-10-08T21:56:05Z</dcterms:created>
  <dcterms:modified xsi:type="dcterms:W3CDTF">2026-10-08T21:56:05Z</dcterms:modified>
</cp:coreProperties>
</file>