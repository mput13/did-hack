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к работали" id="{fe875a79-4bb9-4d04-63ca-aeac3f18190f}">
          <p14:sldIdLst>
            <p14:sldId id="256"/>
            <p14:sldId id="25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 ИИ-агентами мы работали как в лаборатории: человек ею руководит, агенты в ней работают. Человек задаёт цель, роли и ограничения и принимает решения на развилках. Ведущий агент ведёт план, пишет задания остальным, сводит их работу в общий код и сам пересчитывает числа. Исследователи читают литературу и кода не пишут. Инженеры пишут код и ставят опыты, каждый в своей копии кода. Отдельная модель-ревьюер читает каждую правку до вливания и ищет ошибки. Советников зовём редко, на развилках. Каждое исследование идёт по одному кругу: вопрос и гипотеза, задание, код и опыт, независимое ревью, исправления, вливание, пересчёт чисел. За сутки — 45 поручений агентам, и все 11 ревью вернули работу на доработку: ни одна не прошла с первого раза. Агенты работали часами без участия человека, но направление, роли и приоритеты задавал человек.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Слева — исследования. Каждая плашка — один шаг: обзор, работа инженера, ревью или решение человека. В первых двух исследованиях ревью нашло 7 ошибок, и два вывода пришлось перевернуть. Робот с языковой моделью выполнил миссию, заданную словами, 6 из 6; робот с простым правилом — ни разу. В Gazebo робот вернулся на базу в прогонах 8 из 9, после правки — 7 из 7. Разбор потерь дал плюс восемь очков на трудном уровне. Ожидание ответа модели стоило 73 очка; если робот едет, пока модель думает, возвращается 42 — эта работа ещё на ревью. А один опыт выигрыша не показал, и мы говорим об этом прямо. Справа — решения людей: не минимальная версия, робот-учёный, исследователи не пишут код, главная цель — результативный робот. Качество держится на устройстве процесса, а не на вере в один ответ модели.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chemeClr val="accent5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  <p:sp>
        <p:nvSpPr>
          <p:cNvPr id="4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ИИ-исследователь на роботе-платформе · DID Hack 2026 · работа с ИИ-агентами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Человек руководит лабораторией, агенты в ней работают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Агенты работали часами без участия человека, но направление, роли и приоритеты задавал человек</a:t>
            </a:r>
            <a:endParaRPr lang="en-US" sz="1600" dirty="0"/>
          </a:p>
        </p:txBody>
      </p:sp>
      <p:sp>
        <p:nvSpPr>
          <p:cNvPr id="5" name="human-card"/>
          <p:cNvSpPr/>
          <p:nvPr/>
        </p:nvSpPr>
        <p:spPr>
          <a:xfrm>
            <a:off x="548640" y="1691640"/>
            <a:ext cx="2103120" cy="2432304"/>
          </a:xfrm>
          <a:prstGeom prst="roundRect">
            <a:avLst>
              <a:gd name="adj" fmla="val 3478"/>
            </a:avLst>
          </a:prstGeom>
          <a:solidFill>
            <a:schemeClr val="tx2"/>
          </a:solidFill>
          <a:ln/>
        </p:spPr>
      </p:sp>
      <p:sp>
        <p:nvSpPr>
          <p:cNvPr id="6" name="human-head"/>
          <p:cNvSpPr txBox="1"/>
          <p:nvPr/>
        </p:nvSpPr>
        <p:spPr>
          <a:xfrm>
            <a:off x="749808" y="1837944"/>
            <a:ext cx="17007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Человек</a:t>
            </a:r>
            <a:endParaRPr lang="en-US" sz="1800" dirty="0"/>
          </a:p>
        </p:txBody>
      </p:sp>
      <p:sp>
        <p:nvSpPr>
          <p:cNvPr id="7" name="human-list"/>
          <p:cNvSpPr txBox="1"/>
          <p:nvPr/>
        </p:nvSpPr>
        <p:spPr>
          <a:xfrm>
            <a:off x="749808" y="2240280"/>
            <a:ext cx="1737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цель</a:t>
            </a:r>
            <a:endParaRPr lang="en-US" sz="16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роли</a:t>
            </a:r>
            <a:endParaRPr lang="en-US" sz="16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ограничения</a:t>
            </a:r>
            <a:endParaRPr lang="en-US" sz="16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решения на развилках</a:t>
            </a:r>
            <a:endParaRPr lang="en-US" sz="1600" dirty="0"/>
          </a:p>
        </p:txBody>
      </p:sp>
      <p:sp>
        <p:nvSpPr>
          <p:cNvPr id="8" name="human-caption"/>
          <p:cNvSpPr txBox="1"/>
          <p:nvPr/>
        </p:nvSpPr>
        <p:spPr>
          <a:xfrm>
            <a:off x="749808" y="3648456"/>
            <a:ext cx="17007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около 40 сообщений за сутки</a:t>
            </a:r>
            <a:endParaRPr lang="en-US" sz="1200" dirty="0"/>
          </a:p>
        </p:txBody>
      </p:sp>
      <p:sp>
        <p:nvSpPr>
          <p:cNvPr id="9" name="arrow-human-lead"/>
          <p:cNvSpPr/>
          <p:nvPr/>
        </p:nvSpPr>
        <p:spPr>
          <a:xfrm>
            <a:off x="2724912" y="2907792"/>
            <a:ext cx="219456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10" name="lead-card"/>
          <p:cNvSpPr/>
          <p:nvPr/>
        </p:nvSpPr>
        <p:spPr>
          <a:xfrm>
            <a:off x="3017520" y="1691640"/>
            <a:ext cx="2286000" cy="2432304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/>
        </p:spPr>
      </p:sp>
      <p:sp>
        <p:nvSpPr>
          <p:cNvPr id="11" name="lead-head"/>
          <p:cNvSpPr txBox="1"/>
          <p:nvPr/>
        </p:nvSpPr>
        <p:spPr>
          <a:xfrm>
            <a:off x="3218688" y="1837944"/>
            <a:ext cx="1883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Ведущий агент</a:t>
            </a:r>
            <a:endParaRPr lang="en-US" sz="1800" dirty="0"/>
          </a:p>
        </p:txBody>
      </p:sp>
      <p:sp>
        <p:nvSpPr>
          <p:cNvPr id="12" name="lead-list"/>
          <p:cNvSpPr txBox="1"/>
          <p:nvPr/>
        </p:nvSpPr>
        <p:spPr>
          <a:xfrm>
            <a:off x="3218688" y="2240280"/>
            <a:ext cx="1920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ведёт план</a:t>
            </a:r>
            <a:endParaRPr lang="en-US" sz="16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пишет задания</a:t>
            </a:r>
            <a:endParaRPr lang="en-US" sz="16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сводит ветки</a:t>
            </a:r>
            <a:endParaRPr lang="en-US" sz="16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пересчитывает числа</a:t>
            </a:r>
            <a:endParaRPr lang="en-US" sz="1600" dirty="0"/>
          </a:p>
        </p:txBody>
      </p:sp>
      <p:sp>
        <p:nvSpPr>
          <p:cNvPr id="13" name="lead-model"/>
          <p:cNvSpPr txBox="1"/>
          <p:nvPr/>
        </p:nvSpPr>
        <p:spPr>
          <a:xfrm>
            <a:off x="3218688" y="3739896"/>
            <a:ext cx="1883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Claude Opus 5.5</a:t>
            </a:r>
            <a:endParaRPr lang="en-US" sz="1200" dirty="0"/>
          </a:p>
        </p:txBody>
      </p:sp>
      <p:sp>
        <p:nvSpPr>
          <p:cNvPr id="14" name="arrow-lead-roles"/>
          <p:cNvSpPr/>
          <p:nvPr/>
        </p:nvSpPr>
        <p:spPr>
          <a:xfrm>
            <a:off x="5376672" y="2907792"/>
            <a:ext cx="219456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5" name="role-1-card"/>
          <p:cNvSpPr/>
          <p:nvPr/>
        </p:nvSpPr>
        <p:spPr>
          <a:xfrm>
            <a:off x="5669280" y="1691640"/>
            <a:ext cx="2930652" cy="1161288"/>
          </a:xfrm>
          <a:prstGeom prst="roundRect">
            <a:avLst>
              <a:gd name="adj" fmla="val 6299"/>
            </a:avLst>
          </a:prstGeom>
          <a:solidFill>
            <a:schemeClr val="bg2"/>
          </a:solidFill>
          <a:ln/>
        </p:spPr>
      </p:sp>
      <p:sp>
        <p:nvSpPr>
          <p:cNvPr id="16" name="role-1-head"/>
          <p:cNvSpPr txBox="1"/>
          <p:nvPr/>
        </p:nvSpPr>
        <p:spPr>
          <a:xfrm>
            <a:off x="5852160" y="1801368"/>
            <a:ext cx="25648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Исследователи</a:t>
            </a:r>
            <a:endParaRPr lang="en-US" sz="1600" dirty="0"/>
          </a:p>
        </p:txBody>
      </p:sp>
      <p:sp>
        <p:nvSpPr>
          <p:cNvPr id="17" name="role-1-body"/>
          <p:cNvSpPr txBox="1"/>
          <p:nvPr/>
        </p:nvSpPr>
        <p:spPr>
          <a:xfrm>
            <a:off x="5852160" y="2084832"/>
            <a:ext cx="26106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обзоры литературы; кода не пишут</a:t>
            </a:r>
            <a:endParaRPr lang="en-US" sz="1600" dirty="0"/>
          </a:p>
        </p:txBody>
      </p:sp>
      <p:sp>
        <p:nvSpPr>
          <p:cNvPr id="18" name="role-1-model"/>
          <p:cNvSpPr txBox="1"/>
          <p:nvPr/>
        </p:nvSpPr>
        <p:spPr>
          <a:xfrm>
            <a:off x="5852160" y="2587752"/>
            <a:ext cx="25648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Gemini 3.8 Flash</a:t>
            </a:r>
            <a:endParaRPr lang="en-US" sz="1200" dirty="0"/>
          </a:p>
        </p:txBody>
      </p:sp>
      <p:sp>
        <p:nvSpPr>
          <p:cNvPr id="19" name="role-2-card"/>
          <p:cNvSpPr/>
          <p:nvPr/>
        </p:nvSpPr>
        <p:spPr>
          <a:xfrm>
            <a:off x="8709660" y="1691640"/>
            <a:ext cx="2930652" cy="1161288"/>
          </a:xfrm>
          <a:prstGeom prst="roundRect">
            <a:avLst>
              <a:gd name="adj" fmla="val 6299"/>
            </a:avLst>
          </a:prstGeom>
          <a:solidFill>
            <a:schemeClr val="bg2"/>
          </a:solidFill>
          <a:ln/>
        </p:spPr>
      </p:sp>
      <p:sp>
        <p:nvSpPr>
          <p:cNvPr id="20" name="role-2-head"/>
          <p:cNvSpPr txBox="1"/>
          <p:nvPr/>
        </p:nvSpPr>
        <p:spPr>
          <a:xfrm>
            <a:off x="8892540" y="1801368"/>
            <a:ext cx="25648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Инженеры</a:t>
            </a:r>
            <a:endParaRPr lang="en-US" sz="1600" dirty="0"/>
          </a:p>
        </p:txBody>
      </p:sp>
      <p:sp>
        <p:nvSpPr>
          <p:cNvPr id="21" name="role-2-body"/>
          <p:cNvSpPr txBox="1"/>
          <p:nvPr/>
        </p:nvSpPr>
        <p:spPr>
          <a:xfrm>
            <a:off x="8892540" y="2084832"/>
            <a:ext cx="26106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код, опыт, отчёт — каждый в своей копии кода</a:t>
            </a:r>
            <a:endParaRPr lang="en-US" sz="1600" dirty="0"/>
          </a:p>
        </p:txBody>
      </p:sp>
      <p:sp>
        <p:nvSpPr>
          <p:cNvPr id="22" name="role-2-model"/>
          <p:cNvSpPr txBox="1"/>
          <p:nvPr/>
        </p:nvSpPr>
        <p:spPr>
          <a:xfrm>
            <a:off x="8892540" y="2587752"/>
            <a:ext cx="25648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Claude Opus 5.5</a:t>
            </a:r>
            <a:endParaRPr lang="en-US" sz="1200" dirty="0"/>
          </a:p>
        </p:txBody>
      </p:sp>
      <p:sp>
        <p:nvSpPr>
          <p:cNvPr id="23" name="role-3-card"/>
          <p:cNvSpPr/>
          <p:nvPr/>
        </p:nvSpPr>
        <p:spPr>
          <a:xfrm>
            <a:off x="5669280" y="2962656"/>
            <a:ext cx="2930652" cy="1161288"/>
          </a:xfrm>
          <a:prstGeom prst="roundRect">
            <a:avLst>
              <a:gd name="adj" fmla="val 6299"/>
            </a:avLst>
          </a:prstGeom>
          <a:solidFill>
            <a:schemeClr val="bg2"/>
          </a:solidFill>
          <a:ln/>
        </p:spPr>
      </p:sp>
      <p:sp>
        <p:nvSpPr>
          <p:cNvPr id="24" name="role-3-head"/>
          <p:cNvSpPr txBox="1"/>
          <p:nvPr/>
        </p:nvSpPr>
        <p:spPr>
          <a:xfrm>
            <a:off x="5852160" y="3072384"/>
            <a:ext cx="25648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Ревьюер (проверяющий)</a:t>
            </a:r>
            <a:endParaRPr lang="en-US" sz="1600" dirty="0"/>
          </a:p>
        </p:txBody>
      </p:sp>
      <p:sp>
        <p:nvSpPr>
          <p:cNvPr id="25" name="role-3-body"/>
          <p:cNvSpPr txBox="1"/>
          <p:nvPr/>
        </p:nvSpPr>
        <p:spPr>
          <a:xfrm>
            <a:off x="5852160" y="3355848"/>
            <a:ext cx="26106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читает разницу, ищет ошибки, ничего не меняет</a:t>
            </a:r>
            <a:endParaRPr lang="en-US" sz="1600" dirty="0"/>
          </a:p>
        </p:txBody>
      </p:sp>
      <p:sp>
        <p:nvSpPr>
          <p:cNvPr id="26" name="role-3-model"/>
          <p:cNvSpPr txBox="1"/>
          <p:nvPr/>
        </p:nvSpPr>
        <p:spPr>
          <a:xfrm>
            <a:off x="5852160" y="3858768"/>
            <a:ext cx="25648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GPT-6.1 Sol</a:t>
            </a:r>
            <a:endParaRPr lang="en-US" sz="1200" dirty="0"/>
          </a:p>
        </p:txBody>
      </p:sp>
      <p:sp>
        <p:nvSpPr>
          <p:cNvPr id="27" name="role-4-card"/>
          <p:cNvSpPr/>
          <p:nvPr/>
        </p:nvSpPr>
        <p:spPr>
          <a:xfrm>
            <a:off x="8709660" y="2962656"/>
            <a:ext cx="2930652" cy="1161288"/>
          </a:xfrm>
          <a:prstGeom prst="roundRect">
            <a:avLst>
              <a:gd name="adj" fmla="val 6299"/>
            </a:avLst>
          </a:prstGeom>
          <a:solidFill>
            <a:schemeClr val="bg2"/>
          </a:solidFill>
          <a:ln/>
        </p:spPr>
      </p:sp>
      <p:sp>
        <p:nvSpPr>
          <p:cNvPr id="28" name="role-4-head"/>
          <p:cNvSpPr txBox="1"/>
          <p:nvPr/>
        </p:nvSpPr>
        <p:spPr>
          <a:xfrm>
            <a:off x="8892540" y="3072384"/>
            <a:ext cx="25648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Советники</a:t>
            </a:r>
            <a:endParaRPr lang="en-US" sz="1600" dirty="0"/>
          </a:p>
        </p:txBody>
      </p:sp>
      <p:sp>
        <p:nvSpPr>
          <p:cNvPr id="29" name="role-4-body"/>
          <p:cNvSpPr txBox="1"/>
          <p:nvPr/>
        </p:nvSpPr>
        <p:spPr>
          <a:xfrm>
            <a:off x="8892540" y="3355848"/>
            <a:ext cx="26106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редко, только на развилках</a:t>
            </a:r>
            <a:endParaRPr lang="en-US" sz="1600" dirty="0"/>
          </a:p>
        </p:txBody>
      </p:sp>
      <p:sp>
        <p:nvSpPr>
          <p:cNvPr id="30" name="role-4-model"/>
          <p:cNvSpPr txBox="1"/>
          <p:nvPr/>
        </p:nvSpPr>
        <p:spPr>
          <a:xfrm>
            <a:off x="8892540" y="3858768"/>
            <a:ext cx="25648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Claude Fable 5.1 и GPT-6 Astra</a:t>
            </a:r>
            <a:endParaRPr lang="en-US" sz="1200" dirty="0"/>
          </a:p>
        </p:txBody>
      </p:sp>
      <p:sp>
        <p:nvSpPr>
          <p:cNvPr id="31" name="cycle-label"/>
          <p:cNvSpPr txBox="1"/>
          <p:nvPr/>
        </p:nvSpPr>
        <p:spPr>
          <a:xfrm>
            <a:off x="548640" y="4215384"/>
            <a:ext cx="11091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Цикл одного исследования</a:t>
            </a:r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   ветка — отдельная копия кода; ревью — независимая проверка кода другой моделью</a:t>
            </a:r>
            <a:endParaRPr lang="en-US" sz="1300" dirty="0"/>
          </a:p>
        </p:txBody>
      </p:sp>
      <p:sp>
        <p:nvSpPr>
          <p:cNvPr id="32" name="cycle-1-card"/>
          <p:cNvSpPr/>
          <p:nvPr/>
        </p:nvSpPr>
        <p:spPr>
          <a:xfrm>
            <a:off x="548640" y="4507992"/>
            <a:ext cx="1296675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/>
        </p:spPr>
      </p:sp>
      <p:sp>
        <p:nvSpPr>
          <p:cNvPr id="33" name="cycle-1-text"/>
          <p:cNvSpPr txBox="1"/>
          <p:nvPr/>
        </p:nvSpPr>
        <p:spPr>
          <a:xfrm>
            <a:off x="548640" y="4507992"/>
            <a:ext cx="129667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вопрос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и гипотеза</a:t>
            </a:r>
            <a:endParaRPr lang="en-US" sz="1600" dirty="0"/>
          </a:p>
        </p:txBody>
      </p:sp>
      <p:sp>
        <p:nvSpPr>
          <p:cNvPr id="34" name="cycle-1-arrow"/>
          <p:cNvSpPr/>
          <p:nvPr/>
        </p:nvSpPr>
        <p:spPr>
          <a:xfrm>
            <a:off x="1872747" y="4809744"/>
            <a:ext cx="164592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35" name="cycle-2-card"/>
          <p:cNvSpPr/>
          <p:nvPr/>
        </p:nvSpPr>
        <p:spPr>
          <a:xfrm>
            <a:off x="2064771" y="4507992"/>
            <a:ext cx="997442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/>
        </p:spPr>
      </p:sp>
      <p:sp>
        <p:nvSpPr>
          <p:cNvPr id="36" name="cycle-2-text"/>
          <p:cNvSpPr txBox="1"/>
          <p:nvPr/>
        </p:nvSpPr>
        <p:spPr>
          <a:xfrm>
            <a:off x="2064771" y="4507992"/>
            <a:ext cx="9974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задание</a:t>
            </a:r>
            <a:endParaRPr lang="en-US" sz="1600" dirty="0"/>
          </a:p>
        </p:txBody>
      </p:sp>
      <p:sp>
        <p:nvSpPr>
          <p:cNvPr id="37" name="cycle-2-arrow"/>
          <p:cNvSpPr/>
          <p:nvPr/>
        </p:nvSpPr>
        <p:spPr>
          <a:xfrm>
            <a:off x="3089646" y="4809744"/>
            <a:ext cx="164592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38" name="cycle-3-card"/>
          <p:cNvSpPr/>
          <p:nvPr/>
        </p:nvSpPr>
        <p:spPr>
          <a:xfrm>
            <a:off x="3281670" y="4507992"/>
            <a:ext cx="1994885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/>
        </p:spPr>
      </p:sp>
      <p:sp>
        <p:nvSpPr>
          <p:cNvPr id="39" name="cycle-3-text"/>
          <p:cNvSpPr txBox="1"/>
          <p:nvPr/>
        </p:nvSpPr>
        <p:spPr>
          <a:xfrm>
            <a:off x="3281670" y="4507992"/>
            <a:ext cx="199488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код и опыт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в отдельной ветке</a:t>
            </a:r>
            <a:endParaRPr lang="en-US" sz="1600" dirty="0"/>
          </a:p>
        </p:txBody>
      </p:sp>
      <p:sp>
        <p:nvSpPr>
          <p:cNvPr id="40" name="cycle-3-arrow"/>
          <p:cNvSpPr/>
          <p:nvPr/>
        </p:nvSpPr>
        <p:spPr>
          <a:xfrm>
            <a:off x="5303987" y="4809744"/>
            <a:ext cx="164592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41" name="cycle-4-card"/>
          <p:cNvSpPr/>
          <p:nvPr/>
        </p:nvSpPr>
        <p:spPr>
          <a:xfrm>
            <a:off x="5496011" y="4507992"/>
            <a:ext cx="1595908" cy="603504"/>
          </a:xfrm>
          <a:prstGeom prst="roundRect">
            <a:avLst>
              <a:gd name="adj" fmla="val 12121"/>
            </a:avLst>
          </a:prstGeom>
          <a:solidFill>
            <a:schemeClr val="accent1"/>
          </a:solidFill>
          <a:ln/>
        </p:spPr>
      </p:sp>
      <p:sp>
        <p:nvSpPr>
          <p:cNvPr id="42" name="cycle-4-text"/>
          <p:cNvSpPr txBox="1"/>
          <p:nvPr/>
        </p:nvSpPr>
        <p:spPr>
          <a:xfrm>
            <a:off x="5496011" y="4507992"/>
            <a:ext cx="15959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независимое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ревью</a:t>
            </a:r>
            <a:endParaRPr lang="en-US" sz="1600" dirty="0"/>
          </a:p>
        </p:txBody>
      </p:sp>
      <p:sp>
        <p:nvSpPr>
          <p:cNvPr id="43" name="cycle-4-arrow"/>
          <p:cNvSpPr/>
          <p:nvPr/>
        </p:nvSpPr>
        <p:spPr>
          <a:xfrm>
            <a:off x="7119350" y="4809744"/>
            <a:ext cx="164592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44" name="cycle-5-card"/>
          <p:cNvSpPr/>
          <p:nvPr/>
        </p:nvSpPr>
        <p:spPr>
          <a:xfrm>
            <a:off x="7311374" y="4507992"/>
            <a:ext cx="1396419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/>
        </p:spPr>
      </p:sp>
      <p:sp>
        <p:nvSpPr>
          <p:cNvPr id="45" name="cycle-5-text"/>
          <p:cNvSpPr txBox="1"/>
          <p:nvPr/>
        </p:nvSpPr>
        <p:spPr>
          <a:xfrm>
            <a:off x="7311374" y="4507992"/>
            <a:ext cx="139641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исправления</a:t>
            </a:r>
            <a:endParaRPr lang="en-US" sz="1600" dirty="0"/>
          </a:p>
        </p:txBody>
      </p:sp>
      <p:sp>
        <p:nvSpPr>
          <p:cNvPr id="46" name="cycle-5-arrow"/>
          <p:cNvSpPr/>
          <p:nvPr/>
        </p:nvSpPr>
        <p:spPr>
          <a:xfrm>
            <a:off x="8735226" y="4809744"/>
            <a:ext cx="164592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47" name="cycle-6-card"/>
          <p:cNvSpPr/>
          <p:nvPr/>
        </p:nvSpPr>
        <p:spPr>
          <a:xfrm>
            <a:off x="8927250" y="4507992"/>
            <a:ext cx="1396419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/>
        </p:spPr>
      </p:sp>
      <p:sp>
        <p:nvSpPr>
          <p:cNvPr id="48" name="cycle-6-text"/>
          <p:cNvSpPr txBox="1"/>
          <p:nvPr/>
        </p:nvSpPr>
        <p:spPr>
          <a:xfrm>
            <a:off x="8927250" y="4507992"/>
            <a:ext cx="139641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вливание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в общий код</a:t>
            </a:r>
            <a:endParaRPr lang="en-US" sz="1600" dirty="0"/>
          </a:p>
        </p:txBody>
      </p:sp>
      <p:sp>
        <p:nvSpPr>
          <p:cNvPr id="49" name="cycle-6-arrow"/>
          <p:cNvSpPr/>
          <p:nvPr/>
        </p:nvSpPr>
        <p:spPr>
          <a:xfrm>
            <a:off x="10351101" y="4809744"/>
            <a:ext cx="164592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50" name="cycle-7-card"/>
          <p:cNvSpPr/>
          <p:nvPr/>
        </p:nvSpPr>
        <p:spPr>
          <a:xfrm>
            <a:off x="10543125" y="4507992"/>
            <a:ext cx="1097187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/>
        </p:spPr>
      </p:sp>
      <p:sp>
        <p:nvSpPr>
          <p:cNvPr id="51" name="cycle-7-text"/>
          <p:cNvSpPr txBox="1"/>
          <p:nvPr/>
        </p:nvSpPr>
        <p:spPr>
          <a:xfrm>
            <a:off x="10543125" y="4507992"/>
            <a:ext cx="109718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пересчёт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чисел</a:t>
            </a:r>
            <a:endParaRPr lang="en-US" sz="1600" dirty="0"/>
          </a:p>
        </p:txBody>
      </p:sp>
      <p:sp>
        <p:nvSpPr>
          <p:cNvPr id="52" name="num-1-card"/>
          <p:cNvSpPr/>
          <p:nvPr/>
        </p:nvSpPr>
        <p:spPr>
          <a:xfrm>
            <a:off x="548640" y="5239512"/>
            <a:ext cx="2011680" cy="978408"/>
          </a:xfrm>
          <a:prstGeom prst="roundRect">
            <a:avLst>
              <a:gd name="adj" fmla="val 7477"/>
            </a:avLst>
          </a:prstGeom>
          <a:solidFill>
            <a:schemeClr val="bg2"/>
          </a:solidFill>
          <a:ln/>
        </p:spPr>
      </p:sp>
      <p:sp>
        <p:nvSpPr>
          <p:cNvPr id="53" name="num-1-value"/>
          <p:cNvSpPr txBox="1"/>
          <p:nvPr/>
        </p:nvSpPr>
        <p:spPr>
          <a:xfrm>
            <a:off x="749808" y="5294376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24 часа</a:t>
            </a:r>
            <a:endParaRPr lang="en-US" sz="2800" dirty="0"/>
          </a:p>
        </p:txBody>
      </p:sp>
      <p:sp>
        <p:nvSpPr>
          <p:cNvPr id="54" name="num-1-label"/>
          <p:cNvSpPr txBox="1"/>
          <p:nvPr/>
        </p:nvSpPr>
        <p:spPr>
          <a:xfrm>
            <a:off x="749808" y="5724144"/>
            <a:ext cx="168249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одна непрерывная сессия</a:t>
            </a:r>
            <a:endParaRPr lang="en-US" sz="1300" dirty="0"/>
          </a:p>
        </p:txBody>
      </p:sp>
      <p:sp>
        <p:nvSpPr>
          <p:cNvPr id="55" name="num-2-card"/>
          <p:cNvSpPr/>
          <p:nvPr/>
        </p:nvSpPr>
        <p:spPr>
          <a:xfrm>
            <a:off x="2697480" y="5239512"/>
            <a:ext cx="1828800" cy="978408"/>
          </a:xfrm>
          <a:prstGeom prst="roundRect">
            <a:avLst>
              <a:gd name="adj" fmla="val 7477"/>
            </a:avLst>
          </a:prstGeom>
          <a:solidFill>
            <a:schemeClr val="bg2"/>
          </a:solidFill>
          <a:ln/>
        </p:spPr>
      </p:sp>
      <p:sp>
        <p:nvSpPr>
          <p:cNvPr id="56" name="num-2-value"/>
          <p:cNvSpPr txBox="1"/>
          <p:nvPr/>
        </p:nvSpPr>
        <p:spPr>
          <a:xfrm>
            <a:off x="2898648" y="5294376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45</a:t>
            </a:r>
            <a:endParaRPr lang="en-US" sz="2800" dirty="0"/>
          </a:p>
        </p:txBody>
      </p:sp>
      <p:sp>
        <p:nvSpPr>
          <p:cNvPr id="57" name="num-2-label"/>
          <p:cNvSpPr txBox="1"/>
          <p:nvPr/>
        </p:nvSpPr>
        <p:spPr>
          <a:xfrm>
            <a:off x="2898648" y="5724144"/>
            <a:ext cx="149961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поручений агентам</a:t>
            </a:r>
            <a:endParaRPr lang="en-US" sz="1300" dirty="0"/>
          </a:p>
        </p:txBody>
      </p:sp>
      <p:sp>
        <p:nvSpPr>
          <p:cNvPr id="58" name="num-3-card"/>
          <p:cNvSpPr/>
          <p:nvPr/>
        </p:nvSpPr>
        <p:spPr>
          <a:xfrm>
            <a:off x="4663440" y="5239512"/>
            <a:ext cx="2514600" cy="978408"/>
          </a:xfrm>
          <a:prstGeom prst="roundRect">
            <a:avLst>
              <a:gd name="adj" fmla="val 7477"/>
            </a:avLst>
          </a:prstGeom>
          <a:solidFill>
            <a:schemeClr val="bg2"/>
          </a:solidFill>
          <a:ln/>
        </p:spPr>
      </p:sp>
      <p:sp>
        <p:nvSpPr>
          <p:cNvPr id="59" name="num-3-value"/>
          <p:cNvSpPr txBox="1"/>
          <p:nvPr/>
        </p:nvSpPr>
        <p:spPr>
          <a:xfrm>
            <a:off x="4864608" y="5294376"/>
            <a:ext cx="2148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11 из 11</a:t>
            </a:r>
            <a:endParaRPr lang="en-US" sz="2800" dirty="0"/>
          </a:p>
        </p:txBody>
      </p:sp>
      <p:sp>
        <p:nvSpPr>
          <p:cNvPr id="60" name="num-3-label"/>
          <p:cNvSpPr txBox="1"/>
          <p:nvPr/>
        </p:nvSpPr>
        <p:spPr>
          <a:xfrm>
            <a:off x="4864608" y="5724144"/>
            <a:ext cx="218541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ревью вернули работу на доработку</a:t>
            </a:r>
            <a:endParaRPr lang="en-US" sz="1300" dirty="0"/>
          </a:p>
        </p:txBody>
      </p:sp>
      <p:sp>
        <p:nvSpPr>
          <p:cNvPr id="61" name="num-4-card"/>
          <p:cNvSpPr/>
          <p:nvPr/>
        </p:nvSpPr>
        <p:spPr>
          <a:xfrm>
            <a:off x="7315200" y="5239512"/>
            <a:ext cx="4325112" cy="978408"/>
          </a:xfrm>
          <a:prstGeom prst="roundRect">
            <a:avLst>
              <a:gd name="adj" fmla="val 7477"/>
            </a:avLst>
          </a:prstGeom>
          <a:solidFill>
            <a:schemeClr val="bg2"/>
          </a:solidFill>
          <a:ln/>
        </p:spPr>
      </p:sp>
      <p:sp>
        <p:nvSpPr>
          <p:cNvPr id="62" name="num-4-1-value"/>
          <p:cNvSpPr txBox="1"/>
          <p:nvPr/>
        </p:nvSpPr>
        <p:spPr>
          <a:xfrm>
            <a:off x="7516368" y="5294376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104</a:t>
            </a:r>
            <a:endParaRPr lang="en-US" sz="2800" dirty="0"/>
          </a:p>
        </p:txBody>
      </p:sp>
      <p:sp>
        <p:nvSpPr>
          <p:cNvPr id="63" name="num-4-1-label"/>
          <p:cNvSpPr txBox="1"/>
          <p:nvPr/>
        </p:nvSpPr>
        <p:spPr>
          <a:xfrm>
            <a:off x="7516368" y="5724144"/>
            <a:ext cx="11887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правки кода (коммита)</a:t>
            </a:r>
            <a:endParaRPr lang="en-US" sz="1300" dirty="0"/>
          </a:p>
        </p:txBody>
      </p:sp>
      <p:sp>
        <p:nvSpPr>
          <p:cNvPr id="64" name="num-4-2-value"/>
          <p:cNvSpPr txBox="1"/>
          <p:nvPr/>
        </p:nvSpPr>
        <p:spPr>
          <a:xfrm>
            <a:off x="8796528" y="5294376"/>
            <a:ext cx="1417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600+</a:t>
            </a:r>
            <a:endParaRPr lang="en-US" sz="2800" dirty="0"/>
          </a:p>
        </p:txBody>
      </p:sp>
      <p:sp>
        <p:nvSpPr>
          <p:cNvPr id="65" name="num-4-2-label"/>
          <p:cNvSpPr txBox="1"/>
          <p:nvPr/>
        </p:nvSpPr>
        <p:spPr>
          <a:xfrm>
            <a:off x="8796528" y="5724144"/>
            <a:ext cx="14173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автоматических проверок</a:t>
            </a:r>
            <a:endParaRPr lang="en-US" sz="1300" dirty="0"/>
          </a:p>
        </p:txBody>
      </p:sp>
      <p:sp>
        <p:nvSpPr>
          <p:cNvPr id="66" name="num-4-3-value"/>
          <p:cNvSpPr txBox="1"/>
          <p:nvPr/>
        </p:nvSpPr>
        <p:spPr>
          <a:xfrm>
            <a:off x="10305288" y="5294376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7 500</a:t>
            </a:r>
            <a:endParaRPr lang="en-US" sz="2800" dirty="0"/>
          </a:p>
        </p:txBody>
      </p:sp>
      <p:sp>
        <p:nvSpPr>
          <p:cNvPr id="67" name="num-4-3-label"/>
          <p:cNvSpPr txBox="1"/>
          <p:nvPr/>
        </p:nvSpPr>
        <p:spPr>
          <a:xfrm>
            <a:off x="10305288" y="5724144"/>
            <a:ext cx="109728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прогонов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Что решали люди и как прошли исследования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На развилках решал человек; код каждой работы до вливания читала независимая модель-ревьюер</a:t>
            </a:r>
            <a:endParaRPr lang="en-US" sz="1600" dirty="0"/>
          </a:p>
        </p:txBody>
      </p:sp>
      <p:sp>
        <p:nvSpPr>
          <p:cNvPr id="5" name="legend-1-chip"/>
          <p:cNvSpPr txBox="1"/>
          <p:nvPr/>
        </p:nvSpPr>
        <p:spPr>
          <a:xfrm>
            <a:off x="548640" y="1705356"/>
            <a:ext cx="246888" cy="246888"/>
          </a:xfrm>
          <a:prstGeom prst="roundRect">
            <a:avLst>
              <a:gd name="adj" fmla="val 14815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Г</a:t>
            </a:r>
            <a:endParaRPr lang="en-US" sz="1300" dirty="0"/>
          </a:p>
        </p:txBody>
      </p:sp>
      <p:sp>
        <p:nvSpPr>
          <p:cNvPr id="6" name="legend-1-word"/>
          <p:cNvSpPr txBox="1"/>
          <p:nvPr/>
        </p:nvSpPr>
        <p:spPr>
          <a:xfrm>
            <a:off x="859536" y="1691640"/>
            <a:ext cx="568757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Gemini</a:t>
            </a:r>
            <a:endParaRPr lang="en-US" sz="1300" dirty="0"/>
          </a:p>
        </p:txBody>
      </p:sp>
      <p:sp>
        <p:nvSpPr>
          <p:cNvPr id="7" name="legend-2-chip"/>
          <p:cNvSpPr txBox="1"/>
          <p:nvPr/>
        </p:nvSpPr>
        <p:spPr>
          <a:xfrm>
            <a:off x="1528877" y="1705356"/>
            <a:ext cx="246888" cy="246888"/>
          </a:xfrm>
          <a:prstGeom prst="roundRect">
            <a:avLst>
              <a:gd name="adj" fmla="val 14815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И</a:t>
            </a:r>
            <a:endParaRPr lang="en-US" sz="1300" dirty="0"/>
          </a:p>
        </p:txBody>
      </p:sp>
      <p:sp>
        <p:nvSpPr>
          <p:cNvPr id="8" name="legend-2-word"/>
          <p:cNvSpPr txBox="1"/>
          <p:nvPr/>
        </p:nvSpPr>
        <p:spPr>
          <a:xfrm>
            <a:off x="1839773" y="1691640"/>
            <a:ext cx="657454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инженер</a:t>
            </a:r>
            <a:endParaRPr lang="en-US" sz="1300" dirty="0"/>
          </a:p>
        </p:txBody>
      </p:sp>
      <p:sp>
        <p:nvSpPr>
          <p:cNvPr id="9" name="legend-3-chip"/>
          <p:cNvSpPr txBox="1"/>
          <p:nvPr/>
        </p:nvSpPr>
        <p:spPr>
          <a:xfrm>
            <a:off x="2597810" y="1705356"/>
            <a:ext cx="246888" cy="246888"/>
          </a:xfrm>
          <a:prstGeom prst="roundRect">
            <a:avLst>
              <a:gd name="adj" fmla="val 1481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Р</a:t>
            </a:r>
            <a:endParaRPr lang="en-US" sz="1300" dirty="0"/>
          </a:p>
        </p:txBody>
      </p:sp>
      <p:sp>
        <p:nvSpPr>
          <p:cNvPr id="10" name="legend-3-word"/>
          <p:cNvSpPr txBox="1"/>
          <p:nvPr/>
        </p:nvSpPr>
        <p:spPr>
          <a:xfrm>
            <a:off x="2908706" y="1691640"/>
            <a:ext cx="4800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ревью</a:t>
            </a:r>
            <a:endParaRPr lang="en-US" sz="1300" dirty="0"/>
          </a:p>
        </p:txBody>
      </p:sp>
      <p:sp>
        <p:nvSpPr>
          <p:cNvPr id="11" name="legend-4-chip"/>
          <p:cNvSpPr txBox="1"/>
          <p:nvPr/>
        </p:nvSpPr>
        <p:spPr>
          <a:xfrm>
            <a:off x="3489350" y="1705356"/>
            <a:ext cx="246888" cy="246888"/>
          </a:xfrm>
          <a:prstGeom prst="roundRect">
            <a:avLst>
              <a:gd name="adj" fmla="val 14815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12" name="legend-4-word"/>
          <p:cNvSpPr txBox="1"/>
          <p:nvPr/>
        </p:nvSpPr>
        <p:spPr>
          <a:xfrm>
            <a:off x="3800246" y="1691640"/>
            <a:ext cx="657454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принято</a:t>
            </a:r>
            <a:endParaRPr lang="en-US" sz="1300" dirty="0"/>
          </a:p>
        </p:txBody>
      </p:sp>
      <p:sp>
        <p:nvSpPr>
          <p:cNvPr id="13" name="legend-5-chip"/>
          <p:cNvSpPr txBox="1"/>
          <p:nvPr/>
        </p:nvSpPr>
        <p:spPr>
          <a:xfrm>
            <a:off x="4558284" y="1705356"/>
            <a:ext cx="246888" cy="246888"/>
          </a:xfrm>
          <a:prstGeom prst="roundRect">
            <a:avLst>
              <a:gd name="adj" fmla="val 1481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Ч</a:t>
            </a:r>
            <a:endParaRPr lang="en-US" sz="1300" dirty="0"/>
          </a:p>
        </p:txBody>
      </p:sp>
      <p:sp>
        <p:nvSpPr>
          <p:cNvPr id="14" name="legend-5-word"/>
          <p:cNvSpPr txBox="1"/>
          <p:nvPr/>
        </p:nvSpPr>
        <p:spPr>
          <a:xfrm>
            <a:off x="4869180" y="1691640"/>
            <a:ext cx="1455725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решение человека</a:t>
            </a:r>
            <a:endParaRPr lang="en-US" sz="1300" dirty="0"/>
          </a:p>
        </p:txBody>
      </p:sp>
      <p:sp>
        <p:nvSpPr>
          <p:cNvPr id="15" name="lane-1-name"/>
          <p:cNvSpPr txBox="1"/>
          <p:nvPr/>
        </p:nvSpPr>
        <p:spPr>
          <a:xfrm>
            <a:off x="548640" y="2075688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R1, R4. Среда и гипотезы</a:t>
            </a:r>
            <a:endParaRPr lang="en-US" sz="1600" dirty="0"/>
          </a:p>
        </p:txBody>
      </p:sp>
      <p:sp>
        <p:nvSpPr>
          <p:cNvPr id="16" name="lane-1-chip-1"/>
          <p:cNvSpPr txBox="1"/>
          <p:nvPr/>
        </p:nvSpPr>
        <p:spPr>
          <a:xfrm>
            <a:off x="3319272" y="2080260"/>
            <a:ext cx="246888" cy="246888"/>
          </a:xfrm>
          <a:prstGeom prst="roundRect">
            <a:avLst>
              <a:gd name="adj" fmla="val 14815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Г</a:t>
            </a:r>
            <a:endParaRPr lang="en-US" sz="1300" dirty="0"/>
          </a:p>
        </p:txBody>
      </p:sp>
      <p:sp>
        <p:nvSpPr>
          <p:cNvPr id="17" name="lane-1-chip-2"/>
          <p:cNvSpPr txBox="1"/>
          <p:nvPr/>
        </p:nvSpPr>
        <p:spPr>
          <a:xfrm>
            <a:off x="3602736" y="2080260"/>
            <a:ext cx="246888" cy="246888"/>
          </a:xfrm>
          <a:prstGeom prst="roundRect">
            <a:avLst>
              <a:gd name="adj" fmla="val 1481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Ч</a:t>
            </a:r>
            <a:endParaRPr lang="en-US" sz="1300" dirty="0"/>
          </a:p>
        </p:txBody>
      </p:sp>
      <p:sp>
        <p:nvSpPr>
          <p:cNvPr id="18" name="lane-1-chip-3"/>
          <p:cNvSpPr txBox="1"/>
          <p:nvPr/>
        </p:nvSpPr>
        <p:spPr>
          <a:xfrm>
            <a:off x="3886200" y="2080260"/>
            <a:ext cx="246888" cy="246888"/>
          </a:xfrm>
          <a:prstGeom prst="roundRect">
            <a:avLst>
              <a:gd name="adj" fmla="val 1481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Р</a:t>
            </a:r>
            <a:endParaRPr lang="en-US" sz="1300" dirty="0"/>
          </a:p>
        </p:txBody>
      </p:sp>
      <p:sp>
        <p:nvSpPr>
          <p:cNvPr id="19" name="lane-1-chip-4"/>
          <p:cNvSpPr txBox="1"/>
          <p:nvPr/>
        </p:nvSpPr>
        <p:spPr>
          <a:xfrm>
            <a:off x="4169664" y="2080260"/>
            <a:ext cx="246888" cy="246888"/>
          </a:xfrm>
          <a:prstGeom prst="roundRect">
            <a:avLst>
              <a:gd name="adj" fmla="val 14815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И</a:t>
            </a:r>
            <a:endParaRPr lang="en-US" sz="1300" dirty="0"/>
          </a:p>
        </p:txBody>
      </p:sp>
      <p:sp>
        <p:nvSpPr>
          <p:cNvPr id="20" name="lane-1-chip-5"/>
          <p:cNvSpPr txBox="1"/>
          <p:nvPr/>
        </p:nvSpPr>
        <p:spPr>
          <a:xfrm>
            <a:off x="4453128" y="2080260"/>
            <a:ext cx="246888" cy="246888"/>
          </a:xfrm>
          <a:prstGeom prst="roundRect">
            <a:avLst>
              <a:gd name="adj" fmla="val 1481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Р</a:t>
            </a:r>
            <a:endParaRPr lang="en-US" sz="1300" dirty="0"/>
          </a:p>
        </p:txBody>
      </p:sp>
      <p:sp>
        <p:nvSpPr>
          <p:cNvPr id="21" name="lane-1-chip-6"/>
          <p:cNvSpPr txBox="1"/>
          <p:nvPr/>
        </p:nvSpPr>
        <p:spPr>
          <a:xfrm>
            <a:off x="4736592" y="2080260"/>
            <a:ext cx="246888" cy="246888"/>
          </a:xfrm>
          <a:prstGeom prst="roundRect">
            <a:avLst>
              <a:gd name="adj" fmla="val 14815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И</a:t>
            </a:r>
            <a:endParaRPr lang="en-US" sz="1300" dirty="0"/>
          </a:p>
        </p:txBody>
      </p:sp>
      <p:sp>
        <p:nvSpPr>
          <p:cNvPr id="22" name="lane-1-chip-7"/>
          <p:cNvSpPr txBox="1"/>
          <p:nvPr/>
        </p:nvSpPr>
        <p:spPr>
          <a:xfrm>
            <a:off x="5020056" y="2080260"/>
            <a:ext cx="246888" cy="246888"/>
          </a:xfrm>
          <a:prstGeom prst="roundRect">
            <a:avLst>
              <a:gd name="adj" fmla="val 1481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Р</a:t>
            </a:r>
            <a:endParaRPr lang="en-US" sz="1300" dirty="0"/>
          </a:p>
        </p:txBody>
      </p:sp>
      <p:sp>
        <p:nvSpPr>
          <p:cNvPr id="23" name="lane-1-chip-8"/>
          <p:cNvSpPr txBox="1"/>
          <p:nvPr/>
        </p:nvSpPr>
        <p:spPr>
          <a:xfrm>
            <a:off x="5303520" y="2080260"/>
            <a:ext cx="246888" cy="246888"/>
          </a:xfrm>
          <a:prstGeom prst="roundRect">
            <a:avLst>
              <a:gd name="adj" fmla="val 14815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И</a:t>
            </a:r>
            <a:endParaRPr lang="en-US" sz="1300" dirty="0"/>
          </a:p>
        </p:txBody>
      </p:sp>
      <p:sp>
        <p:nvSpPr>
          <p:cNvPr id="24" name="lane-1-chip-9"/>
          <p:cNvSpPr txBox="1"/>
          <p:nvPr/>
        </p:nvSpPr>
        <p:spPr>
          <a:xfrm>
            <a:off x="5586984" y="2080260"/>
            <a:ext cx="246888" cy="246888"/>
          </a:xfrm>
          <a:prstGeom prst="roundRect">
            <a:avLst>
              <a:gd name="adj" fmla="val 1481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Р</a:t>
            </a:r>
            <a:endParaRPr lang="en-US" sz="1300" dirty="0"/>
          </a:p>
        </p:txBody>
      </p:sp>
      <p:sp>
        <p:nvSpPr>
          <p:cNvPr id="25" name="lane-1-chip-10"/>
          <p:cNvSpPr txBox="1"/>
          <p:nvPr/>
        </p:nvSpPr>
        <p:spPr>
          <a:xfrm>
            <a:off x="5870448" y="2080260"/>
            <a:ext cx="246888" cy="246888"/>
          </a:xfrm>
          <a:prstGeom prst="roundRect">
            <a:avLst>
              <a:gd name="adj" fmla="val 14815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И</a:t>
            </a:r>
            <a:endParaRPr lang="en-US" sz="1300" dirty="0"/>
          </a:p>
        </p:txBody>
      </p:sp>
      <p:sp>
        <p:nvSpPr>
          <p:cNvPr id="26" name="lane-1-chip-11"/>
          <p:cNvSpPr txBox="1"/>
          <p:nvPr/>
        </p:nvSpPr>
        <p:spPr>
          <a:xfrm>
            <a:off x="6153912" y="2080260"/>
            <a:ext cx="246888" cy="246888"/>
          </a:xfrm>
          <a:prstGeom prst="roundRect">
            <a:avLst>
              <a:gd name="adj" fmla="val 14815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27" name="lane-1-result"/>
          <p:cNvSpPr txBox="1"/>
          <p:nvPr/>
        </p:nvSpPr>
        <p:spPr>
          <a:xfrm>
            <a:off x="548640" y="2327148"/>
            <a:ext cx="5852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ревью нашло 7 ошибок; два вывода перевёрнуты</a:t>
            </a:r>
            <a:endParaRPr lang="en-US" sz="1600" dirty="0"/>
          </a:p>
        </p:txBody>
      </p:sp>
      <p:sp>
        <p:nvSpPr>
          <p:cNvPr id="28" name="lane-2-rule"/>
          <p:cNvSpPr/>
          <p:nvPr/>
        </p:nvSpPr>
        <p:spPr>
          <a:xfrm>
            <a:off x="548640" y="2615184"/>
            <a:ext cx="5852160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29" name="lane-2-name"/>
          <p:cNvSpPr txBox="1"/>
          <p:nvPr/>
        </p:nvSpPr>
        <p:spPr>
          <a:xfrm>
            <a:off x="548640" y="2642616"/>
            <a:ext cx="4334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R13. Миссия, заданная словами</a:t>
            </a:r>
            <a:endParaRPr lang="en-US" sz="1600" dirty="0"/>
          </a:p>
        </p:txBody>
      </p:sp>
      <p:sp>
        <p:nvSpPr>
          <p:cNvPr id="30" name="lane-2-chip-1"/>
          <p:cNvSpPr txBox="1"/>
          <p:nvPr/>
        </p:nvSpPr>
        <p:spPr>
          <a:xfrm>
            <a:off x="5020056" y="2647188"/>
            <a:ext cx="246888" cy="246888"/>
          </a:xfrm>
          <a:prstGeom prst="roundRect">
            <a:avLst>
              <a:gd name="adj" fmla="val 14815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Г</a:t>
            </a:r>
            <a:endParaRPr lang="en-US" sz="1300" dirty="0"/>
          </a:p>
        </p:txBody>
      </p:sp>
      <p:sp>
        <p:nvSpPr>
          <p:cNvPr id="31" name="lane-2-chip-2"/>
          <p:cNvSpPr txBox="1"/>
          <p:nvPr/>
        </p:nvSpPr>
        <p:spPr>
          <a:xfrm>
            <a:off x="5303520" y="2647188"/>
            <a:ext cx="246888" cy="246888"/>
          </a:xfrm>
          <a:prstGeom prst="roundRect">
            <a:avLst>
              <a:gd name="adj" fmla="val 14815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И</a:t>
            </a:r>
            <a:endParaRPr lang="en-US" sz="1300" dirty="0"/>
          </a:p>
        </p:txBody>
      </p:sp>
      <p:sp>
        <p:nvSpPr>
          <p:cNvPr id="32" name="lane-2-chip-3"/>
          <p:cNvSpPr txBox="1"/>
          <p:nvPr/>
        </p:nvSpPr>
        <p:spPr>
          <a:xfrm>
            <a:off x="5586984" y="2647188"/>
            <a:ext cx="246888" cy="246888"/>
          </a:xfrm>
          <a:prstGeom prst="roundRect">
            <a:avLst>
              <a:gd name="adj" fmla="val 1481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Р</a:t>
            </a:r>
            <a:endParaRPr lang="en-US" sz="1300" dirty="0"/>
          </a:p>
        </p:txBody>
      </p:sp>
      <p:sp>
        <p:nvSpPr>
          <p:cNvPr id="33" name="lane-2-chip-4"/>
          <p:cNvSpPr txBox="1"/>
          <p:nvPr/>
        </p:nvSpPr>
        <p:spPr>
          <a:xfrm>
            <a:off x="5870448" y="2647188"/>
            <a:ext cx="246888" cy="246888"/>
          </a:xfrm>
          <a:prstGeom prst="roundRect">
            <a:avLst>
              <a:gd name="adj" fmla="val 14815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И</a:t>
            </a:r>
            <a:endParaRPr lang="en-US" sz="1300" dirty="0"/>
          </a:p>
        </p:txBody>
      </p:sp>
      <p:sp>
        <p:nvSpPr>
          <p:cNvPr id="34" name="lane-2-chip-5"/>
          <p:cNvSpPr txBox="1"/>
          <p:nvPr/>
        </p:nvSpPr>
        <p:spPr>
          <a:xfrm>
            <a:off x="6153912" y="2647188"/>
            <a:ext cx="246888" cy="246888"/>
          </a:xfrm>
          <a:prstGeom prst="roundRect">
            <a:avLst>
              <a:gd name="adj" fmla="val 14815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35" name="lane-2-result"/>
          <p:cNvSpPr txBox="1"/>
          <p:nvPr/>
        </p:nvSpPr>
        <p:spPr>
          <a:xfrm>
            <a:off x="548640" y="2894076"/>
            <a:ext cx="5852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модель выполняет миссию 6 из 6, правило — 0 из 6</a:t>
            </a:r>
            <a:endParaRPr lang="en-US" sz="1600" dirty="0"/>
          </a:p>
        </p:txBody>
      </p:sp>
      <p:sp>
        <p:nvSpPr>
          <p:cNvPr id="36" name="lane-3-rule"/>
          <p:cNvSpPr/>
          <p:nvPr/>
        </p:nvSpPr>
        <p:spPr>
          <a:xfrm>
            <a:off x="548640" y="3182112"/>
            <a:ext cx="5852160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37" name="lane-3-name"/>
          <p:cNvSpPr txBox="1"/>
          <p:nvPr/>
        </p:nvSpPr>
        <p:spPr>
          <a:xfrm>
            <a:off x="548640" y="3209544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G2. Потеря положения в Gazebo</a:t>
            </a:r>
            <a:endParaRPr lang="en-US" sz="1600" dirty="0"/>
          </a:p>
        </p:txBody>
      </p:sp>
      <p:sp>
        <p:nvSpPr>
          <p:cNvPr id="38" name="lane-3-chip-1"/>
          <p:cNvSpPr txBox="1"/>
          <p:nvPr/>
        </p:nvSpPr>
        <p:spPr>
          <a:xfrm>
            <a:off x="5303520" y="3214116"/>
            <a:ext cx="246888" cy="246888"/>
          </a:xfrm>
          <a:prstGeom prst="roundRect">
            <a:avLst>
              <a:gd name="adj" fmla="val 14815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И</a:t>
            </a:r>
            <a:endParaRPr lang="en-US" sz="1300" dirty="0"/>
          </a:p>
        </p:txBody>
      </p:sp>
      <p:sp>
        <p:nvSpPr>
          <p:cNvPr id="39" name="lane-3-chip-2"/>
          <p:cNvSpPr txBox="1"/>
          <p:nvPr/>
        </p:nvSpPr>
        <p:spPr>
          <a:xfrm>
            <a:off x="5586984" y="3214116"/>
            <a:ext cx="246888" cy="246888"/>
          </a:xfrm>
          <a:prstGeom prst="roundRect">
            <a:avLst>
              <a:gd name="adj" fmla="val 1481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Р</a:t>
            </a:r>
            <a:endParaRPr lang="en-US" sz="1300" dirty="0"/>
          </a:p>
        </p:txBody>
      </p:sp>
      <p:sp>
        <p:nvSpPr>
          <p:cNvPr id="40" name="lane-3-chip-3"/>
          <p:cNvSpPr txBox="1"/>
          <p:nvPr/>
        </p:nvSpPr>
        <p:spPr>
          <a:xfrm>
            <a:off x="5870448" y="3214116"/>
            <a:ext cx="246888" cy="246888"/>
          </a:xfrm>
          <a:prstGeom prst="roundRect">
            <a:avLst>
              <a:gd name="adj" fmla="val 14815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И</a:t>
            </a:r>
            <a:endParaRPr lang="en-US" sz="1300" dirty="0"/>
          </a:p>
        </p:txBody>
      </p:sp>
      <p:sp>
        <p:nvSpPr>
          <p:cNvPr id="41" name="lane-3-chip-4"/>
          <p:cNvSpPr txBox="1"/>
          <p:nvPr/>
        </p:nvSpPr>
        <p:spPr>
          <a:xfrm>
            <a:off x="6153912" y="3214116"/>
            <a:ext cx="246888" cy="246888"/>
          </a:xfrm>
          <a:prstGeom prst="roundRect">
            <a:avLst>
              <a:gd name="adj" fmla="val 14815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42" name="lane-3-result"/>
          <p:cNvSpPr txBox="1"/>
          <p:nvPr/>
        </p:nvSpPr>
        <p:spPr>
          <a:xfrm>
            <a:off x="548640" y="3461004"/>
            <a:ext cx="5852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возврат на базу в Gazebo: 8 из 9 → 7 из 7</a:t>
            </a:r>
            <a:endParaRPr lang="en-US" sz="1600" dirty="0"/>
          </a:p>
        </p:txBody>
      </p:sp>
      <p:sp>
        <p:nvSpPr>
          <p:cNvPr id="43" name="lane-4-rule"/>
          <p:cNvSpPr/>
          <p:nvPr/>
        </p:nvSpPr>
        <p:spPr>
          <a:xfrm>
            <a:off x="548640" y="3749040"/>
            <a:ext cx="5852160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44" name="lane-4-name"/>
          <p:cNvSpPr txBox="1"/>
          <p:nvPr/>
        </p:nvSpPr>
        <p:spPr>
          <a:xfrm>
            <a:off x="548640" y="3776472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P1. Где робот теряет очки</a:t>
            </a:r>
            <a:endParaRPr lang="en-US" sz="1600" dirty="0"/>
          </a:p>
        </p:txBody>
      </p:sp>
      <p:sp>
        <p:nvSpPr>
          <p:cNvPr id="45" name="lane-4-chip-1"/>
          <p:cNvSpPr txBox="1"/>
          <p:nvPr/>
        </p:nvSpPr>
        <p:spPr>
          <a:xfrm>
            <a:off x="5303520" y="3781044"/>
            <a:ext cx="246888" cy="246888"/>
          </a:xfrm>
          <a:prstGeom prst="roundRect">
            <a:avLst>
              <a:gd name="adj" fmla="val 1481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Ч</a:t>
            </a:r>
            <a:endParaRPr lang="en-US" sz="1300" dirty="0"/>
          </a:p>
        </p:txBody>
      </p:sp>
      <p:sp>
        <p:nvSpPr>
          <p:cNvPr id="46" name="lane-4-chip-2"/>
          <p:cNvSpPr txBox="1"/>
          <p:nvPr/>
        </p:nvSpPr>
        <p:spPr>
          <a:xfrm>
            <a:off x="5586984" y="3781044"/>
            <a:ext cx="246888" cy="246888"/>
          </a:xfrm>
          <a:prstGeom prst="roundRect">
            <a:avLst>
              <a:gd name="adj" fmla="val 14815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И</a:t>
            </a:r>
            <a:endParaRPr lang="en-US" sz="1300" dirty="0"/>
          </a:p>
        </p:txBody>
      </p:sp>
      <p:sp>
        <p:nvSpPr>
          <p:cNvPr id="47" name="lane-4-chip-3"/>
          <p:cNvSpPr txBox="1"/>
          <p:nvPr/>
        </p:nvSpPr>
        <p:spPr>
          <a:xfrm>
            <a:off x="5870448" y="3781044"/>
            <a:ext cx="246888" cy="246888"/>
          </a:xfrm>
          <a:prstGeom prst="roundRect">
            <a:avLst>
              <a:gd name="adj" fmla="val 1481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Р</a:t>
            </a:r>
            <a:endParaRPr lang="en-US" sz="1300" dirty="0"/>
          </a:p>
        </p:txBody>
      </p:sp>
      <p:sp>
        <p:nvSpPr>
          <p:cNvPr id="48" name="lane-4-chip-4"/>
          <p:cNvSpPr txBox="1"/>
          <p:nvPr/>
        </p:nvSpPr>
        <p:spPr>
          <a:xfrm>
            <a:off x="6153912" y="3781044"/>
            <a:ext cx="246888" cy="246888"/>
          </a:xfrm>
          <a:prstGeom prst="roundRect">
            <a:avLst>
              <a:gd name="adj" fmla="val 14815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И</a:t>
            </a:r>
            <a:endParaRPr lang="en-US" sz="1300" dirty="0"/>
          </a:p>
        </p:txBody>
      </p:sp>
      <p:sp>
        <p:nvSpPr>
          <p:cNvPr id="49" name="lane-4-result"/>
          <p:cNvSpPr txBox="1"/>
          <p:nvPr/>
        </p:nvSpPr>
        <p:spPr>
          <a:xfrm>
            <a:off x="548640" y="4027932"/>
            <a:ext cx="5852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+8,3 очка на трудном уровне; правки по ревью идут</a:t>
            </a:r>
            <a:endParaRPr lang="en-US" sz="1600" dirty="0"/>
          </a:p>
        </p:txBody>
      </p:sp>
      <p:sp>
        <p:nvSpPr>
          <p:cNvPr id="50" name="lane-5-rule"/>
          <p:cNvSpPr/>
          <p:nvPr/>
        </p:nvSpPr>
        <p:spPr>
          <a:xfrm>
            <a:off x="548640" y="4315968"/>
            <a:ext cx="5852160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51" name="lane-5-name"/>
          <p:cNvSpPr txBox="1"/>
          <p:nvPr/>
        </p:nvSpPr>
        <p:spPr>
          <a:xfrm>
            <a:off x="548640" y="4343400"/>
            <a:ext cx="4050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R3 → R16. Цена ожидания модели</a:t>
            </a:r>
            <a:endParaRPr lang="en-US" sz="1600" dirty="0"/>
          </a:p>
        </p:txBody>
      </p:sp>
      <p:sp>
        <p:nvSpPr>
          <p:cNvPr id="52" name="lane-5-chip-1"/>
          <p:cNvSpPr txBox="1"/>
          <p:nvPr/>
        </p:nvSpPr>
        <p:spPr>
          <a:xfrm>
            <a:off x="4736592" y="4347972"/>
            <a:ext cx="246888" cy="246888"/>
          </a:xfrm>
          <a:prstGeom prst="roundRect">
            <a:avLst>
              <a:gd name="adj" fmla="val 14815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Г</a:t>
            </a:r>
            <a:endParaRPr lang="en-US" sz="1300" dirty="0"/>
          </a:p>
        </p:txBody>
      </p:sp>
      <p:sp>
        <p:nvSpPr>
          <p:cNvPr id="53" name="lane-5-chip-2"/>
          <p:cNvSpPr txBox="1"/>
          <p:nvPr/>
        </p:nvSpPr>
        <p:spPr>
          <a:xfrm>
            <a:off x="5020056" y="4347972"/>
            <a:ext cx="246888" cy="246888"/>
          </a:xfrm>
          <a:prstGeom prst="roundRect">
            <a:avLst>
              <a:gd name="adj" fmla="val 14815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И</a:t>
            </a:r>
            <a:endParaRPr lang="en-US" sz="1300" dirty="0"/>
          </a:p>
        </p:txBody>
      </p:sp>
      <p:sp>
        <p:nvSpPr>
          <p:cNvPr id="54" name="lane-5-chip-3"/>
          <p:cNvSpPr txBox="1"/>
          <p:nvPr/>
        </p:nvSpPr>
        <p:spPr>
          <a:xfrm>
            <a:off x="5303520" y="4347972"/>
            <a:ext cx="246888" cy="246888"/>
          </a:xfrm>
          <a:prstGeom prst="roundRect">
            <a:avLst>
              <a:gd name="adj" fmla="val 14815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И</a:t>
            </a:r>
            <a:endParaRPr lang="en-US" sz="1300" dirty="0"/>
          </a:p>
        </p:txBody>
      </p:sp>
      <p:sp>
        <p:nvSpPr>
          <p:cNvPr id="55" name="lane-5-chip-4"/>
          <p:cNvSpPr txBox="1"/>
          <p:nvPr/>
        </p:nvSpPr>
        <p:spPr>
          <a:xfrm>
            <a:off x="5586984" y="4347972"/>
            <a:ext cx="246888" cy="246888"/>
          </a:xfrm>
          <a:prstGeom prst="roundRect">
            <a:avLst>
              <a:gd name="adj" fmla="val 14815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56" name="lane-5-next"/>
          <p:cNvSpPr txBox="1"/>
          <p:nvPr/>
        </p:nvSpPr>
        <p:spPr>
          <a:xfrm>
            <a:off x="5870448" y="4343400"/>
            <a:ext cx="246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→</a:t>
            </a:r>
            <a:endParaRPr lang="en-US" sz="1400" dirty="0"/>
          </a:p>
        </p:txBody>
      </p:sp>
      <p:sp>
        <p:nvSpPr>
          <p:cNvPr id="57" name="lane-5-chip-6"/>
          <p:cNvSpPr txBox="1"/>
          <p:nvPr/>
        </p:nvSpPr>
        <p:spPr>
          <a:xfrm>
            <a:off x="6153912" y="4347972"/>
            <a:ext cx="246888" cy="246888"/>
          </a:xfrm>
          <a:prstGeom prst="roundRect">
            <a:avLst>
              <a:gd name="adj" fmla="val 14815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И</a:t>
            </a:r>
            <a:endParaRPr lang="en-US" sz="1300" dirty="0"/>
          </a:p>
        </p:txBody>
      </p:sp>
      <p:sp>
        <p:nvSpPr>
          <p:cNvPr id="58" name="lane-5-result"/>
          <p:cNvSpPr txBox="1"/>
          <p:nvPr/>
        </p:nvSpPr>
        <p:spPr>
          <a:xfrm>
            <a:off x="548640" y="4594860"/>
            <a:ext cx="5852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ждать модель — минус 73 очка → ехать, пока думает: +42</a:t>
            </a:r>
            <a:endParaRPr lang="en-US" sz="1600" dirty="0"/>
          </a:p>
        </p:txBody>
      </p:sp>
      <p:sp>
        <p:nvSpPr>
          <p:cNvPr id="59" name="lane-6-rule"/>
          <p:cNvSpPr/>
          <p:nvPr/>
        </p:nvSpPr>
        <p:spPr>
          <a:xfrm>
            <a:off x="548640" y="4882896"/>
            <a:ext cx="5852160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60" name="lane-6-name"/>
          <p:cNvSpPr txBox="1"/>
          <p:nvPr/>
        </p:nvSpPr>
        <p:spPr>
          <a:xfrm>
            <a:off x="548640" y="4910328"/>
            <a:ext cx="4334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R10. Смена грунта на пути</a:t>
            </a:r>
            <a:endParaRPr lang="en-US" sz="1600" dirty="0"/>
          </a:p>
        </p:txBody>
      </p:sp>
      <p:sp>
        <p:nvSpPr>
          <p:cNvPr id="61" name="lane-6-chip-1"/>
          <p:cNvSpPr txBox="1"/>
          <p:nvPr/>
        </p:nvSpPr>
        <p:spPr>
          <a:xfrm>
            <a:off x="5020056" y="4914900"/>
            <a:ext cx="246888" cy="246888"/>
          </a:xfrm>
          <a:prstGeom prst="roundRect">
            <a:avLst>
              <a:gd name="adj" fmla="val 14815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И</a:t>
            </a:r>
            <a:endParaRPr lang="en-US" sz="1300" dirty="0"/>
          </a:p>
        </p:txBody>
      </p:sp>
      <p:sp>
        <p:nvSpPr>
          <p:cNvPr id="62" name="lane-6-chip-2"/>
          <p:cNvSpPr txBox="1"/>
          <p:nvPr/>
        </p:nvSpPr>
        <p:spPr>
          <a:xfrm>
            <a:off x="5303520" y="4914900"/>
            <a:ext cx="246888" cy="246888"/>
          </a:xfrm>
          <a:prstGeom prst="roundRect">
            <a:avLst>
              <a:gd name="adj" fmla="val 1481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Р</a:t>
            </a:r>
            <a:endParaRPr lang="en-US" sz="1300" dirty="0"/>
          </a:p>
        </p:txBody>
      </p:sp>
      <p:sp>
        <p:nvSpPr>
          <p:cNvPr id="63" name="lane-6-chip-3"/>
          <p:cNvSpPr txBox="1"/>
          <p:nvPr/>
        </p:nvSpPr>
        <p:spPr>
          <a:xfrm>
            <a:off x="5586984" y="4914900"/>
            <a:ext cx="246888" cy="246888"/>
          </a:xfrm>
          <a:prstGeom prst="roundRect">
            <a:avLst>
              <a:gd name="adj" fmla="val 14815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И</a:t>
            </a:r>
            <a:endParaRPr lang="en-US" sz="1300" dirty="0"/>
          </a:p>
        </p:txBody>
      </p:sp>
      <p:sp>
        <p:nvSpPr>
          <p:cNvPr id="64" name="lane-6-chip-4"/>
          <p:cNvSpPr txBox="1"/>
          <p:nvPr/>
        </p:nvSpPr>
        <p:spPr>
          <a:xfrm>
            <a:off x="5870448" y="4914900"/>
            <a:ext cx="246888" cy="246888"/>
          </a:xfrm>
          <a:prstGeom prst="roundRect">
            <a:avLst>
              <a:gd name="adj" fmla="val 1481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Р</a:t>
            </a:r>
            <a:endParaRPr lang="en-US" sz="1300" dirty="0"/>
          </a:p>
        </p:txBody>
      </p:sp>
      <p:sp>
        <p:nvSpPr>
          <p:cNvPr id="65" name="lane-6-chip-5"/>
          <p:cNvSpPr txBox="1"/>
          <p:nvPr/>
        </p:nvSpPr>
        <p:spPr>
          <a:xfrm>
            <a:off x="6153912" y="4914900"/>
            <a:ext cx="246888" cy="246888"/>
          </a:xfrm>
          <a:prstGeom prst="roundRect">
            <a:avLst>
              <a:gd name="adj" fmla="val 14815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66" name="lane-6-result"/>
          <p:cNvSpPr txBox="1"/>
          <p:nvPr/>
        </p:nvSpPr>
        <p:spPr>
          <a:xfrm>
            <a:off x="548640" y="5161788"/>
            <a:ext cx="5852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выигрыш не показан — честный отрицательный результат</a:t>
            </a:r>
            <a:endParaRPr lang="en-US" sz="1600" dirty="0"/>
          </a:p>
        </p:txBody>
      </p:sp>
      <p:sp>
        <p:nvSpPr>
          <p:cNvPr id="67" name="decisions-head"/>
          <p:cNvSpPr txBox="1"/>
          <p:nvPr/>
        </p:nvSpPr>
        <p:spPr>
          <a:xfrm>
            <a:off x="6675120" y="1691640"/>
            <a:ext cx="4965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Решения людей</a:t>
            </a:r>
            <a:endParaRPr lang="en-US" sz="1600" dirty="0"/>
          </a:p>
        </p:txBody>
      </p:sp>
      <p:sp>
        <p:nvSpPr>
          <p:cNvPr id="68" name="decision-1-chip"/>
          <p:cNvSpPr txBox="1"/>
          <p:nvPr/>
        </p:nvSpPr>
        <p:spPr>
          <a:xfrm>
            <a:off x="6675120" y="2080260"/>
            <a:ext cx="246888" cy="246888"/>
          </a:xfrm>
          <a:prstGeom prst="roundRect">
            <a:avLst>
              <a:gd name="adj" fmla="val 1481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Ч</a:t>
            </a:r>
            <a:endParaRPr lang="en-US" sz="1300" dirty="0"/>
          </a:p>
        </p:txBody>
      </p:sp>
      <p:sp>
        <p:nvSpPr>
          <p:cNvPr id="69" name="decision-1-quote"/>
          <p:cNvSpPr txBox="1"/>
          <p:nvPr/>
        </p:nvSpPr>
        <p:spPr>
          <a:xfrm>
            <a:off x="7031736" y="2075688"/>
            <a:ext cx="46085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«У нас не MVP, делаем в самом амбициозном виде»</a:t>
            </a:r>
            <a:endParaRPr lang="en-US" sz="1600" dirty="0"/>
          </a:p>
        </p:txBody>
      </p:sp>
      <p:sp>
        <p:nvSpPr>
          <p:cNvPr id="70" name="decision-1-out"/>
          <p:cNvSpPr txBox="1"/>
          <p:nvPr/>
        </p:nvSpPr>
        <p:spPr>
          <a:xfrm>
            <a:off x="7031736" y="2569464"/>
            <a:ext cx="46085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не минимальная версия: два симулятора, 20+ опытов</a:t>
            </a:r>
            <a:endParaRPr lang="en-US" sz="1300" dirty="0"/>
          </a:p>
        </p:txBody>
      </p:sp>
      <p:sp>
        <p:nvSpPr>
          <p:cNvPr id="71" name="decision-2-chip"/>
          <p:cNvSpPr txBox="1"/>
          <p:nvPr/>
        </p:nvSpPr>
        <p:spPr>
          <a:xfrm>
            <a:off x="6675120" y="2899562"/>
            <a:ext cx="246888" cy="246888"/>
          </a:xfrm>
          <a:prstGeom prst="roundRect">
            <a:avLst>
              <a:gd name="adj" fmla="val 1481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Ч</a:t>
            </a:r>
            <a:endParaRPr lang="en-US" sz="1300" dirty="0"/>
          </a:p>
        </p:txBody>
      </p:sp>
      <p:sp>
        <p:nvSpPr>
          <p:cNvPr id="72" name="decision-2-quote"/>
          <p:cNvSpPr txBox="1"/>
          <p:nvPr/>
        </p:nvSpPr>
        <p:spPr>
          <a:xfrm>
            <a:off x="7031736" y="2894990"/>
            <a:ext cx="4608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«Робот-учёный» — идея коллеги</a:t>
            </a:r>
            <a:endParaRPr lang="en-US" sz="1600" dirty="0"/>
          </a:p>
        </p:txBody>
      </p:sp>
      <p:sp>
        <p:nvSpPr>
          <p:cNvPr id="73" name="decision-2-out"/>
          <p:cNvSpPr txBox="1"/>
          <p:nvPr/>
        </p:nvSpPr>
        <p:spPr>
          <a:xfrm>
            <a:off x="7031736" y="3151022"/>
            <a:ext cx="46085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верных выводов робота — 98,5%</a:t>
            </a:r>
            <a:endParaRPr lang="en-US" sz="1300" dirty="0"/>
          </a:p>
        </p:txBody>
      </p:sp>
      <p:sp>
        <p:nvSpPr>
          <p:cNvPr id="74" name="decision-3-chip"/>
          <p:cNvSpPr txBox="1"/>
          <p:nvPr/>
        </p:nvSpPr>
        <p:spPr>
          <a:xfrm>
            <a:off x="6675120" y="3481121"/>
            <a:ext cx="246888" cy="246888"/>
          </a:xfrm>
          <a:prstGeom prst="roundRect">
            <a:avLst>
              <a:gd name="adj" fmla="val 1481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Ч</a:t>
            </a:r>
            <a:endParaRPr lang="en-US" sz="1300" dirty="0"/>
          </a:p>
        </p:txBody>
      </p:sp>
      <p:sp>
        <p:nvSpPr>
          <p:cNvPr id="75" name="decision-3-quote"/>
          <p:cNvSpPr txBox="1"/>
          <p:nvPr/>
        </p:nvSpPr>
        <p:spPr>
          <a:xfrm>
            <a:off x="7031736" y="3476549"/>
            <a:ext cx="4608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«Исследователи не пишут код»</a:t>
            </a:r>
            <a:endParaRPr lang="en-US" sz="1600" dirty="0"/>
          </a:p>
        </p:txBody>
      </p:sp>
      <p:sp>
        <p:nvSpPr>
          <p:cNvPr id="76" name="decision-3-out"/>
          <p:cNvSpPr txBox="1"/>
          <p:nvPr/>
        </p:nvSpPr>
        <p:spPr>
          <a:xfrm>
            <a:off x="7031736" y="3732581"/>
            <a:ext cx="46085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в их коде ревью нашло 7 ошибок</a:t>
            </a:r>
            <a:endParaRPr lang="en-US" sz="1300" dirty="0"/>
          </a:p>
        </p:txBody>
      </p:sp>
      <p:sp>
        <p:nvSpPr>
          <p:cNvPr id="77" name="decision-4-chip"/>
          <p:cNvSpPr txBox="1"/>
          <p:nvPr/>
        </p:nvSpPr>
        <p:spPr>
          <a:xfrm>
            <a:off x="6675120" y="4062679"/>
            <a:ext cx="246888" cy="246888"/>
          </a:xfrm>
          <a:prstGeom prst="roundRect">
            <a:avLst>
              <a:gd name="adj" fmla="val 1481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Ч</a:t>
            </a:r>
            <a:endParaRPr lang="en-US" sz="1300" dirty="0"/>
          </a:p>
        </p:txBody>
      </p:sp>
      <p:sp>
        <p:nvSpPr>
          <p:cNvPr id="78" name="decision-4-quote"/>
          <p:cNvSpPr txBox="1"/>
          <p:nvPr/>
        </p:nvSpPr>
        <p:spPr>
          <a:xfrm>
            <a:off x="7031736" y="4058107"/>
            <a:ext cx="4608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«Главная цель — результативный робот»</a:t>
            </a:r>
            <a:endParaRPr lang="en-US" sz="1600" dirty="0"/>
          </a:p>
        </p:txBody>
      </p:sp>
      <p:sp>
        <p:nvSpPr>
          <p:cNvPr id="79" name="decision-4-out"/>
          <p:cNvSpPr txBox="1"/>
          <p:nvPr/>
        </p:nvSpPr>
        <p:spPr>
          <a:xfrm>
            <a:off x="7031736" y="4314139"/>
            <a:ext cx="46085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разбор потерь очков: +8 очков на трудном уровне</a:t>
            </a:r>
            <a:endParaRPr lang="en-US" sz="1300" dirty="0"/>
          </a:p>
        </p:txBody>
      </p:sp>
      <p:sp>
        <p:nvSpPr>
          <p:cNvPr id="80" name="decision-5-chip"/>
          <p:cNvSpPr txBox="1"/>
          <p:nvPr/>
        </p:nvSpPr>
        <p:spPr>
          <a:xfrm>
            <a:off x="6675120" y="4644238"/>
            <a:ext cx="246888" cy="246888"/>
          </a:xfrm>
          <a:prstGeom prst="roundRect">
            <a:avLst>
              <a:gd name="adj" fmla="val 1481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Ч</a:t>
            </a:r>
            <a:endParaRPr lang="en-US" sz="1300" dirty="0"/>
          </a:p>
        </p:txBody>
      </p:sp>
      <p:sp>
        <p:nvSpPr>
          <p:cNvPr id="81" name="decision-5-quote"/>
          <p:cNvSpPr txBox="1"/>
          <p:nvPr/>
        </p:nvSpPr>
        <p:spPr>
          <a:xfrm>
            <a:off x="7031736" y="4639666"/>
            <a:ext cx="4608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«Не два варианта агента, а больше»</a:t>
            </a:r>
            <a:endParaRPr lang="en-US" sz="1600" dirty="0"/>
          </a:p>
        </p:txBody>
      </p:sp>
      <p:sp>
        <p:nvSpPr>
          <p:cNvPr id="82" name="decision-5-out"/>
          <p:cNvSpPr txBox="1"/>
          <p:nvPr/>
        </p:nvSpPr>
        <p:spPr>
          <a:xfrm>
            <a:off x="7031736" y="4895698"/>
            <a:ext cx="46085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шесть устройств агента и потолок 92,5 очка</a:t>
            </a:r>
            <a:endParaRPr lang="en-US" sz="1300" dirty="0"/>
          </a:p>
        </p:txBody>
      </p:sp>
      <p:sp>
        <p:nvSpPr>
          <p:cNvPr id="83" name="decision-6-chip"/>
          <p:cNvSpPr txBox="1"/>
          <p:nvPr/>
        </p:nvSpPr>
        <p:spPr>
          <a:xfrm>
            <a:off x="6675120" y="5225796"/>
            <a:ext cx="246888" cy="246888"/>
          </a:xfrm>
          <a:prstGeom prst="roundRect">
            <a:avLst>
              <a:gd name="adj" fmla="val 1481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Ч</a:t>
            </a:r>
            <a:endParaRPr lang="en-US" sz="1300" dirty="0"/>
          </a:p>
        </p:txBody>
      </p:sp>
      <p:sp>
        <p:nvSpPr>
          <p:cNvPr id="84" name="decision-6-quote"/>
          <p:cNvSpPr txBox="1"/>
          <p:nvPr/>
        </p:nvSpPr>
        <p:spPr>
          <a:xfrm>
            <a:off x="7031736" y="5221224"/>
            <a:ext cx="4608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«Никакого маршрутизатора моделей»</a:t>
            </a:r>
            <a:endParaRPr lang="en-US" sz="1600" dirty="0"/>
          </a:p>
        </p:txBody>
      </p:sp>
      <p:sp>
        <p:nvSpPr>
          <p:cNvPr id="85" name="conclusion-card"/>
          <p:cNvSpPr/>
          <p:nvPr/>
        </p:nvSpPr>
        <p:spPr>
          <a:xfrm>
            <a:off x="548640" y="557784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/>
        </p:spPr>
      </p:sp>
      <p:sp>
        <p:nvSpPr>
          <p:cNvPr id="86" name="conclusion-text"/>
          <p:cNvSpPr txBox="1"/>
          <p:nvPr/>
        </p:nvSpPr>
        <p:spPr>
          <a:xfrm>
            <a:off x="822960" y="5577840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Вывод. </a:t>
            </a:r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Качество держится на устройстве процесса — отдельная ветка, независимое ревью, пересчёт чисел, — а не на вере в один ответ модели.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ID Researcher">
  <a:themeElements>
    <a:clrScheme name="DID Researcher">
      <a:dk1>
        <a:srgbClr val="14181C"/>
      </a:dk1>
      <a:lt1>
        <a:srgbClr val="FFFFFF"/>
      </a:lt1>
      <a:dk2>
        <a:srgbClr val="2B3138"/>
      </a:dk2>
      <a:lt2>
        <a:srgbClr val="EEF0F2"/>
      </a:lt2>
      <a:accent1>
        <a:srgbClr val="EB6834"/>
      </a:accent1>
      <a:accent2>
        <a:srgbClr val="2A78D6"/>
      </a:accent2>
      <a:accent3>
        <a:srgbClr val="1BAF7A"/>
      </a:accent3>
      <a:accent4>
        <a:srgbClr val="EDA100"/>
      </a:accent4>
      <a:accent5>
        <a:srgbClr val="5B6168"/>
      </a:accent5>
      <a:accent6>
        <a:srgbClr val="D03B3B"/>
      </a:accent6>
      <a:hlink>
        <a:srgbClr val="2A78D6"/>
      </a:hlink>
      <a:folHlink>
        <a:srgbClr val="4A3AA7"/>
      </a:folHlink>
    </a:clrScheme>
    <a:fontScheme name="DID Researcher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ИИ-исследователь на роботе-платформе — как работали с ИИ-агентами</dc:title>
  <dc:subject>PptxGenJS Presentation</dc:subject>
  <dc:creator>PptxGenJS</dc:creator>
  <cp:lastModifiedBy>PptxGenJS</cp:lastModifiedBy>
  <cp:revision>1</cp:revision>
  <dcterms:created xsi:type="dcterms:W3CDTF">2026-10-08T14:11:38Z</dcterms:created>
  <dcterms:modified xsi:type="dcterms:W3CDTF">2026-10-08T14:11:38Z</dcterms:modified>
</cp:coreProperties>
</file>