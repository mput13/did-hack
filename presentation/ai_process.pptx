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Как работали" id="{1b2214fc-a13d-9cf9-2c1e-8d529efd69aa}">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 ИИ-агентами мы работали как в лаборатории: человек ею руководит, агенты в ней работают. Человек задаёт цель, роли и ограничения и принимает решения на развилках. Ведущий агент ведёт план, пишет задания остальным, сводит их работу в общий код и сам пересчитывает числа. Исследователи читают литературу и кода не пишут. Инженеры пишут код и ставят опыты, каждый в своей копии кода. Отдельная модель-ревьюер читает каждую работу и ищет ошибки. Советников зовём редко, на развилках. Каждое исследование идёт по одному кругу: вопрос и гипотеза, задание, код и опыт, независимое ревью, исправления, вливание, пересчёт чисел. Больше 75 поручений агентам и 27 кругов ревью: ни одна из 15 работ не прошла ревью с первого раза. Агенты работали часами без участия человека, но направление, роли и приоритеты задавал человек.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Каждая строка — одно исследование, каждый значок — один шаг: обзор исследователя, работа инженера или ревью. Галочка — работа принята. В первых двух исследованиях ревью нашло 7 ошибок, и два вывода пришлось перевернуть. В обзорах литературы проверка нашла две выдуманные ссылки. Робот с языковой моделью выполнил миссии, заданные словами, в 45–46 из 48 прогонов на каждой из трёх моделей; робот с правилом, которое текст не читает, — ни разу. Ожидание ответа модели стоило 73 очка; если робот едет по правилу, пока модель думает, возвращается 42 — это измерено на имитаторе модели, режим по умолчанию выключен. В Gazebo робот вернулся на базу в прогонах 8 из 9, после правки — 7 из 7. Разбор потерь дал плюс шесть очков на трудном уровне. Не всё закончилось выигрышем: реакция на смену грунта очков не дала, новые схемы агента оказались не лучше нынешней, пять правок по разбору потерь ничего не прибавили. Это записано как результаты. Качество держится на устройстве процесса, а не на вере в один ответ модели.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548640" y="1097280"/>
            <a:ext cx="11091672" cy="384048"/>
          </a:xfrm>
          <a:prstGeom prst="rect">
            <a:avLst/>
          </a:prstGeom>
          <a:noFill/>
          <a:ln/>
        </p:spPr>
        <p:txBody>
          <a:bodyPr wrap="square" rtlCol="0"/>
          <a:lstStyle>
            <a:lvl1pPr algn="l" indent="0" marL="0">
              <a:buNone/>
              <a:defRPr lang="en-US" sz="1600" dirty="0">
                <a:solidFill>
                  <a:schemeClr val="accent5"/>
                </a:solidFill>
              </a:defRPr>
            </a:lvl1pPr>
          </a:lstStyle>
          <a:p>
            <a:pPr algn="l" indent="0" marL="0">
              <a:buNone/>
            </a:pPr>
            <a:endParaRPr lang="en-US" sz="16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ИИ-исследователь на роботе-платформе · DID Hack 2026 · работа с ИИ-агентами</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image" Target="../media/image-1-4.pn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2.png"/><Relationship Id="rId13" Type="http://schemas.openxmlformats.org/officeDocument/2006/relationships/image" Target="../media/image-2-1.png"/><Relationship Id="rId14" Type="http://schemas.openxmlformats.org/officeDocument/2006/relationships/image" Target="../media/image-2-1.png"/><Relationship Id="rId15" Type="http://schemas.openxmlformats.org/officeDocument/2006/relationships/image" Target="../media/image-2-1.png"/><Relationship Id="rId16" Type="http://schemas.openxmlformats.org/officeDocument/2006/relationships/image" Target="../media/image-2-1.png"/><Relationship Id="rId17" Type="http://schemas.openxmlformats.org/officeDocument/2006/relationships/image" Target="../media/image-2-2.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image" Target="../media/image-2-2.png"/><Relationship Id="rId22" Type="http://schemas.openxmlformats.org/officeDocument/2006/relationships/image" Target="../media/image-2-2.png"/><Relationship Id="rId23" Type="http://schemas.openxmlformats.org/officeDocument/2006/relationships/image" Target="../media/image-2-3.png"/><Relationship Id="rId24" Type="http://schemas.openxmlformats.org/officeDocument/2006/relationships/image" Target="../media/image-2-2.png"/><Relationship Id="rId25" Type="http://schemas.openxmlformats.org/officeDocument/2006/relationships/image" Target="../media/image-2-2.png"/><Relationship Id="rId26" Type="http://schemas.openxmlformats.org/officeDocument/2006/relationships/image" Target="../media/image-2-3.png"/><Relationship Id="rId27" Type="http://schemas.openxmlformats.org/officeDocument/2006/relationships/image" Target="../media/image-2-2.png"/><Relationship Id="rId28" Type="http://schemas.openxmlformats.org/officeDocument/2006/relationships/image" Target="../media/image-2-3.png"/><Relationship Id="rId29" Type="http://schemas.openxmlformats.org/officeDocument/2006/relationships/image" Target="../media/image-2-2.png"/><Relationship Id="rId30" Type="http://schemas.openxmlformats.org/officeDocument/2006/relationships/image" Target="../media/image-2-2.png"/><Relationship Id="rId31" Type="http://schemas.openxmlformats.org/officeDocument/2006/relationships/image" Target="../media/image-2-3.png"/><Relationship Id="rId32" Type="http://schemas.openxmlformats.org/officeDocument/2006/relationships/image" Target="../media/image-2-2.png"/><Relationship Id="rId33" Type="http://schemas.openxmlformats.org/officeDocument/2006/relationships/image" Target="../media/image-2-3.png"/><Relationship Id="rId34" Type="http://schemas.openxmlformats.org/officeDocument/2006/relationships/image" Target="../media/image-2-2.png"/><Relationship Id="rId35" Type="http://schemas.openxmlformats.org/officeDocument/2006/relationships/image" Target="../media/image-2-3.png"/><Relationship Id="rId36" Type="http://schemas.openxmlformats.org/officeDocument/2006/relationships/image" Target="../media/image-2-2.png"/><Relationship Id="rId37" Type="http://schemas.openxmlformats.org/officeDocument/2006/relationships/image" Target="../media/image-2-2.png"/><Relationship Id="rId38" Type="http://schemas.openxmlformats.org/officeDocument/2006/relationships/image" Target="../media/image-2-3.png"/><Relationship Id="rId39" Type="http://schemas.openxmlformats.org/officeDocument/2006/relationships/image" Target="../media/image-2-2.png"/><Relationship Id="rId40" Type="http://schemas.openxmlformats.org/officeDocument/2006/relationships/image" Target="../media/image-2-3.png"/><Relationship Id="rId41" Type="http://schemas.openxmlformats.org/officeDocument/2006/relationships/image" Target="../media/image-2-2.png"/><Relationship Id="rId42" Type="http://schemas.openxmlformats.org/officeDocument/2006/relationships/image" Target="../media/image-2-3.png"/><Relationship Id="rId43" Type="http://schemas.openxmlformats.org/officeDocument/2006/relationships/image" Target="../media/image-2-2.png"/><Relationship Id="rId44" Type="http://schemas.openxmlformats.org/officeDocument/2006/relationships/image" Target="../media/image-2-3.png"/><Relationship Id="rId45" Type="http://schemas.openxmlformats.org/officeDocument/2006/relationships/image" Target="../media/image-2-2.png"/><Relationship Id="rId46" Type="http://schemas.openxmlformats.org/officeDocument/2006/relationships/image" Target="../media/image-2-3.png"/><Relationship Id="rId47" Type="http://schemas.openxmlformats.org/officeDocument/2006/relationships/image" Target="../media/image-2-2.png"/><Relationship Id="rId48" Type="http://schemas.openxmlformats.org/officeDocument/2006/relationships/image" Target="../media/image-2-2.png"/><Relationship Id="rId49" Type="http://schemas.openxmlformats.org/officeDocument/2006/relationships/image" Target="../media/image-2-3.png"/><Relationship Id="rId50" Type="http://schemas.openxmlformats.org/officeDocument/2006/relationships/image" Target="../media/image-2-2.png"/><Relationship Id="rId51" Type="http://schemas.openxmlformats.org/officeDocument/2006/relationships/image" Target="../media/image-2-2.png"/><Relationship Id="rId52" Type="http://schemas.openxmlformats.org/officeDocument/2006/relationships/image" Target="../media/image-2-3.png"/><Relationship Id="rId53" Type="http://schemas.openxmlformats.org/officeDocument/2006/relationships/image" Target="../media/image-2-2.png"/><Relationship Id="rId54" Type="http://schemas.openxmlformats.org/officeDocument/2006/relationships/image" Target="../media/image-2-2.png"/><Relationship Id="rId55" Type="http://schemas.openxmlformats.org/officeDocument/2006/relationships/image" Target="../media/image-2-3.png"/><Relationship Id="rId56" Type="http://schemas.openxmlformats.org/officeDocument/2006/relationships/image" Target="../media/image-2-2.png"/><Relationship Id="rId57" Type="http://schemas.openxmlformats.org/officeDocument/2006/relationships/image" Target="../media/image-2-3.png"/><Relationship Id="rId58" Type="http://schemas.openxmlformats.org/officeDocument/2006/relationships/image" Target="../media/image-2-2.png"/><Relationship Id="rId59" Type="http://schemas.openxmlformats.org/officeDocument/2006/relationships/image" Target="../media/image-2-2.png"/><Relationship Id="rId60" Type="http://schemas.openxmlformats.org/officeDocument/2006/relationships/image" Target="../media/image-2-3.png"/><Relationship Id="rId61" Type="http://schemas.openxmlformats.org/officeDocument/2006/relationships/image" Target="../media/image-2-2.png"/><Relationship Id="rId62" Type="http://schemas.openxmlformats.org/officeDocument/2006/relationships/image" Target="../media/image-2-2.png"/><Relationship Id="rId63" Type="http://schemas.openxmlformats.org/officeDocument/2006/relationships/image" Target="../media/image-2-3.png"/><Relationship Id="rId64" Type="http://schemas.openxmlformats.org/officeDocument/2006/relationships/image" Target="../media/image-2-2.png"/><Relationship Id="rId65" Type="http://schemas.openxmlformats.org/officeDocument/2006/relationships/image" Target="../media/image-2-3.png"/><Relationship Id="rId66" Type="http://schemas.openxmlformats.org/officeDocument/2006/relationships/image" Target="../media/image-2-2.png"/><Relationship Id="rId67" Type="http://schemas.openxmlformats.org/officeDocument/2006/relationships/image" Target="../media/image-2-3.png"/><Relationship Id="rId68" Type="http://schemas.openxmlformats.org/officeDocument/2006/relationships/image" Target="../media/image-2-2.png"/><Relationship Id="rId69" Type="http://schemas.openxmlformats.org/officeDocument/2006/relationships/image" Target="../media/image-2-1.png"/><Relationship Id="rId70" Type="http://schemas.openxmlformats.org/officeDocument/2006/relationships/image" Target="../media/image-2-2.png"/><Relationship Id="rId71" Type="http://schemas.openxmlformats.org/officeDocument/2006/relationships/image" Target="../media/image-2-3.png"/><Relationship Id="rId72" Type="http://schemas.openxmlformats.org/officeDocument/2006/relationships/image" Target="../media/image-2-2.png"/><Relationship Id="rId73" Type="http://schemas.openxmlformats.org/officeDocument/2006/relationships/image" Target="../media/image-2-3.png"/><Relationship Id="rId74" Type="http://schemas.openxmlformats.org/officeDocument/2006/relationships/image" Target="../media/image-2-2.png"/><Relationship Id="rId75" Type="http://schemas.openxmlformats.org/officeDocument/2006/relationships/image" Target="../media/image-2-3.png"/><Relationship Id="rId76" Type="http://schemas.openxmlformats.org/officeDocument/2006/relationships/slideLayout" Target="../slideLayouts/slideLayout2.xml"/><Relationship Id="rId77"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685800"/>
          </a:xfrm>
          <a:prstGeom prst="rect">
            <a:avLst/>
          </a:prstGeom>
          <a:noFill/>
          <a:ln/>
        </p:spPr>
        <p:txBody>
          <a:bodyPr wrap="square" lIns="0" tIns="0" rIns="0" bIns="0" rtlCol="0" anchor="ctr"/>
          <a:lstStyle/>
          <a:p>
            <a:pPr algn="l" indent="0" marL="0">
              <a:buNone/>
            </a:pPr>
            <a:r>
              <a:rPr lang="en-US" sz="2800" b="1" dirty="0">
                <a:solidFill>
                  <a:schemeClr val="tx1"/>
                </a:solidFill>
              </a:rPr>
              <a:t>Человек руководит лабораторией, агенты в ней работают</a:t>
            </a:r>
            <a:endParaRPr lang="en-US" sz="32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ctr"/>
          <a:lstStyle/>
          <a:p>
            <a:pPr algn="l" indent="0" marL="0">
              <a:buNone/>
            </a:pPr>
            <a:r>
              <a:rPr lang="en-US" sz="1600" dirty="0">
                <a:solidFill>
                  <a:schemeClr val="accent5"/>
                </a:solidFill>
              </a:rPr>
              <a:t>Агенты работали часами без участия человека, но направление, роли и приоритеты задавал человек</a:t>
            </a:r>
            <a:endParaRPr lang="en-US" sz="1600" dirty="0"/>
          </a:p>
        </p:txBody>
      </p:sp>
      <p:sp>
        <p:nvSpPr>
          <p:cNvPr id="5" name="human-card"/>
          <p:cNvSpPr/>
          <p:nvPr/>
        </p:nvSpPr>
        <p:spPr>
          <a:xfrm>
            <a:off x="548640" y="1691640"/>
            <a:ext cx="2103120" cy="2432304"/>
          </a:xfrm>
          <a:prstGeom prst="roundRect">
            <a:avLst>
              <a:gd name="adj" fmla="val 3478"/>
            </a:avLst>
          </a:prstGeom>
          <a:solidFill>
            <a:schemeClr val="tx2"/>
          </a:solidFill>
          <a:ln/>
        </p:spPr>
      </p:sp>
      <p:sp>
        <p:nvSpPr>
          <p:cNvPr id="6" name="human-head"/>
          <p:cNvSpPr txBox="1"/>
          <p:nvPr/>
        </p:nvSpPr>
        <p:spPr>
          <a:xfrm>
            <a:off x="749808" y="1837944"/>
            <a:ext cx="1700784" cy="310896"/>
          </a:xfrm>
          <a:prstGeom prst="rect">
            <a:avLst/>
          </a:prstGeom>
          <a:noFill/>
          <a:ln/>
        </p:spPr>
        <p:txBody>
          <a:bodyPr wrap="square" lIns="0" tIns="0" rIns="0" bIns="0" rtlCol="0" anchor="t"/>
          <a:lstStyle/>
          <a:p>
            <a:pPr algn="l" indent="0" marL="0">
              <a:buNone/>
            </a:pPr>
            <a:r>
              <a:rPr lang="en-US" sz="1800" b="1" dirty="0">
                <a:solidFill>
                  <a:schemeClr val="accent1"/>
                </a:solidFill>
              </a:rPr>
              <a:t>Человек</a:t>
            </a:r>
            <a:endParaRPr lang="en-US" sz="1800" dirty="0"/>
          </a:p>
        </p:txBody>
      </p:sp>
      <p:sp>
        <p:nvSpPr>
          <p:cNvPr id="7" name="human-list"/>
          <p:cNvSpPr txBox="1"/>
          <p:nvPr/>
        </p:nvSpPr>
        <p:spPr>
          <a:xfrm>
            <a:off x="749808" y="2240280"/>
            <a:ext cx="1737360" cy="1371600"/>
          </a:xfrm>
          <a:prstGeom prst="rect">
            <a:avLst/>
          </a:prstGeom>
          <a:noFill/>
          <a:ln/>
        </p:spPr>
        <p:txBody>
          <a:bodyPr wrap="square" lIns="0" tIns="0" rIns="0" bIns="0" rtlCol="0" anchor="t"/>
          <a:lstStyle/>
          <a:p>
            <a:pPr algn="l" marL="342900" indent="-342900">
              <a:spcAft>
                <a:spcPts val="400"/>
              </a:spcAft>
              <a:buSzPct val="100000"/>
              <a:buChar char="•"/>
            </a:pPr>
            <a:r>
              <a:rPr lang="en-US" sz="1600" dirty="0">
                <a:solidFill>
                  <a:schemeClr val="bg1"/>
                </a:solidFill>
              </a:rPr>
              <a:t>цель</a:t>
            </a:r>
            <a:endParaRPr lang="en-US" sz="1600" dirty="0"/>
          </a:p>
          <a:p>
            <a:pPr algn="l" marL="342900" indent="-342900">
              <a:spcAft>
                <a:spcPts val="400"/>
              </a:spcAft>
              <a:buSzPct val="100000"/>
              <a:buChar char="•"/>
            </a:pPr>
            <a:r>
              <a:rPr lang="en-US" sz="1600" dirty="0">
                <a:solidFill>
                  <a:schemeClr val="bg1"/>
                </a:solidFill>
              </a:rPr>
              <a:t>роли</a:t>
            </a:r>
            <a:endParaRPr lang="en-US" sz="1600" dirty="0"/>
          </a:p>
          <a:p>
            <a:pPr algn="l" marL="342900" indent="-342900">
              <a:spcAft>
                <a:spcPts val="400"/>
              </a:spcAft>
              <a:buSzPct val="100000"/>
              <a:buChar char="•"/>
            </a:pPr>
            <a:r>
              <a:rPr lang="en-US" sz="1600" dirty="0">
                <a:solidFill>
                  <a:schemeClr val="bg1"/>
                </a:solidFill>
              </a:rPr>
              <a:t>ограничения</a:t>
            </a:r>
            <a:endParaRPr lang="en-US" sz="1600" dirty="0"/>
          </a:p>
          <a:p>
            <a:pPr algn="l" marL="342900" indent="-342900">
              <a:spcAft>
                <a:spcPts val="400"/>
              </a:spcAft>
              <a:buSzPct val="100000"/>
              <a:buChar char="•"/>
            </a:pPr>
            <a:r>
              <a:rPr lang="en-US" sz="1600" dirty="0">
                <a:solidFill>
                  <a:schemeClr val="bg1"/>
                </a:solidFill>
              </a:rPr>
              <a:t>решения на развилках</a:t>
            </a:r>
            <a:endParaRPr lang="en-US" sz="1600" dirty="0"/>
          </a:p>
        </p:txBody>
      </p:sp>
      <p:sp>
        <p:nvSpPr>
          <p:cNvPr id="8" name="human-caption"/>
          <p:cNvSpPr txBox="1"/>
          <p:nvPr/>
        </p:nvSpPr>
        <p:spPr>
          <a:xfrm>
            <a:off x="749808" y="3648456"/>
            <a:ext cx="1700784" cy="384048"/>
          </a:xfrm>
          <a:prstGeom prst="rect">
            <a:avLst/>
          </a:prstGeom>
          <a:noFill/>
          <a:ln/>
        </p:spPr>
        <p:txBody>
          <a:bodyPr wrap="square" lIns="0" tIns="0" rIns="0" bIns="0" rtlCol="0" anchor="b"/>
          <a:lstStyle/>
          <a:p>
            <a:pPr algn="l" indent="0" marL="0">
              <a:buNone/>
            </a:pPr>
            <a:r>
              <a:rPr lang="en-US" sz="1200" dirty="0">
                <a:solidFill>
                  <a:schemeClr val="bg2"/>
                </a:solidFill>
              </a:rPr>
              <a:t>около 70 сообщений за 1,5 суток</a:t>
            </a:r>
            <a:endParaRPr lang="en-US" sz="1200" dirty="0"/>
          </a:p>
        </p:txBody>
      </p:sp>
      <p:sp>
        <p:nvSpPr>
          <p:cNvPr id="9" name="arrow-human-lead"/>
          <p:cNvSpPr/>
          <p:nvPr/>
        </p:nvSpPr>
        <p:spPr>
          <a:xfrm>
            <a:off x="2724912" y="2907792"/>
            <a:ext cx="219456" cy="0"/>
          </a:xfrm>
          <a:prstGeom prst="line">
            <a:avLst/>
          </a:prstGeom>
          <a:noFill/>
          <a:ln w="19050">
            <a:solidFill>
              <a:schemeClr val="accent1"/>
            </a:solidFill>
            <a:prstDash val="solid"/>
            <a:tailEnd type="triangle"/>
          </a:ln>
        </p:spPr>
      </p:sp>
      <p:sp>
        <p:nvSpPr>
          <p:cNvPr id="10" name="lead-card"/>
          <p:cNvSpPr/>
          <p:nvPr/>
        </p:nvSpPr>
        <p:spPr>
          <a:xfrm>
            <a:off x="3017520" y="1691640"/>
            <a:ext cx="2286000" cy="2432304"/>
          </a:xfrm>
          <a:prstGeom prst="roundRect">
            <a:avLst>
              <a:gd name="adj" fmla="val 3200"/>
            </a:avLst>
          </a:prstGeom>
          <a:solidFill>
            <a:schemeClr val="bg2"/>
          </a:solidFill>
          <a:ln/>
        </p:spPr>
      </p:sp>
      <p:sp>
        <p:nvSpPr>
          <p:cNvPr id="11" name="lead-head"/>
          <p:cNvSpPr txBox="1"/>
          <p:nvPr/>
        </p:nvSpPr>
        <p:spPr>
          <a:xfrm>
            <a:off x="3218688" y="1837944"/>
            <a:ext cx="1883664" cy="310896"/>
          </a:xfrm>
          <a:prstGeom prst="rect">
            <a:avLst/>
          </a:prstGeom>
          <a:noFill/>
          <a:ln/>
        </p:spPr>
        <p:txBody>
          <a:bodyPr wrap="square" lIns="0" tIns="0" rIns="0" bIns="0" rtlCol="0" anchor="t"/>
          <a:lstStyle/>
          <a:p>
            <a:pPr algn="l" indent="0" marL="0">
              <a:buNone/>
            </a:pPr>
            <a:r>
              <a:rPr lang="en-US" sz="1800" b="1" dirty="0">
                <a:solidFill>
                  <a:schemeClr val="tx1"/>
                </a:solidFill>
              </a:rPr>
              <a:t>Ведущий агент</a:t>
            </a:r>
            <a:endParaRPr lang="en-US" sz="1800" dirty="0"/>
          </a:p>
        </p:txBody>
      </p:sp>
      <p:sp>
        <p:nvSpPr>
          <p:cNvPr id="12" name="lead-list"/>
          <p:cNvSpPr txBox="1"/>
          <p:nvPr/>
        </p:nvSpPr>
        <p:spPr>
          <a:xfrm>
            <a:off x="3218688" y="2240280"/>
            <a:ext cx="1920240" cy="1371600"/>
          </a:xfrm>
          <a:prstGeom prst="rect">
            <a:avLst/>
          </a:prstGeom>
          <a:noFill/>
          <a:ln/>
        </p:spPr>
        <p:txBody>
          <a:bodyPr wrap="square" lIns="0" tIns="0" rIns="0" bIns="0" rtlCol="0" anchor="t"/>
          <a:lstStyle/>
          <a:p>
            <a:pPr algn="l" marL="342900" indent="-342900">
              <a:spcAft>
                <a:spcPts val="400"/>
              </a:spcAft>
              <a:buSzPct val="100000"/>
              <a:buChar char="•"/>
            </a:pPr>
            <a:r>
              <a:rPr lang="en-US" sz="1600" dirty="0">
                <a:solidFill>
                  <a:schemeClr val="tx2"/>
                </a:solidFill>
              </a:rPr>
              <a:t>ведёт план</a:t>
            </a:r>
            <a:endParaRPr lang="en-US" sz="1600" dirty="0"/>
          </a:p>
          <a:p>
            <a:pPr algn="l" marL="342900" indent="-342900">
              <a:spcAft>
                <a:spcPts val="400"/>
              </a:spcAft>
              <a:buSzPct val="100000"/>
              <a:buChar char="•"/>
            </a:pPr>
            <a:r>
              <a:rPr lang="en-US" sz="1600" dirty="0">
                <a:solidFill>
                  <a:schemeClr val="tx2"/>
                </a:solidFill>
              </a:rPr>
              <a:t>пишет задания</a:t>
            </a:r>
            <a:endParaRPr lang="en-US" sz="1600" dirty="0"/>
          </a:p>
          <a:p>
            <a:pPr algn="l" marL="342900" indent="-342900">
              <a:spcAft>
                <a:spcPts val="400"/>
              </a:spcAft>
              <a:buSzPct val="100000"/>
              <a:buChar char="•"/>
            </a:pPr>
            <a:r>
              <a:rPr lang="en-US" sz="1600" dirty="0">
                <a:solidFill>
                  <a:schemeClr val="tx2"/>
                </a:solidFill>
              </a:rPr>
              <a:t>сводит ветки</a:t>
            </a:r>
            <a:endParaRPr lang="en-US" sz="1600" dirty="0"/>
          </a:p>
          <a:p>
            <a:pPr algn="l" marL="342900" indent="-342900">
              <a:spcAft>
                <a:spcPts val="400"/>
              </a:spcAft>
              <a:buSzPct val="100000"/>
              <a:buChar char="•"/>
            </a:pPr>
            <a:r>
              <a:rPr lang="en-US" sz="1600" dirty="0">
                <a:solidFill>
                  <a:schemeClr val="tx2"/>
                </a:solidFill>
              </a:rPr>
              <a:t>пересчитывает числа</a:t>
            </a:r>
            <a:endParaRPr lang="en-US" sz="1600" dirty="0"/>
          </a:p>
        </p:txBody>
      </p:sp>
      <p:pic>
        <p:nvPicPr>
          <p:cNvPr id="13" name="lead-logo" descr="/Users/a/MAI/DID/presentation/assets/logos/claude.png">    </p:cNvPr>
          <p:cNvPicPr>
            <a:picLocks noChangeAspect="1"/>
          </p:cNvPicPr>
          <p:nvPr/>
        </p:nvPicPr>
        <p:blipFill>
          <a:blip r:embed="rId1"/>
          <a:stretch>
            <a:fillRect/>
          </a:stretch>
        </p:blipFill>
        <p:spPr>
          <a:xfrm>
            <a:off x="3218688" y="3822192"/>
            <a:ext cx="173736" cy="173736"/>
          </a:xfrm>
          <a:prstGeom prst="rect">
            <a:avLst/>
          </a:prstGeom>
        </p:spPr>
      </p:pic>
      <p:sp>
        <p:nvSpPr>
          <p:cNvPr id="14" name="lead-model"/>
          <p:cNvSpPr txBox="1"/>
          <p:nvPr/>
        </p:nvSpPr>
        <p:spPr>
          <a:xfrm>
            <a:off x="3474720" y="3739896"/>
            <a:ext cx="1627632" cy="274320"/>
          </a:xfrm>
          <a:prstGeom prst="rect">
            <a:avLst/>
          </a:prstGeom>
          <a:noFill/>
          <a:ln/>
        </p:spPr>
        <p:txBody>
          <a:bodyPr wrap="square" lIns="0" tIns="0" rIns="0" bIns="0" rtlCol="0" anchor="b"/>
          <a:lstStyle/>
          <a:p>
            <a:pPr algn="l" indent="0" marL="0">
              <a:buNone/>
            </a:pPr>
            <a:r>
              <a:rPr lang="en-US" sz="1200" dirty="0">
                <a:solidFill>
                  <a:schemeClr val="accent5"/>
                </a:solidFill>
              </a:rPr>
              <a:t>Claude Opus 5.5</a:t>
            </a:r>
            <a:endParaRPr lang="en-US" sz="1200" dirty="0"/>
          </a:p>
        </p:txBody>
      </p:sp>
      <p:sp>
        <p:nvSpPr>
          <p:cNvPr id="15" name="arrow-lead-roles"/>
          <p:cNvSpPr/>
          <p:nvPr/>
        </p:nvSpPr>
        <p:spPr>
          <a:xfrm>
            <a:off x="5376672" y="2907792"/>
            <a:ext cx="219456" cy="0"/>
          </a:xfrm>
          <a:prstGeom prst="line">
            <a:avLst/>
          </a:prstGeom>
          <a:noFill/>
          <a:ln w="19050">
            <a:solidFill>
              <a:schemeClr val="accent5"/>
            </a:solidFill>
            <a:prstDash val="solid"/>
            <a:tailEnd type="triangle"/>
          </a:ln>
        </p:spPr>
      </p:sp>
      <p:sp>
        <p:nvSpPr>
          <p:cNvPr id="16" name="role-1-card"/>
          <p:cNvSpPr/>
          <p:nvPr/>
        </p:nvSpPr>
        <p:spPr>
          <a:xfrm>
            <a:off x="5669280" y="1691640"/>
            <a:ext cx="2930652" cy="1161288"/>
          </a:xfrm>
          <a:prstGeom prst="roundRect">
            <a:avLst>
              <a:gd name="adj" fmla="val 6299"/>
            </a:avLst>
          </a:prstGeom>
          <a:solidFill>
            <a:schemeClr val="bg2"/>
          </a:solidFill>
          <a:ln/>
        </p:spPr>
      </p:sp>
      <p:sp>
        <p:nvSpPr>
          <p:cNvPr id="17" name="role-1-head"/>
          <p:cNvSpPr txBox="1"/>
          <p:nvPr/>
        </p:nvSpPr>
        <p:spPr>
          <a:xfrm>
            <a:off x="5852160" y="1801368"/>
            <a:ext cx="2564892" cy="274320"/>
          </a:xfrm>
          <a:prstGeom prst="rect">
            <a:avLst/>
          </a:prstGeom>
          <a:noFill/>
          <a:ln/>
        </p:spPr>
        <p:txBody>
          <a:bodyPr wrap="square" lIns="0" tIns="0" rIns="0" bIns="0" rtlCol="0" anchor="t"/>
          <a:lstStyle/>
          <a:p>
            <a:pPr algn="l" indent="0" marL="0">
              <a:buNone/>
            </a:pPr>
            <a:r>
              <a:rPr lang="en-US" sz="1600" b="1" dirty="0">
                <a:solidFill>
                  <a:schemeClr val="tx1"/>
                </a:solidFill>
              </a:rPr>
              <a:t>Исследователи</a:t>
            </a:r>
            <a:endParaRPr lang="en-US" sz="1600" dirty="0"/>
          </a:p>
        </p:txBody>
      </p:sp>
      <p:sp>
        <p:nvSpPr>
          <p:cNvPr id="18" name="role-1-body"/>
          <p:cNvSpPr txBox="1"/>
          <p:nvPr/>
        </p:nvSpPr>
        <p:spPr>
          <a:xfrm>
            <a:off x="5852160" y="2084832"/>
            <a:ext cx="2610612" cy="512064"/>
          </a:xfrm>
          <a:prstGeom prst="rect">
            <a:avLst/>
          </a:prstGeom>
          <a:noFill/>
          <a:ln/>
        </p:spPr>
        <p:txBody>
          <a:bodyPr wrap="square" lIns="0" tIns="0" rIns="0" bIns="0" rtlCol="0" anchor="t"/>
          <a:lstStyle/>
          <a:p>
            <a:pPr algn="l" indent="0" marL="0">
              <a:buNone/>
            </a:pPr>
            <a:r>
              <a:rPr lang="en-US" sz="1600" dirty="0">
                <a:solidFill>
                  <a:schemeClr val="tx2"/>
                </a:solidFill>
              </a:rPr>
              <a:t>обзоры литературы; кода не пишут</a:t>
            </a:r>
            <a:endParaRPr lang="en-US" sz="1600" dirty="0"/>
          </a:p>
        </p:txBody>
      </p:sp>
      <p:pic>
        <p:nvPicPr>
          <p:cNvPr id="19" name="role-1-logo-1" descr="/Users/a/MAI/DID/presentation/assets/logos/gemini.png">    </p:cNvPr>
          <p:cNvPicPr>
            <a:picLocks noChangeAspect="1"/>
          </p:cNvPicPr>
          <p:nvPr/>
        </p:nvPicPr>
        <p:blipFill>
          <a:blip r:embed="rId2"/>
          <a:stretch>
            <a:fillRect/>
          </a:stretch>
        </p:blipFill>
        <p:spPr>
          <a:xfrm>
            <a:off x="5852160" y="2596896"/>
            <a:ext cx="173736" cy="173736"/>
          </a:xfrm>
          <a:prstGeom prst="rect">
            <a:avLst/>
          </a:prstGeom>
        </p:spPr>
      </p:pic>
      <p:sp>
        <p:nvSpPr>
          <p:cNvPr id="20" name="role-1-model"/>
          <p:cNvSpPr txBox="1"/>
          <p:nvPr/>
        </p:nvSpPr>
        <p:spPr>
          <a:xfrm>
            <a:off x="6108192" y="2587752"/>
            <a:ext cx="2308860" cy="201168"/>
          </a:xfrm>
          <a:prstGeom prst="rect">
            <a:avLst/>
          </a:prstGeom>
          <a:noFill/>
          <a:ln/>
        </p:spPr>
        <p:txBody>
          <a:bodyPr wrap="none" lIns="0" tIns="0" rIns="0" bIns="0" rtlCol="0" anchor="b"/>
          <a:lstStyle/>
          <a:p>
            <a:pPr algn="l" indent="0" marL="0">
              <a:buNone/>
            </a:pPr>
            <a:r>
              <a:rPr lang="en-US" sz="1200" dirty="0">
                <a:solidFill>
                  <a:schemeClr val="accent5"/>
                </a:solidFill>
              </a:rPr>
              <a:t>Gemini 3.8 Flash</a:t>
            </a:r>
            <a:endParaRPr lang="en-US" sz="1200" dirty="0"/>
          </a:p>
        </p:txBody>
      </p:sp>
      <p:sp>
        <p:nvSpPr>
          <p:cNvPr id="21" name="role-2-card"/>
          <p:cNvSpPr/>
          <p:nvPr/>
        </p:nvSpPr>
        <p:spPr>
          <a:xfrm>
            <a:off x="8709660" y="1691640"/>
            <a:ext cx="2930652" cy="1161288"/>
          </a:xfrm>
          <a:prstGeom prst="roundRect">
            <a:avLst>
              <a:gd name="adj" fmla="val 6299"/>
            </a:avLst>
          </a:prstGeom>
          <a:solidFill>
            <a:schemeClr val="bg2"/>
          </a:solidFill>
          <a:ln/>
        </p:spPr>
      </p:sp>
      <p:sp>
        <p:nvSpPr>
          <p:cNvPr id="22" name="role-2-head"/>
          <p:cNvSpPr txBox="1"/>
          <p:nvPr/>
        </p:nvSpPr>
        <p:spPr>
          <a:xfrm>
            <a:off x="8892540" y="1801368"/>
            <a:ext cx="2564892" cy="274320"/>
          </a:xfrm>
          <a:prstGeom prst="rect">
            <a:avLst/>
          </a:prstGeom>
          <a:noFill/>
          <a:ln/>
        </p:spPr>
        <p:txBody>
          <a:bodyPr wrap="square" lIns="0" tIns="0" rIns="0" bIns="0" rtlCol="0" anchor="t"/>
          <a:lstStyle/>
          <a:p>
            <a:pPr algn="l" indent="0" marL="0">
              <a:buNone/>
            </a:pPr>
            <a:r>
              <a:rPr lang="en-US" sz="1600" b="1" dirty="0">
                <a:solidFill>
                  <a:schemeClr val="tx1"/>
                </a:solidFill>
              </a:rPr>
              <a:t>Инженеры</a:t>
            </a:r>
            <a:endParaRPr lang="en-US" sz="1600" dirty="0"/>
          </a:p>
        </p:txBody>
      </p:sp>
      <p:sp>
        <p:nvSpPr>
          <p:cNvPr id="23" name="role-2-body"/>
          <p:cNvSpPr txBox="1"/>
          <p:nvPr/>
        </p:nvSpPr>
        <p:spPr>
          <a:xfrm>
            <a:off x="8892540" y="2084832"/>
            <a:ext cx="2610612" cy="512064"/>
          </a:xfrm>
          <a:prstGeom prst="rect">
            <a:avLst/>
          </a:prstGeom>
          <a:noFill/>
          <a:ln/>
        </p:spPr>
        <p:txBody>
          <a:bodyPr wrap="square" lIns="0" tIns="0" rIns="0" bIns="0" rtlCol="0" anchor="t"/>
          <a:lstStyle/>
          <a:p>
            <a:pPr algn="l" indent="0" marL="0">
              <a:buNone/>
            </a:pPr>
            <a:r>
              <a:rPr lang="en-US" sz="1600" dirty="0">
                <a:solidFill>
                  <a:schemeClr val="tx2"/>
                </a:solidFill>
              </a:rPr>
              <a:t>код, опыт, отчёт — каждый в своей копии кода</a:t>
            </a:r>
            <a:endParaRPr lang="en-US" sz="1600" dirty="0"/>
          </a:p>
        </p:txBody>
      </p:sp>
      <p:pic>
        <p:nvPicPr>
          <p:cNvPr id="24" name="role-2-logo-1" descr="/Users/a/MAI/DID/presentation/assets/logos/claude.png">    </p:cNvPr>
          <p:cNvPicPr>
            <a:picLocks noChangeAspect="1"/>
          </p:cNvPicPr>
          <p:nvPr/>
        </p:nvPicPr>
        <p:blipFill>
          <a:blip r:embed="rId3"/>
          <a:stretch>
            <a:fillRect/>
          </a:stretch>
        </p:blipFill>
        <p:spPr>
          <a:xfrm>
            <a:off x="8892540" y="2596896"/>
            <a:ext cx="173736" cy="173736"/>
          </a:xfrm>
          <a:prstGeom prst="rect">
            <a:avLst/>
          </a:prstGeom>
        </p:spPr>
      </p:pic>
      <p:sp>
        <p:nvSpPr>
          <p:cNvPr id="25" name="role-2-model"/>
          <p:cNvSpPr txBox="1"/>
          <p:nvPr/>
        </p:nvSpPr>
        <p:spPr>
          <a:xfrm>
            <a:off x="9148572" y="2587752"/>
            <a:ext cx="2308860" cy="201168"/>
          </a:xfrm>
          <a:prstGeom prst="rect">
            <a:avLst/>
          </a:prstGeom>
          <a:noFill/>
          <a:ln/>
        </p:spPr>
        <p:txBody>
          <a:bodyPr wrap="none" lIns="0" tIns="0" rIns="0" bIns="0" rtlCol="0" anchor="b"/>
          <a:lstStyle/>
          <a:p>
            <a:pPr algn="l" indent="0" marL="0">
              <a:buNone/>
            </a:pPr>
            <a:r>
              <a:rPr lang="en-US" sz="1200" dirty="0">
                <a:solidFill>
                  <a:schemeClr val="accent5"/>
                </a:solidFill>
              </a:rPr>
              <a:t>Claude Opus 5.5</a:t>
            </a:r>
            <a:endParaRPr lang="en-US" sz="1200" dirty="0"/>
          </a:p>
        </p:txBody>
      </p:sp>
      <p:sp>
        <p:nvSpPr>
          <p:cNvPr id="26" name="role-3-card"/>
          <p:cNvSpPr/>
          <p:nvPr/>
        </p:nvSpPr>
        <p:spPr>
          <a:xfrm>
            <a:off x="5669280" y="2962656"/>
            <a:ext cx="2930652" cy="1161288"/>
          </a:xfrm>
          <a:prstGeom prst="roundRect">
            <a:avLst>
              <a:gd name="adj" fmla="val 6299"/>
            </a:avLst>
          </a:prstGeom>
          <a:solidFill>
            <a:schemeClr val="bg2"/>
          </a:solidFill>
          <a:ln/>
        </p:spPr>
      </p:sp>
      <p:sp>
        <p:nvSpPr>
          <p:cNvPr id="27" name="role-3-head"/>
          <p:cNvSpPr txBox="1"/>
          <p:nvPr/>
        </p:nvSpPr>
        <p:spPr>
          <a:xfrm>
            <a:off x="5852160" y="3072384"/>
            <a:ext cx="2564892" cy="274320"/>
          </a:xfrm>
          <a:prstGeom prst="rect">
            <a:avLst/>
          </a:prstGeom>
          <a:noFill/>
          <a:ln/>
        </p:spPr>
        <p:txBody>
          <a:bodyPr wrap="square" lIns="0" tIns="0" rIns="0" bIns="0" rtlCol="0" anchor="t"/>
          <a:lstStyle/>
          <a:p>
            <a:pPr algn="l" indent="0" marL="0">
              <a:buNone/>
            </a:pPr>
            <a:r>
              <a:rPr lang="en-US" sz="1600" b="1" dirty="0">
                <a:solidFill>
                  <a:schemeClr val="tx1"/>
                </a:solidFill>
              </a:rPr>
              <a:t>Ревьюер (проверяющий)</a:t>
            </a:r>
            <a:endParaRPr lang="en-US" sz="1600" dirty="0"/>
          </a:p>
        </p:txBody>
      </p:sp>
      <p:sp>
        <p:nvSpPr>
          <p:cNvPr id="28" name="role-3-body"/>
          <p:cNvSpPr txBox="1"/>
          <p:nvPr/>
        </p:nvSpPr>
        <p:spPr>
          <a:xfrm>
            <a:off x="5852160" y="3355848"/>
            <a:ext cx="2610612" cy="512064"/>
          </a:xfrm>
          <a:prstGeom prst="rect">
            <a:avLst/>
          </a:prstGeom>
          <a:noFill/>
          <a:ln/>
        </p:spPr>
        <p:txBody>
          <a:bodyPr wrap="square" lIns="0" tIns="0" rIns="0" bIns="0" rtlCol="0" anchor="t"/>
          <a:lstStyle/>
          <a:p>
            <a:pPr algn="l" indent="0" marL="0">
              <a:buNone/>
            </a:pPr>
            <a:r>
              <a:rPr lang="en-US" sz="1600" dirty="0">
                <a:solidFill>
                  <a:schemeClr val="tx2"/>
                </a:solidFill>
              </a:rPr>
              <a:t>читает разницу, ищет ошибки, ничего не меняет</a:t>
            </a:r>
            <a:endParaRPr lang="en-US" sz="1600" dirty="0"/>
          </a:p>
        </p:txBody>
      </p:sp>
      <p:pic>
        <p:nvPicPr>
          <p:cNvPr id="29" name="role-3-logo-1" descr="/Users/a/MAI/DID/presentation/assets/logos/openai.png">    </p:cNvPr>
          <p:cNvPicPr>
            <a:picLocks noChangeAspect="1"/>
          </p:cNvPicPr>
          <p:nvPr/>
        </p:nvPicPr>
        <p:blipFill>
          <a:blip r:embed="rId4"/>
          <a:stretch>
            <a:fillRect/>
          </a:stretch>
        </p:blipFill>
        <p:spPr>
          <a:xfrm>
            <a:off x="5852160" y="3867912"/>
            <a:ext cx="173736" cy="173736"/>
          </a:xfrm>
          <a:prstGeom prst="rect">
            <a:avLst/>
          </a:prstGeom>
        </p:spPr>
      </p:pic>
      <p:sp>
        <p:nvSpPr>
          <p:cNvPr id="30" name="role-3-model"/>
          <p:cNvSpPr txBox="1"/>
          <p:nvPr/>
        </p:nvSpPr>
        <p:spPr>
          <a:xfrm>
            <a:off x="6108192" y="3858768"/>
            <a:ext cx="2308860" cy="201168"/>
          </a:xfrm>
          <a:prstGeom prst="rect">
            <a:avLst/>
          </a:prstGeom>
          <a:noFill/>
          <a:ln/>
        </p:spPr>
        <p:txBody>
          <a:bodyPr wrap="none" lIns="0" tIns="0" rIns="0" bIns="0" rtlCol="0" anchor="b"/>
          <a:lstStyle/>
          <a:p>
            <a:pPr algn="l" indent="0" marL="0">
              <a:buNone/>
            </a:pPr>
            <a:r>
              <a:rPr lang="en-US" sz="1200" dirty="0">
                <a:solidFill>
                  <a:schemeClr val="accent5"/>
                </a:solidFill>
              </a:rPr>
              <a:t>GPT-6.1 Sol</a:t>
            </a:r>
            <a:endParaRPr lang="en-US" sz="1200" dirty="0"/>
          </a:p>
        </p:txBody>
      </p:sp>
      <p:sp>
        <p:nvSpPr>
          <p:cNvPr id="31" name="role-4-card"/>
          <p:cNvSpPr/>
          <p:nvPr/>
        </p:nvSpPr>
        <p:spPr>
          <a:xfrm>
            <a:off x="8709660" y="2962656"/>
            <a:ext cx="2930652" cy="1161288"/>
          </a:xfrm>
          <a:prstGeom prst="roundRect">
            <a:avLst>
              <a:gd name="adj" fmla="val 6299"/>
            </a:avLst>
          </a:prstGeom>
          <a:solidFill>
            <a:schemeClr val="bg2"/>
          </a:solidFill>
          <a:ln/>
        </p:spPr>
      </p:sp>
      <p:sp>
        <p:nvSpPr>
          <p:cNvPr id="32" name="role-4-head"/>
          <p:cNvSpPr txBox="1"/>
          <p:nvPr/>
        </p:nvSpPr>
        <p:spPr>
          <a:xfrm>
            <a:off x="8892540" y="3072384"/>
            <a:ext cx="2564892" cy="274320"/>
          </a:xfrm>
          <a:prstGeom prst="rect">
            <a:avLst/>
          </a:prstGeom>
          <a:noFill/>
          <a:ln/>
        </p:spPr>
        <p:txBody>
          <a:bodyPr wrap="square" lIns="0" tIns="0" rIns="0" bIns="0" rtlCol="0" anchor="t"/>
          <a:lstStyle/>
          <a:p>
            <a:pPr algn="l" indent="0" marL="0">
              <a:buNone/>
            </a:pPr>
            <a:r>
              <a:rPr lang="en-US" sz="1600" b="1" dirty="0">
                <a:solidFill>
                  <a:schemeClr val="tx1"/>
                </a:solidFill>
              </a:rPr>
              <a:t>Советники</a:t>
            </a:r>
            <a:endParaRPr lang="en-US" sz="1600" dirty="0"/>
          </a:p>
        </p:txBody>
      </p:sp>
      <p:sp>
        <p:nvSpPr>
          <p:cNvPr id="33" name="role-4-body"/>
          <p:cNvSpPr txBox="1"/>
          <p:nvPr/>
        </p:nvSpPr>
        <p:spPr>
          <a:xfrm>
            <a:off x="8892540" y="3355848"/>
            <a:ext cx="2610612" cy="512064"/>
          </a:xfrm>
          <a:prstGeom prst="rect">
            <a:avLst/>
          </a:prstGeom>
          <a:noFill/>
          <a:ln/>
        </p:spPr>
        <p:txBody>
          <a:bodyPr wrap="square" lIns="0" tIns="0" rIns="0" bIns="0" rtlCol="0" anchor="t"/>
          <a:lstStyle/>
          <a:p>
            <a:pPr algn="l" indent="0" marL="0">
              <a:buNone/>
            </a:pPr>
            <a:r>
              <a:rPr lang="en-US" sz="1600" dirty="0">
                <a:solidFill>
                  <a:schemeClr val="tx2"/>
                </a:solidFill>
              </a:rPr>
              <a:t>редко, только на развилках</a:t>
            </a:r>
            <a:endParaRPr lang="en-US" sz="1600" dirty="0"/>
          </a:p>
        </p:txBody>
      </p:sp>
      <p:pic>
        <p:nvPicPr>
          <p:cNvPr id="34" name="role-4-logo-1" descr="/Users/a/MAI/DID/presentation/assets/logos/claude.png">    </p:cNvPr>
          <p:cNvPicPr>
            <a:picLocks noChangeAspect="1"/>
          </p:cNvPicPr>
          <p:nvPr/>
        </p:nvPicPr>
        <p:blipFill>
          <a:blip r:embed="rId5"/>
          <a:stretch>
            <a:fillRect/>
          </a:stretch>
        </p:blipFill>
        <p:spPr>
          <a:xfrm>
            <a:off x="8892540" y="3867912"/>
            <a:ext cx="173736" cy="173736"/>
          </a:xfrm>
          <a:prstGeom prst="rect">
            <a:avLst/>
          </a:prstGeom>
        </p:spPr>
      </p:pic>
      <p:pic>
        <p:nvPicPr>
          <p:cNvPr id="35" name="role-4-logo-2" descr="/Users/a/MAI/DID/presentation/assets/logos/openai.png">    </p:cNvPr>
          <p:cNvPicPr>
            <a:picLocks noChangeAspect="1"/>
          </p:cNvPicPr>
          <p:nvPr/>
        </p:nvPicPr>
        <p:blipFill>
          <a:blip r:embed="rId6"/>
          <a:stretch>
            <a:fillRect/>
          </a:stretch>
        </p:blipFill>
        <p:spPr>
          <a:xfrm>
            <a:off x="9121140" y="3867912"/>
            <a:ext cx="173736" cy="173736"/>
          </a:xfrm>
          <a:prstGeom prst="rect">
            <a:avLst/>
          </a:prstGeom>
        </p:spPr>
      </p:pic>
      <p:sp>
        <p:nvSpPr>
          <p:cNvPr id="36" name="role-4-model"/>
          <p:cNvSpPr txBox="1"/>
          <p:nvPr/>
        </p:nvSpPr>
        <p:spPr>
          <a:xfrm>
            <a:off x="9377172" y="3858768"/>
            <a:ext cx="2080260" cy="201168"/>
          </a:xfrm>
          <a:prstGeom prst="rect">
            <a:avLst/>
          </a:prstGeom>
          <a:noFill/>
          <a:ln/>
        </p:spPr>
        <p:txBody>
          <a:bodyPr wrap="none" lIns="0" tIns="0" rIns="0" bIns="0" rtlCol="0" anchor="b"/>
          <a:lstStyle/>
          <a:p>
            <a:pPr algn="l" indent="0" marL="0">
              <a:buNone/>
            </a:pPr>
            <a:r>
              <a:rPr lang="en-US" sz="1200" dirty="0">
                <a:solidFill>
                  <a:schemeClr val="accent5"/>
                </a:solidFill>
              </a:rPr>
              <a:t>Fable 5.1 и GPT-6 Astra</a:t>
            </a:r>
            <a:endParaRPr lang="en-US" sz="1200" dirty="0"/>
          </a:p>
        </p:txBody>
      </p:sp>
      <p:sp>
        <p:nvSpPr>
          <p:cNvPr id="37" name="cycle-label"/>
          <p:cNvSpPr txBox="1"/>
          <p:nvPr/>
        </p:nvSpPr>
        <p:spPr>
          <a:xfrm>
            <a:off x="548640" y="4215384"/>
            <a:ext cx="11091672" cy="237744"/>
          </a:xfrm>
          <a:prstGeom prst="rect">
            <a:avLst/>
          </a:prstGeom>
          <a:noFill/>
          <a:ln/>
        </p:spPr>
        <p:txBody>
          <a:bodyPr wrap="square" lIns="0" tIns="0" rIns="0" bIns="0" rtlCol="0" anchor="ctr"/>
          <a:lstStyle/>
          <a:p>
            <a:pPr algn="l" indent="0" marL="0">
              <a:buNone/>
            </a:pPr>
            <a:r>
              <a:rPr lang="en-US" sz="1300" b="1" dirty="0">
                <a:solidFill>
                  <a:schemeClr val="tx1"/>
                </a:solidFill>
              </a:rPr>
              <a:t>Цикл одного исследования</a:t>
            </a:r>
            <a:pPr algn="l" indent="0" marL="0">
              <a:buNone/>
            </a:pPr>
            <a:r>
              <a:rPr lang="en-US" sz="1300" dirty="0">
                <a:solidFill>
                  <a:schemeClr val="accent5"/>
                </a:solidFill>
              </a:rPr>
              <a:t>   ветка — отдельная копия кода; ревью — независимая проверка кода другой моделью</a:t>
            </a:r>
            <a:endParaRPr lang="en-US" sz="1300" dirty="0"/>
          </a:p>
        </p:txBody>
      </p:sp>
      <p:sp>
        <p:nvSpPr>
          <p:cNvPr id="38" name="cycle-1-card"/>
          <p:cNvSpPr/>
          <p:nvPr/>
        </p:nvSpPr>
        <p:spPr>
          <a:xfrm>
            <a:off x="548640" y="4507992"/>
            <a:ext cx="1296675" cy="603504"/>
          </a:xfrm>
          <a:prstGeom prst="roundRect">
            <a:avLst>
              <a:gd name="adj" fmla="val 12121"/>
            </a:avLst>
          </a:prstGeom>
          <a:solidFill>
            <a:schemeClr val="bg2"/>
          </a:solidFill>
          <a:ln/>
        </p:spPr>
      </p:sp>
      <p:sp>
        <p:nvSpPr>
          <p:cNvPr id="39" name="cycle-1-text"/>
          <p:cNvSpPr txBox="1"/>
          <p:nvPr/>
        </p:nvSpPr>
        <p:spPr>
          <a:xfrm>
            <a:off x="548640" y="4507992"/>
            <a:ext cx="1296675" cy="603504"/>
          </a:xfrm>
          <a:prstGeom prst="rect">
            <a:avLst/>
          </a:prstGeom>
          <a:noFill/>
          <a:ln/>
        </p:spPr>
        <p:txBody>
          <a:bodyPr wrap="square" lIns="0" tIns="0" rIns="0" bIns="0" rtlCol="0" anchor="ctr"/>
          <a:lstStyle/>
          <a:p>
            <a:pPr algn="ctr" indent="0" marL="0">
              <a:buNone/>
            </a:pPr>
            <a:r>
              <a:rPr lang="en-US" sz="1600" dirty="0">
                <a:solidFill>
                  <a:schemeClr val="tx1"/>
                </a:solidFill>
              </a:rPr>
              <a:t>вопрос</a:t>
            </a:r>
            <a:endParaRPr lang="en-US" sz="1600" dirty="0"/>
          </a:p>
          <a:p>
            <a:pPr algn="ctr" indent="0" marL="0">
              <a:buNone/>
            </a:pPr>
            <a:r>
              <a:rPr lang="en-US" sz="1600" dirty="0">
                <a:solidFill>
                  <a:schemeClr val="tx1"/>
                </a:solidFill>
              </a:rPr>
              <a:t>и гипотеза</a:t>
            </a:r>
            <a:endParaRPr lang="en-US" sz="1600" dirty="0"/>
          </a:p>
        </p:txBody>
      </p:sp>
      <p:sp>
        <p:nvSpPr>
          <p:cNvPr id="40" name="cycle-1-arrow"/>
          <p:cNvSpPr/>
          <p:nvPr/>
        </p:nvSpPr>
        <p:spPr>
          <a:xfrm>
            <a:off x="1872747" y="4809744"/>
            <a:ext cx="164592" cy="0"/>
          </a:xfrm>
          <a:prstGeom prst="line">
            <a:avLst/>
          </a:prstGeom>
          <a:noFill/>
          <a:ln w="19050">
            <a:solidFill>
              <a:schemeClr val="accent5"/>
            </a:solidFill>
            <a:prstDash val="solid"/>
            <a:tailEnd type="triangle"/>
          </a:ln>
        </p:spPr>
      </p:sp>
      <p:sp>
        <p:nvSpPr>
          <p:cNvPr id="41" name="cycle-2-card"/>
          <p:cNvSpPr/>
          <p:nvPr/>
        </p:nvSpPr>
        <p:spPr>
          <a:xfrm>
            <a:off x="2064771" y="4507992"/>
            <a:ext cx="997442" cy="603504"/>
          </a:xfrm>
          <a:prstGeom prst="roundRect">
            <a:avLst>
              <a:gd name="adj" fmla="val 12121"/>
            </a:avLst>
          </a:prstGeom>
          <a:solidFill>
            <a:schemeClr val="bg2"/>
          </a:solidFill>
          <a:ln/>
        </p:spPr>
      </p:sp>
      <p:sp>
        <p:nvSpPr>
          <p:cNvPr id="42" name="cycle-2-text"/>
          <p:cNvSpPr txBox="1"/>
          <p:nvPr/>
        </p:nvSpPr>
        <p:spPr>
          <a:xfrm>
            <a:off x="2064771" y="4507992"/>
            <a:ext cx="997442" cy="603504"/>
          </a:xfrm>
          <a:prstGeom prst="rect">
            <a:avLst/>
          </a:prstGeom>
          <a:noFill/>
          <a:ln/>
        </p:spPr>
        <p:txBody>
          <a:bodyPr wrap="square" lIns="0" tIns="0" rIns="0" bIns="0" rtlCol="0" anchor="ctr"/>
          <a:lstStyle/>
          <a:p>
            <a:pPr algn="ctr" indent="0" marL="0">
              <a:buNone/>
            </a:pPr>
            <a:r>
              <a:rPr lang="en-US" sz="1600" dirty="0">
                <a:solidFill>
                  <a:schemeClr val="tx1"/>
                </a:solidFill>
              </a:rPr>
              <a:t>задание</a:t>
            </a:r>
            <a:endParaRPr lang="en-US" sz="1600" dirty="0"/>
          </a:p>
        </p:txBody>
      </p:sp>
      <p:sp>
        <p:nvSpPr>
          <p:cNvPr id="43" name="cycle-2-arrow"/>
          <p:cNvSpPr/>
          <p:nvPr/>
        </p:nvSpPr>
        <p:spPr>
          <a:xfrm>
            <a:off x="3089646" y="4809744"/>
            <a:ext cx="164592" cy="0"/>
          </a:xfrm>
          <a:prstGeom prst="line">
            <a:avLst/>
          </a:prstGeom>
          <a:noFill/>
          <a:ln w="19050">
            <a:solidFill>
              <a:schemeClr val="accent5"/>
            </a:solidFill>
            <a:prstDash val="solid"/>
            <a:tailEnd type="triangle"/>
          </a:ln>
        </p:spPr>
      </p:sp>
      <p:sp>
        <p:nvSpPr>
          <p:cNvPr id="44" name="cycle-3-card"/>
          <p:cNvSpPr/>
          <p:nvPr/>
        </p:nvSpPr>
        <p:spPr>
          <a:xfrm>
            <a:off x="3281670" y="4507992"/>
            <a:ext cx="1994885" cy="603504"/>
          </a:xfrm>
          <a:prstGeom prst="roundRect">
            <a:avLst>
              <a:gd name="adj" fmla="val 12121"/>
            </a:avLst>
          </a:prstGeom>
          <a:solidFill>
            <a:schemeClr val="bg2"/>
          </a:solidFill>
          <a:ln/>
        </p:spPr>
      </p:sp>
      <p:sp>
        <p:nvSpPr>
          <p:cNvPr id="45" name="cycle-3-text"/>
          <p:cNvSpPr txBox="1"/>
          <p:nvPr/>
        </p:nvSpPr>
        <p:spPr>
          <a:xfrm>
            <a:off x="3281670" y="4507992"/>
            <a:ext cx="1994885" cy="603504"/>
          </a:xfrm>
          <a:prstGeom prst="rect">
            <a:avLst/>
          </a:prstGeom>
          <a:noFill/>
          <a:ln/>
        </p:spPr>
        <p:txBody>
          <a:bodyPr wrap="square" lIns="0" tIns="0" rIns="0" bIns="0" rtlCol="0" anchor="ctr"/>
          <a:lstStyle/>
          <a:p>
            <a:pPr algn="ctr" indent="0" marL="0">
              <a:buNone/>
            </a:pPr>
            <a:r>
              <a:rPr lang="en-US" sz="1600" dirty="0">
                <a:solidFill>
                  <a:schemeClr val="tx1"/>
                </a:solidFill>
              </a:rPr>
              <a:t>код и опыт</a:t>
            </a:r>
            <a:endParaRPr lang="en-US" sz="1600" dirty="0"/>
          </a:p>
          <a:p>
            <a:pPr algn="ctr" indent="0" marL="0">
              <a:buNone/>
            </a:pPr>
            <a:r>
              <a:rPr lang="en-US" sz="1600" dirty="0">
                <a:solidFill>
                  <a:schemeClr val="tx1"/>
                </a:solidFill>
              </a:rPr>
              <a:t>в отдельной ветке</a:t>
            </a:r>
            <a:endParaRPr lang="en-US" sz="1600" dirty="0"/>
          </a:p>
        </p:txBody>
      </p:sp>
      <p:sp>
        <p:nvSpPr>
          <p:cNvPr id="46" name="cycle-3-arrow"/>
          <p:cNvSpPr/>
          <p:nvPr/>
        </p:nvSpPr>
        <p:spPr>
          <a:xfrm>
            <a:off x="5303987" y="4809744"/>
            <a:ext cx="164592" cy="0"/>
          </a:xfrm>
          <a:prstGeom prst="line">
            <a:avLst/>
          </a:prstGeom>
          <a:noFill/>
          <a:ln w="19050">
            <a:solidFill>
              <a:schemeClr val="accent5"/>
            </a:solidFill>
            <a:prstDash val="solid"/>
            <a:tailEnd type="triangle"/>
          </a:ln>
        </p:spPr>
      </p:sp>
      <p:sp>
        <p:nvSpPr>
          <p:cNvPr id="47" name="cycle-4-card"/>
          <p:cNvSpPr/>
          <p:nvPr/>
        </p:nvSpPr>
        <p:spPr>
          <a:xfrm>
            <a:off x="5496011" y="4507992"/>
            <a:ext cx="1595908" cy="603504"/>
          </a:xfrm>
          <a:prstGeom prst="roundRect">
            <a:avLst>
              <a:gd name="adj" fmla="val 12121"/>
            </a:avLst>
          </a:prstGeom>
          <a:solidFill>
            <a:schemeClr val="accent1"/>
          </a:solidFill>
          <a:ln/>
        </p:spPr>
      </p:sp>
      <p:sp>
        <p:nvSpPr>
          <p:cNvPr id="48" name="cycle-4-text"/>
          <p:cNvSpPr txBox="1"/>
          <p:nvPr/>
        </p:nvSpPr>
        <p:spPr>
          <a:xfrm>
            <a:off x="5496011" y="4507992"/>
            <a:ext cx="1595908" cy="603504"/>
          </a:xfrm>
          <a:prstGeom prst="rect">
            <a:avLst/>
          </a:prstGeom>
          <a:noFill/>
          <a:ln/>
        </p:spPr>
        <p:txBody>
          <a:bodyPr wrap="square" lIns="0" tIns="0" rIns="0" bIns="0" rtlCol="0" anchor="ctr"/>
          <a:lstStyle/>
          <a:p>
            <a:pPr algn="ctr" indent="0" marL="0">
              <a:buNone/>
            </a:pPr>
            <a:r>
              <a:rPr lang="en-US" sz="1600" b="1" dirty="0">
                <a:solidFill>
                  <a:schemeClr val="bg1"/>
                </a:solidFill>
              </a:rPr>
              <a:t>независимое</a:t>
            </a:r>
            <a:endParaRPr lang="en-US" sz="1600" dirty="0"/>
          </a:p>
          <a:p>
            <a:pPr algn="ctr" indent="0" marL="0">
              <a:buNone/>
            </a:pPr>
            <a:r>
              <a:rPr lang="en-US" sz="1600" b="1" dirty="0">
                <a:solidFill>
                  <a:schemeClr val="bg1"/>
                </a:solidFill>
              </a:rPr>
              <a:t>ревью</a:t>
            </a:r>
            <a:endParaRPr lang="en-US" sz="1600" dirty="0"/>
          </a:p>
        </p:txBody>
      </p:sp>
      <p:sp>
        <p:nvSpPr>
          <p:cNvPr id="49" name="cycle-4-arrow"/>
          <p:cNvSpPr/>
          <p:nvPr/>
        </p:nvSpPr>
        <p:spPr>
          <a:xfrm>
            <a:off x="7119350" y="4809744"/>
            <a:ext cx="164592" cy="0"/>
          </a:xfrm>
          <a:prstGeom prst="line">
            <a:avLst/>
          </a:prstGeom>
          <a:noFill/>
          <a:ln w="19050">
            <a:solidFill>
              <a:schemeClr val="accent5"/>
            </a:solidFill>
            <a:prstDash val="solid"/>
            <a:tailEnd type="triangle"/>
          </a:ln>
        </p:spPr>
      </p:sp>
      <p:sp>
        <p:nvSpPr>
          <p:cNvPr id="50" name="cycle-5-card"/>
          <p:cNvSpPr/>
          <p:nvPr/>
        </p:nvSpPr>
        <p:spPr>
          <a:xfrm>
            <a:off x="7311374" y="4507992"/>
            <a:ext cx="1396419" cy="603504"/>
          </a:xfrm>
          <a:prstGeom prst="roundRect">
            <a:avLst>
              <a:gd name="adj" fmla="val 12121"/>
            </a:avLst>
          </a:prstGeom>
          <a:solidFill>
            <a:schemeClr val="bg2"/>
          </a:solidFill>
          <a:ln/>
        </p:spPr>
      </p:sp>
      <p:sp>
        <p:nvSpPr>
          <p:cNvPr id="51" name="cycle-5-text"/>
          <p:cNvSpPr txBox="1"/>
          <p:nvPr/>
        </p:nvSpPr>
        <p:spPr>
          <a:xfrm>
            <a:off x="7311374" y="4507992"/>
            <a:ext cx="1396419" cy="603504"/>
          </a:xfrm>
          <a:prstGeom prst="rect">
            <a:avLst/>
          </a:prstGeom>
          <a:noFill/>
          <a:ln/>
        </p:spPr>
        <p:txBody>
          <a:bodyPr wrap="square" lIns="0" tIns="0" rIns="0" bIns="0" rtlCol="0" anchor="ctr"/>
          <a:lstStyle/>
          <a:p>
            <a:pPr algn="ctr" indent="0" marL="0">
              <a:buNone/>
            </a:pPr>
            <a:r>
              <a:rPr lang="en-US" sz="1600" dirty="0">
                <a:solidFill>
                  <a:schemeClr val="tx1"/>
                </a:solidFill>
              </a:rPr>
              <a:t>исправления</a:t>
            </a:r>
            <a:endParaRPr lang="en-US" sz="1600" dirty="0"/>
          </a:p>
        </p:txBody>
      </p:sp>
      <p:sp>
        <p:nvSpPr>
          <p:cNvPr id="52" name="cycle-5-arrow"/>
          <p:cNvSpPr/>
          <p:nvPr/>
        </p:nvSpPr>
        <p:spPr>
          <a:xfrm>
            <a:off x="8735226" y="4809744"/>
            <a:ext cx="164592" cy="0"/>
          </a:xfrm>
          <a:prstGeom prst="line">
            <a:avLst/>
          </a:prstGeom>
          <a:noFill/>
          <a:ln w="19050">
            <a:solidFill>
              <a:schemeClr val="accent5"/>
            </a:solidFill>
            <a:prstDash val="solid"/>
            <a:tailEnd type="triangle"/>
          </a:ln>
        </p:spPr>
      </p:sp>
      <p:sp>
        <p:nvSpPr>
          <p:cNvPr id="53" name="cycle-6-card"/>
          <p:cNvSpPr/>
          <p:nvPr/>
        </p:nvSpPr>
        <p:spPr>
          <a:xfrm>
            <a:off x="8927250" y="4507992"/>
            <a:ext cx="1396419" cy="603504"/>
          </a:xfrm>
          <a:prstGeom prst="roundRect">
            <a:avLst>
              <a:gd name="adj" fmla="val 12121"/>
            </a:avLst>
          </a:prstGeom>
          <a:solidFill>
            <a:schemeClr val="bg2"/>
          </a:solidFill>
          <a:ln/>
        </p:spPr>
      </p:sp>
      <p:sp>
        <p:nvSpPr>
          <p:cNvPr id="54" name="cycle-6-text"/>
          <p:cNvSpPr txBox="1"/>
          <p:nvPr/>
        </p:nvSpPr>
        <p:spPr>
          <a:xfrm>
            <a:off x="8927250" y="4507992"/>
            <a:ext cx="1396419" cy="603504"/>
          </a:xfrm>
          <a:prstGeom prst="rect">
            <a:avLst/>
          </a:prstGeom>
          <a:noFill/>
          <a:ln/>
        </p:spPr>
        <p:txBody>
          <a:bodyPr wrap="square" lIns="0" tIns="0" rIns="0" bIns="0" rtlCol="0" anchor="ctr"/>
          <a:lstStyle/>
          <a:p>
            <a:pPr algn="ctr" indent="0" marL="0">
              <a:buNone/>
            </a:pPr>
            <a:r>
              <a:rPr lang="en-US" sz="1600" dirty="0">
                <a:solidFill>
                  <a:schemeClr val="tx1"/>
                </a:solidFill>
              </a:rPr>
              <a:t>вливание</a:t>
            </a:r>
            <a:endParaRPr lang="en-US" sz="1600" dirty="0"/>
          </a:p>
          <a:p>
            <a:pPr algn="ctr" indent="0" marL="0">
              <a:buNone/>
            </a:pPr>
            <a:r>
              <a:rPr lang="en-US" sz="1600" dirty="0">
                <a:solidFill>
                  <a:schemeClr val="tx1"/>
                </a:solidFill>
              </a:rPr>
              <a:t>в общий код</a:t>
            </a:r>
            <a:endParaRPr lang="en-US" sz="1600" dirty="0"/>
          </a:p>
        </p:txBody>
      </p:sp>
      <p:sp>
        <p:nvSpPr>
          <p:cNvPr id="55" name="cycle-6-arrow"/>
          <p:cNvSpPr/>
          <p:nvPr/>
        </p:nvSpPr>
        <p:spPr>
          <a:xfrm>
            <a:off x="10351101" y="4809744"/>
            <a:ext cx="164592" cy="0"/>
          </a:xfrm>
          <a:prstGeom prst="line">
            <a:avLst/>
          </a:prstGeom>
          <a:noFill/>
          <a:ln w="19050">
            <a:solidFill>
              <a:schemeClr val="accent5"/>
            </a:solidFill>
            <a:prstDash val="solid"/>
            <a:tailEnd type="triangle"/>
          </a:ln>
        </p:spPr>
      </p:sp>
      <p:sp>
        <p:nvSpPr>
          <p:cNvPr id="56" name="cycle-7-card"/>
          <p:cNvSpPr/>
          <p:nvPr/>
        </p:nvSpPr>
        <p:spPr>
          <a:xfrm>
            <a:off x="10543125" y="4507992"/>
            <a:ext cx="1097187" cy="603504"/>
          </a:xfrm>
          <a:prstGeom prst="roundRect">
            <a:avLst>
              <a:gd name="adj" fmla="val 12121"/>
            </a:avLst>
          </a:prstGeom>
          <a:solidFill>
            <a:schemeClr val="bg2"/>
          </a:solidFill>
          <a:ln/>
        </p:spPr>
      </p:sp>
      <p:sp>
        <p:nvSpPr>
          <p:cNvPr id="57" name="cycle-7-text"/>
          <p:cNvSpPr txBox="1"/>
          <p:nvPr/>
        </p:nvSpPr>
        <p:spPr>
          <a:xfrm>
            <a:off x="10543125" y="4507992"/>
            <a:ext cx="1097187" cy="603504"/>
          </a:xfrm>
          <a:prstGeom prst="rect">
            <a:avLst/>
          </a:prstGeom>
          <a:noFill/>
          <a:ln/>
        </p:spPr>
        <p:txBody>
          <a:bodyPr wrap="square" lIns="0" tIns="0" rIns="0" bIns="0" rtlCol="0" anchor="ctr"/>
          <a:lstStyle/>
          <a:p>
            <a:pPr algn="ctr" indent="0" marL="0">
              <a:buNone/>
            </a:pPr>
            <a:r>
              <a:rPr lang="en-US" sz="1600" dirty="0">
                <a:solidFill>
                  <a:schemeClr val="tx1"/>
                </a:solidFill>
              </a:rPr>
              <a:t>пересчёт</a:t>
            </a:r>
            <a:endParaRPr lang="en-US" sz="1600" dirty="0"/>
          </a:p>
          <a:p>
            <a:pPr algn="ctr" indent="0" marL="0">
              <a:buNone/>
            </a:pPr>
            <a:r>
              <a:rPr lang="en-US" sz="1600" dirty="0">
                <a:solidFill>
                  <a:schemeClr val="tx1"/>
                </a:solidFill>
              </a:rPr>
              <a:t>чисел</a:t>
            </a:r>
            <a:endParaRPr lang="en-US" sz="1600" dirty="0"/>
          </a:p>
        </p:txBody>
      </p:sp>
      <p:sp>
        <p:nvSpPr>
          <p:cNvPr id="58" name="num-1-card"/>
          <p:cNvSpPr/>
          <p:nvPr/>
        </p:nvSpPr>
        <p:spPr>
          <a:xfrm>
            <a:off x="548640" y="5239512"/>
            <a:ext cx="2011680" cy="978408"/>
          </a:xfrm>
          <a:prstGeom prst="roundRect">
            <a:avLst>
              <a:gd name="adj" fmla="val 7477"/>
            </a:avLst>
          </a:prstGeom>
          <a:solidFill>
            <a:schemeClr val="bg2"/>
          </a:solidFill>
          <a:ln/>
        </p:spPr>
      </p:sp>
      <p:sp>
        <p:nvSpPr>
          <p:cNvPr id="59" name="num-1-value"/>
          <p:cNvSpPr txBox="1"/>
          <p:nvPr/>
        </p:nvSpPr>
        <p:spPr>
          <a:xfrm>
            <a:off x="749808" y="5294376"/>
            <a:ext cx="1645920" cy="420624"/>
          </a:xfrm>
          <a:prstGeom prst="rect">
            <a:avLst/>
          </a:prstGeom>
          <a:noFill/>
          <a:ln/>
        </p:spPr>
        <p:txBody>
          <a:bodyPr wrap="square" lIns="0" tIns="0" rIns="0" bIns="0" rtlCol="0" anchor="ctr"/>
          <a:lstStyle/>
          <a:p>
            <a:pPr algn="l" indent="0" marL="0">
              <a:buNone/>
            </a:pPr>
            <a:r>
              <a:rPr lang="en-US" sz="2800" b="1" dirty="0">
                <a:solidFill>
                  <a:schemeClr val="tx1"/>
                </a:solidFill>
              </a:rPr>
              <a:t>1,5 суток</a:t>
            </a:r>
            <a:endParaRPr lang="en-US" sz="2800" dirty="0"/>
          </a:p>
        </p:txBody>
      </p:sp>
      <p:sp>
        <p:nvSpPr>
          <p:cNvPr id="60" name="num-1-label"/>
          <p:cNvSpPr txBox="1"/>
          <p:nvPr/>
        </p:nvSpPr>
        <p:spPr>
          <a:xfrm>
            <a:off x="749808" y="5724144"/>
            <a:ext cx="1682496" cy="448056"/>
          </a:xfrm>
          <a:prstGeom prst="rect">
            <a:avLst/>
          </a:prstGeom>
          <a:noFill/>
          <a:ln/>
        </p:spPr>
        <p:txBody>
          <a:bodyPr wrap="square" lIns="0" tIns="0" rIns="0" bIns="0" rtlCol="0" anchor="t"/>
          <a:lstStyle/>
          <a:p>
            <a:pPr algn="l" indent="0" marL="0">
              <a:buNone/>
            </a:pPr>
            <a:r>
              <a:rPr lang="en-US" sz="1300" dirty="0">
                <a:solidFill>
                  <a:schemeClr val="tx2"/>
                </a:solidFill>
              </a:rPr>
              <a:t>одна непрерывная сессия</a:t>
            </a:r>
            <a:endParaRPr lang="en-US" sz="1300" dirty="0"/>
          </a:p>
        </p:txBody>
      </p:sp>
      <p:sp>
        <p:nvSpPr>
          <p:cNvPr id="61" name="num-2-card"/>
          <p:cNvSpPr/>
          <p:nvPr/>
        </p:nvSpPr>
        <p:spPr>
          <a:xfrm>
            <a:off x="2697480" y="5239512"/>
            <a:ext cx="1828800" cy="978408"/>
          </a:xfrm>
          <a:prstGeom prst="roundRect">
            <a:avLst>
              <a:gd name="adj" fmla="val 7477"/>
            </a:avLst>
          </a:prstGeom>
          <a:solidFill>
            <a:schemeClr val="bg2"/>
          </a:solidFill>
          <a:ln/>
        </p:spPr>
      </p:sp>
      <p:sp>
        <p:nvSpPr>
          <p:cNvPr id="62" name="num-2-value"/>
          <p:cNvSpPr txBox="1"/>
          <p:nvPr/>
        </p:nvSpPr>
        <p:spPr>
          <a:xfrm>
            <a:off x="2898648" y="5294376"/>
            <a:ext cx="1463040" cy="420624"/>
          </a:xfrm>
          <a:prstGeom prst="rect">
            <a:avLst/>
          </a:prstGeom>
          <a:noFill/>
          <a:ln/>
        </p:spPr>
        <p:txBody>
          <a:bodyPr wrap="square" lIns="0" tIns="0" rIns="0" bIns="0" rtlCol="0" anchor="ctr"/>
          <a:lstStyle/>
          <a:p>
            <a:pPr algn="l" indent="0" marL="0">
              <a:buNone/>
            </a:pPr>
            <a:r>
              <a:rPr lang="en-US" sz="2800" b="1" dirty="0">
                <a:solidFill>
                  <a:schemeClr val="tx1"/>
                </a:solidFill>
              </a:rPr>
              <a:t>75+</a:t>
            </a:r>
            <a:endParaRPr lang="en-US" sz="2800" dirty="0"/>
          </a:p>
        </p:txBody>
      </p:sp>
      <p:sp>
        <p:nvSpPr>
          <p:cNvPr id="63" name="num-2-label"/>
          <p:cNvSpPr txBox="1"/>
          <p:nvPr/>
        </p:nvSpPr>
        <p:spPr>
          <a:xfrm>
            <a:off x="2898648" y="5724144"/>
            <a:ext cx="1499616" cy="448056"/>
          </a:xfrm>
          <a:prstGeom prst="rect">
            <a:avLst/>
          </a:prstGeom>
          <a:noFill/>
          <a:ln/>
        </p:spPr>
        <p:txBody>
          <a:bodyPr wrap="square" lIns="0" tIns="0" rIns="0" bIns="0" rtlCol="0" anchor="t"/>
          <a:lstStyle/>
          <a:p>
            <a:pPr algn="l" indent="0" marL="0">
              <a:buNone/>
            </a:pPr>
            <a:r>
              <a:rPr lang="en-US" sz="1300" dirty="0">
                <a:solidFill>
                  <a:schemeClr val="tx2"/>
                </a:solidFill>
              </a:rPr>
              <a:t>поручений агентам</a:t>
            </a:r>
            <a:endParaRPr lang="en-US" sz="1300" dirty="0"/>
          </a:p>
        </p:txBody>
      </p:sp>
      <p:sp>
        <p:nvSpPr>
          <p:cNvPr id="64" name="num-3-card"/>
          <p:cNvSpPr/>
          <p:nvPr/>
        </p:nvSpPr>
        <p:spPr>
          <a:xfrm>
            <a:off x="4663440" y="5239512"/>
            <a:ext cx="2514600" cy="978408"/>
          </a:xfrm>
          <a:prstGeom prst="roundRect">
            <a:avLst>
              <a:gd name="adj" fmla="val 7477"/>
            </a:avLst>
          </a:prstGeom>
          <a:solidFill>
            <a:schemeClr val="bg2"/>
          </a:solidFill>
          <a:ln/>
        </p:spPr>
      </p:sp>
      <p:sp>
        <p:nvSpPr>
          <p:cNvPr id="65" name="num-3-value"/>
          <p:cNvSpPr txBox="1"/>
          <p:nvPr/>
        </p:nvSpPr>
        <p:spPr>
          <a:xfrm>
            <a:off x="4864608" y="5294376"/>
            <a:ext cx="2148840" cy="420624"/>
          </a:xfrm>
          <a:prstGeom prst="rect">
            <a:avLst/>
          </a:prstGeom>
          <a:noFill/>
          <a:ln/>
        </p:spPr>
        <p:txBody>
          <a:bodyPr wrap="square" lIns="0" tIns="0" rIns="0" bIns="0" rtlCol="0" anchor="ctr"/>
          <a:lstStyle/>
          <a:p>
            <a:pPr algn="l" indent="0" marL="0">
              <a:buNone/>
            </a:pPr>
            <a:r>
              <a:rPr lang="en-US" sz="2800" b="1" dirty="0">
                <a:solidFill>
                  <a:schemeClr val="tx1"/>
                </a:solidFill>
              </a:rPr>
              <a:t>15 из 15</a:t>
            </a:r>
            <a:endParaRPr lang="en-US" sz="2800" dirty="0"/>
          </a:p>
        </p:txBody>
      </p:sp>
      <p:sp>
        <p:nvSpPr>
          <p:cNvPr id="66" name="num-3-label"/>
          <p:cNvSpPr txBox="1"/>
          <p:nvPr/>
        </p:nvSpPr>
        <p:spPr>
          <a:xfrm>
            <a:off x="4864608" y="5724144"/>
            <a:ext cx="2185416" cy="448056"/>
          </a:xfrm>
          <a:prstGeom prst="rect">
            <a:avLst/>
          </a:prstGeom>
          <a:noFill/>
          <a:ln/>
        </p:spPr>
        <p:txBody>
          <a:bodyPr wrap="square" lIns="0" tIns="0" rIns="0" bIns="0" rtlCol="0" anchor="t"/>
          <a:lstStyle/>
          <a:p>
            <a:pPr algn="l" indent="0" marL="0">
              <a:buNone/>
            </a:pPr>
            <a:r>
              <a:rPr lang="en-US" sz="1300" dirty="0">
                <a:solidFill>
                  <a:schemeClr val="tx2"/>
                </a:solidFill>
              </a:rPr>
              <a:t>работ не прошли ревью с первого раза</a:t>
            </a:r>
            <a:endParaRPr lang="en-US" sz="1300" dirty="0"/>
          </a:p>
        </p:txBody>
      </p:sp>
      <p:sp>
        <p:nvSpPr>
          <p:cNvPr id="67" name="num-4-card"/>
          <p:cNvSpPr/>
          <p:nvPr/>
        </p:nvSpPr>
        <p:spPr>
          <a:xfrm>
            <a:off x="7315200" y="5239512"/>
            <a:ext cx="4325112" cy="978408"/>
          </a:xfrm>
          <a:prstGeom prst="roundRect">
            <a:avLst>
              <a:gd name="adj" fmla="val 7477"/>
            </a:avLst>
          </a:prstGeom>
          <a:solidFill>
            <a:schemeClr val="bg2"/>
          </a:solidFill>
          <a:ln/>
        </p:spPr>
      </p:sp>
      <p:sp>
        <p:nvSpPr>
          <p:cNvPr id="68" name="num-4-1-value"/>
          <p:cNvSpPr txBox="1"/>
          <p:nvPr/>
        </p:nvSpPr>
        <p:spPr>
          <a:xfrm>
            <a:off x="7516368" y="5294376"/>
            <a:ext cx="1005840" cy="420624"/>
          </a:xfrm>
          <a:prstGeom prst="rect">
            <a:avLst/>
          </a:prstGeom>
          <a:noFill/>
          <a:ln/>
        </p:spPr>
        <p:txBody>
          <a:bodyPr wrap="square" lIns="0" tIns="0" rIns="0" bIns="0" rtlCol="0" anchor="ctr"/>
          <a:lstStyle/>
          <a:p>
            <a:pPr algn="l" indent="0" marL="0">
              <a:buNone/>
            </a:pPr>
            <a:r>
              <a:rPr lang="en-US" sz="2800" b="1" dirty="0">
                <a:solidFill>
                  <a:schemeClr val="tx1"/>
                </a:solidFill>
              </a:rPr>
              <a:t>241</a:t>
            </a:r>
            <a:endParaRPr lang="en-US" sz="2800" dirty="0"/>
          </a:p>
        </p:txBody>
      </p:sp>
      <p:sp>
        <p:nvSpPr>
          <p:cNvPr id="69" name="num-4-1-label"/>
          <p:cNvSpPr txBox="1"/>
          <p:nvPr/>
        </p:nvSpPr>
        <p:spPr>
          <a:xfrm>
            <a:off x="7516368" y="5724144"/>
            <a:ext cx="1005840" cy="448056"/>
          </a:xfrm>
          <a:prstGeom prst="rect">
            <a:avLst/>
          </a:prstGeom>
          <a:noFill/>
          <a:ln/>
        </p:spPr>
        <p:txBody>
          <a:bodyPr wrap="square" lIns="0" tIns="0" rIns="0" bIns="0" rtlCol="0" anchor="t"/>
          <a:lstStyle/>
          <a:p>
            <a:pPr algn="l" indent="0" marL="0">
              <a:buNone/>
            </a:pPr>
            <a:r>
              <a:rPr lang="en-US" sz="1300" dirty="0">
                <a:solidFill>
                  <a:schemeClr val="tx2"/>
                </a:solidFill>
              </a:rPr>
              <a:t>правок кода (коммитов)</a:t>
            </a:r>
            <a:endParaRPr lang="en-US" sz="1300" dirty="0"/>
          </a:p>
        </p:txBody>
      </p:sp>
      <p:sp>
        <p:nvSpPr>
          <p:cNvPr id="70" name="num-4-2-value"/>
          <p:cNvSpPr txBox="1"/>
          <p:nvPr/>
        </p:nvSpPr>
        <p:spPr>
          <a:xfrm>
            <a:off x="8613648" y="5294376"/>
            <a:ext cx="1234440" cy="420624"/>
          </a:xfrm>
          <a:prstGeom prst="rect">
            <a:avLst/>
          </a:prstGeom>
          <a:noFill/>
          <a:ln/>
        </p:spPr>
        <p:txBody>
          <a:bodyPr wrap="square" lIns="0" tIns="0" rIns="0" bIns="0" rtlCol="0" anchor="ctr"/>
          <a:lstStyle/>
          <a:p>
            <a:pPr algn="l" indent="0" marL="0">
              <a:buNone/>
            </a:pPr>
            <a:r>
              <a:rPr lang="en-US" sz="2800" b="1" dirty="0">
                <a:solidFill>
                  <a:schemeClr val="tx1"/>
                </a:solidFill>
              </a:rPr>
              <a:t>982</a:t>
            </a:r>
            <a:endParaRPr lang="en-US" sz="2800" dirty="0"/>
          </a:p>
        </p:txBody>
      </p:sp>
      <p:sp>
        <p:nvSpPr>
          <p:cNvPr id="71" name="num-4-2-label"/>
          <p:cNvSpPr txBox="1"/>
          <p:nvPr/>
        </p:nvSpPr>
        <p:spPr>
          <a:xfrm>
            <a:off x="8613648" y="5724144"/>
            <a:ext cx="1234440" cy="448056"/>
          </a:xfrm>
          <a:prstGeom prst="rect">
            <a:avLst/>
          </a:prstGeom>
          <a:noFill/>
          <a:ln/>
        </p:spPr>
        <p:txBody>
          <a:bodyPr wrap="square" lIns="0" tIns="0" rIns="0" bIns="0" rtlCol="0" anchor="t"/>
          <a:lstStyle/>
          <a:p>
            <a:pPr algn="l" indent="0" marL="0">
              <a:buNone/>
            </a:pPr>
            <a:r>
              <a:rPr lang="en-US" sz="1300" dirty="0">
                <a:solidFill>
                  <a:schemeClr val="tx2"/>
                </a:solidFill>
              </a:rPr>
              <a:t>автоматических проверок</a:t>
            </a:r>
            <a:endParaRPr lang="en-US" sz="1300" dirty="0"/>
          </a:p>
        </p:txBody>
      </p:sp>
      <p:sp>
        <p:nvSpPr>
          <p:cNvPr id="72" name="num-4-3-value"/>
          <p:cNvSpPr txBox="1"/>
          <p:nvPr/>
        </p:nvSpPr>
        <p:spPr>
          <a:xfrm>
            <a:off x="9939528" y="5294376"/>
            <a:ext cx="1463040" cy="420624"/>
          </a:xfrm>
          <a:prstGeom prst="rect">
            <a:avLst/>
          </a:prstGeom>
          <a:noFill/>
          <a:ln/>
        </p:spPr>
        <p:txBody>
          <a:bodyPr wrap="square" lIns="0" tIns="0" rIns="0" bIns="0" rtlCol="0" anchor="ctr"/>
          <a:lstStyle/>
          <a:p>
            <a:pPr algn="l" indent="0" marL="0">
              <a:buNone/>
            </a:pPr>
            <a:r>
              <a:rPr lang="en-US" sz="2800" b="1" dirty="0">
                <a:solidFill>
                  <a:schemeClr val="tx1"/>
                </a:solidFill>
              </a:rPr>
              <a:t>24 000+</a:t>
            </a:r>
            <a:endParaRPr lang="en-US" sz="2800" dirty="0"/>
          </a:p>
        </p:txBody>
      </p:sp>
      <p:sp>
        <p:nvSpPr>
          <p:cNvPr id="73" name="num-4-3-label"/>
          <p:cNvSpPr txBox="1"/>
          <p:nvPr/>
        </p:nvSpPr>
        <p:spPr>
          <a:xfrm>
            <a:off x="9939528" y="5724144"/>
            <a:ext cx="1463040" cy="448056"/>
          </a:xfrm>
          <a:prstGeom prst="rect">
            <a:avLst/>
          </a:prstGeom>
          <a:noFill/>
          <a:ln/>
        </p:spPr>
        <p:txBody>
          <a:bodyPr wrap="square" lIns="0" tIns="0" rIns="0" bIns="0" rtlCol="0" anchor="t"/>
          <a:lstStyle/>
          <a:p>
            <a:pPr algn="l" indent="0" marL="0">
              <a:buNone/>
            </a:pPr>
            <a:r>
              <a:rPr lang="en-US" sz="1300" dirty="0">
                <a:solidFill>
                  <a:schemeClr val="tx2"/>
                </a:solidFill>
              </a:rPr>
              <a:t>прогонов</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685800"/>
          </a:xfrm>
          <a:prstGeom prst="rect">
            <a:avLst/>
          </a:prstGeom>
          <a:noFill/>
          <a:ln/>
        </p:spPr>
        <p:txBody>
          <a:bodyPr wrap="square" lIns="0" tIns="0" rIns="0" bIns="0" rtlCol="0" anchor="ctr"/>
          <a:lstStyle/>
          <a:p>
            <a:pPr algn="l" indent="0" marL="0">
              <a:buNone/>
            </a:pPr>
            <a:r>
              <a:rPr lang="en-US" sz="3200" b="1" dirty="0">
                <a:solidFill>
                  <a:schemeClr val="tx1"/>
                </a:solidFill>
              </a:rPr>
              <a:t>Как прошли исследования</a:t>
            </a:r>
            <a:endParaRPr lang="en-US" sz="3200" dirty="0"/>
          </a:p>
        </p:txBody>
      </p:sp>
      <p:sp>
        <p:nvSpPr>
          <p:cNvPr id="3" name="Text 0"/>
          <p:cNvSpPr/>
          <p:nvPr>
            <p:ph idx="101" type="body" hasCustomPrompt="1"/>
          </p:nvPr>
        </p:nvSpPr>
        <p:spPr>
          <a:xfrm>
            <a:off x="548640" y="1097280"/>
            <a:ext cx="11091672" cy="384048"/>
          </a:xfrm>
          <a:prstGeom prst="rect">
            <a:avLst/>
          </a:prstGeom>
          <a:noFill/>
          <a:ln/>
        </p:spPr>
        <p:txBody>
          <a:bodyPr wrap="square" lIns="0" tIns="0" rIns="0" bIns="0" rtlCol="0" anchor="ctr"/>
          <a:lstStyle/>
          <a:p>
            <a:pPr algn="l" indent="0" marL="0">
              <a:buNone/>
            </a:pPr>
            <a:r>
              <a:rPr lang="en-US" sz="1600" dirty="0">
                <a:solidFill>
                  <a:schemeClr val="accent5"/>
                </a:solidFill>
              </a:rPr>
              <a:t>Каждая строка — одно исследование, каждый значок — один шаг: какая модель работала и чем закончилось</a:t>
            </a:r>
            <a:endParaRPr lang="en-US" sz="1600" dirty="0"/>
          </a:p>
        </p:txBody>
      </p:sp>
      <p:sp>
        <p:nvSpPr>
          <p:cNvPr id="5" name="legend-1-chip-tile"/>
          <p:cNvSpPr/>
          <p:nvPr/>
        </p:nvSpPr>
        <p:spPr>
          <a:xfrm>
            <a:off x="548640" y="1700784"/>
            <a:ext cx="237744" cy="237744"/>
          </a:xfrm>
          <a:prstGeom prst="roundRect">
            <a:avLst>
              <a:gd name="adj" fmla="val 15385"/>
            </a:avLst>
          </a:prstGeom>
          <a:solidFill>
            <a:schemeClr val="bg2"/>
          </a:solidFill>
          <a:ln/>
        </p:spPr>
      </p:sp>
      <p:pic>
        <p:nvPicPr>
          <p:cNvPr id="6" name="legend-1-chip" descr="/Users/a/MAI/DID/presentation/assets/logos/gemini.png">    </p:cNvPr>
          <p:cNvPicPr>
            <a:picLocks noChangeAspect="1"/>
          </p:cNvPicPr>
          <p:nvPr/>
        </p:nvPicPr>
        <p:blipFill>
          <a:blip r:embed="rId1"/>
          <a:stretch>
            <a:fillRect/>
          </a:stretch>
        </p:blipFill>
        <p:spPr>
          <a:xfrm>
            <a:off x="589788" y="1741932"/>
            <a:ext cx="155448" cy="155448"/>
          </a:xfrm>
          <a:prstGeom prst="rect">
            <a:avLst/>
          </a:prstGeom>
        </p:spPr>
      </p:pic>
      <p:sp>
        <p:nvSpPr>
          <p:cNvPr id="7" name="legend-1-word"/>
          <p:cNvSpPr txBox="1"/>
          <p:nvPr/>
        </p:nvSpPr>
        <p:spPr>
          <a:xfrm>
            <a:off x="859536" y="1691640"/>
            <a:ext cx="2787091" cy="274320"/>
          </a:xfrm>
          <a:prstGeom prst="rect">
            <a:avLst/>
          </a:prstGeom>
          <a:noFill/>
          <a:ln/>
        </p:spPr>
        <p:txBody>
          <a:bodyPr wrap="none" lIns="0" tIns="0" rIns="0" bIns="0" rtlCol="0" anchor="ctr"/>
          <a:lstStyle/>
          <a:p>
            <a:pPr algn="l" indent="0" marL="0">
              <a:buNone/>
            </a:pPr>
            <a:r>
              <a:rPr lang="en-US" sz="1300" dirty="0">
                <a:solidFill>
                  <a:schemeClr val="tx2"/>
                </a:solidFill>
              </a:rPr>
              <a:t>Gemini 3.8 Flash — исследователь</a:t>
            </a:r>
            <a:endParaRPr lang="en-US" sz="1300" dirty="0"/>
          </a:p>
        </p:txBody>
      </p:sp>
      <p:sp>
        <p:nvSpPr>
          <p:cNvPr id="8" name="legend-2-chip-tile"/>
          <p:cNvSpPr/>
          <p:nvPr/>
        </p:nvSpPr>
        <p:spPr>
          <a:xfrm>
            <a:off x="3847795" y="1700784"/>
            <a:ext cx="237744" cy="237744"/>
          </a:xfrm>
          <a:prstGeom prst="roundRect">
            <a:avLst>
              <a:gd name="adj" fmla="val 15385"/>
            </a:avLst>
          </a:prstGeom>
          <a:solidFill>
            <a:schemeClr val="bg2"/>
          </a:solidFill>
          <a:ln/>
        </p:spPr>
      </p:sp>
      <p:pic>
        <p:nvPicPr>
          <p:cNvPr id="9" name="legend-2-chip" descr="/Users/a/MAI/DID/presentation/assets/logos/claude.png">    </p:cNvPr>
          <p:cNvPicPr>
            <a:picLocks noChangeAspect="1"/>
          </p:cNvPicPr>
          <p:nvPr/>
        </p:nvPicPr>
        <p:blipFill>
          <a:blip r:embed="rId2"/>
          <a:stretch>
            <a:fillRect/>
          </a:stretch>
        </p:blipFill>
        <p:spPr>
          <a:xfrm>
            <a:off x="3888943" y="1741932"/>
            <a:ext cx="155448" cy="155448"/>
          </a:xfrm>
          <a:prstGeom prst="rect">
            <a:avLst/>
          </a:prstGeom>
        </p:spPr>
      </p:pic>
      <p:sp>
        <p:nvSpPr>
          <p:cNvPr id="10" name="legend-2-word"/>
          <p:cNvSpPr txBox="1"/>
          <p:nvPr/>
        </p:nvSpPr>
        <p:spPr>
          <a:xfrm>
            <a:off x="4158691" y="1691640"/>
            <a:ext cx="2185416" cy="274320"/>
          </a:xfrm>
          <a:prstGeom prst="rect">
            <a:avLst/>
          </a:prstGeom>
          <a:noFill/>
          <a:ln/>
        </p:spPr>
        <p:txBody>
          <a:bodyPr wrap="none" lIns="0" tIns="0" rIns="0" bIns="0" rtlCol="0" anchor="ctr"/>
          <a:lstStyle/>
          <a:p>
            <a:pPr algn="l" indent="0" marL="0">
              <a:buNone/>
            </a:pPr>
            <a:r>
              <a:rPr lang="en-US" sz="1300" dirty="0">
                <a:solidFill>
                  <a:schemeClr val="tx2"/>
                </a:solidFill>
              </a:rPr>
              <a:t>Claude Opus 5.5 — инженер</a:t>
            </a:r>
            <a:endParaRPr lang="en-US" sz="1300" dirty="0"/>
          </a:p>
        </p:txBody>
      </p:sp>
      <p:sp>
        <p:nvSpPr>
          <p:cNvPr id="11" name="legend-3-chip-tile"/>
          <p:cNvSpPr/>
          <p:nvPr/>
        </p:nvSpPr>
        <p:spPr>
          <a:xfrm>
            <a:off x="6545275" y="1700784"/>
            <a:ext cx="237744" cy="237744"/>
          </a:xfrm>
          <a:prstGeom prst="roundRect">
            <a:avLst>
              <a:gd name="adj" fmla="val 15385"/>
            </a:avLst>
          </a:prstGeom>
          <a:solidFill>
            <a:schemeClr val="bg2"/>
          </a:solidFill>
          <a:ln/>
        </p:spPr>
      </p:sp>
      <p:pic>
        <p:nvPicPr>
          <p:cNvPr id="12" name="legend-3-chip" descr="/Users/a/MAI/DID/presentation/assets/logos/openai.png">    </p:cNvPr>
          <p:cNvPicPr>
            <a:picLocks noChangeAspect="1"/>
          </p:cNvPicPr>
          <p:nvPr/>
        </p:nvPicPr>
        <p:blipFill>
          <a:blip r:embed="rId3"/>
          <a:stretch>
            <a:fillRect/>
          </a:stretch>
        </p:blipFill>
        <p:spPr>
          <a:xfrm>
            <a:off x="6586423" y="1741932"/>
            <a:ext cx="155448" cy="155448"/>
          </a:xfrm>
          <a:prstGeom prst="rect">
            <a:avLst/>
          </a:prstGeom>
        </p:spPr>
      </p:pic>
      <p:sp>
        <p:nvSpPr>
          <p:cNvPr id="13" name="legend-3-word"/>
          <p:cNvSpPr txBox="1"/>
          <p:nvPr/>
        </p:nvSpPr>
        <p:spPr>
          <a:xfrm>
            <a:off x="6856171" y="1691640"/>
            <a:ext cx="1841602" cy="274320"/>
          </a:xfrm>
          <a:prstGeom prst="rect">
            <a:avLst/>
          </a:prstGeom>
          <a:noFill/>
          <a:ln/>
        </p:spPr>
        <p:txBody>
          <a:bodyPr wrap="none" lIns="0" tIns="0" rIns="0" bIns="0" rtlCol="0" anchor="ctr"/>
          <a:lstStyle/>
          <a:p>
            <a:pPr algn="l" indent="0" marL="0">
              <a:buNone/>
            </a:pPr>
            <a:r>
              <a:rPr lang="en-US" sz="1300" dirty="0">
                <a:solidFill>
                  <a:schemeClr val="tx2"/>
                </a:solidFill>
              </a:rPr>
              <a:t>GPT-6.1 Sol — ревьюер</a:t>
            </a:r>
            <a:endParaRPr lang="en-US" sz="1300" dirty="0"/>
          </a:p>
        </p:txBody>
      </p:sp>
      <p:sp>
        <p:nvSpPr>
          <p:cNvPr id="14" name="legend-4-chip"/>
          <p:cNvSpPr txBox="1"/>
          <p:nvPr/>
        </p:nvSpPr>
        <p:spPr>
          <a:xfrm>
            <a:off x="8898941" y="1700784"/>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5" name="legend-4-word"/>
          <p:cNvSpPr txBox="1"/>
          <p:nvPr/>
        </p:nvSpPr>
        <p:spPr>
          <a:xfrm>
            <a:off x="9209837" y="1691640"/>
            <a:ext cx="1239926" cy="274320"/>
          </a:xfrm>
          <a:prstGeom prst="rect">
            <a:avLst/>
          </a:prstGeom>
          <a:noFill/>
          <a:ln/>
        </p:spPr>
        <p:txBody>
          <a:bodyPr wrap="none" lIns="0" tIns="0" rIns="0" bIns="0" rtlCol="0" anchor="ctr"/>
          <a:lstStyle/>
          <a:p>
            <a:pPr algn="l" indent="0" marL="0">
              <a:buNone/>
            </a:pPr>
            <a:r>
              <a:rPr lang="en-US" sz="1300" dirty="0">
                <a:solidFill>
                  <a:schemeClr val="tx2"/>
                </a:solidFill>
              </a:rPr>
              <a:t>работа принята</a:t>
            </a:r>
            <a:endParaRPr lang="en-US" sz="1300" dirty="0"/>
          </a:p>
        </p:txBody>
      </p:sp>
      <p:sp>
        <p:nvSpPr>
          <p:cNvPr id="16" name="lane-1-rule"/>
          <p:cNvSpPr/>
          <p:nvPr/>
        </p:nvSpPr>
        <p:spPr>
          <a:xfrm>
            <a:off x="548640" y="2057400"/>
            <a:ext cx="11091672" cy="0"/>
          </a:xfrm>
          <a:prstGeom prst="line">
            <a:avLst/>
          </a:prstGeom>
          <a:noFill/>
          <a:ln w="12700">
            <a:solidFill>
              <a:schemeClr val="bg2"/>
            </a:solidFill>
            <a:prstDash val="solid"/>
          </a:ln>
        </p:spPr>
      </p:sp>
      <p:sp>
        <p:nvSpPr>
          <p:cNvPr id="17" name="lane-1-name"/>
          <p:cNvSpPr txBox="1"/>
          <p:nvPr/>
        </p:nvSpPr>
        <p:spPr>
          <a:xfrm>
            <a:off x="548640" y="2057400"/>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R1, R4. Среда и гипотезы</a:t>
            </a:r>
            <a:endParaRPr lang="en-US" sz="1600" dirty="0"/>
          </a:p>
        </p:txBody>
      </p:sp>
      <p:sp>
        <p:nvSpPr>
          <p:cNvPr id="18" name="lane-1-chip-1-tile"/>
          <p:cNvSpPr/>
          <p:nvPr/>
        </p:nvSpPr>
        <p:spPr>
          <a:xfrm>
            <a:off x="4251960" y="2078150"/>
            <a:ext cx="237744" cy="237744"/>
          </a:xfrm>
          <a:prstGeom prst="roundRect">
            <a:avLst>
              <a:gd name="adj" fmla="val 15385"/>
            </a:avLst>
          </a:prstGeom>
          <a:solidFill>
            <a:schemeClr val="bg2"/>
          </a:solidFill>
          <a:ln/>
        </p:spPr>
      </p:sp>
      <p:pic>
        <p:nvPicPr>
          <p:cNvPr id="19" name="lane-1-chip-1" descr="/Users/a/MAI/DID/presentation/assets/logos/gemini.png">    </p:cNvPr>
          <p:cNvPicPr>
            <a:picLocks noChangeAspect="1"/>
          </p:cNvPicPr>
          <p:nvPr/>
        </p:nvPicPr>
        <p:blipFill>
          <a:blip r:embed="rId4"/>
          <a:stretch>
            <a:fillRect/>
          </a:stretch>
        </p:blipFill>
        <p:spPr>
          <a:xfrm>
            <a:off x="4293108" y="2119298"/>
            <a:ext cx="155448" cy="155448"/>
          </a:xfrm>
          <a:prstGeom prst="rect">
            <a:avLst/>
          </a:prstGeom>
        </p:spPr>
      </p:pic>
      <p:sp>
        <p:nvSpPr>
          <p:cNvPr id="20" name="lane-1-chip-2-tile"/>
          <p:cNvSpPr/>
          <p:nvPr/>
        </p:nvSpPr>
        <p:spPr>
          <a:xfrm>
            <a:off x="4526280" y="2078150"/>
            <a:ext cx="237744" cy="237744"/>
          </a:xfrm>
          <a:prstGeom prst="roundRect">
            <a:avLst>
              <a:gd name="adj" fmla="val 15385"/>
            </a:avLst>
          </a:prstGeom>
          <a:solidFill>
            <a:schemeClr val="bg2"/>
          </a:solidFill>
          <a:ln/>
        </p:spPr>
      </p:sp>
      <p:pic>
        <p:nvPicPr>
          <p:cNvPr id="21" name="lane-1-chip-2" descr="/Users/a/MAI/DID/presentation/assets/logos/openai.png">    </p:cNvPr>
          <p:cNvPicPr>
            <a:picLocks noChangeAspect="1"/>
          </p:cNvPicPr>
          <p:nvPr/>
        </p:nvPicPr>
        <p:blipFill>
          <a:blip r:embed="rId5"/>
          <a:stretch>
            <a:fillRect/>
          </a:stretch>
        </p:blipFill>
        <p:spPr>
          <a:xfrm>
            <a:off x="4567428" y="2119298"/>
            <a:ext cx="155448" cy="155448"/>
          </a:xfrm>
          <a:prstGeom prst="rect">
            <a:avLst/>
          </a:prstGeom>
        </p:spPr>
      </p:pic>
      <p:sp>
        <p:nvSpPr>
          <p:cNvPr id="22" name="lane-1-chip-3-tile"/>
          <p:cNvSpPr/>
          <p:nvPr/>
        </p:nvSpPr>
        <p:spPr>
          <a:xfrm>
            <a:off x="4800600" y="2078150"/>
            <a:ext cx="237744" cy="237744"/>
          </a:xfrm>
          <a:prstGeom prst="roundRect">
            <a:avLst>
              <a:gd name="adj" fmla="val 15385"/>
            </a:avLst>
          </a:prstGeom>
          <a:solidFill>
            <a:schemeClr val="bg2"/>
          </a:solidFill>
          <a:ln/>
        </p:spPr>
      </p:sp>
      <p:pic>
        <p:nvPicPr>
          <p:cNvPr id="23" name="lane-1-chip-3" descr="/Users/a/MAI/DID/presentation/assets/logos/claude.png">    </p:cNvPr>
          <p:cNvPicPr>
            <a:picLocks noChangeAspect="1"/>
          </p:cNvPicPr>
          <p:nvPr/>
        </p:nvPicPr>
        <p:blipFill>
          <a:blip r:embed="rId6"/>
          <a:stretch>
            <a:fillRect/>
          </a:stretch>
        </p:blipFill>
        <p:spPr>
          <a:xfrm>
            <a:off x="4841748" y="2119298"/>
            <a:ext cx="155448" cy="155448"/>
          </a:xfrm>
          <a:prstGeom prst="rect">
            <a:avLst/>
          </a:prstGeom>
        </p:spPr>
      </p:pic>
      <p:sp>
        <p:nvSpPr>
          <p:cNvPr id="24" name="lane-1-chip-4-tile"/>
          <p:cNvSpPr/>
          <p:nvPr/>
        </p:nvSpPr>
        <p:spPr>
          <a:xfrm>
            <a:off x="5074920" y="2078150"/>
            <a:ext cx="237744" cy="237744"/>
          </a:xfrm>
          <a:prstGeom prst="roundRect">
            <a:avLst>
              <a:gd name="adj" fmla="val 15385"/>
            </a:avLst>
          </a:prstGeom>
          <a:solidFill>
            <a:schemeClr val="bg2"/>
          </a:solidFill>
          <a:ln/>
        </p:spPr>
      </p:sp>
      <p:pic>
        <p:nvPicPr>
          <p:cNvPr id="25" name="lane-1-chip-4" descr="/Users/a/MAI/DID/presentation/assets/logos/openai.png">    </p:cNvPr>
          <p:cNvPicPr>
            <a:picLocks noChangeAspect="1"/>
          </p:cNvPicPr>
          <p:nvPr/>
        </p:nvPicPr>
        <p:blipFill>
          <a:blip r:embed="rId7"/>
          <a:stretch>
            <a:fillRect/>
          </a:stretch>
        </p:blipFill>
        <p:spPr>
          <a:xfrm>
            <a:off x="5116068" y="2119298"/>
            <a:ext cx="155448" cy="155448"/>
          </a:xfrm>
          <a:prstGeom prst="rect">
            <a:avLst/>
          </a:prstGeom>
        </p:spPr>
      </p:pic>
      <p:sp>
        <p:nvSpPr>
          <p:cNvPr id="26" name="lane-1-chip-5-tile"/>
          <p:cNvSpPr/>
          <p:nvPr/>
        </p:nvSpPr>
        <p:spPr>
          <a:xfrm>
            <a:off x="5349240" y="2078150"/>
            <a:ext cx="237744" cy="237744"/>
          </a:xfrm>
          <a:prstGeom prst="roundRect">
            <a:avLst>
              <a:gd name="adj" fmla="val 15385"/>
            </a:avLst>
          </a:prstGeom>
          <a:solidFill>
            <a:schemeClr val="bg2"/>
          </a:solidFill>
          <a:ln/>
        </p:spPr>
      </p:sp>
      <p:pic>
        <p:nvPicPr>
          <p:cNvPr id="27" name="lane-1-chip-5" descr="/Users/a/MAI/DID/presentation/assets/logos/claude.png">    </p:cNvPr>
          <p:cNvPicPr>
            <a:picLocks noChangeAspect="1"/>
          </p:cNvPicPr>
          <p:nvPr/>
        </p:nvPicPr>
        <p:blipFill>
          <a:blip r:embed="rId8"/>
          <a:stretch>
            <a:fillRect/>
          </a:stretch>
        </p:blipFill>
        <p:spPr>
          <a:xfrm>
            <a:off x="5390388" y="2119298"/>
            <a:ext cx="155448" cy="155448"/>
          </a:xfrm>
          <a:prstGeom prst="rect">
            <a:avLst/>
          </a:prstGeom>
        </p:spPr>
      </p:pic>
      <p:sp>
        <p:nvSpPr>
          <p:cNvPr id="28" name="lane-1-chip-6-tile"/>
          <p:cNvSpPr/>
          <p:nvPr/>
        </p:nvSpPr>
        <p:spPr>
          <a:xfrm>
            <a:off x="5623560" y="2078150"/>
            <a:ext cx="237744" cy="237744"/>
          </a:xfrm>
          <a:prstGeom prst="roundRect">
            <a:avLst>
              <a:gd name="adj" fmla="val 15385"/>
            </a:avLst>
          </a:prstGeom>
          <a:solidFill>
            <a:schemeClr val="bg2"/>
          </a:solidFill>
          <a:ln/>
        </p:spPr>
      </p:sp>
      <p:pic>
        <p:nvPicPr>
          <p:cNvPr id="29" name="lane-1-chip-6" descr="/Users/a/MAI/DID/presentation/assets/logos/openai.png">    </p:cNvPr>
          <p:cNvPicPr>
            <a:picLocks noChangeAspect="1"/>
          </p:cNvPicPr>
          <p:nvPr/>
        </p:nvPicPr>
        <p:blipFill>
          <a:blip r:embed="rId9"/>
          <a:stretch>
            <a:fillRect/>
          </a:stretch>
        </p:blipFill>
        <p:spPr>
          <a:xfrm>
            <a:off x="5664708" y="2119298"/>
            <a:ext cx="155448" cy="155448"/>
          </a:xfrm>
          <a:prstGeom prst="rect">
            <a:avLst/>
          </a:prstGeom>
        </p:spPr>
      </p:pic>
      <p:sp>
        <p:nvSpPr>
          <p:cNvPr id="30" name="lane-1-chip-7-tile"/>
          <p:cNvSpPr/>
          <p:nvPr/>
        </p:nvSpPr>
        <p:spPr>
          <a:xfrm>
            <a:off x="5897880" y="2078150"/>
            <a:ext cx="237744" cy="237744"/>
          </a:xfrm>
          <a:prstGeom prst="roundRect">
            <a:avLst>
              <a:gd name="adj" fmla="val 15385"/>
            </a:avLst>
          </a:prstGeom>
          <a:solidFill>
            <a:schemeClr val="bg2"/>
          </a:solidFill>
          <a:ln/>
        </p:spPr>
      </p:sp>
      <p:pic>
        <p:nvPicPr>
          <p:cNvPr id="31" name="lane-1-chip-7" descr="/Users/a/MAI/DID/presentation/assets/logos/claude.png">    </p:cNvPr>
          <p:cNvPicPr>
            <a:picLocks noChangeAspect="1"/>
          </p:cNvPicPr>
          <p:nvPr/>
        </p:nvPicPr>
        <p:blipFill>
          <a:blip r:embed="rId10"/>
          <a:stretch>
            <a:fillRect/>
          </a:stretch>
        </p:blipFill>
        <p:spPr>
          <a:xfrm>
            <a:off x="5939028" y="2119298"/>
            <a:ext cx="155448" cy="155448"/>
          </a:xfrm>
          <a:prstGeom prst="rect">
            <a:avLst/>
          </a:prstGeom>
        </p:spPr>
      </p:pic>
      <p:sp>
        <p:nvSpPr>
          <p:cNvPr id="32" name="lane-1-chip-8-tile"/>
          <p:cNvSpPr/>
          <p:nvPr/>
        </p:nvSpPr>
        <p:spPr>
          <a:xfrm>
            <a:off x="6172200" y="2078150"/>
            <a:ext cx="237744" cy="237744"/>
          </a:xfrm>
          <a:prstGeom prst="roundRect">
            <a:avLst>
              <a:gd name="adj" fmla="val 15385"/>
            </a:avLst>
          </a:prstGeom>
          <a:solidFill>
            <a:schemeClr val="bg2"/>
          </a:solidFill>
          <a:ln/>
        </p:spPr>
      </p:sp>
      <p:pic>
        <p:nvPicPr>
          <p:cNvPr id="33" name="lane-1-chip-8" descr="/Users/a/MAI/DID/presentation/assets/logos/openai.png">    </p:cNvPr>
          <p:cNvPicPr>
            <a:picLocks noChangeAspect="1"/>
          </p:cNvPicPr>
          <p:nvPr/>
        </p:nvPicPr>
        <p:blipFill>
          <a:blip r:embed="rId11"/>
          <a:stretch>
            <a:fillRect/>
          </a:stretch>
        </p:blipFill>
        <p:spPr>
          <a:xfrm>
            <a:off x="6213348" y="2119298"/>
            <a:ext cx="155448" cy="155448"/>
          </a:xfrm>
          <a:prstGeom prst="rect">
            <a:avLst/>
          </a:prstGeom>
        </p:spPr>
      </p:pic>
      <p:sp>
        <p:nvSpPr>
          <p:cNvPr id="34" name="lane-1-chip-9-tile"/>
          <p:cNvSpPr/>
          <p:nvPr/>
        </p:nvSpPr>
        <p:spPr>
          <a:xfrm>
            <a:off x="6446520" y="2078150"/>
            <a:ext cx="237744" cy="237744"/>
          </a:xfrm>
          <a:prstGeom prst="roundRect">
            <a:avLst>
              <a:gd name="adj" fmla="val 15385"/>
            </a:avLst>
          </a:prstGeom>
          <a:solidFill>
            <a:schemeClr val="bg2"/>
          </a:solidFill>
          <a:ln/>
        </p:spPr>
      </p:sp>
      <p:pic>
        <p:nvPicPr>
          <p:cNvPr id="35" name="lane-1-chip-9" descr="/Users/a/MAI/DID/presentation/assets/logos/claude.png">    </p:cNvPr>
          <p:cNvPicPr>
            <a:picLocks noChangeAspect="1"/>
          </p:cNvPicPr>
          <p:nvPr/>
        </p:nvPicPr>
        <p:blipFill>
          <a:blip r:embed="rId12"/>
          <a:stretch>
            <a:fillRect/>
          </a:stretch>
        </p:blipFill>
        <p:spPr>
          <a:xfrm>
            <a:off x="6487668" y="2119298"/>
            <a:ext cx="155448" cy="155448"/>
          </a:xfrm>
          <a:prstGeom prst="rect">
            <a:avLst/>
          </a:prstGeom>
        </p:spPr>
      </p:pic>
      <p:sp>
        <p:nvSpPr>
          <p:cNvPr id="36" name="lane-1-chip-10"/>
          <p:cNvSpPr txBox="1"/>
          <p:nvPr/>
        </p:nvSpPr>
        <p:spPr>
          <a:xfrm>
            <a:off x="6720840" y="2078150"/>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7" name="lane-1-result"/>
          <p:cNvSpPr txBox="1"/>
          <p:nvPr/>
        </p:nvSpPr>
        <p:spPr>
          <a:xfrm>
            <a:off x="7132320" y="2057400"/>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7 ошибок найдено, два вывода перевёрнуты</a:t>
            </a:r>
            <a:endParaRPr lang="en-US" sz="1400" dirty="0"/>
          </a:p>
        </p:txBody>
      </p:sp>
      <p:sp>
        <p:nvSpPr>
          <p:cNvPr id="38" name="lane-2-rule"/>
          <p:cNvSpPr/>
          <p:nvPr/>
        </p:nvSpPr>
        <p:spPr>
          <a:xfrm>
            <a:off x="548640" y="2336644"/>
            <a:ext cx="11091672" cy="0"/>
          </a:xfrm>
          <a:prstGeom prst="line">
            <a:avLst/>
          </a:prstGeom>
          <a:noFill/>
          <a:ln w="12700">
            <a:solidFill>
              <a:schemeClr val="bg2"/>
            </a:solidFill>
            <a:prstDash val="solid"/>
          </a:ln>
        </p:spPr>
      </p:sp>
      <p:sp>
        <p:nvSpPr>
          <p:cNvPr id="39" name="lane-2-name"/>
          <p:cNvSpPr txBox="1"/>
          <p:nvPr/>
        </p:nvSpPr>
        <p:spPr>
          <a:xfrm>
            <a:off x="548640" y="2336644"/>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K1–K4. Обзоры литературы</a:t>
            </a:r>
            <a:endParaRPr lang="en-US" sz="1600" dirty="0"/>
          </a:p>
        </p:txBody>
      </p:sp>
      <p:sp>
        <p:nvSpPr>
          <p:cNvPr id="40" name="lane-2-chip-1-tile"/>
          <p:cNvSpPr/>
          <p:nvPr/>
        </p:nvSpPr>
        <p:spPr>
          <a:xfrm>
            <a:off x="4251960" y="2357394"/>
            <a:ext cx="237744" cy="237744"/>
          </a:xfrm>
          <a:prstGeom prst="roundRect">
            <a:avLst>
              <a:gd name="adj" fmla="val 15385"/>
            </a:avLst>
          </a:prstGeom>
          <a:solidFill>
            <a:schemeClr val="bg2"/>
          </a:solidFill>
          <a:ln/>
        </p:spPr>
      </p:sp>
      <p:pic>
        <p:nvPicPr>
          <p:cNvPr id="41" name="lane-2-chip-1" descr="/Users/a/MAI/DID/presentation/assets/logos/gemini.png">    </p:cNvPr>
          <p:cNvPicPr>
            <a:picLocks noChangeAspect="1"/>
          </p:cNvPicPr>
          <p:nvPr/>
        </p:nvPicPr>
        <p:blipFill>
          <a:blip r:embed="rId13"/>
          <a:stretch>
            <a:fillRect/>
          </a:stretch>
        </p:blipFill>
        <p:spPr>
          <a:xfrm>
            <a:off x="4293108" y="2398542"/>
            <a:ext cx="155448" cy="155448"/>
          </a:xfrm>
          <a:prstGeom prst="rect">
            <a:avLst/>
          </a:prstGeom>
        </p:spPr>
      </p:pic>
      <p:sp>
        <p:nvSpPr>
          <p:cNvPr id="42" name="lane-2-chip-2-tile"/>
          <p:cNvSpPr/>
          <p:nvPr/>
        </p:nvSpPr>
        <p:spPr>
          <a:xfrm>
            <a:off x="4526280" y="2357394"/>
            <a:ext cx="237744" cy="237744"/>
          </a:xfrm>
          <a:prstGeom prst="roundRect">
            <a:avLst>
              <a:gd name="adj" fmla="val 15385"/>
            </a:avLst>
          </a:prstGeom>
          <a:solidFill>
            <a:schemeClr val="bg2"/>
          </a:solidFill>
          <a:ln/>
        </p:spPr>
      </p:sp>
      <p:pic>
        <p:nvPicPr>
          <p:cNvPr id="43" name="lane-2-chip-2" descr="/Users/a/MAI/DID/presentation/assets/logos/gemini.png">    </p:cNvPr>
          <p:cNvPicPr>
            <a:picLocks noChangeAspect="1"/>
          </p:cNvPicPr>
          <p:nvPr/>
        </p:nvPicPr>
        <p:blipFill>
          <a:blip r:embed="rId14"/>
          <a:stretch>
            <a:fillRect/>
          </a:stretch>
        </p:blipFill>
        <p:spPr>
          <a:xfrm>
            <a:off x="4567428" y="2398542"/>
            <a:ext cx="155448" cy="155448"/>
          </a:xfrm>
          <a:prstGeom prst="rect">
            <a:avLst/>
          </a:prstGeom>
        </p:spPr>
      </p:pic>
      <p:sp>
        <p:nvSpPr>
          <p:cNvPr id="44" name="lane-2-chip-3-tile"/>
          <p:cNvSpPr/>
          <p:nvPr/>
        </p:nvSpPr>
        <p:spPr>
          <a:xfrm>
            <a:off x="4800600" y="2357394"/>
            <a:ext cx="237744" cy="237744"/>
          </a:xfrm>
          <a:prstGeom prst="roundRect">
            <a:avLst>
              <a:gd name="adj" fmla="val 15385"/>
            </a:avLst>
          </a:prstGeom>
          <a:solidFill>
            <a:schemeClr val="bg2"/>
          </a:solidFill>
          <a:ln/>
        </p:spPr>
      </p:sp>
      <p:pic>
        <p:nvPicPr>
          <p:cNvPr id="45" name="lane-2-chip-3" descr="/Users/a/MAI/DID/presentation/assets/logos/gemini.png">    </p:cNvPr>
          <p:cNvPicPr>
            <a:picLocks noChangeAspect="1"/>
          </p:cNvPicPr>
          <p:nvPr/>
        </p:nvPicPr>
        <p:blipFill>
          <a:blip r:embed="rId15"/>
          <a:stretch>
            <a:fillRect/>
          </a:stretch>
        </p:blipFill>
        <p:spPr>
          <a:xfrm>
            <a:off x="4841748" y="2398542"/>
            <a:ext cx="155448" cy="155448"/>
          </a:xfrm>
          <a:prstGeom prst="rect">
            <a:avLst/>
          </a:prstGeom>
        </p:spPr>
      </p:pic>
      <p:sp>
        <p:nvSpPr>
          <p:cNvPr id="46" name="lane-2-chip-4-tile"/>
          <p:cNvSpPr/>
          <p:nvPr/>
        </p:nvSpPr>
        <p:spPr>
          <a:xfrm>
            <a:off x="5074920" y="2357394"/>
            <a:ext cx="237744" cy="237744"/>
          </a:xfrm>
          <a:prstGeom prst="roundRect">
            <a:avLst>
              <a:gd name="adj" fmla="val 15385"/>
            </a:avLst>
          </a:prstGeom>
          <a:solidFill>
            <a:schemeClr val="bg2"/>
          </a:solidFill>
          <a:ln/>
        </p:spPr>
      </p:sp>
      <p:pic>
        <p:nvPicPr>
          <p:cNvPr id="47" name="lane-2-chip-4" descr="/Users/a/MAI/DID/presentation/assets/logos/gemini.png">    </p:cNvPr>
          <p:cNvPicPr>
            <a:picLocks noChangeAspect="1"/>
          </p:cNvPicPr>
          <p:nvPr/>
        </p:nvPicPr>
        <p:blipFill>
          <a:blip r:embed="rId16"/>
          <a:stretch>
            <a:fillRect/>
          </a:stretch>
        </p:blipFill>
        <p:spPr>
          <a:xfrm>
            <a:off x="5116068" y="2398542"/>
            <a:ext cx="155448" cy="155448"/>
          </a:xfrm>
          <a:prstGeom prst="rect">
            <a:avLst/>
          </a:prstGeom>
        </p:spPr>
      </p:pic>
      <p:sp>
        <p:nvSpPr>
          <p:cNvPr id="48" name="lane-2-chip-5-tile"/>
          <p:cNvSpPr/>
          <p:nvPr/>
        </p:nvSpPr>
        <p:spPr>
          <a:xfrm>
            <a:off x="5349240" y="2357394"/>
            <a:ext cx="237744" cy="237744"/>
          </a:xfrm>
          <a:prstGeom prst="roundRect">
            <a:avLst>
              <a:gd name="adj" fmla="val 15385"/>
            </a:avLst>
          </a:prstGeom>
          <a:solidFill>
            <a:schemeClr val="bg2"/>
          </a:solidFill>
          <a:ln/>
        </p:spPr>
      </p:sp>
      <p:pic>
        <p:nvPicPr>
          <p:cNvPr id="49" name="lane-2-chip-5" descr="/Users/a/MAI/DID/presentation/assets/logos/claude.png">    </p:cNvPr>
          <p:cNvPicPr>
            <a:picLocks noChangeAspect="1"/>
          </p:cNvPicPr>
          <p:nvPr/>
        </p:nvPicPr>
        <p:blipFill>
          <a:blip r:embed="rId17"/>
          <a:stretch>
            <a:fillRect/>
          </a:stretch>
        </p:blipFill>
        <p:spPr>
          <a:xfrm>
            <a:off x="5390388" y="2398542"/>
            <a:ext cx="155448" cy="155448"/>
          </a:xfrm>
          <a:prstGeom prst="rect">
            <a:avLst/>
          </a:prstGeom>
        </p:spPr>
      </p:pic>
      <p:sp>
        <p:nvSpPr>
          <p:cNvPr id="50" name="lane-2-chip-6"/>
          <p:cNvSpPr txBox="1"/>
          <p:nvPr/>
        </p:nvSpPr>
        <p:spPr>
          <a:xfrm>
            <a:off x="5623560" y="2357394"/>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1" name="lane-2-result"/>
          <p:cNvSpPr txBox="1"/>
          <p:nvPr/>
        </p:nvSpPr>
        <p:spPr>
          <a:xfrm>
            <a:off x="7132320" y="2336644"/>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проверка нашла две выдуманные ссылки</a:t>
            </a:r>
            <a:endParaRPr lang="en-US" sz="1400" dirty="0"/>
          </a:p>
        </p:txBody>
      </p:sp>
      <p:sp>
        <p:nvSpPr>
          <p:cNvPr id="52" name="lane-3-rule"/>
          <p:cNvSpPr/>
          <p:nvPr/>
        </p:nvSpPr>
        <p:spPr>
          <a:xfrm>
            <a:off x="548640" y="2615887"/>
            <a:ext cx="11091672" cy="0"/>
          </a:xfrm>
          <a:prstGeom prst="line">
            <a:avLst/>
          </a:prstGeom>
          <a:noFill/>
          <a:ln w="12700">
            <a:solidFill>
              <a:schemeClr val="bg2"/>
            </a:solidFill>
            <a:prstDash val="solid"/>
          </a:ln>
        </p:spPr>
      </p:sp>
      <p:sp>
        <p:nvSpPr>
          <p:cNvPr id="53" name="lane-3-name"/>
          <p:cNvSpPr txBox="1"/>
          <p:nvPr/>
        </p:nvSpPr>
        <p:spPr>
          <a:xfrm>
            <a:off x="548640" y="2615887"/>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R13 → L3. Миссия словами</a:t>
            </a:r>
            <a:endParaRPr lang="en-US" sz="1600" dirty="0"/>
          </a:p>
        </p:txBody>
      </p:sp>
      <p:sp>
        <p:nvSpPr>
          <p:cNvPr id="54" name="lane-3-chip-1-tile"/>
          <p:cNvSpPr/>
          <p:nvPr/>
        </p:nvSpPr>
        <p:spPr>
          <a:xfrm>
            <a:off x="4251960" y="2636637"/>
            <a:ext cx="237744" cy="237744"/>
          </a:xfrm>
          <a:prstGeom prst="roundRect">
            <a:avLst>
              <a:gd name="adj" fmla="val 15385"/>
            </a:avLst>
          </a:prstGeom>
          <a:solidFill>
            <a:schemeClr val="bg2"/>
          </a:solidFill>
          <a:ln/>
        </p:spPr>
      </p:sp>
      <p:pic>
        <p:nvPicPr>
          <p:cNvPr id="55" name="lane-3-chip-1" descr="/Users/a/MAI/DID/presentation/assets/logos/gemini.png">    </p:cNvPr>
          <p:cNvPicPr>
            <a:picLocks noChangeAspect="1"/>
          </p:cNvPicPr>
          <p:nvPr/>
        </p:nvPicPr>
        <p:blipFill>
          <a:blip r:embed="rId18"/>
          <a:stretch>
            <a:fillRect/>
          </a:stretch>
        </p:blipFill>
        <p:spPr>
          <a:xfrm>
            <a:off x="4293108" y="2677785"/>
            <a:ext cx="155448" cy="155448"/>
          </a:xfrm>
          <a:prstGeom prst="rect">
            <a:avLst/>
          </a:prstGeom>
        </p:spPr>
      </p:pic>
      <p:sp>
        <p:nvSpPr>
          <p:cNvPr id="56" name="lane-3-chip-2-tile"/>
          <p:cNvSpPr/>
          <p:nvPr/>
        </p:nvSpPr>
        <p:spPr>
          <a:xfrm>
            <a:off x="4526280" y="2636637"/>
            <a:ext cx="237744" cy="237744"/>
          </a:xfrm>
          <a:prstGeom prst="roundRect">
            <a:avLst>
              <a:gd name="adj" fmla="val 15385"/>
            </a:avLst>
          </a:prstGeom>
          <a:solidFill>
            <a:schemeClr val="bg2"/>
          </a:solidFill>
          <a:ln/>
        </p:spPr>
      </p:sp>
      <p:pic>
        <p:nvPicPr>
          <p:cNvPr id="57" name="lane-3-chip-2" descr="/Users/a/MAI/DID/presentation/assets/logos/claude.png">    </p:cNvPr>
          <p:cNvPicPr>
            <a:picLocks noChangeAspect="1"/>
          </p:cNvPicPr>
          <p:nvPr/>
        </p:nvPicPr>
        <p:blipFill>
          <a:blip r:embed="rId19"/>
          <a:stretch>
            <a:fillRect/>
          </a:stretch>
        </p:blipFill>
        <p:spPr>
          <a:xfrm>
            <a:off x="4567428" y="2677785"/>
            <a:ext cx="155448" cy="155448"/>
          </a:xfrm>
          <a:prstGeom prst="rect">
            <a:avLst/>
          </a:prstGeom>
        </p:spPr>
      </p:pic>
      <p:sp>
        <p:nvSpPr>
          <p:cNvPr id="58" name="lane-3-chip-3-tile"/>
          <p:cNvSpPr/>
          <p:nvPr/>
        </p:nvSpPr>
        <p:spPr>
          <a:xfrm>
            <a:off x="4800600" y="2636637"/>
            <a:ext cx="237744" cy="237744"/>
          </a:xfrm>
          <a:prstGeom prst="roundRect">
            <a:avLst>
              <a:gd name="adj" fmla="val 15385"/>
            </a:avLst>
          </a:prstGeom>
          <a:solidFill>
            <a:schemeClr val="bg2"/>
          </a:solidFill>
          <a:ln/>
        </p:spPr>
      </p:sp>
      <p:pic>
        <p:nvPicPr>
          <p:cNvPr id="59" name="lane-3-chip-3" descr="/Users/a/MAI/DID/presentation/assets/logos/openai.png">    </p:cNvPr>
          <p:cNvPicPr>
            <a:picLocks noChangeAspect="1"/>
          </p:cNvPicPr>
          <p:nvPr/>
        </p:nvPicPr>
        <p:blipFill>
          <a:blip r:embed="rId20"/>
          <a:stretch>
            <a:fillRect/>
          </a:stretch>
        </p:blipFill>
        <p:spPr>
          <a:xfrm>
            <a:off x="4841748" y="2677785"/>
            <a:ext cx="155448" cy="155448"/>
          </a:xfrm>
          <a:prstGeom prst="rect">
            <a:avLst/>
          </a:prstGeom>
        </p:spPr>
      </p:pic>
      <p:sp>
        <p:nvSpPr>
          <p:cNvPr id="60" name="lane-3-chip-4-tile"/>
          <p:cNvSpPr/>
          <p:nvPr/>
        </p:nvSpPr>
        <p:spPr>
          <a:xfrm>
            <a:off x="5074920" y="2636637"/>
            <a:ext cx="237744" cy="237744"/>
          </a:xfrm>
          <a:prstGeom prst="roundRect">
            <a:avLst>
              <a:gd name="adj" fmla="val 15385"/>
            </a:avLst>
          </a:prstGeom>
          <a:solidFill>
            <a:schemeClr val="bg2"/>
          </a:solidFill>
          <a:ln/>
        </p:spPr>
      </p:sp>
      <p:pic>
        <p:nvPicPr>
          <p:cNvPr id="61" name="lane-3-chip-4" descr="/Users/a/MAI/DID/presentation/assets/logos/claude.png">    </p:cNvPr>
          <p:cNvPicPr>
            <a:picLocks noChangeAspect="1"/>
          </p:cNvPicPr>
          <p:nvPr/>
        </p:nvPicPr>
        <p:blipFill>
          <a:blip r:embed="rId21"/>
          <a:stretch>
            <a:fillRect/>
          </a:stretch>
        </p:blipFill>
        <p:spPr>
          <a:xfrm>
            <a:off x="5116068" y="2677785"/>
            <a:ext cx="155448" cy="155448"/>
          </a:xfrm>
          <a:prstGeom prst="rect">
            <a:avLst/>
          </a:prstGeom>
        </p:spPr>
      </p:pic>
      <p:sp>
        <p:nvSpPr>
          <p:cNvPr id="62" name="lane-3-chip-5"/>
          <p:cNvSpPr txBox="1"/>
          <p:nvPr/>
        </p:nvSpPr>
        <p:spPr>
          <a:xfrm>
            <a:off x="5349240" y="2636637"/>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3" name="lane-3-next"/>
          <p:cNvSpPr txBox="1"/>
          <p:nvPr/>
        </p:nvSpPr>
        <p:spPr>
          <a:xfrm>
            <a:off x="5623560" y="2615887"/>
            <a:ext cx="237744" cy="279244"/>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64" name="lane-3-chip-7-tile"/>
          <p:cNvSpPr/>
          <p:nvPr/>
        </p:nvSpPr>
        <p:spPr>
          <a:xfrm>
            <a:off x="5897880" y="2636637"/>
            <a:ext cx="237744" cy="237744"/>
          </a:xfrm>
          <a:prstGeom prst="roundRect">
            <a:avLst>
              <a:gd name="adj" fmla="val 15385"/>
            </a:avLst>
          </a:prstGeom>
          <a:solidFill>
            <a:schemeClr val="bg2"/>
          </a:solidFill>
          <a:ln/>
        </p:spPr>
      </p:sp>
      <p:pic>
        <p:nvPicPr>
          <p:cNvPr id="65" name="lane-3-chip-7" descr="/Users/a/MAI/DID/presentation/assets/logos/claude.png">    </p:cNvPr>
          <p:cNvPicPr>
            <a:picLocks noChangeAspect="1"/>
          </p:cNvPicPr>
          <p:nvPr/>
        </p:nvPicPr>
        <p:blipFill>
          <a:blip r:embed="rId22"/>
          <a:stretch>
            <a:fillRect/>
          </a:stretch>
        </p:blipFill>
        <p:spPr>
          <a:xfrm>
            <a:off x="5939028" y="2677785"/>
            <a:ext cx="155448" cy="155448"/>
          </a:xfrm>
          <a:prstGeom prst="rect">
            <a:avLst/>
          </a:prstGeom>
        </p:spPr>
      </p:pic>
      <p:sp>
        <p:nvSpPr>
          <p:cNvPr id="66" name="lane-3-chip-8-tile"/>
          <p:cNvSpPr/>
          <p:nvPr/>
        </p:nvSpPr>
        <p:spPr>
          <a:xfrm>
            <a:off x="6172200" y="2636637"/>
            <a:ext cx="237744" cy="237744"/>
          </a:xfrm>
          <a:prstGeom prst="roundRect">
            <a:avLst>
              <a:gd name="adj" fmla="val 15385"/>
            </a:avLst>
          </a:prstGeom>
          <a:solidFill>
            <a:schemeClr val="bg2"/>
          </a:solidFill>
          <a:ln/>
        </p:spPr>
      </p:sp>
      <p:pic>
        <p:nvPicPr>
          <p:cNvPr id="67" name="lane-3-chip-8" descr="/Users/a/MAI/DID/presentation/assets/logos/openai.png">    </p:cNvPr>
          <p:cNvPicPr>
            <a:picLocks noChangeAspect="1"/>
          </p:cNvPicPr>
          <p:nvPr/>
        </p:nvPicPr>
        <p:blipFill>
          <a:blip r:embed="rId23"/>
          <a:stretch>
            <a:fillRect/>
          </a:stretch>
        </p:blipFill>
        <p:spPr>
          <a:xfrm>
            <a:off x="6213348" y="2677785"/>
            <a:ext cx="155448" cy="155448"/>
          </a:xfrm>
          <a:prstGeom prst="rect">
            <a:avLst/>
          </a:prstGeom>
        </p:spPr>
      </p:pic>
      <p:sp>
        <p:nvSpPr>
          <p:cNvPr id="68" name="lane-3-chip-9-tile"/>
          <p:cNvSpPr/>
          <p:nvPr/>
        </p:nvSpPr>
        <p:spPr>
          <a:xfrm>
            <a:off x="6446520" y="2636637"/>
            <a:ext cx="237744" cy="237744"/>
          </a:xfrm>
          <a:prstGeom prst="roundRect">
            <a:avLst>
              <a:gd name="adj" fmla="val 15385"/>
            </a:avLst>
          </a:prstGeom>
          <a:solidFill>
            <a:schemeClr val="bg2"/>
          </a:solidFill>
          <a:ln/>
        </p:spPr>
      </p:sp>
      <p:pic>
        <p:nvPicPr>
          <p:cNvPr id="69" name="lane-3-chip-9" descr="/Users/a/MAI/DID/presentation/assets/logos/claude.png">    </p:cNvPr>
          <p:cNvPicPr>
            <a:picLocks noChangeAspect="1"/>
          </p:cNvPicPr>
          <p:nvPr/>
        </p:nvPicPr>
        <p:blipFill>
          <a:blip r:embed="rId24"/>
          <a:stretch>
            <a:fillRect/>
          </a:stretch>
        </p:blipFill>
        <p:spPr>
          <a:xfrm>
            <a:off x="6487668" y="2677785"/>
            <a:ext cx="155448" cy="155448"/>
          </a:xfrm>
          <a:prstGeom prst="rect">
            <a:avLst/>
          </a:prstGeom>
        </p:spPr>
      </p:pic>
      <p:sp>
        <p:nvSpPr>
          <p:cNvPr id="70" name="lane-3-chip-10"/>
          <p:cNvSpPr txBox="1"/>
          <p:nvPr/>
        </p:nvSpPr>
        <p:spPr>
          <a:xfrm>
            <a:off x="6720840" y="2636637"/>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71" name="lane-3-result"/>
          <p:cNvSpPr txBox="1"/>
          <p:nvPr/>
        </p:nvSpPr>
        <p:spPr>
          <a:xfrm>
            <a:off x="7132320" y="2615887"/>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модель — 45–46 из 48 прогонов, правило — 0 из 48</a:t>
            </a:r>
            <a:endParaRPr lang="en-US" sz="1400" dirty="0"/>
          </a:p>
        </p:txBody>
      </p:sp>
      <p:sp>
        <p:nvSpPr>
          <p:cNvPr id="72" name="lane-4-rule"/>
          <p:cNvSpPr/>
          <p:nvPr/>
        </p:nvSpPr>
        <p:spPr>
          <a:xfrm>
            <a:off x="548640" y="2895131"/>
            <a:ext cx="11091672" cy="0"/>
          </a:xfrm>
          <a:prstGeom prst="line">
            <a:avLst/>
          </a:prstGeom>
          <a:noFill/>
          <a:ln w="12700">
            <a:solidFill>
              <a:schemeClr val="bg2"/>
            </a:solidFill>
            <a:prstDash val="solid"/>
          </a:ln>
        </p:spPr>
      </p:sp>
      <p:sp>
        <p:nvSpPr>
          <p:cNvPr id="73" name="lane-4-name"/>
          <p:cNvSpPr txBox="1"/>
          <p:nvPr/>
        </p:nvSpPr>
        <p:spPr>
          <a:xfrm>
            <a:off x="548640" y="2895131"/>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R16. Ехать, пока модель думает</a:t>
            </a:r>
            <a:endParaRPr lang="en-US" sz="1600" dirty="0"/>
          </a:p>
        </p:txBody>
      </p:sp>
      <p:sp>
        <p:nvSpPr>
          <p:cNvPr id="74" name="lane-4-chip-1-tile"/>
          <p:cNvSpPr/>
          <p:nvPr/>
        </p:nvSpPr>
        <p:spPr>
          <a:xfrm>
            <a:off x="4251960" y="2915881"/>
            <a:ext cx="237744" cy="237744"/>
          </a:xfrm>
          <a:prstGeom prst="roundRect">
            <a:avLst>
              <a:gd name="adj" fmla="val 15385"/>
            </a:avLst>
          </a:prstGeom>
          <a:solidFill>
            <a:schemeClr val="bg2"/>
          </a:solidFill>
          <a:ln/>
        </p:spPr>
      </p:sp>
      <p:pic>
        <p:nvPicPr>
          <p:cNvPr id="75" name="lane-4-chip-1" descr="/Users/a/MAI/DID/presentation/assets/logos/claude.png">    </p:cNvPr>
          <p:cNvPicPr>
            <a:picLocks noChangeAspect="1"/>
          </p:cNvPicPr>
          <p:nvPr/>
        </p:nvPicPr>
        <p:blipFill>
          <a:blip r:embed="rId25"/>
          <a:stretch>
            <a:fillRect/>
          </a:stretch>
        </p:blipFill>
        <p:spPr>
          <a:xfrm>
            <a:off x="4293108" y="2957029"/>
            <a:ext cx="155448" cy="155448"/>
          </a:xfrm>
          <a:prstGeom prst="rect">
            <a:avLst/>
          </a:prstGeom>
        </p:spPr>
      </p:pic>
      <p:sp>
        <p:nvSpPr>
          <p:cNvPr id="76" name="lane-4-chip-2-tile"/>
          <p:cNvSpPr/>
          <p:nvPr/>
        </p:nvSpPr>
        <p:spPr>
          <a:xfrm>
            <a:off x="4526280" y="2915881"/>
            <a:ext cx="237744" cy="237744"/>
          </a:xfrm>
          <a:prstGeom prst="roundRect">
            <a:avLst>
              <a:gd name="adj" fmla="val 15385"/>
            </a:avLst>
          </a:prstGeom>
          <a:solidFill>
            <a:schemeClr val="bg2"/>
          </a:solidFill>
          <a:ln/>
        </p:spPr>
      </p:sp>
      <p:pic>
        <p:nvPicPr>
          <p:cNvPr id="77" name="lane-4-chip-2" descr="/Users/a/MAI/DID/presentation/assets/logos/openai.png">    </p:cNvPr>
          <p:cNvPicPr>
            <a:picLocks noChangeAspect="1"/>
          </p:cNvPicPr>
          <p:nvPr/>
        </p:nvPicPr>
        <p:blipFill>
          <a:blip r:embed="rId26"/>
          <a:stretch>
            <a:fillRect/>
          </a:stretch>
        </p:blipFill>
        <p:spPr>
          <a:xfrm>
            <a:off x="4567428" y="2957029"/>
            <a:ext cx="155448" cy="155448"/>
          </a:xfrm>
          <a:prstGeom prst="rect">
            <a:avLst/>
          </a:prstGeom>
        </p:spPr>
      </p:pic>
      <p:sp>
        <p:nvSpPr>
          <p:cNvPr id="78" name="lane-4-chip-3-tile"/>
          <p:cNvSpPr/>
          <p:nvPr/>
        </p:nvSpPr>
        <p:spPr>
          <a:xfrm>
            <a:off x="4800600" y="2915881"/>
            <a:ext cx="237744" cy="237744"/>
          </a:xfrm>
          <a:prstGeom prst="roundRect">
            <a:avLst>
              <a:gd name="adj" fmla="val 15385"/>
            </a:avLst>
          </a:prstGeom>
          <a:solidFill>
            <a:schemeClr val="bg2"/>
          </a:solidFill>
          <a:ln/>
        </p:spPr>
      </p:sp>
      <p:pic>
        <p:nvPicPr>
          <p:cNvPr id="79" name="lane-4-chip-3" descr="/Users/a/MAI/DID/presentation/assets/logos/claude.png">    </p:cNvPr>
          <p:cNvPicPr>
            <a:picLocks noChangeAspect="1"/>
          </p:cNvPicPr>
          <p:nvPr/>
        </p:nvPicPr>
        <p:blipFill>
          <a:blip r:embed="rId27"/>
          <a:stretch>
            <a:fillRect/>
          </a:stretch>
        </p:blipFill>
        <p:spPr>
          <a:xfrm>
            <a:off x="4841748" y="2957029"/>
            <a:ext cx="155448" cy="155448"/>
          </a:xfrm>
          <a:prstGeom prst="rect">
            <a:avLst/>
          </a:prstGeom>
        </p:spPr>
      </p:pic>
      <p:sp>
        <p:nvSpPr>
          <p:cNvPr id="80" name="lane-4-chip-4-tile"/>
          <p:cNvSpPr/>
          <p:nvPr/>
        </p:nvSpPr>
        <p:spPr>
          <a:xfrm>
            <a:off x="5074920" y="2915881"/>
            <a:ext cx="237744" cy="237744"/>
          </a:xfrm>
          <a:prstGeom prst="roundRect">
            <a:avLst>
              <a:gd name="adj" fmla="val 15385"/>
            </a:avLst>
          </a:prstGeom>
          <a:solidFill>
            <a:schemeClr val="bg2"/>
          </a:solidFill>
          <a:ln/>
        </p:spPr>
      </p:sp>
      <p:pic>
        <p:nvPicPr>
          <p:cNvPr id="81" name="lane-4-chip-4" descr="/Users/a/MAI/DID/presentation/assets/logos/openai.png">    </p:cNvPr>
          <p:cNvPicPr>
            <a:picLocks noChangeAspect="1"/>
          </p:cNvPicPr>
          <p:nvPr/>
        </p:nvPicPr>
        <p:blipFill>
          <a:blip r:embed="rId28"/>
          <a:stretch>
            <a:fillRect/>
          </a:stretch>
        </p:blipFill>
        <p:spPr>
          <a:xfrm>
            <a:off x="5116068" y="2957029"/>
            <a:ext cx="155448" cy="155448"/>
          </a:xfrm>
          <a:prstGeom prst="rect">
            <a:avLst/>
          </a:prstGeom>
        </p:spPr>
      </p:pic>
      <p:sp>
        <p:nvSpPr>
          <p:cNvPr id="82" name="lane-4-chip-5-tile"/>
          <p:cNvSpPr/>
          <p:nvPr/>
        </p:nvSpPr>
        <p:spPr>
          <a:xfrm>
            <a:off x="5349240" y="2915881"/>
            <a:ext cx="237744" cy="237744"/>
          </a:xfrm>
          <a:prstGeom prst="roundRect">
            <a:avLst>
              <a:gd name="adj" fmla="val 15385"/>
            </a:avLst>
          </a:prstGeom>
          <a:solidFill>
            <a:schemeClr val="bg2"/>
          </a:solidFill>
          <a:ln/>
        </p:spPr>
      </p:sp>
      <p:pic>
        <p:nvPicPr>
          <p:cNvPr id="83" name="lane-4-chip-5" descr="/Users/a/MAI/DID/presentation/assets/logos/claude.png">    </p:cNvPr>
          <p:cNvPicPr>
            <a:picLocks noChangeAspect="1"/>
          </p:cNvPicPr>
          <p:nvPr/>
        </p:nvPicPr>
        <p:blipFill>
          <a:blip r:embed="rId29"/>
          <a:stretch>
            <a:fillRect/>
          </a:stretch>
        </p:blipFill>
        <p:spPr>
          <a:xfrm>
            <a:off x="5390388" y="2957029"/>
            <a:ext cx="155448" cy="155448"/>
          </a:xfrm>
          <a:prstGeom prst="rect">
            <a:avLst/>
          </a:prstGeom>
        </p:spPr>
      </p:pic>
      <p:sp>
        <p:nvSpPr>
          <p:cNvPr id="84" name="lane-4-chip-6"/>
          <p:cNvSpPr txBox="1"/>
          <p:nvPr/>
        </p:nvSpPr>
        <p:spPr>
          <a:xfrm>
            <a:off x="5623560" y="2915881"/>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85" name="lane-4-result"/>
          <p:cNvSpPr txBox="1"/>
          <p:nvPr/>
        </p:nvSpPr>
        <p:spPr>
          <a:xfrm>
            <a:off x="7132320" y="2895131"/>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ждать: −73 очка; ехать по правилу: +42 (имитатор)</a:t>
            </a:r>
            <a:endParaRPr lang="en-US" sz="1400" dirty="0"/>
          </a:p>
        </p:txBody>
      </p:sp>
      <p:sp>
        <p:nvSpPr>
          <p:cNvPr id="86" name="lane-5-rule"/>
          <p:cNvSpPr/>
          <p:nvPr/>
        </p:nvSpPr>
        <p:spPr>
          <a:xfrm>
            <a:off x="548640" y="3174375"/>
            <a:ext cx="11091672" cy="0"/>
          </a:xfrm>
          <a:prstGeom prst="line">
            <a:avLst/>
          </a:prstGeom>
          <a:noFill/>
          <a:ln w="12700">
            <a:solidFill>
              <a:schemeClr val="bg2"/>
            </a:solidFill>
            <a:prstDash val="solid"/>
          </a:ln>
        </p:spPr>
      </p:sp>
      <p:sp>
        <p:nvSpPr>
          <p:cNvPr id="87" name="lane-5-name"/>
          <p:cNvSpPr txBox="1"/>
          <p:nvPr/>
        </p:nvSpPr>
        <p:spPr>
          <a:xfrm>
            <a:off x="548640" y="3174375"/>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R10. Смена грунта на пути</a:t>
            </a:r>
            <a:endParaRPr lang="en-US" sz="1600" dirty="0"/>
          </a:p>
        </p:txBody>
      </p:sp>
      <p:sp>
        <p:nvSpPr>
          <p:cNvPr id="88" name="lane-5-chip-1-tile"/>
          <p:cNvSpPr/>
          <p:nvPr/>
        </p:nvSpPr>
        <p:spPr>
          <a:xfrm>
            <a:off x="4251960" y="3195125"/>
            <a:ext cx="237744" cy="237744"/>
          </a:xfrm>
          <a:prstGeom prst="roundRect">
            <a:avLst>
              <a:gd name="adj" fmla="val 15385"/>
            </a:avLst>
          </a:prstGeom>
          <a:solidFill>
            <a:schemeClr val="bg2"/>
          </a:solidFill>
          <a:ln/>
        </p:spPr>
      </p:sp>
      <p:pic>
        <p:nvPicPr>
          <p:cNvPr id="89" name="lane-5-chip-1" descr="/Users/a/MAI/DID/presentation/assets/logos/claude.png">    </p:cNvPr>
          <p:cNvPicPr>
            <a:picLocks noChangeAspect="1"/>
          </p:cNvPicPr>
          <p:nvPr/>
        </p:nvPicPr>
        <p:blipFill>
          <a:blip r:embed="rId30"/>
          <a:stretch>
            <a:fillRect/>
          </a:stretch>
        </p:blipFill>
        <p:spPr>
          <a:xfrm>
            <a:off x="4293108" y="3236273"/>
            <a:ext cx="155448" cy="155448"/>
          </a:xfrm>
          <a:prstGeom prst="rect">
            <a:avLst/>
          </a:prstGeom>
        </p:spPr>
      </p:pic>
      <p:sp>
        <p:nvSpPr>
          <p:cNvPr id="90" name="lane-5-chip-2-tile"/>
          <p:cNvSpPr/>
          <p:nvPr/>
        </p:nvSpPr>
        <p:spPr>
          <a:xfrm>
            <a:off x="4526280" y="3195125"/>
            <a:ext cx="237744" cy="237744"/>
          </a:xfrm>
          <a:prstGeom prst="roundRect">
            <a:avLst>
              <a:gd name="adj" fmla="val 15385"/>
            </a:avLst>
          </a:prstGeom>
          <a:solidFill>
            <a:schemeClr val="bg2"/>
          </a:solidFill>
          <a:ln/>
        </p:spPr>
      </p:sp>
      <p:pic>
        <p:nvPicPr>
          <p:cNvPr id="91" name="lane-5-chip-2" descr="/Users/a/MAI/DID/presentation/assets/logos/openai.png">    </p:cNvPr>
          <p:cNvPicPr>
            <a:picLocks noChangeAspect="1"/>
          </p:cNvPicPr>
          <p:nvPr/>
        </p:nvPicPr>
        <p:blipFill>
          <a:blip r:embed="rId31"/>
          <a:stretch>
            <a:fillRect/>
          </a:stretch>
        </p:blipFill>
        <p:spPr>
          <a:xfrm>
            <a:off x="4567428" y="3236273"/>
            <a:ext cx="155448" cy="155448"/>
          </a:xfrm>
          <a:prstGeom prst="rect">
            <a:avLst/>
          </a:prstGeom>
        </p:spPr>
      </p:pic>
      <p:sp>
        <p:nvSpPr>
          <p:cNvPr id="92" name="lane-5-chip-3-tile"/>
          <p:cNvSpPr/>
          <p:nvPr/>
        </p:nvSpPr>
        <p:spPr>
          <a:xfrm>
            <a:off x="4800600" y="3195125"/>
            <a:ext cx="237744" cy="237744"/>
          </a:xfrm>
          <a:prstGeom prst="roundRect">
            <a:avLst>
              <a:gd name="adj" fmla="val 15385"/>
            </a:avLst>
          </a:prstGeom>
          <a:solidFill>
            <a:schemeClr val="bg2"/>
          </a:solidFill>
          <a:ln/>
        </p:spPr>
      </p:sp>
      <p:pic>
        <p:nvPicPr>
          <p:cNvPr id="93" name="lane-5-chip-3" descr="/Users/a/MAI/DID/presentation/assets/logos/claude.png">    </p:cNvPr>
          <p:cNvPicPr>
            <a:picLocks noChangeAspect="1"/>
          </p:cNvPicPr>
          <p:nvPr/>
        </p:nvPicPr>
        <p:blipFill>
          <a:blip r:embed="rId32"/>
          <a:stretch>
            <a:fillRect/>
          </a:stretch>
        </p:blipFill>
        <p:spPr>
          <a:xfrm>
            <a:off x="4841748" y="3236273"/>
            <a:ext cx="155448" cy="155448"/>
          </a:xfrm>
          <a:prstGeom prst="rect">
            <a:avLst/>
          </a:prstGeom>
        </p:spPr>
      </p:pic>
      <p:sp>
        <p:nvSpPr>
          <p:cNvPr id="94" name="lane-5-chip-4-tile"/>
          <p:cNvSpPr/>
          <p:nvPr/>
        </p:nvSpPr>
        <p:spPr>
          <a:xfrm>
            <a:off x="5074920" y="3195125"/>
            <a:ext cx="237744" cy="237744"/>
          </a:xfrm>
          <a:prstGeom prst="roundRect">
            <a:avLst>
              <a:gd name="adj" fmla="val 15385"/>
            </a:avLst>
          </a:prstGeom>
          <a:solidFill>
            <a:schemeClr val="bg2"/>
          </a:solidFill>
          <a:ln/>
        </p:spPr>
      </p:sp>
      <p:pic>
        <p:nvPicPr>
          <p:cNvPr id="95" name="lane-5-chip-4" descr="/Users/a/MAI/DID/presentation/assets/logos/openai.png">    </p:cNvPr>
          <p:cNvPicPr>
            <a:picLocks noChangeAspect="1"/>
          </p:cNvPicPr>
          <p:nvPr/>
        </p:nvPicPr>
        <p:blipFill>
          <a:blip r:embed="rId33"/>
          <a:stretch>
            <a:fillRect/>
          </a:stretch>
        </p:blipFill>
        <p:spPr>
          <a:xfrm>
            <a:off x="5116068" y="3236273"/>
            <a:ext cx="155448" cy="155448"/>
          </a:xfrm>
          <a:prstGeom prst="rect">
            <a:avLst/>
          </a:prstGeom>
        </p:spPr>
      </p:pic>
      <p:sp>
        <p:nvSpPr>
          <p:cNvPr id="96" name="lane-5-chip-5"/>
          <p:cNvSpPr txBox="1"/>
          <p:nvPr/>
        </p:nvSpPr>
        <p:spPr>
          <a:xfrm>
            <a:off x="5349240" y="3195125"/>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97" name="lane-5-result"/>
          <p:cNvSpPr txBox="1"/>
          <p:nvPr/>
        </p:nvSpPr>
        <p:spPr>
          <a:xfrm>
            <a:off x="7132320" y="3174375"/>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выигрыш не показан — так и записано</a:t>
            </a:r>
            <a:endParaRPr lang="en-US" sz="1400" dirty="0"/>
          </a:p>
        </p:txBody>
      </p:sp>
      <p:sp>
        <p:nvSpPr>
          <p:cNvPr id="98" name="lane-6-rule"/>
          <p:cNvSpPr/>
          <p:nvPr/>
        </p:nvSpPr>
        <p:spPr>
          <a:xfrm>
            <a:off x="548640" y="3453618"/>
            <a:ext cx="11091672" cy="0"/>
          </a:xfrm>
          <a:prstGeom prst="line">
            <a:avLst/>
          </a:prstGeom>
          <a:noFill/>
          <a:ln w="12700">
            <a:solidFill>
              <a:schemeClr val="bg2"/>
            </a:solidFill>
            <a:prstDash val="solid"/>
          </a:ln>
        </p:spPr>
      </p:sp>
      <p:sp>
        <p:nvSpPr>
          <p:cNvPr id="99" name="lane-6-name"/>
          <p:cNvSpPr txBox="1"/>
          <p:nvPr/>
        </p:nvSpPr>
        <p:spPr>
          <a:xfrm>
            <a:off x="548640" y="3453618"/>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G2 → G3. Положение и сторожа</a:t>
            </a:r>
            <a:endParaRPr lang="en-US" sz="1600" dirty="0"/>
          </a:p>
        </p:txBody>
      </p:sp>
      <p:sp>
        <p:nvSpPr>
          <p:cNvPr id="100" name="lane-6-chip-1-tile"/>
          <p:cNvSpPr/>
          <p:nvPr/>
        </p:nvSpPr>
        <p:spPr>
          <a:xfrm>
            <a:off x="4251960" y="3474368"/>
            <a:ext cx="237744" cy="237744"/>
          </a:xfrm>
          <a:prstGeom prst="roundRect">
            <a:avLst>
              <a:gd name="adj" fmla="val 15385"/>
            </a:avLst>
          </a:prstGeom>
          <a:solidFill>
            <a:schemeClr val="bg2"/>
          </a:solidFill>
          <a:ln/>
        </p:spPr>
      </p:sp>
      <p:pic>
        <p:nvPicPr>
          <p:cNvPr id="101" name="lane-6-chip-1" descr="/Users/a/MAI/DID/presentation/assets/logos/claude.png">    </p:cNvPr>
          <p:cNvPicPr>
            <a:picLocks noChangeAspect="1"/>
          </p:cNvPicPr>
          <p:nvPr/>
        </p:nvPicPr>
        <p:blipFill>
          <a:blip r:embed="rId34"/>
          <a:stretch>
            <a:fillRect/>
          </a:stretch>
        </p:blipFill>
        <p:spPr>
          <a:xfrm>
            <a:off x="4293108" y="3515516"/>
            <a:ext cx="155448" cy="155448"/>
          </a:xfrm>
          <a:prstGeom prst="rect">
            <a:avLst/>
          </a:prstGeom>
        </p:spPr>
      </p:pic>
      <p:sp>
        <p:nvSpPr>
          <p:cNvPr id="102" name="lane-6-chip-2-tile"/>
          <p:cNvSpPr/>
          <p:nvPr/>
        </p:nvSpPr>
        <p:spPr>
          <a:xfrm>
            <a:off x="4526280" y="3474368"/>
            <a:ext cx="237744" cy="237744"/>
          </a:xfrm>
          <a:prstGeom prst="roundRect">
            <a:avLst>
              <a:gd name="adj" fmla="val 15385"/>
            </a:avLst>
          </a:prstGeom>
          <a:solidFill>
            <a:schemeClr val="bg2"/>
          </a:solidFill>
          <a:ln/>
        </p:spPr>
      </p:sp>
      <p:pic>
        <p:nvPicPr>
          <p:cNvPr id="103" name="lane-6-chip-2" descr="/Users/a/MAI/DID/presentation/assets/logos/openai.png">    </p:cNvPr>
          <p:cNvPicPr>
            <a:picLocks noChangeAspect="1"/>
          </p:cNvPicPr>
          <p:nvPr/>
        </p:nvPicPr>
        <p:blipFill>
          <a:blip r:embed="rId35"/>
          <a:stretch>
            <a:fillRect/>
          </a:stretch>
        </p:blipFill>
        <p:spPr>
          <a:xfrm>
            <a:off x="4567428" y="3515516"/>
            <a:ext cx="155448" cy="155448"/>
          </a:xfrm>
          <a:prstGeom prst="rect">
            <a:avLst/>
          </a:prstGeom>
        </p:spPr>
      </p:pic>
      <p:sp>
        <p:nvSpPr>
          <p:cNvPr id="104" name="lane-6-chip-3-tile"/>
          <p:cNvSpPr/>
          <p:nvPr/>
        </p:nvSpPr>
        <p:spPr>
          <a:xfrm>
            <a:off x="4800600" y="3474368"/>
            <a:ext cx="237744" cy="237744"/>
          </a:xfrm>
          <a:prstGeom prst="roundRect">
            <a:avLst>
              <a:gd name="adj" fmla="val 15385"/>
            </a:avLst>
          </a:prstGeom>
          <a:solidFill>
            <a:schemeClr val="bg2"/>
          </a:solidFill>
          <a:ln/>
        </p:spPr>
      </p:sp>
      <p:pic>
        <p:nvPicPr>
          <p:cNvPr id="105" name="lane-6-chip-3" descr="/Users/a/MAI/DID/presentation/assets/logos/claude.png">    </p:cNvPr>
          <p:cNvPicPr>
            <a:picLocks noChangeAspect="1"/>
          </p:cNvPicPr>
          <p:nvPr/>
        </p:nvPicPr>
        <p:blipFill>
          <a:blip r:embed="rId36"/>
          <a:stretch>
            <a:fillRect/>
          </a:stretch>
        </p:blipFill>
        <p:spPr>
          <a:xfrm>
            <a:off x="4841748" y="3515516"/>
            <a:ext cx="155448" cy="155448"/>
          </a:xfrm>
          <a:prstGeom prst="rect">
            <a:avLst/>
          </a:prstGeom>
        </p:spPr>
      </p:pic>
      <p:sp>
        <p:nvSpPr>
          <p:cNvPr id="106" name="lane-6-chip-4"/>
          <p:cNvSpPr txBox="1"/>
          <p:nvPr/>
        </p:nvSpPr>
        <p:spPr>
          <a:xfrm>
            <a:off x="5074920" y="3474368"/>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07" name="lane-6-next"/>
          <p:cNvSpPr txBox="1"/>
          <p:nvPr/>
        </p:nvSpPr>
        <p:spPr>
          <a:xfrm>
            <a:off x="5349240" y="3453618"/>
            <a:ext cx="237744" cy="279244"/>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08" name="lane-6-chip-6-tile"/>
          <p:cNvSpPr/>
          <p:nvPr/>
        </p:nvSpPr>
        <p:spPr>
          <a:xfrm>
            <a:off x="5623560" y="3474368"/>
            <a:ext cx="237744" cy="237744"/>
          </a:xfrm>
          <a:prstGeom prst="roundRect">
            <a:avLst>
              <a:gd name="adj" fmla="val 15385"/>
            </a:avLst>
          </a:prstGeom>
          <a:solidFill>
            <a:schemeClr val="bg2"/>
          </a:solidFill>
          <a:ln/>
        </p:spPr>
      </p:sp>
      <p:pic>
        <p:nvPicPr>
          <p:cNvPr id="109" name="lane-6-chip-6" descr="/Users/a/MAI/DID/presentation/assets/logos/claude.png">    </p:cNvPr>
          <p:cNvPicPr>
            <a:picLocks noChangeAspect="1"/>
          </p:cNvPicPr>
          <p:nvPr/>
        </p:nvPicPr>
        <p:blipFill>
          <a:blip r:embed="rId37"/>
          <a:stretch>
            <a:fillRect/>
          </a:stretch>
        </p:blipFill>
        <p:spPr>
          <a:xfrm>
            <a:off x="5664708" y="3515516"/>
            <a:ext cx="155448" cy="155448"/>
          </a:xfrm>
          <a:prstGeom prst="rect">
            <a:avLst/>
          </a:prstGeom>
        </p:spPr>
      </p:pic>
      <p:sp>
        <p:nvSpPr>
          <p:cNvPr id="110" name="lane-6-chip-7-tile"/>
          <p:cNvSpPr/>
          <p:nvPr/>
        </p:nvSpPr>
        <p:spPr>
          <a:xfrm>
            <a:off x="5897880" y="3474368"/>
            <a:ext cx="237744" cy="237744"/>
          </a:xfrm>
          <a:prstGeom prst="roundRect">
            <a:avLst>
              <a:gd name="adj" fmla="val 15385"/>
            </a:avLst>
          </a:prstGeom>
          <a:solidFill>
            <a:schemeClr val="bg2"/>
          </a:solidFill>
          <a:ln/>
        </p:spPr>
      </p:sp>
      <p:pic>
        <p:nvPicPr>
          <p:cNvPr id="111" name="lane-6-chip-7" descr="/Users/a/MAI/DID/presentation/assets/logos/openai.png">    </p:cNvPr>
          <p:cNvPicPr>
            <a:picLocks noChangeAspect="1"/>
          </p:cNvPicPr>
          <p:nvPr/>
        </p:nvPicPr>
        <p:blipFill>
          <a:blip r:embed="rId38"/>
          <a:stretch>
            <a:fillRect/>
          </a:stretch>
        </p:blipFill>
        <p:spPr>
          <a:xfrm>
            <a:off x="5939028" y="3515516"/>
            <a:ext cx="155448" cy="155448"/>
          </a:xfrm>
          <a:prstGeom prst="rect">
            <a:avLst/>
          </a:prstGeom>
        </p:spPr>
      </p:pic>
      <p:sp>
        <p:nvSpPr>
          <p:cNvPr id="112" name="lane-6-chip-8-tile"/>
          <p:cNvSpPr/>
          <p:nvPr/>
        </p:nvSpPr>
        <p:spPr>
          <a:xfrm>
            <a:off x="6172200" y="3474368"/>
            <a:ext cx="237744" cy="237744"/>
          </a:xfrm>
          <a:prstGeom prst="roundRect">
            <a:avLst>
              <a:gd name="adj" fmla="val 15385"/>
            </a:avLst>
          </a:prstGeom>
          <a:solidFill>
            <a:schemeClr val="bg2"/>
          </a:solidFill>
          <a:ln/>
        </p:spPr>
      </p:sp>
      <p:pic>
        <p:nvPicPr>
          <p:cNvPr id="113" name="lane-6-chip-8" descr="/Users/a/MAI/DID/presentation/assets/logos/claude.png">    </p:cNvPr>
          <p:cNvPicPr>
            <a:picLocks noChangeAspect="1"/>
          </p:cNvPicPr>
          <p:nvPr/>
        </p:nvPicPr>
        <p:blipFill>
          <a:blip r:embed="rId39"/>
          <a:stretch>
            <a:fillRect/>
          </a:stretch>
        </p:blipFill>
        <p:spPr>
          <a:xfrm>
            <a:off x="6213348" y="3515516"/>
            <a:ext cx="155448" cy="155448"/>
          </a:xfrm>
          <a:prstGeom prst="rect">
            <a:avLst/>
          </a:prstGeom>
        </p:spPr>
      </p:pic>
      <p:sp>
        <p:nvSpPr>
          <p:cNvPr id="114" name="lane-6-chip-9-tile"/>
          <p:cNvSpPr/>
          <p:nvPr/>
        </p:nvSpPr>
        <p:spPr>
          <a:xfrm>
            <a:off x="6446520" y="3474368"/>
            <a:ext cx="237744" cy="237744"/>
          </a:xfrm>
          <a:prstGeom prst="roundRect">
            <a:avLst>
              <a:gd name="adj" fmla="val 15385"/>
            </a:avLst>
          </a:prstGeom>
          <a:solidFill>
            <a:schemeClr val="bg2"/>
          </a:solidFill>
          <a:ln/>
        </p:spPr>
      </p:sp>
      <p:pic>
        <p:nvPicPr>
          <p:cNvPr id="115" name="lane-6-chip-9" descr="/Users/a/MAI/DID/presentation/assets/logos/openai.png">    </p:cNvPr>
          <p:cNvPicPr>
            <a:picLocks noChangeAspect="1"/>
          </p:cNvPicPr>
          <p:nvPr/>
        </p:nvPicPr>
        <p:blipFill>
          <a:blip r:embed="rId40"/>
          <a:stretch>
            <a:fillRect/>
          </a:stretch>
        </p:blipFill>
        <p:spPr>
          <a:xfrm>
            <a:off x="6487668" y="3515516"/>
            <a:ext cx="155448" cy="155448"/>
          </a:xfrm>
          <a:prstGeom prst="rect">
            <a:avLst/>
          </a:prstGeom>
        </p:spPr>
      </p:pic>
      <p:sp>
        <p:nvSpPr>
          <p:cNvPr id="116" name="lane-6-chip-10"/>
          <p:cNvSpPr txBox="1"/>
          <p:nvPr/>
        </p:nvSpPr>
        <p:spPr>
          <a:xfrm>
            <a:off x="6720840" y="3474368"/>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17" name="lane-6-result"/>
          <p:cNvSpPr txBox="1"/>
          <p:nvPr/>
        </p:nvSpPr>
        <p:spPr>
          <a:xfrm>
            <a:off x="7132320" y="3453618"/>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возврат на базу в Gazebo: 8 из 9 → 7 из 7</a:t>
            </a:r>
            <a:endParaRPr lang="en-US" sz="1400" dirty="0"/>
          </a:p>
        </p:txBody>
      </p:sp>
      <p:sp>
        <p:nvSpPr>
          <p:cNvPr id="118" name="lane-7-rule"/>
          <p:cNvSpPr/>
          <p:nvPr/>
        </p:nvSpPr>
        <p:spPr>
          <a:xfrm>
            <a:off x="548640" y="3732862"/>
            <a:ext cx="11091672" cy="0"/>
          </a:xfrm>
          <a:prstGeom prst="line">
            <a:avLst/>
          </a:prstGeom>
          <a:noFill/>
          <a:ln w="12700">
            <a:solidFill>
              <a:schemeClr val="bg2"/>
            </a:solidFill>
            <a:prstDash val="solid"/>
          </a:ln>
        </p:spPr>
      </p:sp>
      <p:sp>
        <p:nvSpPr>
          <p:cNvPr id="119" name="lane-7-name"/>
          <p:cNvSpPr txBox="1"/>
          <p:nvPr/>
        </p:nvSpPr>
        <p:spPr>
          <a:xfrm>
            <a:off x="548640" y="3732862"/>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P1 → P2. Где робот теряет очки</a:t>
            </a:r>
            <a:endParaRPr lang="en-US" sz="1600" dirty="0"/>
          </a:p>
        </p:txBody>
      </p:sp>
      <p:sp>
        <p:nvSpPr>
          <p:cNvPr id="120" name="lane-7-chip-1-tile"/>
          <p:cNvSpPr/>
          <p:nvPr/>
        </p:nvSpPr>
        <p:spPr>
          <a:xfrm>
            <a:off x="4251960" y="3753612"/>
            <a:ext cx="237744" cy="237744"/>
          </a:xfrm>
          <a:prstGeom prst="roundRect">
            <a:avLst>
              <a:gd name="adj" fmla="val 15385"/>
            </a:avLst>
          </a:prstGeom>
          <a:solidFill>
            <a:schemeClr val="bg2"/>
          </a:solidFill>
          <a:ln/>
        </p:spPr>
      </p:sp>
      <p:pic>
        <p:nvPicPr>
          <p:cNvPr id="121" name="lane-7-chip-1" descr="/Users/a/MAI/DID/presentation/assets/logos/claude.png">    </p:cNvPr>
          <p:cNvPicPr>
            <a:picLocks noChangeAspect="1"/>
          </p:cNvPicPr>
          <p:nvPr/>
        </p:nvPicPr>
        <p:blipFill>
          <a:blip r:embed="rId41"/>
          <a:stretch>
            <a:fillRect/>
          </a:stretch>
        </p:blipFill>
        <p:spPr>
          <a:xfrm>
            <a:off x="4293108" y="3794760"/>
            <a:ext cx="155448" cy="155448"/>
          </a:xfrm>
          <a:prstGeom prst="rect">
            <a:avLst/>
          </a:prstGeom>
        </p:spPr>
      </p:pic>
      <p:sp>
        <p:nvSpPr>
          <p:cNvPr id="122" name="lane-7-chip-2-tile"/>
          <p:cNvSpPr/>
          <p:nvPr/>
        </p:nvSpPr>
        <p:spPr>
          <a:xfrm>
            <a:off x="4526280" y="3753612"/>
            <a:ext cx="237744" cy="237744"/>
          </a:xfrm>
          <a:prstGeom prst="roundRect">
            <a:avLst>
              <a:gd name="adj" fmla="val 15385"/>
            </a:avLst>
          </a:prstGeom>
          <a:solidFill>
            <a:schemeClr val="bg2"/>
          </a:solidFill>
          <a:ln/>
        </p:spPr>
      </p:sp>
      <p:pic>
        <p:nvPicPr>
          <p:cNvPr id="123" name="lane-7-chip-2" descr="/Users/a/MAI/DID/presentation/assets/logos/openai.png">    </p:cNvPr>
          <p:cNvPicPr>
            <a:picLocks noChangeAspect="1"/>
          </p:cNvPicPr>
          <p:nvPr/>
        </p:nvPicPr>
        <p:blipFill>
          <a:blip r:embed="rId42"/>
          <a:stretch>
            <a:fillRect/>
          </a:stretch>
        </p:blipFill>
        <p:spPr>
          <a:xfrm>
            <a:off x="4567428" y="3794760"/>
            <a:ext cx="155448" cy="155448"/>
          </a:xfrm>
          <a:prstGeom prst="rect">
            <a:avLst/>
          </a:prstGeom>
        </p:spPr>
      </p:pic>
      <p:sp>
        <p:nvSpPr>
          <p:cNvPr id="124" name="lane-7-chip-3-tile"/>
          <p:cNvSpPr/>
          <p:nvPr/>
        </p:nvSpPr>
        <p:spPr>
          <a:xfrm>
            <a:off x="4800600" y="3753612"/>
            <a:ext cx="237744" cy="237744"/>
          </a:xfrm>
          <a:prstGeom prst="roundRect">
            <a:avLst>
              <a:gd name="adj" fmla="val 15385"/>
            </a:avLst>
          </a:prstGeom>
          <a:solidFill>
            <a:schemeClr val="bg2"/>
          </a:solidFill>
          <a:ln/>
        </p:spPr>
      </p:sp>
      <p:pic>
        <p:nvPicPr>
          <p:cNvPr id="125" name="lane-7-chip-3" descr="/Users/a/MAI/DID/presentation/assets/logos/claude.png">    </p:cNvPr>
          <p:cNvPicPr>
            <a:picLocks noChangeAspect="1"/>
          </p:cNvPicPr>
          <p:nvPr/>
        </p:nvPicPr>
        <p:blipFill>
          <a:blip r:embed="rId43"/>
          <a:stretch>
            <a:fillRect/>
          </a:stretch>
        </p:blipFill>
        <p:spPr>
          <a:xfrm>
            <a:off x="4841748" y="3794760"/>
            <a:ext cx="155448" cy="155448"/>
          </a:xfrm>
          <a:prstGeom prst="rect">
            <a:avLst/>
          </a:prstGeom>
        </p:spPr>
      </p:pic>
      <p:sp>
        <p:nvSpPr>
          <p:cNvPr id="126" name="lane-7-chip-4-tile"/>
          <p:cNvSpPr/>
          <p:nvPr/>
        </p:nvSpPr>
        <p:spPr>
          <a:xfrm>
            <a:off x="5074920" y="3753612"/>
            <a:ext cx="237744" cy="237744"/>
          </a:xfrm>
          <a:prstGeom prst="roundRect">
            <a:avLst>
              <a:gd name="adj" fmla="val 15385"/>
            </a:avLst>
          </a:prstGeom>
          <a:solidFill>
            <a:schemeClr val="bg2"/>
          </a:solidFill>
          <a:ln/>
        </p:spPr>
      </p:sp>
      <p:pic>
        <p:nvPicPr>
          <p:cNvPr id="127" name="lane-7-chip-4" descr="/Users/a/MAI/DID/presentation/assets/logos/openai.png">    </p:cNvPr>
          <p:cNvPicPr>
            <a:picLocks noChangeAspect="1"/>
          </p:cNvPicPr>
          <p:nvPr/>
        </p:nvPicPr>
        <p:blipFill>
          <a:blip r:embed="rId44"/>
          <a:stretch>
            <a:fillRect/>
          </a:stretch>
        </p:blipFill>
        <p:spPr>
          <a:xfrm>
            <a:off x="5116068" y="3794760"/>
            <a:ext cx="155448" cy="155448"/>
          </a:xfrm>
          <a:prstGeom prst="rect">
            <a:avLst/>
          </a:prstGeom>
        </p:spPr>
      </p:pic>
      <p:sp>
        <p:nvSpPr>
          <p:cNvPr id="128" name="lane-7-chip-5"/>
          <p:cNvSpPr txBox="1"/>
          <p:nvPr/>
        </p:nvSpPr>
        <p:spPr>
          <a:xfrm>
            <a:off x="5349240" y="3753612"/>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29" name="lane-7-next"/>
          <p:cNvSpPr txBox="1"/>
          <p:nvPr/>
        </p:nvSpPr>
        <p:spPr>
          <a:xfrm>
            <a:off x="5623560" y="3732862"/>
            <a:ext cx="237744" cy="279244"/>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30" name="lane-7-chip-7-tile"/>
          <p:cNvSpPr/>
          <p:nvPr/>
        </p:nvSpPr>
        <p:spPr>
          <a:xfrm>
            <a:off x="5897880" y="3753612"/>
            <a:ext cx="237744" cy="237744"/>
          </a:xfrm>
          <a:prstGeom prst="roundRect">
            <a:avLst>
              <a:gd name="adj" fmla="val 15385"/>
            </a:avLst>
          </a:prstGeom>
          <a:solidFill>
            <a:schemeClr val="bg2"/>
          </a:solidFill>
          <a:ln/>
        </p:spPr>
      </p:sp>
      <p:pic>
        <p:nvPicPr>
          <p:cNvPr id="131" name="lane-7-chip-7" descr="/Users/a/MAI/DID/presentation/assets/logos/claude.png">    </p:cNvPr>
          <p:cNvPicPr>
            <a:picLocks noChangeAspect="1"/>
          </p:cNvPicPr>
          <p:nvPr/>
        </p:nvPicPr>
        <p:blipFill>
          <a:blip r:embed="rId45"/>
          <a:stretch>
            <a:fillRect/>
          </a:stretch>
        </p:blipFill>
        <p:spPr>
          <a:xfrm>
            <a:off x="5939028" y="3794760"/>
            <a:ext cx="155448" cy="155448"/>
          </a:xfrm>
          <a:prstGeom prst="rect">
            <a:avLst/>
          </a:prstGeom>
        </p:spPr>
      </p:pic>
      <p:sp>
        <p:nvSpPr>
          <p:cNvPr id="132" name="lane-7-chip-8-tile"/>
          <p:cNvSpPr/>
          <p:nvPr/>
        </p:nvSpPr>
        <p:spPr>
          <a:xfrm>
            <a:off x="6172200" y="3753612"/>
            <a:ext cx="237744" cy="237744"/>
          </a:xfrm>
          <a:prstGeom prst="roundRect">
            <a:avLst>
              <a:gd name="adj" fmla="val 15385"/>
            </a:avLst>
          </a:prstGeom>
          <a:solidFill>
            <a:schemeClr val="bg2"/>
          </a:solidFill>
          <a:ln/>
        </p:spPr>
      </p:sp>
      <p:pic>
        <p:nvPicPr>
          <p:cNvPr id="133" name="lane-7-chip-8" descr="/Users/a/MAI/DID/presentation/assets/logos/openai.png">    </p:cNvPr>
          <p:cNvPicPr>
            <a:picLocks noChangeAspect="1"/>
          </p:cNvPicPr>
          <p:nvPr/>
        </p:nvPicPr>
        <p:blipFill>
          <a:blip r:embed="rId46"/>
          <a:stretch>
            <a:fillRect/>
          </a:stretch>
        </p:blipFill>
        <p:spPr>
          <a:xfrm>
            <a:off x="6213348" y="3794760"/>
            <a:ext cx="155448" cy="155448"/>
          </a:xfrm>
          <a:prstGeom prst="rect">
            <a:avLst/>
          </a:prstGeom>
        </p:spPr>
      </p:pic>
      <p:sp>
        <p:nvSpPr>
          <p:cNvPr id="134" name="lane-7-chip-9-tile"/>
          <p:cNvSpPr/>
          <p:nvPr/>
        </p:nvSpPr>
        <p:spPr>
          <a:xfrm>
            <a:off x="6446520" y="3753612"/>
            <a:ext cx="237744" cy="237744"/>
          </a:xfrm>
          <a:prstGeom prst="roundRect">
            <a:avLst>
              <a:gd name="adj" fmla="val 15385"/>
            </a:avLst>
          </a:prstGeom>
          <a:solidFill>
            <a:schemeClr val="bg2"/>
          </a:solidFill>
          <a:ln/>
        </p:spPr>
      </p:sp>
      <p:pic>
        <p:nvPicPr>
          <p:cNvPr id="135" name="lane-7-chip-9" descr="/Users/a/MAI/DID/presentation/assets/logos/claude.png">    </p:cNvPr>
          <p:cNvPicPr>
            <a:picLocks noChangeAspect="1"/>
          </p:cNvPicPr>
          <p:nvPr/>
        </p:nvPicPr>
        <p:blipFill>
          <a:blip r:embed="rId47"/>
          <a:stretch>
            <a:fillRect/>
          </a:stretch>
        </p:blipFill>
        <p:spPr>
          <a:xfrm>
            <a:off x="6487668" y="3794760"/>
            <a:ext cx="155448" cy="155448"/>
          </a:xfrm>
          <a:prstGeom prst="rect">
            <a:avLst/>
          </a:prstGeom>
        </p:spPr>
      </p:pic>
      <p:sp>
        <p:nvSpPr>
          <p:cNvPr id="136" name="lane-7-chip-10"/>
          <p:cNvSpPr txBox="1"/>
          <p:nvPr/>
        </p:nvSpPr>
        <p:spPr>
          <a:xfrm>
            <a:off x="6720840" y="3753612"/>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37" name="lane-7-result"/>
          <p:cNvSpPr txBox="1"/>
          <p:nvPr/>
        </p:nvSpPr>
        <p:spPr>
          <a:xfrm>
            <a:off x="7132320" y="3732862"/>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сбой датчика: +6,4 очка; ещё пять правок: 0</a:t>
            </a:r>
            <a:endParaRPr lang="en-US" sz="1400" dirty="0"/>
          </a:p>
        </p:txBody>
      </p:sp>
      <p:sp>
        <p:nvSpPr>
          <p:cNvPr id="138" name="lane-8-rule"/>
          <p:cNvSpPr/>
          <p:nvPr/>
        </p:nvSpPr>
        <p:spPr>
          <a:xfrm>
            <a:off x="548640" y="4012106"/>
            <a:ext cx="11091672" cy="0"/>
          </a:xfrm>
          <a:prstGeom prst="line">
            <a:avLst/>
          </a:prstGeom>
          <a:noFill/>
          <a:ln w="12700">
            <a:solidFill>
              <a:schemeClr val="bg2"/>
            </a:solidFill>
            <a:prstDash val="solid"/>
          </a:ln>
        </p:spPr>
      </p:sp>
      <p:sp>
        <p:nvSpPr>
          <p:cNvPr id="139" name="lane-8-name"/>
          <p:cNvSpPr txBox="1"/>
          <p:nvPr/>
        </p:nvSpPr>
        <p:spPr>
          <a:xfrm>
            <a:off x="548640" y="4012106"/>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A1. Новые схемы агента</a:t>
            </a:r>
            <a:endParaRPr lang="en-US" sz="1600" dirty="0"/>
          </a:p>
        </p:txBody>
      </p:sp>
      <p:sp>
        <p:nvSpPr>
          <p:cNvPr id="140" name="lane-8-chip-1-tile"/>
          <p:cNvSpPr/>
          <p:nvPr/>
        </p:nvSpPr>
        <p:spPr>
          <a:xfrm>
            <a:off x="4251960" y="4032856"/>
            <a:ext cx="237744" cy="237744"/>
          </a:xfrm>
          <a:prstGeom prst="roundRect">
            <a:avLst>
              <a:gd name="adj" fmla="val 15385"/>
            </a:avLst>
          </a:prstGeom>
          <a:solidFill>
            <a:schemeClr val="bg2"/>
          </a:solidFill>
          <a:ln/>
        </p:spPr>
      </p:sp>
      <p:pic>
        <p:nvPicPr>
          <p:cNvPr id="141" name="lane-8-chip-1" descr="/Users/a/MAI/DID/presentation/assets/logos/claude.png">    </p:cNvPr>
          <p:cNvPicPr>
            <a:picLocks noChangeAspect="1"/>
          </p:cNvPicPr>
          <p:nvPr/>
        </p:nvPicPr>
        <p:blipFill>
          <a:blip r:embed="rId48"/>
          <a:stretch>
            <a:fillRect/>
          </a:stretch>
        </p:blipFill>
        <p:spPr>
          <a:xfrm>
            <a:off x="4293108" y="4074004"/>
            <a:ext cx="155448" cy="155448"/>
          </a:xfrm>
          <a:prstGeom prst="rect">
            <a:avLst/>
          </a:prstGeom>
        </p:spPr>
      </p:pic>
      <p:sp>
        <p:nvSpPr>
          <p:cNvPr id="142" name="lane-8-chip-2-tile"/>
          <p:cNvSpPr/>
          <p:nvPr/>
        </p:nvSpPr>
        <p:spPr>
          <a:xfrm>
            <a:off x="4526280" y="4032856"/>
            <a:ext cx="237744" cy="237744"/>
          </a:xfrm>
          <a:prstGeom prst="roundRect">
            <a:avLst>
              <a:gd name="adj" fmla="val 15385"/>
            </a:avLst>
          </a:prstGeom>
          <a:solidFill>
            <a:schemeClr val="bg2"/>
          </a:solidFill>
          <a:ln/>
        </p:spPr>
      </p:sp>
      <p:pic>
        <p:nvPicPr>
          <p:cNvPr id="143" name="lane-8-chip-2" descr="/Users/a/MAI/DID/presentation/assets/logos/openai.png">    </p:cNvPr>
          <p:cNvPicPr>
            <a:picLocks noChangeAspect="1"/>
          </p:cNvPicPr>
          <p:nvPr/>
        </p:nvPicPr>
        <p:blipFill>
          <a:blip r:embed="rId49"/>
          <a:stretch>
            <a:fillRect/>
          </a:stretch>
        </p:blipFill>
        <p:spPr>
          <a:xfrm>
            <a:off x="4567428" y="4074004"/>
            <a:ext cx="155448" cy="155448"/>
          </a:xfrm>
          <a:prstGeom prst="rect">
            <a:avLst/>
          </a:prstGeom>
        </p:spPr>
      </p:pic>
      <p:sp>
        <p:nvSpPr>
          <p:cNvPr id="144" name="lane-8-chip-3-tile"/>
          <p:cNvSpPr/>
          <p:nvPr/>
        </p:nvSpPr>
        <p:spPr>
          <a:xfrm>
            <a:off x="4800600" y="4032856"/>
            <a:ext cx="237744" cy="237744"/>
          </a:xfrm>
          <a:prstGeom prst="roundRect">
            <a:avLst>
              <a:gd name="adj" fmla="val 15385"/>
            </a:avLst>
          </a:prstGeom>
          <a:solidFill>
            <a:schemeClr val="bg2"/>
          </a:solidFill>
          <a:ln/>
        </p:spPr>
      </p:sp>
      <p:pic>
        <p:nvPicPr>
          <p:cNvPr id="145" name="lane-8-chip-3" descr="/Users/a/MAI/DID/presentation/assets/logos/claude.png">    </p:cNvPr>
          <p:cNvPicPr>
            <a:picLocks noChangeAspect="1"/>
          </p:cNvPicPr>
          <p:nvPr/>
        </p:nvPicPr>
        <p:blipFill>
          <a:blip r:embed="rId50"/>
          <a:stretch>
            <a:fillRect/>
          </a:stretch>
        </p:blipFill>
        <p:spPr>
          <a:xfrm>
            <a:off x="4841748" y="4074004"/>
            <a:ext cx="155448" cy="155448"/>
          </a:xfrm>
          <a:prstGeom prst="rect">
            <a:avLst/>
          </a:prstGeom>
        </p:spPr>
      </p:pic>
      <p:sp>
        <p:nvSpPr>
          <p:cNvPr id="146" name="lane-8-chip-4"/>
          <p:cNvSpPr txBox="1"/>
          <p:nvPr/>
        </p:nvSpPr>
        <p:spPr>
          <a:xfrm>
            <a:off x="5074920" y="4032856"/>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47" name="lane-8-result"/>
          <p:cNvSpPr txBox="1"/>
          <p:nvPr/>
        </p:nvSpPr>
        <p:spPr>
          <a:xfrm>
            <a:off x="7132320" y="4012106"/>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не лучше нынешней; потолок — 92,5 очка</a:t>
            </a:r>
            <a:endParaRPr lang="en-US" sz="1400" dirty="0"/>
          </a:p>
        </p:txBody>
      </p:sp>
      <p:sp>
        <p:nvSpPr>
          <p:cNvPr id="148" name="lane-9-rule"/>
          <p:cNvSpPr/>
          <p:nvPr/>
        </p:nvSpPr>
        <p:spPr>
          <a:xfrm>
            <a:off x="548640" y="4291350"/>
            <a:ext cx="11091672" cy="0"/>
          </a:xfrm>
          <a:prstGeom prst="line">
            <a:avLst/>
          </a:prstGeom>
          <a:noFill/>
          <a:ln w="12700">
            <a:solidFill>
              <a:schemeClr val="bg2"/>
            </a:solidFill>
            <a:prstDash val="solid"/>
          </a:ln>
        </p:spPr>
      </p:sp>
      <p:sp>
        <p:nvSpPr>
          <p:cNvPr id="149" name="lane-9-name"/>
          <p:cNvSpPr txBox="1"/>
          <p:nvPr/>
        </p:nvSpPr>
        <p:spPr>
          <a:xfrm>
            <a:off x="548640" y="4291350"/>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R12. Выбор опыта с учётом цены</a:t>
            </a:r>
            <a:endParaRPr lang="en-US" sz="1600" dirty="0"/>
          </a:p>
        </p:txBody>
      </p:sp>
      <p:sp>
        <p:nvSpPr>
          <p:cNvPr id="150" name="lane-9-chip-1-tile"/>
          <p:cNvSpPr/>
          <p:nvPr/>
        </p:nvSpPr>
        <p:spPr>
          <a:xfrm>
            <a:off x="4251960" y="4312099"/>
            <a:ext cx="237744" cy="237744"/>
          </a:xfrm>
          <a:prstGeom prst="roundRect">
            <a:avLst>
              <a:gd name="adj" fmla="val 15385"/>
            </a:avLst>
          </a:prstGeom>
          <a:solidFill>
            <a:schemeClr val="bg2"/>
          </a:solidFill>
          <a:ln/>
        </p:spPr>
      </p:sp>
      <p:pic>
        <p:nvPicPr>
          <p:cNvPr id="151" name="lane-9-chip-1" descr="/Users/a/MAI/DID/presentation/assets/logos/claude.png">    </p:cNvPr>
          <p:cNvPicPr>
            <a:picLocks noChangeAspect="1"/>
          </p:cNvPicPr>
          <p:nvPr/>
        </p:nvPicPr>
        <p:blipFill>
          <a:blip r:embed="rId51"/>
          <a:stretch>
            <a:fillRect/>
          </a:stretch>
        </p:blipFill>
        <p:spPr>
          <a:xfrm>
            <a:off x="4293108" y="4353247"/>
            <a:ext cx="155448" cy="155448"/>
          </a:xfrm>
          <a:prstGeom prst="rect">
            <a:avLst/>
          </a:prstGeom>
        </p:spPr>
      </p:pic>
      <p:sp>
        <p:nvSpPr>
          <p:cNvPr id="152" name="lane-9-chip-2-tile"/>
          <p:cNvSpPr/>
          <p:nvPr/>
        </p:nvSpPr>
        <p:spPr>
          <a:xfrm>
            <a:off x="4526280" y="4312099"/>
            <a:ext cx="237744" cy="237744"/>
          </a:xfrm>
          <a:prstGeom prst="roundRect">
            <a:avLst>
              <a:gd name="adj" fmla="val 15385"/>
            </a:avLst>
          </a:prstGeom>
          <a:solidFill>
            <a:schemeClr val="bg2"/>
          </a:solidFill>
          <a:ln/>
        </p:spPr>
      </p:sp>
      <p:pic>
        <p:nvPicPr>
          <p:cNvPr id="153" name="lane-9-chip-2" descr="/Users/a/MAI/DID/presentation/assets/logos/openai.png">    </p:cNvPr>
          <p:cNvPicPr>
            <a:picLocks noChangeAspect="1"/>
          </p:cNvPicPr>
          <p:nvPr/>
        </p:nvPicPr>
        <p:blipFill>
          <a:blip r:embed="rId52"/>
          <a:stretch>
            <a:fillRect/>
          </a:stretch>
        </p:blipFill>
        <p:spPr>
          <a:xfrm>
            <a:off x="4567428" y="4353247"/>
            <a:ext cx="155448" cy="155448"/>
          </a:xfrm>
          <a:prstGeom prst="rect">
            <a:avLst/>
          </a:prstGeom>
        </p:spPr>
      </p:pic>
      <p:sp>
        <p:nvSpPr>
          <p:cNvPr id="154" name="lane-9-chip-3-tile"/>
          <p:cNvSpPr/>
          <p:nvPr/>
        </p:nvSpPr>
        <p:spPr>
          <a:xfrm>
            <a:off x="4800600" y="4312099"/>
            <a:ext cx="237744" cy="237744"/>
          </a:xfrm>
          <a:prstGeom prst="roundRect">
            <a:avLst>
              <a:gd name="adj" fmla="val 15385"/>
            </a:avLst>
          </a:prstGeom>
          <a:solidFill>
            <a:schemeClr val="bg2"/>
          </a:solidFill>
          <a:ln/>
        </p:spPr>
      </p:sp>
      <p:pic>
        <p:nvPicPr>
          <p:cNvPr id="155" name="lane-9-chip-3" descr="/Users/a/MAI/DID/presentation/assets/logos/claude.png">    </p:cNvPr>
          <p:cNvPicPr>
            <a:picLocks noChangeAspect="1"/>
          </p:cNvPicPr>
          <p:nvPr/>
        </p:nvPicPr>
        <p:blipFill>
          <a:blip r:embed="rId53"/>
          <a:stretch>
            <a:fillRect/>
          </a:stretch>
        </p:blipFill>
        <p:spPr>
          <a:xfrm>
            <a:off x="4841748" y="4353247"/>
            <a:ext cx="155448" cy="155448"/>
          </a:xfrm>
          <a:prstGeom prst="rect">
            <a:avLst/>
          </a:prstGeom>
        </p:spPr>
      </p:pic>
      <p:sp>
        <p:nvSpPr>
          <p:cNvPr id="156" name="lane-9-chip-4"/>
          <p:cNvSpPr txBox="1"/>
          <p:nvPr/>
        </p:nvSpPr>
        <p:spPr>
          <a:xfrm>
            <a:off x="5074920" y="4312099"/>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57" name="lane-9-result"/>
          <p:cNvSpPr txBox="1"/>
          <p:nvPr/>
        </p:nvSpPr>
        <p:spPr>
          <a:xfrm>
            <a:off x="7132320" y="4291350"/>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расход на расследование: 0,54 → 0,08</a:t>
            </a:r>
            <a:endParaRPr lang="en-US" sz="1400" dirty="0"/>
          </a:p>
        </p:txBody>
      </p:sp>
      <p:sp>
        <p:nvSpPr>
          <p:cNvPr id="158" name="lane-10-rule"/>
          <p:cNvSpPr/>
          <p:nvPr/>
        </p:nvSpPr>
        <p:spPr>
          <a:xfrm>
            <a:off x="548640" y="4570593"/>
            <a:ext cx="11091672" cy="0"/>
          </a:xfrm>
          <a:prstGeom prst="line">
            <a:avLst/>
          </a:prstGeom>
          <a:noFill/>
          <a:ln w="12700">
            <a:solidFill>
              <a:schemeClr val="bg2"/>
            </a:solidFill>
            <a:prstDash val="solid"/>
          </a:ln>
        </p:spPr>
      </p:sp>
      <p:sp>
        <p:nvSpPr>
          <p:cNvPr id="159" name="lane-10-name"/>
          <p:cNvSpPr txBox="1"/>
          <p:nvPr/>
        </p:nvSpPr>
        <p:spPr>
          <a:xfrm>
            <a:off x="548640" y="4570593"/>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R14. Самокалибровка датчика</a:t>
            </a:r>
            <a:endParaRPr lang="en-US" sz="1600" dirty="0"/>
          </a:p>
        </p:txBody>
      </p:sp>
      <p:sp>
        <p:nvSpPr>
          <p:cNvPr id="160" name="lane-10-chip-1-tile"/>
          <p:cNvSpPr/>
          <p:nvPr/>
        </p:nvSpPr>
        <p:spPr>
          <a:xfrm>
            <a:off x="4251960" y="4591343"/>
            <a:ext cx="237744" cy="237744"/>
          </a:xfrm>
          <a:prstGeom prst="roundRect">
            <a:avLst>
              <a:gd name="adj" fmla="val 15385"/>
            </a:avLst>
          </a:prstGeom>
          <a:solidFill>
            <a:schemeClr val="bg2"/>
          </a:solidFill>
          <a:ln/>
        </p:spPr>
      </p:sp>
      <p:pic>
        <p:nvPicPr>
          <p:cNvPr id="161" name="lane-10-chip-1" descr="/Users/a/MAI/DID/presentation/assets/logos/claude.png">    </p:cNvPr>
          <p:cNvPicPr>
            <a:picLocks noChangeAspect="1"/>
          </p:cNvPicPr>
          <p:nvPr/>
        </p:nvPicPr>
        <p:blipFill>
          <a:blip r:embed="rId54"/>
          <a:stretch>
            <a:fillRect/>
          </a:stretch>
        </p:blipFill>
        <p:spPr>
          <a:xfrm>
            <a:off x="4293108" y="4632491"/>
            <a:ext cx="155448" cy="155448"/>
          </a:xfrm>
          <a:prstGeom prst="rect">
            <a:avLst/>
          </a:prstGeom>
        </p:spPr>
      </p:pic>
      <p:sp>
        <p:nvSpPr>
          <p:cNvPr id="162" name="lane-10-chip-2-tile"/>
          <p:cNvSpPr/>
          <p:nvPr/>
        </p:nvSpPr>
        <p:spPr>
          <a:xfrm>
            <a:off x="4526280" y="4591343"/>
            <a:ext cx="237744" cy="237744"/>
          </a:xfrm>
          <a:prstGeom prst="roundRect">
            <a:avLst>
              <a:gd name="adj" fmla="val 15385"/>
            </a:avLst>
          </a:prstGeom>
          <a:solidFill>
            <a:schemeClr val="bg2"/>
          </a:solidFill>
          <a:ln/>
        </p:spPr>
      </p:sp>
      <p:pic>
        <p:nvPicPr>
          <p:cNvPr id="163" name="lane-10-chip-2" descr="/Users/a/MAI/DID/presentation/assets/logos/openai.png">    </p:cNvPr>
          <p:cNvPicPr>
            <a:picLocks noChangeAspect="1"/>
          </p:cNvPicPr>
          <p:nvPr/>
        </p:nvPicPr>
        <p:blipFill>
          <a:blip r:embed="rId55"/>
          <a:stretch>
            <a:fillRect/>
          </a:stretch>
        </p:blipFill>
        <p:spPr>
          <a:xfrm>
            <a:off x="4567428" y="4632491"/>
            <a:ext cx="155448" cy="155448"/>
          </a:xfrm>
          <a:prstGeom prst="rect">
            <a:avLst/>
          </a:prstGeom>
        </p:spPr>
      </p:pic>
      <p:sp>
        <p:nvSpPr>
          <p:cNvPr id="164" name="lane-10-chip-3-tile"/>
          <p:cNvSpPr/>
          <p:nvPr/>
        </p:nvSpPr>
        <p:spPr>
          <a:xfrm>
            <a:off x="4800600" y="4591343"/>
            <a:ext cx="237744" cy="237744"/>
          </a:xfrm>
          <a:prstGeom prst="roundRect">
            <a:avLst>
              <a:gd name="adj" fmla="val 15385"/>
            </a:avLst>
          </a:prstGeom>
          <a:solidFill>
            <a:schemeClr val="bg2"/>
          </a:solidFill>
          <a:ln/>
        </p:spPr>
      </p:sp>
      <p:pic>
        <p:nvPicPr>
          <p:cNvPr id="165" name="lane-10-chip-3" descr="/Users/a/MAI/DID/presentation/assets/logos/claude.png">    </p:cNvPr>
          <p:cNvPicPr>
            <a:picLocks noChangeAspect="1"/>
          </p:cNvPicPr>
          <p:nvPr/>
        </p:nvPicPr>
        <p:blipFill>
          <a:blip r:embed="rId56"/>
          <a:stretch>
            <a:fillRect/>
          </a:stretch>
        </p:blipFill>
        <p:spPr>
          <a:xfrm>
            <a:off x="4841748" y="4632491"/>
            <a:ext cx="155448" cy="155448"/>
          </a:xfrm>
          <a:prstGeom prst="rect">
            <a:avLst/>
          </a:prstGeom>
        </p:spPr>
      </p:pic>
      <p:sp>
        <p:nvSpPr>
          <p:cNvPr id="166" name="lane-10-chip-4-tile"/>
          <p:cNvSpPr/>
          <p:nvPr/>
        </p:nvSpPr>
        <p:spPr>
          <a:xfrm>
            <a:off x="5074920" y="4591343"/>
            <a:ext cx="237744" cy="237744"/>
          </a:xfrm>
          <a:prstGeom prst="roundRect">
            <a:avLst>
              <a:gd name="adj" fmla="val 15385"/>
            </a:avLst>
          </a:prstGeom>
          <a:solidFill>
            <a:schemeClr val="bg2"/>
          </a:solidFill>
          <a:ln/>
        </p:spPr>
      </p:sp>
      <p:pic>
        <p:nvPicPr>
          <p:cNvPr id="167" name="lane-10-chip-4" descr="/Users/a/MAI/DID/presentation/assets/logos/openai.png">    </p:cNvPr>
          <p:cNvPicPr>
            <a:picLocks noChangeAspect="1"/>
          </p:cNvPicPr>
          <p:nvPr/>
        </p:nvPicPr>
        <p:blipFill>
          <a:blip r:embed="rId57"/>
          <a:stretch>
            <a:fillRect/>
          </a:stretch>
        </p:blipFill>
        <p:spPr>
          <a:xfrm>
            <a:off x="5116068" y="4632491"/>
            <a:ext cx="155448" cy="155448"/>
          </a:xfrm>
          <a:prstGeom prst="rect">
            <a:avLst/>
          </a:prstGeom>
        </p:spPr>
      </p:pic>
      <p:sp>
        <p:nvSpPr>
          <p:cNvPr id="168" name="lane-10-chip-5-tile"/>
          <p:cNvSpPr/>
          <p:nvPr/>
        </p:nvSpPr>
        <p:spPr>
          <a:xfrm>
            <a:off x="5349240" y="4591343"/>
            <a:ext cx="237744" cy="237744"/>
          </a:xfrm>
          <a:prstGeom prst="roundRect">
            <a:avLst>
              <a:gd name="adj" fmla="val 15385"/>
            </a:avLst>
          </a:prstGeom>
          <a:solidFill>
            <a:schemeClr val="bg2"/>
          </a:solidFill>
          <a:ln/>
        </p:spPr>
      </p:sp>
      <p:pic>
        <p:nvPicPr>
          <p:cNvPr id="169" name="lane-10-chip-5" descr="/Users/a/MAI/DID/presentation/assets/logos/claude.png">    </p:cNvPr>
          <p:cNvPicPr>
            <a:picLocks noChangeAspect="1"/>
          </p:cNvPicPr>
          <p:nvPr/>
        </p:nvPicPr>
        <p:blipFill>
          <a:blip r:embed="rId58"/>
          <a:stretch>
            <a:fillRect/>
          </a:stretch>
        </p:blipFill>
        <p:spPr>
          <a:xfrm>
            <a:off x="5390388" y="4632491"/>
            <a:ext cx="155448" cy="155448"/>
          </a:xfrm>
          <a:prstGeom prst="rect">
            <a:avLst/>
          </a:prstGeom>
        </p:spPr>
      </p:pic>
      <p:sp>
        <p:nvSpPr>
          <p:cNvPr id="170" name="lane-10-chip-6"/>
          <p:cNvSpPr txBox="1"/>
          <p:nvPr/>
        </p:nvSpPr>
        <p:spPr>
          <a:xfrm>
            <a:off x="5623560" y="4591343"/>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71" name="lane-10-result"/>
          <p:cNvSpPr txBox="1"/>
          <p:nvPr/>
        </p:nvSpPr>
        <p:spPr>
          <a:xfrm>
            <a:off x="7132320" y="4570593"/>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неверный закон датчика: 1% → 71% образцов</a:t>
            </a:r>
            <a:endParaRPr lang="en-US" sz="1400" dirty="0"/>
          </a:p>
        </p:txBody>
      </p:sp>
      <p:sp>
        <p:nvSpPr>
          <p:cNvPr id="172" name="lane-11-rule"/>
          <p:cNvSpPr/>
          <p:nvPr/>
        </p:nvSpPr>
        <p:spPr>
          <a:xfrm>
            <a:off x="548640" y="4849837"/>
            <a:ext cx="11091672" cy="0"/>
          </a:xfrm>
          <a:prstGeom prst="line">
            <a:avLst/>
          </a:prstGeom>
          <a:noFill/>
          <a:ln w="12700">
            <a:solidFill>
              <a:schemeClr val="bg2"/>
            </a:solidFill>
            <a:prstDash val="solid"/>
          </a:ln>
        </p:spPr>
      </p:sp>
      <p:sp>
        <p:nvSpPr>
          <p:cNvPr id="173" name="lane-11-name"/>
          <p:cNvSpPr txBox="1"/>
          <p:nvPr/>
        </p:nvSpPr>
        <p:spPr>
          <a:xfrm>
            <a:off x="548640" y="4849837"/>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J1. Быстрая модель-сторож</a:t>
            </a:r>
            <a:endParaRPr lang="en-US" sz="1600" dirty="0"/>
          </a:p>
        </p:txBody>
      </p:sp>
      <p:sp>
        <p:nvSpPr>
          <p:cNvPr id="174" name="lane-11-chip-1-tile"/>
          <p:cNvSpPr/>
          <p:nvPr/>
        </p:nvSpPr>
        <p:spPr>
          <a:xfrm>
            <a:off x="4251960" y="4870587"/>
            <a:ext cx="237744" cy="237744"/>
          </a:xfrm>
          <a:prstGeom prst="roundRect">
            <a:avLst>
              <a:gd name="adj" fmla="val 15385"/>
            </a:avLst>
          </a:prstGeom>
          <a:solidFill>
            <a:schemeClr val="bg2"/>
          </a:solidFill>
          <a:ln/>
        </p:spPr>
      </p:sp>
      <p:pic>
        <p:nvPicPr>
          <p:cNvPr id="175" name="lane-11-chip-1" descr="/Users/a/MAI/DID/presentation/assets/logos/claude.png">    </p:cNvPr>
          <p:cNvPicPr>
            <a:picLocks noChangeAspect="1"/>
          </p:cNvPicPr>
          <p:nvPr/>
        </p:nvPicPr>
        <p:blipFill>
          <a:blip r:embed="rId59"/>
          <a:stretch>
            <a:fillRect/>
          </a:stretch>
        </p:blipFill>
        <p:spPr>
          <a:xfrm>
            <a:off x="4293108" y="4911735"/>
            <a:ext cx="155448" cy="155448"/>
          </a:xfrm>
          <a:prstGeom prst="rect">
            <a:avLst/>
          </a:prstGeom>
        </p:spPr>
      </p:pic>
      <p:sp>
        <p:nvSpPr>
          <p:cNvPr id="176" name="lane-11-chip-2-tile"/>
          <p:cNvSpPr/>
          <p:nvPr/>
        </p:nvSpPr>
        <p:spPr>
          <a:xfrm>
            <a:off x="4526280" y="4870587"/>
            <a:ext cx="237744" cy="237744"/>
          </a:xfrm>
          <a:prstGeom prst="roundRect">
            <a:avLst>
              <a:gd name="adj" fmla="val 15385"/>
            </a:avLst>
          </a:prstGeom>
          <a:solidFill>
            <a:schemeClr val="bg2"/>
          </a:solidFill>
          <a:ln/>
        </p:spPr>
      </p:sp>
      <p:pic>
        <p:nvPicPr>
          <p:cNvPr id="177" name="lane-11-chip-2" descr="/Users/a/MAI/DID/presentation/assets/logos/openai.png">    </p:cNvPr>
          <p:cNvPicPr>
            <a:picLocks noChangeAspect="1"/>
          </p:cNvPicPr>
          <p:nvPr/>
        </p:nvPicPr>
        <p:blipFill>
          <a:blip r:embed="rId60"/>
          <a:stretch>
            <a:fillRect/>
          </a:stretch>
        </p:blipFill>
        <p:spPr>
          <a:xfrm>
            <a:off x="4567428" y="4911735"/>
            <a:ext cx="155448" cy="155448"/>
          </a:xfrm>
          <a:prstGeom prst="rect">
            <a:avLst/>
          </a:prstGeom>
        </p:spPr>
      </p:pic>
      <p:sp>
        <p:nvSpPr>
          <p:cNvPr id="178" name="lane-11-chip-3-tile"/>
          <p:cNvSpPr/>
          <p:nvPr/>
        </p:nvSpPr>
        <p:spPr>
          <a:xfrm>
            <a:off x="4800600" y="4870587"/>
            <a:ext cx="237744" cy="237744"/>
          </a:xfrm>
          <a:prstGeom prst="roundRect">
            <a:avLst>
              <a:gd name="adj" fmla="val 15385"/>
            </a:avLst>
          </a:prstGeom>
          <a:solidFill>
            <a:schemeClr val="bg2"/>
          </a:solidFill>
          <a:ln/>
        </p:spPr>
      </p:sp>
      <p:pic>
        <p:nvPicPr>
          <p:cNvPr id="179" name="lane-11-chip-3" descr="/Users/a/MAI/DID/presentation/assets/logos/claude.png">    </p:cNvPr>
          <p:cNvPicPr>
            <a:picLocks noChangeAspect="1"/>
          </p:cNvPicPr>
          <p:nvPr/>
        </p:nvPicPr>
        <p:blipFill>
          <a:blip r:embed="rId61"/>
          <a:stretch>
            <a:fillRect/>
          </a:stretch>
        </p:blipFill>
        <p:spPr>
          <a:xfrm>
            <a:off x="4841748" y="4911735"/>
            <a:ext cx="155448" cy="155448"/>
          </a:xfrm>
          <a:prstGeom prst="rect">
            <a:avLst/>
          </a:prstGeom>
        </p:spPr>
      </p:pic>
      <p:sp>
        <p:nvSpPr>
          <p:cNvPr id="180" name="lane-11-chip-4-tile"/>
          <p:cNvSpPr/>
          <p:nvPr/>
        </p:nvSpPr>
        <p:spPr>
          <a:xfrm>
            <a:off x="5074920" y="4870587"/>
            <a:ext cx="237744" cy="237744"/>
          </a:xfrm>
          <a:prstGeom prst="roundRect">
            <a:avLst>
              <a:gd name="adj" fmla="val 15385"/>
            </a:avLst>
          </a:prstGeom>
          <a:solidFill>
            <a:schemeClr val="bg2"/>
          </a:solidFill>
          <a:ln/>
        </p:spPr>
      </p:sp>
      <p:pic>
        <p:nvPicPr>
          <p:cNvPr id="181" name="lane-11-chip-4" descr="/Users/a/MAI/DID/presentation/assets/logos/claude.png">    </p:cNvPr>
          <p:cNvPicPr>
            <a:picLocks noChangeAspect="1"/>
          </p:cNvPicPr>
          <p:nvPr/>
        </p:nvPicPr>
        <p:blipFill>
          <a:blip r:embed="rId62"/>
          <a:stretch>
            <a:fillRect/>
          </a:stretch>
        </p:blipFill>
        <p:spPr>
          <a:xfrm>
            <a:off x="5116068" y="4911735"/>
            <a:ext cx="155448" cy="155448"/>
          </a:xfrm>
          <a:prstGeom prst="rect">
            <a:avLst/>
          </a:prstGeom>
        </p:spPr>
      </p:pic>
      <p:sp>
        <p:nvSpPr>
          <p:cNvPr id="182" name="lane-11-chip-5-tile"/>
          <p:cNvSpPr/>
          <p:nvPr/>
        </p:nvSpPr>
        <p:spPr>
          <a:xfrm>
            <a:off x="5349240" y="4870587"/>
            <a:ext cx="237744" cy="237744"/>
          </a:xfrm>
          <a:prstGeom prst="roundRect">
            <a:avLst>
              <a:gd name="adj" fmla="val 15385"/>
            </a:avLst>
          </a:prstGeom>
          <a:solidFill>
            <a:schemeClr val="bg2"/>
          </a:solidFill>
          <a:ln/>
        </p:spPr>
      </p:sp>
      <p:pic>
        <p:nvPicPr>
          <p:cNvPr id="183" name="lane-11-chip-5" descr="/Users/a/MAI/DID/presentation/assets/logos/openai.png">    </p:cNvPr>
          <p:cNvPicPr>
            <a:picLocks noChangeAspect="1"/>
          </p:cNvPicPr>
          <p:nvPr/>
        </p:nvPicPr>
        <p:blipFill>
          <a:blip r:embed="rId63"/>
          <a:stretch>
            <a:fillRect/>
          </a:stretch>
        </p:blipFill>
        <p:spPr>
          <a:xfrm>
            <a:off x="5390388" y="4911735"/>
            <a:ext cx="155448" cy="155448"/>
          </a:xfrm>
          <a:prstGeom prst="rect">
            <a:avLst/>
          </a:prstGeom>
        </p:spPr>
      </p:pic>
      <p:sp>
        <p:nvSpPr>
          <p:cNvPr id="184" name="lane-11-chip-6"/>
          <p:cNvSpPr txBox="1"/>
          <p:nvPr/>
        </p:nvSpPr>
        <p:spPr>
          <a:xfrm>
            <a:off x="5623560" y="4870587"/>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85" name="lane-11-result"/>
          <p:cNvSpPr txBox="1"/>
          <p:nvPr/>
        </p:nvSpPr>
        <p:spPr>
          <a:xfrm>
            <a:off x="7132320" y="4849837"/>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миссия «ровно два образца»: 20 из 20</a:t>
            </a:r>
            <a:endParaRPr lang="en-US" sz="1400" dirty="0"/>
          </a:p>
        </p:txBody>
      </p:sp>
      <p:sp>
        <p:nvSpPr>
          <p:cNvPr id="186" name="lane-12-rule"/>
          <p:cNvSpPr/>
          <p:nvPr/>
        </p:nvSpPr>
        <p:spPr>
          <a:xfrm>
            <a:off x="548640" y="5129081"/>
            <a:ext cx="11091672" cy="0"/>
          </a:xfrm>
          <a:prstGeom prst="line">
            <a:avLst/>
          </a:prstGeom>
          <a:noFill/>
          <a:ln w="12700">
            <a:solidFill>
              <a:schemeClr val="bg2"/>
            </a:solidFill>
            <a:prstDash val="solid"/>
          </a:ln>
        </p:spPr>
      </p:sp>
      <p:sp>
        <p:nvSpPr>
          <p:cNvPr id="187" name="lane-12-name"/>
          <p:cNvSpPr txBox="1"/>
          <p:nvPr/>
        </p:nvSpPr>
        <p:spPr>
          <a:xfrm>
            <a:off x="548640" y="5129081"/>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M1. Два робота с координацией</a:t>
            </a:r>
            <a:endParaRPr lang="en-US" sz="1600" dirty="0"/>
          </a:p>
        </p:txBody>
      </p:sp>
      <p:sp>
        <p:nvSpPr>
          <p:cNvPr id="188" name="lane-12-chip-1-tile"/>
          <p:cNvSpPr/>
          <p:nvPr/>
        </p:nvSpPr>
        <p:spPr>
          <a:xfrm>
            <a:off x="4251960" y="5149830"/>
            <a:ext cx="237744" cy="237744"/>
          </a:xfrm>
          <a:prstGeom prst="roundRect">
            <a:avLst>
              <a:gd name="adj" fmla="val 15385"/>
            </a:avLst>
          </a:prstGeom>
          <a:solidFill>
            <a:schemeClr val="bg2"/>
          </a:solidFill>
          <a:ln/>
        </p:spPr>
      </p:sp>
      <p:pic>
        <p:nvPicPr>
          <p:cNvPr id="189" name="lane-12-chip-1" descr="/Users/a/MAI/DID/presentation/assets/logos/claude.png">    </p:cNvPr>
          <p:cNvPicPr>
            <a:picLocks noChangeAspect="1"/>
          </p:cNvPicPr>
          <p:nvPr/>
        </p:nvPicPr>
        <p:blipFill>
          <a:blip r:embed="rId64"/>
          <a:stretch>
            <a:fillRect/>
          </a:stretch>
        </p:blipFill>
        <p:spPr>
          <a:xfrm>
            <a:off x="4293108" y="5190978"/>
            <a:ext cx="155448" cy="155448"/>
          </a:xfrm>
          <a:prstGeom prst="rect">
            <a:avLst/>
          </a:prstGeom>
        </p:spPr>
      </p:pic>
      <p:sp>
        <p:nvSpPr>
          <p:cNvPr id="190" name="lane-12-chip-2-tile"/>
          <p:cNvSpPr/>
          <p:nvPr/>
        </p:nvSpPr>
        <p:spPr>
          <a:xfrm>
            <a:off x="4526280" y="5149830"/>
            <a:ext cx="237744" cy="237744"/>
          </a:xfrm>
          <a:prstGeom prst="roundRect">
            <a:avLst>
              <a:gd name="adj" fmla="val 15385"/>
            </a:avLst>
          </a:prstGeom>
          <a:solidFill>
            <a:schemeClr val="bg2"/>
          </a:solidFill>
          <a:ln/>
        </p:spPr>
      </p:sp>
      <p:pic>
        <p:nvPicPr>
          <p:cNvPr id="191" name="lane-12-chip-2" descr="/Users/a/MAI/DID/presentation/assets/logos/openai.png">    </p:cNvPr>
          <p:cNvPicPr>
            <a:picLocks noChangeAspect="1"/>
          </p:cNvPicPr>
          <p:nvPr/>
        </p:nvPicPr>
        <p:blipFill>
          <a:blip r:embed="rId65"/>
          <a:stretch>
            <a:fillRect/>
          </a:stretch>
        </p:blipFill>
        <p:spPr>
          <a:xfrm>
            <a:off x="4567428" y="5190978"/>
            <a:ext cx="155448" cy="155448"/>
          </a:xfrm>
          <a:prstGeom prst="rect">
            <a:avLst/>
          </a:prstGeom>
        </p:spPr>
      </p:pic>
      <p:sp>
        <p:nvSpPr>
          <p:cNvPr id="192" name="lane-12-chip-3-tile"/>
          <p:cNvSpPr/>
          <p:nvPr/>
        </p:nvSpPr>
        <p:spPr>
          <a:xfrm>
            <a:off x="4800600" y="5149830"/>
            <a:ext cx="237744" cy="237744"/>
          </a:xfrm>
          <a:prstGeom prst="roundRect">
            <a:avLst>
              <a:gd name="adj" fmla="val 15385"/>
            </a:avLst>
          </a:prstGeom>
          <a:solidFill>
            <a:schemeClr val="bg2"/>
          </a:solidFill>
          <a:ln/>
        </p:spPr>
      </p:sp>
      <p:pic>
        <p:nvPicPr>
          <p:cNvPr id="193" name="lane-12-chip-3" descr="/Users/a/MAI/DID/presentation/assets/logos/claude.png">    </p:cNvPr>
          <p:cNvPicPr>
            <a:picLocks noChangeAspect="1"/>
          </p:cNvPicPr>
          <p:nvPr/>
        </p:nvPicPr>
        <p:blipFill>
          <a:blip r:embed="rId66"/>
          <a:stretch>
            <a:fillRect/>
          </a:stretch>
        </p:blipFill>
        <p:spPr>
          <a:xfrm>
            <a:off x="4841748" y="5190978"/>
            <a:ext cx="155448" cy="155448"/>
          </a:xfrm>
          <a:prstGeom prst="rect">
            <a:avLst/>
          </a:prstGeom>
        </p:spPr>
      </p:pic>
      <p:sp>
        <p:nvSpPr>
          <p:cNvPr id="194" name="lane-12-chip-4-tile"/>
          <p:cNvSpPr/>
          <p:nvPr/>
        </p:nvSpPr>
        <p:spPr>
          <a:xfrm>
            <a:off x="5074920" y="5149830"/>
            <a:ext cx="237744" cy="237744"/>
          </a:xfrm>
          <a:prstGeom prst="roundRect">
            <a:avLst>
              <a:gd name="adj" fmla="val 15385"/>
            </a:avLst>
          </a:prstGeom>
          <a:solidFill>
            <a:schemeClr val="bg2"/>
          </a:solidFill>
          <a:ln/>
        </p:spPr>
      </p:sp>
      <p:pic>
        <p:nvPicPr>
          <p:cNvPr id="195" name="lane-12-chip-4" descr="/Users/a/MAI/DID/presentation/assets/logos/openai.png">    </p:cNvPr>
          <p:cNvPicPr>
            <a:picLocks noChangeAspect="1"/>
          </p:cNvPicPr>
          <p:nvPr/>
        </p:nvPicPr>
        <p:blipFill>
          <a:blip r:embed="rId67"/>
          <a:stretch>
            <a:fillRect/>
          </a:stretch>
        </p:blipFill>
        <p:spPr>
          <a:xfrm>
            <a:off x="5116068" y="5190978"/>
            <a:ext cx="155448" cy="155448"/>
          </a:xfrm>
          <a:prstGeom prst="rect">
            <a:avLst/>
          </a:prstGeom>
        </p:spPr>
      </p:pic>
      <p:sp>
        <p:nvSpPr>
          <p:cNvPr id="196" name="lane-12-chip-5-tile"/>
          <p:cNvSpPr/>
          <p:nvPr/>
        </p:nvSpPr>
        <p:spPr>
          <a:xfrm>
            <a:off x="5349240" y="5149830"/>
            <a:ext cx="237744" cy="237744"/>
          </a:xfrm>
          <a:prstGeom prst="roundRect">
            <a:avLst>
              <a:gd name="adj" fmla="val 15385"/>
            </a:avLst>
          </a:prstGeom>
          <a:solidFill>
            <a:schemeClr val="bg2"/>
          </a:solidFill>
          <a:ln/>
        </p:spPr>
      </p:sp>
      <p:pic>
        <p:nvPicPr>
          <p:cNvPr id="197" name="lane-12-chip-5" descr="/Users/a/MAI/DID/presentation/assets/logos/claude.png">    </p:cNvPr>
          <p:cNvPicPr>
            <a:picLocks noChangeAspect="1"/>
          </p:cNvPicPr>
          <p:nvPr/>
        </p:nvPicPr>
        <p:blipFill>
          <a:blip r:embed="rId68"/>
          <a:stretch>
            <a:fillRect/>
          </a:stretch>
        </p:blipFill>
        <p:spPr>
          <a:xfrm>
            <a:off x="5390388" y="5190978"/>
            <a:ext cx="155448" cy="155448"/>
          </a:xfrm>
          <a:prstGeom prst="rect">
            <a:avLst/>
          </a:prstGeom>
        </p:spPr>
      </p:pic>
      <p:sp>
        <p:nvSpPr>
          <p:cNvPr id="198" name="lane-12-chip-6"/>
          <p:cNvSpPr txBox="1"/>
          <p:nvPr/>
        </p:nvSpPr>
        <p:spPr>
          <a:xfrm>
            <a:off x="5623560" y="5149830"/>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99" name="lane-12-result"/>
          <p:cNvSpPr txBox="1"/>
          <p:nvPr/>
        </p:nvSpPr>
        <p:spPr>
          <a:xfrm>
            <a:off x="7132320" y="5129081"/>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прогон короче на 26 с, заряда на четверть меньше</a:t>
            </a:r>
            <a:endParaRPr lang="en-US" sz="1400" dirty="0"/>
          </a:p>
        </p:txBody>
      </p:sp>
      <p:sp>
        <p:nvSpPr>
          <p:cNvPr id="200" name="lane-13-rule"/>
          <p:cNvSpPr/>
          <p:nvPr/>
        </p:nvSpPr>
        <p:spPr>
          <a:xfrm>
            <a:off x="548640" y="5408324"/>
            <a:ext cx="11091672" cy="0"/>
          </a:xfrm>
          <a:prstGeom prst="line">
            <a:avLst/>
          </a:prstGeom>
          <a:noFill/>
          <a:ln w="12700">
            <a:solidFill>
              <a:schemeClr val="bg2"/>
            </a:solidFill>
            <a:prstDash val="solid"/>
          </a:ln>
        </p:spPr>
      </p:sp>
      <p:sp>
        <p:nvSpPr>
          <p:cNvPr id="201" name="lane-13-name"/>
          <p:cNvSpPr txBox="1"/>
          <p:nvPr/>
        </p:nvSpPr>
        <p:spPr>
          <a:xfrm>
            <a:off x="548640" y="5408324"/>
            <a:ext cx="3611880" cy="279244"/>
          </a:xfrm>
          <a:prstGeom prst="rect">
            <a:avLst/>
          </a:prstGeom>
          <a:noFill/>
          <a:ln/>
        </p:spPr>
        <p:txBody>
          <a:bodyPr wrap="none" lIns="0" tIns="0" rIns="0" bIns="0" rtlCol="0" anchor="ctr"/>
          <a:lstStyle/>
          <a:p>
            <a:pPr algn="l" indent="0" marL="0">
              <a:buNone/>
            </a:pPr>
            <a:r>
              <a:rPr lang="en-US" sz="1600" b="1" dirty="0">
                <a:solidFill>
                  <a:schemeClr val="tx1"/>
                </a:solidFill>
              </a:rPr>
              <a:t>F2. SLAM вместо готовой карты</a:t>
            </a:r>
            <a:endParaRPr lang="en-US" sz="1600" dirty="0"/>
          </a:p>
        </p:txBody>
      </p:sp>
      <p:sp>
        <p:nvSpPr>
          <p:cNvPr id="202" name="lane-13-chip-1-tile"/>
          <p:cNvSpPr/>
          <p:nvPr/>
        </p:nvSpPr>
        <p:spPr>
          <a:xfrm>
            <a:off x="4251960" y="5429074"/>
            <a:ext cx="237744" cy="237744"/>
          </a:xfrm>
          <a:prstGeom prst="roundRect">
            <a:avLst>
              <a:gd name="adj" fmla="val 15385"/>
            </a:avLst>
          </a:prstGeom>
          <a:solidFill>
            <a:schemeClr val="bg2"/>
          </a:solidFill>
          <a:ln/>
        </p:spPr>
      </p:sp>
      <p:pic>
        <p:nvPicPr>
          <p:cNvPr id="203" name="lane-13-chip-1" descr="/Users/a/MAI/DID/presentation/assets/logos/gemini.png">    </p:cNvPr>
          <p:cNvPicPr>
            <a:picLocks noChangeAspect="1"/>
          </p:cNvPicPr>
          <p:nvPr/>
        </p:nvPicPr>
        <p:blipFill>
          <a:blip r:embed="rId69"/>
          <a:stretch>
            <a:fillRect/>
          </a:stretch>
        </p:blipFill>
        <p:spPr>
          <a:xfrm>
            <a:off x="4293108" y="5470222"/>
            <a:ext cx="155448" cy="155448"/>
          </a:xfrm>
          <a:prstGeom prst="rect">
            <a:avLst/>
          </a:prstGeom>
        </p:spPr>
      </p:pic>
      <p:sp>
        <p:nvSpPr>
          <p:cNvPr id="204" name="lane-13-chip-2-tile"/>
          <p:cNvSpPr/>
          <p:nvPr/>
        </p:nvSpPr>
        <p:spPr>
          <a:xfrm>
            <a:off x="4526280" y="5429074"/>
            <a:ext cx="237744" cy="237744"/>
          </a:xfrm>
          <a:prstGeom prst="roundRect">
            <a:avLst>
              <a:gd name="adj" fmla="val 15385"/>
            </a:avLst>
          </a:prstGeom>
          <a:solidFill>
            <a:schemeClr val="bg2"/>
          </a:solidFill>
          <a:ln/>
        </p:spPr>
      </p:sp>
      <p:pic>
        <p:nvPicPr>
          <p:cNvPr id="205" name="lane-13-chip-2" descr="/Users/a/MAI/DID/presentation/assets/logos/claude.png">    </p:cNvPr>
          <p:cNvPicPr>
            <a:picLocks noChangeAspect="1"/>
          </p:cNvPicPr>
          <p:nvPr/>
        </p:nvPicPr>
        <p:blipFill>
          <a:blip r:embed="rId70"/>
          <a:stretch>
            <a:fillRect/>
          </a:stretch>
        </p:blipFill>
        <p:spPr>
          <a:xfrm>
            <a:off x="4567428" y="5470222"/>
            <a:ext cx="155448" cy="155448"/>
          </a:xfrm>
          <a:prstGeom prst="rect">
            <a:avLst/>
          </a:prstGeom>
        </p:spPr>
      </p:pic>
      <p:sp>
        <p:nvSpPr>
          <p:cNvPr id="206" name="lane-13-chip-3-tile"/>
          <p:cNvSpPr/>
          <p:nvPr/>
        </p:nvSpPr>
        <p:spPr>
          <a:xfrm>
            <a:off x="4800600" y="5429074"/>
            <a:ext cx="237744" cy="237744"/>
          </a:xfrm>
          <a:prstGeom prst="roundRect">
            <a:avLst>
              <a:gd name="adj" fmla="val 15385"/>
            </a:avLst>
          </a:prstGeom>
          <a:solidFill>
            <a:schemeClr val="bg2"/>
          </a:solidFill>
          <a:ln/>
        </p:spPr>
      </p:sp>
      <p:pic>
        <p:nvPicPr>
          <p:cNvPr id="207" name="lane-13-chip-3" descr="/Users/a/MAI/DID/presentation/assets/logos/openai.png">    </p:cNvPr>
          <p:cNvPicPr>
            <a:picLocks noChangeAspect="1"/>
          </p:cNvPicPr>
          <p:nvPr/>
        </p:nvPicPr>
        <p:blipFill>
          <a:blip r:embed="rId71"/>
          <a:stretch>
            <a:fillRect/>
          </a:stretch>
        </p:blipFill>
        <p:spPr>
          <a:xfrm>
            <a:off x="4841748" y="5470222"/>
            <a:ext cx="155448" cy="155448"/>
          </a:xfrm>
          <a:prstGeom prst="rect">
            <a:avLst/>
          </a:prstGeom>
        </p:spPr>
      </p:pic>
      <p:sp>
        <p:nvSpPr>
          <p:cNvPr id="208" name="lane-13-chip-4-tile"/>
          <p:cNvSpPr/>
          <p:nvPr/>
        </p:nvSpPr>
        <p:spPr>
          <a:xfrm>
            <a:off x="5074920" y="5429074"/>
            <a:ext cx="237744" cy="237744"/>
          </a:xfrm>
          <a:prstGeom prst="roundRect">
            <a:avLst>
              <a:gd name="adj" fmla="val 15385"/>
            </a:avLst>
          </a:prstGeom>
          <a:solidFill>
            <a:schemeClr val="bg2"/>
          </a:solidFill>
          <a:ln/>
        </p:spPr>
      </p:sp>
      <p:pic>
        <p:nvPicPr>
          <p:cNvPr id="209" name="lane-13-chip-4" descr="/Users/a/MAI/DID/presentation/assets/logos/claude.png">    </p:cNvPr>
          <p:cNvPicPr>
            <a:picLocks noChangeAspect="1"/>
          </p:cNvPicPr>
          <p:nvPr/>
        </p:nvPicPr>
        <p:blipFill>
          <a:blip r:embed="rId72"/>
          <a:stretch>
            <a:fillRect/>
          </a:stretch>
        </p:blipFill>
        <p:spPr>
          <a:xfrm>
            <a:off x="5116068" y="5470222"/>
            <a:ext cx="155448" cy="155448"/>
          </a:xfrm>
          <a:prstGeom prst="rect">
            <a:avLst/>
          </a:prstGeom>
        </p:spPr>
      </p:pic>
      <p:sp>
        <p:nvSpPr>
          <p:cNvPr id="210" name="lane-13-chip-5-tile"/>
          <p:cNvSpPr/>
          <p:nvPr/>
        </p:nvSpPr>
        <p:spPr>
          <a:xfrm>
            <a:off x="5349240" y="5429074"/>
            <a:ext cx="237744" cy="237744"/>
          </a:xfrm>
          <a:prstGeom prst="roundRect">
            <a:avLst>
              <a:gd name="adj" fmla="val 15385"/>
            </a:avLst>
          </a:prstGeom>
          <a:solidFill>
            <a:schemeClr val="bg2"/>
          </a:solidFill>
          <a:ln/>
        </p:spPr>
      </p:sp>
      <p:pic>
        <p:nvPicPr>
          <p:cNvPr id="211" name="lane-13-chip-5" descr="/Users/a/MAI/DID/presentation/assets/logos/openai.png">    </p:cNvPr>
          <p:cNvPicPr>
            <a:picLocks noChangeAspect="1"/>
          </p:cNvPicPr>
          <p:nvPr/>
        </p:nvPicPr>
        <p:blipFill>
          <a:blip r:embed="rId73"/>
          <a:stretch>
            <a:fillRect/>
          </a:stretch>
        </p:blipFill>
        <p:spPr>
          <a:xfrm>
            <a:off x="5390388" y="5470222"/>
            <a:ext cx="155448" cy="155448"/>
          </a:xfrm>
          <a:prstGeom prst="rect">
            <a:avLst/>
          </a:prstGeom>
        </p:spPr>
      </p:pic>
      <p:sp>
        <p:nvSpPr>
          <p:cNvPr id="212" name="lane-13-chip-6-tile"/>
          <p:cNvSpPr/>
          <p:nvPr/>
        </p:nvSpPr>
        <p:spPr>
          <a:xfrm>
            <a:off x="5623560" y="5429074"/>
            <a:ext cx="237744" cy="237744"/>
          </a:xfrm>
          <a:prstGeom prst="roundRect">
            <a:avLst>
              <a:gd name="adj" fmla="val 15385"/>
            </a:avLst>
          </a:prstGeom>
          <a:solidFill>
            <a:schemeClr val="bg2"/>
          </a:solidFill>
          <a:ln/>
        </p:spPr>
      </p:sp>
      <p:pic>
        <p:nvPicPr>
          <p:cNvPr id="213" name="lane-13-chip-6" descr="/Users/a/MAI/DID/presentation/assets/logos/claude.png">    </p:cNvPr>
          <p:cNvPicPr>
            <a:picLocks noChangeAspect="1"/>
          </p:cNvPicPr>
          <p:nvPr/>
        </p:nvPicPr>
        <p:blipFill>
          <a:blip r:embed="rId74"/>
          <a:stretch>
            <a:fillRect/>
          </a:stretch>
        </p:blipFill>
        <p:spPr>
          <a:xfrm>
            <a:off x="5664708" y="5470222"/>
            <a:ext cx="155448" cy="155448"/>
          </a:xfrm>
          <a:prstGeom prst="rect">
            <a:avLst/>
          </a:prstGeom>
        </p:spPr>
      </p:pic>
      <p:sp>
        <p:nvSpPr>
          <p:cNvPr id="214" name="lane-13-chip-7-tile"/>
          <p:cNvSpPr/>
          <p:nvPr/>
        </p:nvSpPr>
        <p:spPr>
          <a:xfrm>
            <a:off x="5897880" y="5429074"/>
            <a:ext cx="237744" cy="237744"/>
          </a:xfrm>
          <a:prstGeom prst="roundRect">
            <a:avLst>
              <a:gd name="adj" fmla="val 15385"/>
            </a:avLst>
          </a:prstGeom>
          <a:solidFill>
            <a:schemeClr val="bg2"/>
          </a:solidFill>
          <a:ln/>
        </p:spPr>
      </p:sp>
      <p:pic>
        <p:nvPicPr>
          <p:cNvPr id="215" name="lane-13-chip-7" descr="/Users/a/MAI/DID/presentation/assets/logos/openai.png">    </p:cNvPr>
          <p:cNvPicPr>
            <a:picLocks noChangeAspect="1"/>
          </p:cNvPicPr>
          <p:nvPr/>
        </p:nvPicPr>
        <p:blipFill>
          <a:blip r:embed="rId75"/>
          <a:stretch>
            <a:fillRect/>
          </a:stretch>
        </p:blipFill>
        <p:spPr>
          <a:xfrm>
            <a:off x="5939028" y="5470222"/>
            <a:ext cx="155448" cy="155448"/>
          </a:xfrm>
          <a:prstGeom prst="rect">
            <a:avLst/>
          </a:prstGeom>
        </p:spPr>
      </p:pic>
      <p:sp>
        <p:nvSpPr>
          <p:cNvPr id="216" name="lane-13-chip-8"/>
          <p:cNvSpPr txBox="1"/>
          <p:nvPr/>
        </p:nvSpPr>
        <p:spPr>
          <a:xfrm>
            <a:off x="6172200" y="5429074"/>
            <a:ext cx="237744" cy="237744"/>
          </a:xfrm>
          <a:prstGeom prst="roundRect">
            <a:avLst>
              <a:gd name="adj" fmla="val 15385"/>
            </a:avLst>
          </a:prstGeom>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17" name="lane-13-result"/>
          <p:cNvSpPr txBox="1"/>
          <p:nvPr/>
        </p:nvSpPr>
        <p:spPr>
          <a:xfrm>
            <a:off x="7132320" y="5408324"/>
            <a:ext cx="4507992" cy="279244"/>
          </a:xfrm>
          <a:prstGeom prst="rect">
            <a:avLst/>
          </a:prstGeom>
          <a:noFill/>
          <a:ln/>
        </p:spPr>
        <p:txBody>
          <a:bodyPr wrap="none" lIns="0" tIns="0" rIns="0" bIns="0" rtlCol="0" anchor="ctr"/>
          <a:lstStyle/>
          <a:p>
            <a:pPr algn="l" indent="0" marL="0">
              <a:buNone/>
            </a:pPr>
            <a:r>
              <a:rPr lang="en-US" sz="1400" dirty="0">
                <a:solidFill>
                  <a:schemeClr val="tx2"/>
                </a:solidFill>
              </a:rPr>
              <a:t>карта робота совпала с готовой на 96–99%</a:t>
            </a:r>
            <a:endParaRPr lang="en-US" sz="1400" dirty="0"/>
          </a:p>
        </p:txBody>
      </p:sp>
      <p:sp>
        <p:nvSpPr>
          <p:cNvPr id="218" name="conclusion-card"/>
          <p:cNvSpPr/>
          <p:nvPr/>
        </p:nvSpPr>
        <p:spPr>
          <a:xfrm>
            <a:off x="548640" y="5760720"/>
            <a:ext cx="11091672" cy="457200"/>
          </a:xfrm>
          <a:prstGeom prst="roundRect">
            <a:avLst>
              <a:gd name="adj" fmla="val 16000"/>
            </a:avLst>
          </a:prstGeom>
          <a:solidFill>
            <a:schemeClr val="tx2"/>
          </a:solidFill>
          <a:ln/>
        </p:spPr>
      </p:sp>
      <p:sp>
        <p:nvSpPr>
          <p:cNvPr id="219" name="conclusion-text"/>
          <p:cNvSpPr txBox="1"/>
          <p:nvPr/>
        </p:nvSpPr>
        <p:spPr>
          <a:xfrm>
            <a:off x="822960" y="5760720"/>
            <a:ext cx="10543032" cy="457200"/>
          </a:xfrm>
          <a:prstGeom prst="rect">
            <a:avLst/>
          </a:prstGeom>
          <a:noFill/>
          <a:ln/>
        </p:spPr>
        <p:txBody>
          <a:bodyPr wrap="square" lIns="0" tIns="0" rIns="0" bIns="0" rtlCol="0" anchor="ctr"/>
          <a:lstStyle/>
          <a:p>
            <a:pPr algn="l" indent="0" marL="0">
              <a:buNone/>
            </a:pPr>
            <a:r>
              <a:rPr lang="en-US" sz="1600" b="1" dirty="0">
                <a:solidFill>
                  <a:schemeClr val="accent1"/>
                </a:solidFill>
              </a:rPr>
              <a:t>Вывод. </a:t>
            </a:r>
            <a:pPr algn="l" indent="0" marL="0">
              <a:buNone/>
            </a:pPr>
            <a:r>
              <a:rPr lang="en-US" sz="1600" dirty="0">
                <a:solidFill>
                  <a:schemeClr val="bg1"/>
                </a:solidFill>
              </a:rPr>
              <a:t>Качество держится на устройстве процесса, а не на вере в один ответ модели.</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DID Researcher">
  <a:themeElements>
    <a:clrScheme name="DID Researcher">
      <a:dk1>
        <a:srgbClr val="14181C"/>
      </a:dk1>
      <a:lt1>
        <a:srgbClr val="FFFFFF"/>
      </a:lt1>
      <a:dk2>
        <a:srgbClr val="2B3138"/>
      </a:dk2>
      <a:lt2>
        <a:srgbClr val="EEF0F2"/>
      </a:lt2>
      <a:accent1>
        <a:srgbClr val="EB6834"/>
      </a:accent1>
      <a:accent2>
        <a:srgbClr val="2A78D6"/>
      </a:accent2>
      <a:accent3>
        <a:srgbClr val="1BAF7A"/>
      </a:accent3>
      <a:accent4>
        <a:srgbClr val="EDA100"/>
      </a:accent4>
      <a:accent5>
        <a:srgbClr val="5B6168"/>
      </a:accent5>
      <a:accent6>
        <a:srgbClr val="D03B3B"/>
      </a:accent6>
      <a:hlink>
        <a:srgbClr val="2A78D6"/>
      </a:hlink>
      <a:folHlink>
        <a:srgbClr val="4A3AA7"/>
      </a:folHlink>
    </a:clrScheme>
    <a:fontScheme name="DID Research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ИИ-исследователь на роботе-платформе — как работали с ИИ-агентами</dc:title>
  <dc:subject>PptxGenJS Presentation</dc:subject>
  <dc:creator>PptxGenJS</dc:creator>
  <cp:lastModifiedBy>PptxGenJS</cp:lastModifiedBy>
  <cp:revision>1</cp:revision>
  <dcterms:created xsi:type="dcterms:W3CDTF">2026-10-08T21:22:51Z</dcterms:created>
  <dcterms:modified xsi:type="dcterms:W3CDTF">2026-10-08T21:22:51Z</dcterms:modified>
</cp:coreProperties>
</file>