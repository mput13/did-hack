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к работали" id="{58730f8d-cd08-0e41-e768-b8ae628e89fa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ИИ-агентами мы работали как в лаборатории: человек ею руководит, агенты в ней работают. Человек задаёт цель, роли и ограничения и принимает решения на развилках. Ведущий агент ведёт план, пишет задания остальным, сводит их работу в общий код и сам пересчитывает числа. Исследователи читают литературу и кода не пишут. Инженеры пишут код и ставят опыты, каждый в своей копии кода. Отдельная модель-ревьюер читает каждую правку до вливания и ищет ошибки. Советников зовём редко, на развилках. Каждое исследование идёт по одному кругу: вопрос и гипотеза, задание, код и опыт, независимое ревью, исправления, вливание, пересчёт чисел. За сутки — 45 поручений агентам, и все 11 ревью вернули работу на доработку: ни одна не прошла с первого раза. Агенты работали часами без участия человека, но направление, роли и приоритеты задавал человек.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одно исследование, каждый значок — один шаг: обзор исследователя, работа инженера или ревью. Галочка — работа принята. В первых двух исследованиях ревью нашло 7 ошибок, и два вывода пришлось перевернуть. В обзорах литературы проверка нашла две выдуманные ссылки. Робот с языковой моделью выполнил миссию, заданную словами, 6 из 6; робот с простым правилом — ни разу. Ожидание ответа модели стоило 73 очка; если робот едет, пока модель думает, возвращается 42 — эту работу ревью вернуло, она ещё не принята. В Gazebo робот вернулся на базу в прогонах 8 из 9, после правки — 7 из 7. Разбор потерь дал плюс шесть очков на трудном уровне. Не всё закончилось выигрышем: один опыт его не показал, новые схемы агента оказались не лучше нынешней, одну работу ревью вернуло, и мы её отложили. Качество держится на устройстве процесса,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ИИ-исследователь на роботе-платформе · DID Hack 2026 · работа с ИИ-агентами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1.png"/><Relationship Id="rId4" Type="http://schemas.openxmlformats.org/officeDocument/2006/relationships/image" Target="../media/image-1-4.png"/><Relationship Id="rId5" Type="http://schemas.openxmlformats.org/officeDocument/2006/relationships/image" Target="../media/image-1-1.png"/><Relationship Id="rId6" Type="http://schemas.openxmlformats.org/officeDocument/2006/relationships/image" Target="../media/image-1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1.png"/><Relationship Id="rId5" Type="http://schemas.openxmlformats.org/officeDocument/2006/relationships/image" Target="../media/image-2-3.png"/><Relationship Id="rId6" Type="http://schemas.openxmlformats.org/officeDocument/2006/relationships/image" Target="../media/image-2-2.png"/><Relationship Id="rId7" Type="http://schemas.openxmlformats.org/officeDocument/2006/relationships/image" Target="../media/image-2-3.png"/><Relationship Id="rId8" Type="http://schemas.openxmlformats.org/officeDocument/2006/relationships/image" Target="../media/image-2-2.png"/><Relationship Id="rId9" Type="http://schemas.openxmlformats.org/officeDocument/2006/relationships/image" Target="../media/image-2-3.png"/><Relationship Id="rId10" Type="http://schemas.openxmlformats.org/officeDocument/2006/relationships/image" Target="../media/image-2-2.png"/><Relationship Id="rId11" Type="http://schemas.openxmlformats.org/officeDocument/2006/relationships/image" Target="../media/image-2-3.png"/><Relationship Id="rId12" Type="http://schemas.openxmlformats.org/officeDocument/2006/relationships/image" Target="../media/image-2-2.png"/><Relationship Id="rId13" Type="http://schemas.openxmlformats.org/officeDocument/2006/relationships/image" Target="../media/image-2-1.png"/><Relationship Id="rId14" Type="http://schemas.openxmlformats.org/officeDocument/2006/relationships/image" Target="../media/image-2-1.png"/><Relationship Id="rId15" Type="http://schemas.openxmlformats.org/officeDocument/2006/relationships/image" Target="../media/image-2-1.png"/><Relationship Id="rId16" Type="http://schemas.openxmlformats.org/officeDocument/2006/relationships/image" Target="../media/image-2-1.png"/><Relationship Id="rId17" Type="http://schemas.openxmlformats.org/officeDocument/2006/relationships/image" Target="../media/image-2-2.png"/><Relationship Id="rId18" Type="http://schemas.openxmlformats.org/officeDocument/2006/relationships/image" Target="../media/image-2-1.png"/><Relationship Id="rId19" Type="http://schemas.openxmlformats.org/officeDocument/2006/relationships/image" Target="../media/image-2-2.png"/><Relationship Id="rId20" Type="http://schemas.openxmlformats.org/officeDocument/2006/relationships/image" Target="../media/image-2-3.png"/><Relationship Id="rId21" Type="http://schemas.openxmlformats.org/officeDocument/2006/relationships/image" Target="../media/image-2-2.png"/><Relationship Id="rId22" Type="http://schemas.openxmlformats.org/officeDocument/2006/relationships/image" Target="../media/image-2-1.png"/><Relationship Id="rId23" Type="http://schemas.openxmlformats.org/officeDocument/2006/relationships/image" Target="../media/image-2-2.png"/><Relationship Id="rId24" Type="http://schemas.openxmlformats.org/officeDocument/2006/relationships/image" Target="../media/image-2-2.png"/><Relationship Id="rId25" Type="http://schemas.openxmlformats.org/officeDocument/2006/relationships/image" Target="../media/image-2-2.png"/><Relationship Id="rId26" Type="http://schemas.openxmlformats.org/officeDocument/2006/relationships/image" Target="../media/image-2-3.png"/><Relationship Id="rId27" Type="http://schemas.openxmlformats.org/officeDocument/2006/relationships/image" Target="../media/image-2-2.png"/><Relationship Id="rId28" Type="http://schemas.openxmlformats.org/officeDocument/2006/relationships/image" Target="../media/image-2-3.png"/><Relationship Id="rId29" Type="http://schemas.openxmlformats.org/officeDocument/2006/relationships/image" Target="../media/image-2-2.png"/><Relationship Id="rId30" Type="http://schemas.openxmlformats.org/officeDocument/2006/relationships/image" Target="../media/image-2-3.png"/><Relationship Id="rId31" Type="http://schemas.openxmlformats.org/officeDocument/2006/relationships/image" Target="../media/image-2-2.png"/><Relationship Id="rId32" Type="http://schemas.openxmlformats.org/officeDocument/2006/relationships/image" Target="../media/image-2-3.png"/><Relationship Id="rId33" Type="http://schemas.openxmlformats.org/officeDocument/2006/relationships/image" Target="../media/image-2-2.png"/><Relationship Id="rId34" Type="http://schemas.openxmlformats.org/officeDocument/2006/relationships/image" Target="../media/image-2-2.png"/><Relationship Id="rId35" Type="http://schemas.openxmlformats.org/officeDocument/2006/relationships/image" Target="../media/image-2-3.png"/><Relationship Id="rId36" Type="http://schemas.openxmlformats.org/officeDocument/2006/relationships/image" Target="../media/image-2-2.png"/><Relationship Id="rId37" Type="http://schemas.openxmlformats.org/officeDocument/2006/relationships/image" Target="../media/image-2-2.png"/><Relationship Id="rId38" Type="http://schemas.openxmlformats.org/officeDocument/2006/relationships/image" Target="../media/image-2-3.png"/><Relationship Id="rId39" Type="http://schemas.openxmlformats.org/officeDocument/2006/relationships/image" Target="../media/image-2-2.png"/><Relationship Id="rId40" Type="http://schemas.openxmlformats.org/officeDocument/2006/relationships/image" Target="../media/image-2-2.png"/><Relationship Id="rId41" Type="http://schemas.openxmlformats.org/officeDocument/2006/relationships/image" Target="../media/image-2-3.png"/><Relationship Id="rId42" Type="http://schemas.openxmlformats.org/officeDocument/2006/relationships/image" Target="../media/image-2-1.png"/><Relationship Id="rId43" Type="http://schemas.openxmlformats.org/officeDocument/2006/relationships/image" Target="../media/image-2-2.png"/><Relationship Id="rId44" Type="http://schemas.openxmlformats.org/officeDocument/2006/relationships/image" Target="../media/image-2-3.png"/><Relationship Id="rId45" Type="http://schemas.openxmlformats.org/officeDocument/2006/relationships/image" Target="../media/image-2-2.png"/><Relationship Id="rId46" Type="http://schemas.openxmlformats.org/officeDocument/2006/relationships/slideLayout" Target="../slideLayouts/slideLayout2.xml"/><Relationship Id="rId4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работали часами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40 сообщений за сутки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pic>
        <p:nvPicPr>
          <p:cNvPr id="13" name="lead-logo" descr="/Users/a/MAI/DID/presentation/assets/logos/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822192"/>
            <a:ext cx="173736" cy="173736"/>
          </a:xfrm>
          <a:prstGeom prst="rect">
            <a:avLst/>
          </a:prstGeom>
        </p:spPr>
      </p:pic>
      <p:sp>
        <p:nvSpPr>
          <p:cNvPr id="14" name="lead-model"/>
          <p:cNvSpPr txBox="1"/>
          <p:nvPr/>
        </p:nvSpPr>
        <p:spPr>
          <a:xfrm>
            <a:off x="3474720" y="37398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5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8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pic>
        <p:nvPicPr>
          <p:cNvPr id="19" name="role-1-logo-1" descr="/Users/a/MAI/DID/presentation/assets/logos/ge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96896"/>
            <a:ext cx="173736" cy="173736"/>
          </a:xfrm>
          <a:prstGeom prst="rect">
            <a:avLst/>
          </a:prstGeom>
        </p:spPr>
      </p:pic>
      <p:sp>
        <p:nvSpPr>
          <p:cNvPr id="20" name="role-1-model"/>
          <p:cNvSpPr txBox="1"/>
          <p:nvPr/>
        </p:nvSpPr>
        <p:spPr>
          <a:xfrm>
            <a:off x="610819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21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2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3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pic>
        <p:nvPicPr>
          <p:cNvPr id="24" name="role-2-logo-1" descr="/Users/a/MAI/DID/presentation/assets/logos/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2596896"/>
            <a:ext cx="173736" cy="173736"/>
          </a:xfrm>
          <a:prstGeom prst="rect">
            <a:avLst/>
          </a:prstGeom>
        </p:spPr>
      </p:pic>
      <p:sp>
        <p:nvSpPr>
          <p:cNvPr id="25" name="role-2-model"/>
          <p:cNvSpPr txBox="1"/>
          <p:nvPr/>
        </p:nvSpPr>
        <p:spPr>
          <a:xfrm>
            <a:off x="914857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6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7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8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pic>
        <p:nvPicPr>
          <p:cNvPr id="29" name="role-3-logo-1" descr="/Users/a/MAI/DID/presentation/assets/logos/open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867912"/>
            <a:ext cx="173736" cy="173736"/>
          </a:xfrm>
          <a:prstGeom prst="rect">
            <a:avLst/>
          </a:prstGeom>
        </p:spPr>
      </p:pic>
      <p:sp>
        <p:nvSpPr>
          <p:cNvPr id="30" name="role-3-model"/>
          <p:cNvSpPr txBox="1"/>
          <p:nvPr/>
        </p:nvSpPr>
        <p:spPr>
          <a:xfrm>
            <a:off x="6108192" y="3858768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31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32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33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pic>
        <p:nvPicPr>
          <p:cNvPr id="34" name="role-4-logo-1" descr="/Users/a/MAI/DID/presentation/assets/logos/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3867912"/>
            <a:ext cx="173736" cy="173736"/>
          </a:xfrm>
          <a:prstGeom prst="rect">
            <a:avLst/>
          </a:prstGeom>
        </p:spPr>
      </p:pic>
      <p:pic>
        <p:nvPicPr>
          <p:cNvPr id="35" name="role-4-logo-2" descr="/Users/a/MAI/DID/presentation/assets/logos/opena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3867912"/>
            <a:ext cx="173736" cy="173736"/>
          </a:xfrm>
          <a:prstGeom prst="rect">
            <a:avLst/>
          </a:prstGeom>
        </p:spPr>
      </p:pic>
      <p:sp>
        <p:nvSpPr>
          <p:cNvPr id="36" name="role-4-model"/>
          <p:cNvSpPr txBox="1"/>
          <p:nvPr/>
        </p:nvSpPr>
        <p:spPr>
          <a:xfrm>
            <a:off x="9377172" y="3858768"/>
            <a:ext cx="20802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Fable 5.1 и GPT-6 Astra</a:t>
            </a:r>
            <a:endParaRPr lang="en-US" sz="1200" dirty="0"/>
          </a:p>
        </p:txBody>
      </p:sp>
      <p:sp>
        <p:nvSpPr>
          <p:cNvPr id="37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независимая проверка кода другой моделью</a:t>
            </a:r>
            <a:endParaRPr lang="en-US" sz="1300" dirty="0"/>
          </a:p>
        </p:txBody>
      </p:sp>
      <p:sp>
        <p:nvSpPr>
          <p:cNvPr id="38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40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1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2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43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6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7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8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9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0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52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3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4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55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6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7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8" name="num-1-card"/>
          <p:cNvSpPr/>
          <p:nvPr/>
        </p:nvSpPr>
        <p:spPr>
          <a:xfrm>
            <a:off x="54864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1-value"/>
          <p:cNvSpPr txBox="1"/>
          <p:nvPr/>
        </p:nvSpPr>
        <p:spPr>
          <a:xfrm>
            <a:off x="74980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24 часа</a:t>
            </a:r>
            <a:endParaRPr lang="en-US" sz="2800" dirty="0"/>
          </a:p>
        </p:txBody>
      </p:sp>
      <p:sp>
        <p:nvSpPr>
          <p:cNvPr id="60" name="num-1-label"/>
          <p:cNvSpPr txBox="1"/>
          <p:nvPr/>
        </p:nvSpPr>
        <p:spPr>
          <a:xfrm>
            <a:off x="74980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61" name="num-2-card"/>
          <p:cNvSpPr/>
          <p:nvPr/>
        </p:nvSpPr>
        <p:spPr>
          <a:xfrm>
            <a:off x="2697480" y="5239512"/>
            <a:ext cx="18288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2-value"/>
          <p:cNvSpPr txBox="1"/>
          <p:nvPr/>
        </p:nvSpPr>
        <p:spPr>
          <a:xfrm>
            <a:off x="2898648" y="52943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45</a:t>
            </a:r>
            <a:endParaRPr lang="en-US" sz="2800" dirty="0"/>
          </a:p>
        </p:txBody>
      </p:sp>
      <p:sp>
        <p:nvSpPr>
          <p:cNvPr id="63" name="num-2-label"/>
          <p:cNvSpPr txBox="1"/>
          <p:nvPr/>
        </p:nvSpPr>
        <p:spPr>
          <a:xfrm>
            <a:off x="2898648" y="5724144"/>
            <a:ext cx="14996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64" name="num-3-card"/>
          <p:cNvSpPr/>
          <p:nvPr/>
        </p:nvSpPr>
        <p:spPr>
          <a:xfrm>
            <a:off x="4663440" y="5239512"/>
            <a:ext cx="25146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5" name="num-3-value"/>
          <p:cNvSpPr txBox="1"/>
          <p:nvPr/>
        </p:nvSpPr>
        <p:spPr>
          <a:xfrm>
            <a:off x="4864608" y="529437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11 из 11</a:t>
            </a:r>
            <a:endParaRPr lang="en-US" sz="2800" dirty="0"/>
          </a:p>
        </p:txBody>
      </p:sp>
      <p:sp>
        <p:nvSpPr>
          <p:cNvPr id="66" name="num-3-label"/>
          <p:cNvSpPr txBox="1"/>
          <p:nvPr/>
        </p:nvSpPr>
        <p:spPr>
          <a:xfrm>
            <a:off x="4864608" y="5724144"/>
            <a:ext cx="2185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ревью вернули работу на доработку</a:t>
            </a:r>
            <a:endParaRPr lang="en-US" sz="1300" dirty="0"/>
          </a:p>
        </p:txBody>
      </p:sp>
      <p:sp>
        <p:nvSpPr>
          <p:cNvPr id="67" name="num-4-card"/>
          <p:cNvSpPr/>
          <p:nvPr/>
        </p:nvSpPr>
        <p:spPr>
          <a:xfrm>
            <a:off x="7315200" y="5239512"/>
            <a:ext cx="432511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8" name="num-4-1-value"/>
          <p:cNvSpPr txBox="1"/>
          <p:nvPr/>
        </p:nvSpPr>
        <p:spPr>
          <a:xfrm>
            <a:off x="7516368" y="529437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104</a:t>
            </a:r>
            <a:endParaRPr lang="en-US" sz="2800" dirty="0"/>
          </a:p>
        </p:txBody>
      </p:sp>
      <p:sp>
        <p:nvSpPr>
          <p:cNvPr id="69" name="num-4-1-label"/>
          <p:cNvSpPr txBox="1"/>
          <p:nvPr/>
        </p:nvSpPr>
        <p:spPr>
          <a:xfrm>
            <a:off x="7516368" y="5724144"/>
            <a:ext cx="1188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правки кода (коммита)</a:t>
            </a:r>
            <a:endParaRPr lang="en-US" sz="1300" dirty="0"/>
          </a:p>
        </p:txBody>
      </p:sp>
      <p:sp>
        <p:nvSpPr>
          <p:cNvPr id="70" name="num-4-2-value"/>
          <p:cNvSpPr txBox="1"/>
          <p:nvPr/>
        </p:nvSpPr>
        <p:spPr>
          <a:xfrm>
            <a:off x="8796528" y="5294376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600+</a:t>
            </a:r>
            <a:endParaRPr lang="en-US" sz="2800" dirty="0"/>
          </a:p>
        </p:txBody>
      </p:sp>
      <p:sp>
        <p:nvSpPr>
          <p:cNvPr id="71" name="num-4-2-label"/>
          <p:cNvSpPr txBox="1"/>
          <p:nvPr/>
        </p:nvSpPr>
        <p:spPr>
          <a:xfrm>
            <a:off x="8796528" y="5724144"/>
            <a:ext cx="1417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72" name="num-4-3-value"/>
          <p:cNvSpPr txBox="1"/>
          <p:nvPr/>
        </p:nvSpPr>
        <p:spPr>
          <a:xfrm>
            <a:off x="10305288" y="529437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7 500</a:t>
            </a:r>
            <a:endParaRPr lang="en-US" sz="2800" dirty="0"/>
          </a:p>
        </p:txBody>
      </p:sp>
      <p:sp>
        <p:nvSpPr>
          <p:cNvPr id="73" name="num-4-3-label"/>
          <p:cNvSpPr txBox="1"/>
          <p:nvPr/>
        </p:nvSpPr>
        <p:spPr>
          <a:xfrm>
            <a:off x="10305288" y="5724144"/>
            <a:ext cx="10972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прошли исследования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278709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3.8 Flash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86608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231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4195267" y="1691640"/>
            <a:ext cx="218541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5.5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658185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99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6911035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GPT-6.1 Sol — ревьюер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8953805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9282989" y="1691640"/>
            <a:ext cx="123992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работа принята</a:t>
            </a:r>
            <a:endParaRPr lang="en-US" sz="1300" dirty="0"/>
          </a:p>
        </p:txBody>
      </p:sp>
      <p:sp>
        <p:nvSpPr>
          <p:cNvPr id="16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lane-1-name"/>
          <p:cNvSpPr txBox="1"/>
          <p:nvPr/>
        </p:nvSpPr>
        <p:spPr>
          <a:xfrm>
            <a:off x="548640" y="2093976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18" name="lane-1-chip-1-tile"/>
          <p:cNvSpPr/>
          <p:nvPr/>
        </p:nvSpPr>
        <p:spPr>
          <a:xfrm>
            <a:off x="4251960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9" name="lane-1-chip-1" descr="/Users/a/MAI/DID/presentation/assets/logos/gemin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08" y="2176272"/>
            <a:ext cx="173736" cy="173736"/>
          </a:xfrm>
          <a:prstGeom prst="rect">
            <a:avLst/>
          </a:prstGeom>
        </p:spPr>
      </p:pic>
      <p:sp>
        <p:nvSpPr>
          <p:cNvPr id="20" name="lane-1-chip-2-tile"/>
          <p:cNvSpPr/>
          <p:nvPr/>
        </p:nvSpPr>
        <p:spPr>
          <a:xfrm>
            <a:off x="4544568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2" descr="/Users/a/MAI/DID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5716" y="2176272"/>
            <a:ext cx="173736" cy="173736"/>
          </a:xfrm>
          <a:prstGeom prst="rect">
            <a:avLst/>
          </a:prstGeom>
        </p:spPr>
      </p:pic>
      <p:sp>
        <p:nvSpPr>
          <p:cNvPr id="22" name="lane-1-chip-3-tile"/>
          <p:cNvSpPr/>
          <p:nvPr/>
        </p:nvSpPr>
        <p:spPr>
          <a:xfrm>
            <a:off x="4837176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3" descr="/Users/a/MAI/DID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8324" y="2176272"/>
            <a:ext cx="173736" cy="173736"/>
          </a:xfrm>
          <a:prstGeom prst="rect">
            <a:avLst/>
          </a:prstGeom>
        </p:spPr>
      </p:pic>
      <p:sp>
        <p:nvSpPr>
          <p:cNvPr id="24" name="lane-1-chip-4-tile"/>
          <p:cNvSpPr/>
          <p:nvPr/>
        </p:nvSpPr>
        <p:spPr>
          <a:xfrm>
            <a:off x="5129784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4" descr="/Users/a/MAI/DID/presentation/assets/logos/opena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0932" y="2176272"/>
            <a:ext cx="173736" cy="173736"/>
          </a:xfrm>
          <a:prstGeom prst="rect">
            <a:avLst/>
          </a:prstGeom>
        </p:spPr>
      </p:pic>
      <p:sp>
        <p:nvSpPr>
          <p:cNvPr id="26" name="lane-1-chip-5-tile"/>
          <p:cNvSpPr/>
          <p:nvPr/>
        </p:nvSpPr>
        <p:spPr>
          <a:xfrm>
            <a:off x="5422392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7" name="lane-1-chip-5" descr="/Users/a/MAI/DID/presentation/assets/logos/clau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540" y="2176272"/>
            <a:ext cx="173736" cy="173736"/>
          </a:xfrm>
          <a:prstGeom prst="rect">
            <a:avLst/>
          </a:prstGeom>
        </p:spPr>
      </p:pic>
      <p:sp>
        <p:nvSpPr>
          <p:cNvPr id="28" name="lane-1-chip-6-tile"/>
          <p:cNvSpPr/>
          <p:nvPr/>
        </p:nvSpPr>
        <p:spPr>
          <a:xfrm>
            <a:off x="5715000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6" descr="/Users/a/MAI/DID/presentation/assets/logos/opena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56148" y="2176272"/>
            <a:ext cx="173736" cy="173736"/>
          </a:xfrm>
          <a:prstGeom prst="rect">
            <a:avLst/>
          </a:prstGeom>
        </p:spPr>
      </p:pic>
      <p:sp>
        <p:nvSpPr>
          <p:cNvPr id="30" name="lane-1-chip-7-tile"/>
          <p:cNvSpPr/>
          <p:nvPr/>
        </p:nvSpPr>
        <p:spPr>
          <a:xfrm>
            <a:off x="6007608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7" descr="/Users/a/MAI/DID/presentation/assets/logos/claud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48756" y="2176272"/>
            <a:ext cx="173736" cy="173736"/>
          </a:xfrm>
          <a:prstGeom prst="rect">
            <a:avLst/>
          </a:prstGeom>
        </p:spPr>
      </p:pic>
      <p:sp>
        <p:nvSpPr>
          <p:cNvPr id="32" name="lane-1-chip-8-tile"/>
          <p:cNvSpPr/>
          <p:nvPr/>
        </p:nvSpPr>
        <p:spPr>
          <a:xfrm>
            <a:off x="6300216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8" descr="/Users/a/MAI/DID/presentation/assets/logos/opena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1364" y="2176272"/>
            <a:ext cx="173736" cy="173736"/>
          </a:xfrm>
          <a:prstGeom prst="rect">
            <a:avLst/>
          </a:prstGeom>
        </p:spPr>
      </p:pic>
      <p:sp>
        <p:nvSpPr>
          <p:cNvPr id="34" name="lane-1-chip-9-tile"/>
          <p:cNvSpPr/>
          <p:nvPr/>
        </p:nvSpPr>
        <p:spPr>
          <a:xfrm>
            <a:off x="6592824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9" descr="/Users/a/MAI/DID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3972" y="2176272"/>
            <a:ext cx="173736" cy="173736"/>
          </a:xfrm>
          <a:prstGeom prst="rect">
            <a:avLst/>
          </a:prstGeom>
        </p:spPr>
      </p:pic>
      <p:sp>
        <p:nvSpPr>
          <p:cNvPr id="36" name="lane-1-chip-10"/>
          <p:cNvSpPr txBox="1"/>
          <p:nvPr/>
        </p:nvSpPr>
        <p:spPr>
          <a:xfrm>
            <a:off x="6885432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lane-1-result"/>
          <p:cNvSpPr txBox="1"/>
          <p:nvPr/>
        </p:nvSpPr>
        <p:spPr>
          <a:xfrm>
            <a:off x="7315200" y="2093976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 ошибок найдено, два вывода перевёрнуты</a:t>
            </a:r>
            <a:endParaRPr lang="en-US" sz="1400" dirty="0"/>
          </a:p>
        </p:txBody>
      </p:sp>
      <p:sp>
        <p:nvSpPr>
          <p:cNvPr id="38" name="lane-2-rule"/>
          <p:cNvSpPr/>
          <p:nvPr/>
        </p:nvSpPr>
        <p:spPr>
          <a:xfrm>
            <a:off x="548640" y="243230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9" name="lane-2-name"/>
          <p:cNvSpPr txBox="1"/>
          <p:nvPr/>
        </p:nvSpPr>
        <p:spPr>
          <a:xfrm>
            <a:off x="548640" y="2432304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K1–K4. Обзоры литературы</a:t>
            </a:r>
            <a:endParaRPr lang="en-US" sz="1600" dirty="0"/>
          </a:p>
        </p:txBody>
      </p:sp>
      <p:sp>
        <p:nvSpPr>
          <p:cNvPr id="40" name="lane-2-chip-1-tile"/>
          <p:cNvSpPr/>
          <p:nvPr/>
        </p:nvSpPr>
        <p:spPr>
          <a:xfrm>
            <a:off x="4251960" y="247345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1" name="lane-2-chip-1" descr="/Users/a/MAI/DID/presentation/assets/logos/gemin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3108" y="2514600"/>
            <a:ext cx="173736" cy="173736"/>
          </a:xfrm>
          <a:prstGeom prst="rect">
            <a:avLst/>
          </a:prstGeom>
        </p:spPr>
      </p:pic>
      <p:sp>
        <p:nvSpPr>
          <p:cNvPr id="42" name="lane-2-chip-2-tile"/>
          <p:cNvSpPr/>
          <p:nvPr/>
        </p:nvSpPr>
        <p:spPr>
          <a:xfrm>
            <a:off x="4544568" y="247345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2" descr="/Users/a/MAI/DID/presentation/assets/logos/gemini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85716" y="2514600"/>
            <a:ext cx="173736" cy="173736"/>
          </a:xfrm>
          <a:prstGeom prst="rect">
            <a:avLst/>
          </a:prstGeom>
        </p:spPr>
      </p:pic>
      <p:sp>
        <p:nvSpPr>
          <p:cNvPr id="44" name="lane-2-chip-3-tile"/>
          <p:cNvSpPr/>
          <p:nvPr/>
        </p:nvSpPr>
        <p:spPr>
          <a:xfrm>
            <a:off x="4837176" y="247345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3" descr="/Users/a/MAI/DID/presentation/assets/logos/gemini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78324" y="2514600"/>
            <a:ext cx="173736" cy="173736"/>
          </a:xfrm>
          <a:prstGeom prst="rect">
            <a:avLst/>
          </a:prstGeom>
        </p:spPr>
      </p:pic>
      <p:sp>
        <p:nvSpPr>
          <p:cNvPr id="46" name="lane-2-chip-4-tile"/>
          <p:cNvSpPr/>
          <p:nvPr/>
        </p:nvSpPr>
        <p:spPr>
          <a:xfrm>
            <a:off x="5129784" y="247345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4" descr="/Users/a/MAI/DID/presentation/assets/logos/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70932" y="2514600"/>
            <a:ext cx="173736" cy="173736"/>
          </a:xfrm>
          <a:prstGeom prst="rect">
            <a:avLst/>
          </a:prstGeom>
        </p:spPr>
      </p:pic>
      <p:sp>
        <p:nvSpPr>
          <p:cNvPr id="48" name="lane-2-chip-5-tile"/>
          <p:cNvSpPr/>
          <p:nvPr/>
        </p:nvSpPr>
        <p:spPr>
          <a:xfrm>
            <a:off x="5422392" y="247345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9" name="lane-2-chip-5" descr="/Users/a/MAI/DID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63540" y="2514600"/>
            <a:ext cx="173736" cy="173736"/>
          </a:xfrm>
          <a:prstGeom prst="rect">
            <a:avLst/>
          </a:prstGeom>
        </p:spPr>
      </p:pic>
      <p:sp>
        <p:nvSpPr>
          <p:cNvPr id="50" name="lane-2-chip-6"/>
          <p:cNvSpPr txBox="1"/>
          <p:nvPr/>
        </p:nvSpPr>
        <p:spPr>
          <a:xfrm>
            <a:off x="5715000" y="247345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1" name="lane-2-result"/>
          <p:cNvSpPr txBox="1"/>
          <p:nvPr/>
        </p:nvSpPr>
        <p:spPr>
          <a:xfrm>
            <a:off x="7315200" y="2432304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нашла две выдуманные ссылки</a:t>
            </a:r>
            <a:endParaRPr lang="en-US" sz="1400" dirty="0"/>
          </a:p>
        </p:txBody>
      </p:sp>
      <p:sp>
        <p:nvSpPr>
          <p:cNvPr id="52" name="lane-3-rule"/>
          <p:cNvSpPr/>
          <p:nvPr/>
        </p:nvSpPr>
        <p:spPr>
          <a:xfrm>
            <a:off x="548640" y="277063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3" name="lane-3-name"/>
          <p:cNvSpPr txBox="1"/>
          <p:nvPr/>
        </p:nvSpPr>
        <p:spPr>
          <a:xfrm>
            <a:off x="548640" y="2770632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R13. Миссия, заданная словами</a:t>
            </a:r>
            <a:endParaRPr lang="en-US" sz="1600" dirty="0"/>
          </a:p>
        </p:txBody>
      </p:sp>
      <p:sp>
        <p:nvSpPr>
          <p:cNvPr id="54" name="lane-3-chip-1-tile"/>
          <p:cNvSpPr/>
          <p:nvPr/>
        </p:nvSpPr>
        <p:spPr>
          <a:xfrm>
            <a:off x="4251960" y="281178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5" name="lane-3-chip-1" descr="/Users/a/MAI/DID/presentation/assets/logos/gemini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93108" y="2852928"/>
            <a:ext cx="173736" cy="173736"/>
          </a:xfrm>
          <a:prstGeom prst="rect">
            <a:avLst/>
          </a:prstGeom>
        </p:spPr>
      </p:pic>
      <p:sp>
        <p:nvSpPr>
          <p:cNvPr id="56" name="lane-3-chip-2-tile"/>
          <p:cNvSpPr/>
          <p:nvPr/>
        </p:nvSpPr>
        <p:spPr>
          <a:xfrm>
            <a:off x="4544568" y="281178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7" name="lane-3-chip-2" descr="/Users/a/MAI/DID/presentation/assets/logos/claud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85716" y="2852928"/>
            <a:ext cx="173736" cy="173736"/>
          </a:xfrm>
          <a:prstGeom prst="rect">
            <a:avLst/>
          </a:prstGeom>
        </p:spPr>
      </p:pic>
      <p:sp>
        <p:nvSpPr>
          <p:cNvPr id="58" name="lane-3-chip-3-tile"/>
          <p:cNvSpPr/>
          <p:nvPr/>
        </p:nvSpPr>
        <p:spPr>
          <a:xfrm>
            <a:off x="4837176" y="281178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9" name="lane-3-chip-3" descr="/Users/a/MAI/DID/presentation/assets/logos/openai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78324" y="2852928"/>
            <a:ext cx="173736" cy="173736"/>
          </a:xfrm>
          <a:prstGeom prst="rect">
            <a:avLst/>
          </a:prstGeom>
        </p:spPr>
      </p:pic>
      <p:sp>
        <p:nvSpPr>
          <p:cNvPr id="60" name="lane-3-chip-4-tile"/>
          <p:cNvSpPr/>
          <p:nvPr/>
        </p:nvSpPr>
        <p:spPr>
          <a:xfrm>
            <a:off x="5129784" y="281178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4" descr="/Users/a/MAI/DID/presentation/assets/logos/claud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70932" y="2852928"/>
            <a:ext cx="173736" cy="173736"/>
          </a:xfrm>
          <a:prstGeom prst="rect">
            <a:avLst/>
          </a:prstGeom>
        </p:spPr>
      </p:pic>
      <p:sp>
        <p:nvSpPr>
          <p:cNvPr id="62" name="lane-3-chip-5"/>
          <p:cNvSpPr txBox="1"/>
          <p:nvPr/>
        </p:nvSpPr>
        <p:spPr>
          <a:xfrm>
            <a:off x="5422392" y="281178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3" name="lane-3-result"/>
          <p:cNvSpPr txBox="1"/>
          <p:nvPr/>
        </p:nvSpPr>
        <p:spPr>
          <a:xfrm>
            <a:off x="7315200" y="2770632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— миссия 6 из 6, правило — 0 из 6</a:t>
            </a:r>
            <a:endParaRPr lang="en-US" sz="1400" dirty="0"/>
          </a:p>
        </p:txBody>
      </p:sp>
      <p:sp>
        <p:nvSpPr>
          <p:cNvPr id="64" name="lane-4-rule"/>
          <p:cNvSpPr/>
          <p:nvPr/>
        </p:nvSpPr>
        <p:spPr>
          <a:xfrm>
            <a:off x="548640" y="310896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5" name="lane-4-name"/>
          <p:cNvSpPr txBox="1"/>
          <p:nvPr/>
        </p:nvSpPr>
        <p:spPr>
          <a:xfrm>
            <a:off x="548640" y="3108960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R3 → R16. Цена ожидания модели</a:t>
            </a:r>
            <a:endParaRPr lang="en-US" sz="1600" dirty="0"/>
          </a:p>
        </p:txBody>
      </p:sp>
      <p:sp>
        <p:nvSpPr>
          <p:cNvPr id="66" name="lane-4-chip-1-tile"/>
          <p:cNvSpPr/>
          <p:nvPr/>
        </p:nvSpPr>
        <p:spPr>
          <a:xfrm>
            <a:off x="4251960" y="315010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7" name="lane-4-chip-1" descr="/Users/a/MAI/DID/presentation/assets/logos/gemini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93108" y="3191256"/>
            <a:ext cx="173736" cy="173736"/>
          </a:xfrm>
          <a:prstGeom prst="rect">
            <a:avLst/>
          </a:prstGeom>
        </p:spPr>
      </p:pic>
      <p:sp>
        <p:nvSpPr>
          <p:cNvPr id="68" name="lane-4-chip-2-tile"/>
          <p:cNvSpPr/>
          <p:nvPr/>
        </p:nvSpPr>
        <p:spPr>
          <a:xfrm>
            <a:off x="4544568" y="315010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9" name="lane-4-chip-2" descr="/Users/a/MAI/DID/presentation/assets/logos/claud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85716" y="3191256"/>
            <a:ext cx="173736" cy="173736"/>
          </a:xfrm>
          <a:prstGeom prst="rect">
            <a:avLst/>
          </a:prstGeom>
        </p:spPr>
      </p:pic>
      <p:sp>
        <p:nvSpPr>
          <p:cNvPr id="70" name="lane-4-chip-3-tile"/>
          <p:cNvSpPr/>
          <p:nvPr/>
        </p:nvSpPr>
        <p:spPr>
          <a:xfrm>
            <a:off x="4837176" y="315010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4-chip-3" descr="/Users/a/MAI/DID/presentation/assets/logos/claud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78324" y="3191256"/>
            <a:ext cx="173736" cy="173736"/>
          </a:xfrm>
          <a:prstGeom prst="rect">
            <a:avLst/>
          </a:prstGeom>
        </p:spPr>
      </p:pic>
      <p:sp>
        <p:nvSpPr>
          <p:cNvPr id="72" name="lane-4-chip-4"/>
          <p:cNvSpPr txBox="1"/>
          <p:nvPr/>
        </p:nvSpPr>
        <p:spPr>
          <a:xfrm>
            <a:off x="5129784" y="315010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73" name="lane-4-next"/>
          <p:cNvSpPr txBox="1"/>
          <p:nvPr/>
        </p:nvSpPr>
        <p:spPr>
          <a:xfrm>
            <a:off x="5422392" y="3108960"/>
            <a:ext cx="25603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74" name="lane-4-chip-6-tile"/>
          <p:cNvSpPr/>
          <p:nvPr/>
        </p:nvSpPr>
        <p:spPr>
          <a:xfrm>
            <a:off x="5715000" y="315010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5" name="lane-4-chip-6" descr="/Users/a/MAI/DID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56148" y="3191256"/>
            <a:ext cx="173736" cy="173736"/>
          </a:xfrm>
          <a:prstGeom prst="rect">
            <a:avLst/>
          </a:prstGeom>
        </p:spPr>
      </p:pic>
      <p:sp>
        <p:nvSpPr>
          <p:cNvPr id="76" name="lane-4-chip-7-tile"/>
          <p:cNvSpPr/>
          <p:nvPr/>
        </p:nvSpPr>
        <p:spPr>
          <a:xfrm>
            <a:off x="6007608" y="315010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7" descr="/Users/a/MAI/DID/presentation/assets/logos/opena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048756" y="3191256"/>
            <a:ext cx="173736" cy="173736"/>
          </a:xfrm>
          <a:prstGeom prst="rect">
            <a:avLst/>
          </a:prstGeom>
        </p:spPr>
      </p:pic>
      <p:sp>
        <p:nvSpPr>
          <p:cNvPr id="78" name="lane-4-result"/>
          <p:cNvSpPr txBox="1"/>
          <p:nvPr/>
        </p:nvSpPr>
        <p:spPr>
          <a:xfrm>
            <a:off x="7315200" y="3108960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ждать — минус 73 очка; ехать, пока думает: +42</a:t>
            </a:r>
            <a:endParaRPr lang="en-US" sz="1400" dirty="0"/>
          </a:p>
        </p:txBody>
      </p:sp>
      <p:sp>
        <p:nvSpPr>
          <p:cNvPr id="79" name="lane-5-rule"/>
          <p:cNvSpPr/>
          <p:nvPr/>
        </p:nvSpPr>
        <p:spPr>
          <a:xfrm>
            <a:off x="548640" y="344728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0" name="lane-5-name"/>
          <p:cNvSpPr txBox="1"/>
          <p:nvPr/>
        </p:nvSpPr>
        <p:spPr>
          <a:xfrm>
            <a:off x="548640" y="3447288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81" name="lane-5-chip-1-tile"/>
          <p:cNvSpPr/>
          <p:nvPr/>
        </p:nvSpPr>
        <p:spPr>
          <a:xfrm>
            <a:off x="4251960" y="348843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2" name="lane-5-chip-1" descr="/Users/a/MAI/DID/presentation/assets/logos/claud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293108" y="3529584"/>
            <a:ext cx="173736" cy="173736"/>
          </a:xfrm>
          <a:prstGeom prst="rect">
            <a:avLst/>
          </a:prstGeom>
        </p:spPr>
      </p:pic>
      <p:sp>
        <p:nvSpPr>
          <p:cNvPr id="83" name="lane-5-chip-2-tile"/>
          <p:cNvSpPr/>
          <p:nvPr/>
        </p:nvSpPr>
        <p:spPr>
          <a:xfrm>
            <a:off x="4544568" y="348843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4" name="lane-5-chip-2" descr="/Users/a/MAI/DID/presentation/assets/logos/openai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585716" y="3529584"/>
            <a:ext cx="173736" cy="173736"/>
          </a:xfrm>
          <a:prstGeom prst="rect">
            <a:avLst/>
          </a:prstGeom>
        </p:spPr>
      </p:pic>
      <p:sp>
        <p:nvSpPr>
          <p:cNvPr id="85" name="lane-5-chip-3-tile"/>
          <p:cNvSpPr/>
          <p:nvPr/>
        </p:nvSpPr>
        <p:spPr>
          <a:xfrm>
            <a:off x="4837176" y="348843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6" name="lane-5-chip-3" descr="/Users/a/MAI/DID/presentation/assets/logos/claud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878324" y="3529584"/>
            <a:ext cx="173736" cy="173736"/>
          </a:xfrm>
          <a:prstGeom prst="rect">
            <a:avLst/>
          </a:prstGeom>
        </p:spPr>
      </p:pic>
      <p:sp>
        <p:nvSpPr>
          <p:cNvPr id="87" name="lane-5-chip-4-tile"/>
          <p:cNvSpPr/>
          <p:nvPr/>
        </p:nvSpPr>
        <p:spPr>
          <a:xfrm>
            <a:off x="5129784" y="348843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8" name="lane-5-chip-4" descr="/Users/a/MAI/DID/presentation/assets/logos/openai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70932" y="3529584"/>
            <a:ext cx="173736" cy="173736"/>
          </a:xfrm>
          <a:prstGeom prst="rect">
            <a:avLst/>
          </a:prstGeom>
        </p:spPr>
      </p:pic>
      <p:sp>
        <p:nvSpPr>
          <p:cNvPr id="89" name="lane-5-chip-5"/>
          <p:cNvSpPr txBox="1"/>
          <p:nvPr/>
        </p:nvSpPr>
        <p:spPr>
          <a:xfrm>
            <a:off x="5422392" y="348843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0" name="lane-5-result"/>
          <p:cNvSpPr txBox="1"/>
          <p:nvPr/>
        </p:nvSpPr>
        <p:spPr>
          <a:xfrm>
            <a:off x="7315200" y="3447288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выигрыш не показан — так и записано</a:t>
            </a:r>
            <a:endParaRPr lang="en-US" sz="1400" dirty="0"/>
          </a:p>
        </p:txBody>
      </p:sp>
      <p:sp>
        <p:nvSpPr>
          <p:cNvPr id="91" name="lane-6-rule"/>
          <p:cNvSpPr/>
          <p:nvPr/>
        </p:nvSpPr>
        <p:spPr>
          <a:xfrm>
            <a:off x="548640" y="378561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2" name="lane-6-name"/>
          <p:cNvSpPr txBox="1"/>
          <p:nvPr/>
        </p:nvSpPr>
        <p:spPr>
          <a:xfrm>
            <a:off x="548640" y="3785616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G2. Потеря положения в Gazebo</a:t>
            </a:r>
            <a:endParaRPr lang="en-US" sz="1600" dirty="0"/>
          </a:p>
        </p:txBody>
      </p:sp>
      <p:sp>
        <p:nvSpPr>
          <p:cNvPr id="93" name="lane-6-chip-1-tile"/>
          <p:cNvSpPr/>
          <p:nvPr/>
        </p:nvSpPr>
        <p:spPr>
          <a:xfrm>
            <a:off x="4251960" y="382676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4" name="lane-6-chip-1" descr="/Users/a/MAI/DID/presentation/assets/logos/clau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293108" y="3867912"/>
            <a:ext cx="173736" cy="173736"/>
          </a:xfrm>
          <a:prstGeom prst="rect">
            <a:avLst/>
          </a:prstGeom>
        </p:spPr>
      </p:pic>
      <p:sp>
        <p:nvSpPr>
          <p:cNvPr id="95" name="lane-6-chip-2-tile"/>
          <p:cNvSpPr/>
          <p:nvPr/>
        </p:nvSpPr>
        <p:spPr>
          <a:xfrm>
            <a:off x="4544568" y="382676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6" name="lane-6-chip-2" descr="/Users/a/MAI/DID/presentation/assets/logos/openai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85716" y="3867912"/>
            <a:ext cx="173736" cy="173736"/>
          </a:xfrm>
          <a:prstGeom prst="rect">
            <a:avLst/>
          </a:prstGeom>
        </p:spPr>
      </p:pic>
      <p:sp>
        <p:nvSpPr>
          <p:cNvPr id="97" name="lane-6-chip-3-tile"/>
          <p:cNvSpPr/>
          <p:nvPr/>
        </p:nvSpPr>
        <p:spPr>
          <a:xfrm>
            <a:off x="4837176" y="382676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8" name="lane-6-chip-3" descr="/Users/a/MAI/DID/presentation/assets/logos/claud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878324" y="3867912"/>
            <a:ext cx="173736" cy="173736"/>
          </a:xfrm>
          <a:prstGeom prst="rect">
            <a:avLst/>
          </a:prstGeom>
        </p:spPr>
      </p:pic>
      <p:sp>
        <p:nvSpPr>
          <p:cNvPr id="99" name="lane-6-chip-4"/>
          <p:cNvSpPr txBox="1"/>
          <p:nvPr/>
        </p:nvSpPr>
        <p:spPr>
          <a:xfrm>
            <a:off x="5129784" y="382676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0" name="lane-6-result"/>
          <p:cNvSpPr txBox="1"/>
          <p:nvPr/>
        </p:nvSpPr>
        <p:spPr>
          <a:xfrm>
            <a:off x="7315200" y="3785616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в Gazebo: 8 из 9 → 7 из 7</a:t>
            </a:r>
            <a:endParaRPr lang="en-US" sz="1400" dirty="0"/>
          </a:p>
        </p:txBody>
      </p:sp>
      <p:sp>
        <p:nvSpPr>
          <p:cNvPr id="101" name="lane-7-rule"/>
          <p:cNvSpPr/>
          <p:nvPr/>
        </p:nvSpPr>
        <p:spPr>
          <a:xfrm>
            <a:off x="548640" y="412394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2" name="lane-7-name"/>
          <p:cNvSpPr txBox="1"/>
          <p:nvPr/>
        </p:nvSpPr>
        <p:spPr>
          <a:xfrm>
            <a:off x="548640" y="4123944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P1. Где робот теряет очки</a:t>
            </a:r>
            <a:endParaRPr lang="en-US" sz="1600" dirty="0"/>
          </a:p>
        </p:txBody>
      </p:sp>
      <p:sp>
        <p:nvSpPr>
          <p:cNvPr id="103" name="lane-7-chip-1-tile"/>
          <p:cNvSpPr/>
          <p:nvPr/>
        </p:nvSpPr>
        <p:spPr>
          <a:xfrm>
            <a:off x="4251960" y="416509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4" name="lane-7-chip-1" descr="/Users/a/MAI/DID/presentation/assets/logos/clau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293108" y="4206240"/>
            <a:ext cx="173736" cy="173736"/>
          </a:xfrm>
          <a:prstGeom prst="rect">
            <a:avLst/>
          </a:prstGeom>
        </p:spPr>
      </p:pic>
      <p:sp>
        <p:nvSpPr>
          <p:cNvPr id="105" name="lane-7-chip-2-tile"/>
          <p:cNvSpPr/>
          <p:nvPr/>
        </p:nvSpPr>
        <p:spPr>
          <a:xfrm>
            <a:off x="4544568" y="416509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6" name="lane-7-chip-2" descr="/Users/a/MAI/DID/presentation/assets/logos/openai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585716" y="4206240"/>
            <a:ext cx="173736" cy="173736"/>
          </a:xfrm>
          <a:prstGeom prst="rect">
            <a:avLst/>
          </a:prstGeom>
        </p:spPr>
      </p:pic>
      <p:sp>
        <p:nvSpPr>
          <p:cNvPr id="107" name="lane-7-chip-3-tile"/>
          <p:cNvSpPr/>
          <p:nvPr/>
        </p:nvSpPr>
        <p:spPr>
          <a:xfrm>
            <a:off x="4837176" y="416509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8" name="lane-7-chip-3" descr="/Users/a/MAI/DID/presentation/assets/logos/claud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878324" y="4206240"/>
            <a:ext cx="173736" cy="173736"/>
          </a:xfrm>
          <a:prstGeom prst="rect">
            <a:avLst/>
          </a:prstGeom>
        </p:spPr>
      </p:pic>
      <p:sp>
        <p:nvSpPr>
          <p:cNvPr id="109" name="lane-7-chip-4"/>
          <p:cNvSpPr txBox="1"/>
          <p:nvPr/>
        </p:nvSpPr>
        <p:spPr>
          <a:xfrm>
            <a:off x="5129784" y="416509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0" name="lane-7-result"/>
          <p:cNvSpPr txBox="1"/>
          <p:nvPr/>
        </p:nvSpPr>
        <p:spPr>
          <a:xfrm>
            <a:off x="7315200" y="4123944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пережидает сбой датчика: +6,4 очка</a:t>
            </a:r>
            <a:endParaRPr lang="en-US" sz="1400" dirty="0"/>
          </a:p>
        </p:txBody>
      </p:sp>
      <p:sp>
        <p:nvSpPr>
          <p:cNvPr id="111" name="lane-8-rule"/>
          <p:cNvSpPr/>
          <p:nvPr/>
        </p:nvSpPr>
        <p:spPr>
          <a:xfrm>
            <a:off x="548640" y="446227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12" name="lane-8-name"/>
          <p:cNvSpPr txBox="1"/>
          <p:nvPr/>
        </p:nvSpPr>
        <p:spPr>
          <a:xfrm>
            <a:off x="548640" y="4462272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A1. Новые схемы агента</a:t>
            </a:r>
            <a:endParaRPr lang="en-US" sz="1600" dirty="0"/>
          </a:p>
        </p:txBody>
      </p:sp>
      <p:sp>
        <p:nvSpPr>
          <p:cNvPr id="113" name="lane-8-chip-1-tile"/>
          <p:cNvSpPr/>
          <p:nvPr/>
        </p:nvSpPr>
        <p:spPr>
          <a:xfrm>
            <a:off x="4251960" y="450342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4" name="lane-8-chip-1" descr="/Users/a/MAI/DID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293108" y="4544568"/>
            <a:ext cx="173736" cy="173736"/>
          </a:xfrm>
          <a:prstGeom prst="rect">
            <a:avLst/>
          </a:prstGeom>
        </p:spPr>
      </p:pic>
      <p:sp>
        <p:nvSpPr>
          <p:cNvPr id="115" name="lane-8-chip-2-tile"/>
          <p:cNvSpPr/>
          <p:nvPr/>
        </p:nvSpPr>
        <p:spPr>
          <a:xfrm>
            <a:off x="4544568" y="450342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6" name="lane-8-chip-2" descr="/Users/a/MAI/DID/presentation/assets/logos/opena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585716" y="4544568"/>
            <a:ext cx="173736" cy="173736"/>
          </a:xfrm>
          <a:prstGeom prst="rect">
            <a:avLst/>
          </a:prstGeom>
        </p:spPr>
      </p:pic>
      <p:sp>
        <p:nvSpPr>
          <p:cNvPr id="117" name="lane-8-chip-3-tile"/>
          <p:cNvSpPr/>
          <p:nvPr/>
        </p:nvSpPr>
        <p:spPr>
          <a:xfrm>
            <a:off x="4837176" y="450342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8" name="lane-8-chip-3" descr="/Users/a/MAI/DID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878324" y="4544568"/>
            <a:ext cx="173736" cy="173736"/>
          </a:xfrm>
          <a:prstGeom prst="rect">
            <a:avLst/>
          </a:prstGeom>
        </p:spPr>
      </p:pic>
      <p:sp>
        <p:nvSpPr>
          <p:cNvPr id="119" name="lane-8-chip-4"/>
          <p:cNvSpPr txBox="1"/>
          <p:nvPr/>
        </p:nvSpPr>
        <p:spPr>
          <a:xfrm>
            <a:off x="5129784" y="450342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20" name="lane-8-result"/>
          <p:cNvSpPr txBox="1"/>
          <p:nvPr/>
        </p:nvSpPr>
        <p:spPr>
          <a:xfrm>
            <a:off x="7315200" y="4462272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 лучше нынешней; потолок — 92,5 очка</a:t>
            </a:r>
            <a:endParaRPr lang="en-US" sz="1400" dirty="0"/>
          </a:p>
        </p:txBody>
      </p:sp>
      <p:sp>
        <p:nvSpPr>
          <p:cNvPr id="121" name="lane-9-rule"/>
          <p:cNvSpPr/>
          <p:nvPr/>
        </p:nvSpPr>
        <p:spPr>
          <a:xfrm>
            <a:off x="548640" y="480060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22" name="lane-9-name"/>
          <p:cNvSpPr txBox="1"/>
          <p:nvPr/>
        </p:nvSpPr>
        <p:spPr>
          <a:xfrm>
            <a:off x="548640" y="4800600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R14. Самокалибровка датчика</a:t>
            </a:r>
            <a:endParaRPr lang="en-US" sz="1600" dirty="0"/>
          </a:p>
        </p:txBody>
      </p:sp>
      <p:sp>
        <p:nvSpPr>
          <p:cNvPr id="123" name="lane-9-chip-1-tile"/>
          <p:cNvSpPr/>
          <p:nvPr/>
        </p:nvSpPr>
        <p:spPr>
          <a:xfrm>
            <a:off x="4251960" y="484174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4" name="lane-9-chip-1" descr="/Users/a/MAI/DID/presentation/assets/logos/claude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293108" y="4882896"/>
            <a:ext cx="173736" cy="173736"/>
          </a:xfrm>
          <a:prstGeom prst="rect">
            <a:avLst/>
          </a:prstGeom>
        </p:spPr>
      </p:pic>
      <p:sp>
        <p:nvSpPr>
          <p:cNvPr id="125" name="lane-9-chip-2-tile"/>
          <p:cNvSpPr/>
          <p:nvPr/>
        </p:nvSpPr>
        <p:spPr>
          <a:xfrm>
            <a:off x="4544568" y="484174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6" name="lane-9-chip-2" descr="/Users/a/MAI/DID/presentation/assets/logos/openai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85716" y="4882896"/>
            <a:ext cx="173736" cy="173736"/>
          </a:xfrm>
          <a:prstGeom prst="rect">
            <a:avLst/>
          </a:prstGeom>
        </p:spPr>
      </p:pic>
      <p:sp>
        <p:nvSpPr>
          <p:cNvPr id="127" name="lane-9-result"/>
          <p:cNvSpPr txBox="1"/>
          <p:nvPr/>
        </p:nvSpPr>
        <p:spPr>
          <a:xfrm>
            <a:off x="7315200" y="4800600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ревью вернуло работу; отложена</a:t>
            </a:r>
            <a:endParaRPr lang="en-US" sz="1400" dirty="0"/>
          </a:p>
        </p:txBody>
      </p:sp>
      <p:sp>
        <p:nvSpPr>
          <p:cNvPr id="128" name="lane-10-rule"/>
          <p:cNvSpPr/>
          <p:nvPr/>
        </p:nvSpPr>
        <p:spPr>
          <a:xfrm>
            <a:off x="548640" y="513892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29" name="lane-10-name"/>
          <p:cNvSpPr txBox="1"/>
          <p:nvPr/>
        </p:nvSpPr>
        <p:spPr>
          <a:xfrm>
            <a:off x="548640" y="5138928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F2. SLAM вместо готовой карты</a:t>
            </a:r>
            <a:endParaRPr lang="en-US" sz="1600" dirty="0"/>
          </a:p>
        </p:txBody>
      </p:sp>
      <p:sp>
        <p:nvSpPr>
          <p:cNvPr id="130" name="lane-10-chip-1-tile"/>
          <p:cNvSpPr/>
          <p:nvPr/>
        </p:nvSpPr>
        <p:spPr>
          <a:xfrm>
            <a:off x="4251960" y="518007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1" name="lane-10-chip-1" descr="/Users/a/MAI/DID/presentation/assets/logos/gemini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293108" y="5221224"/>
            <a:ext cx="173736" cy="173736"/>
          </a:xfrm>
          <a:prstGeom prst="rect">
            <a:avLst/>
          </a:prstGeom>
        </p:spPr>
      </p:pic>
      <p:sp>
        <p:nvSpPr>
          <p:cNvPr id="132" name="lane-10-chip-2-tile"/>
          <p:cNvSpPr/>
          <p:nvPr/>
        </p:nvSpPr>
        <p:spPr>
          <a:xfrm>
            <a:off x="4544568" y="518007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3" name="lane-10-chip-2" descr="/Users/a/MAI/DID/presentation/assets/logos/claude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585716" y="5221224"/>
            <a:ext cx="173736" cy="173736"/>
          </a:xfrm>
          <a:prstGeom prst="rect">
            <a:avLst/>
          </a:prstGeom>
        </p:spPr>
      </p:pic>
      <p:sp>
        <p:nvSpPr>
          <p:cNvPr id="134" name="lane-10-chip-3-tile"/>
          <p:cNvSpPr/>
          <p:nvPr/>
        </p:nvSpPr>
        <p:spPr>
          <a:xfrm>
            <a:off x="4837176" y="518007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5" name="lane-10-chip-3" descr="/Users/a/MAI/DID/presentation/assets/logos/openai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4878324" y="5221224"/>
            <a:ext cx="173736" cy="173736"/>
          </a:xfrm>
          <a:prstGeom prst="rect">
            <a:avLst/>
          </a:prstGeom>
        </p:spPr>
      </p:pic>
      <p:sp>
        <p:nvSpPr>
          <p:cNvPr id="136" name="lane-10-chip-4-tile"/>
          <p:cNvSpPr/>
          <p:nvPr/>
        </p:nvSpPr>
        <p:spPr>
          <a:xfrm>
            <a:off x="5129784" y="518007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7" name="lane-10-chip-4" descr="/Users/a/MAI/DID/presentation/assets/logos/claude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5170932" y="5221224"/>
            <a:ext cx="173736" cy="173736"/>
          </a:xfrm>
          <a:prstGeom prst="rect">
            <a:avLst/>
          </a:prstGeom>
        </p:spPr>
      </p:pic>
      <p:sp>
        <p:nvSpPr>
          <p:cNvPr id="138" name="lane-10-result"/>
          <p:cNvSpPr txBox="1"/>
          <p:nvPr/>
        </p:nvSpPr>
        <p:spPr>
          <a:xfrm>
            <a:off x="7315200" y="5138928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совпадение с готовой картой 96–99%; правки идут</a:t>
            </a:r>
            <a:endParaRPr lang="en-US" sz="1400" dirty="0"/>
          </a:p>
        </p:txBody>
      </p:sp>
      <p:sp>
        <p:nvSpPr>
          <p:cNvPr id="139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40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 — отдельная ветка, независимое ревью, пересчёт чисел, —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ИИ-исследователь на роботе-платформе — как работали с ИИ-агентами</dc:title>
  <dc:subject>PptxGenJS Presentation</dc:subject>
  <dc:creator>PptxGenJS</dc:creator>
  <cp:lastModifiedBy>PptxGenJS</cp:lastModifiedBy>
  <cp:revision>1</cp:revision>
  <dcterms:created xsi:type="dcterms:W3CDTF">2026-10-08T15:00:19Z</dcterms:created>
  <dcterms:modified xsi:type="dcterms:W3CDTF">2026-10-08T15:00:19Z</dcterms:modified>
</cp:coreProperties>
</file>