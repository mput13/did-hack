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к работали" id="{8e2b27e4-7454-4044-d58b-f88d3ea2e44c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ИИ-агентами мы работали как в лаборатории: человек ею руководит, агенты в ней работают. Человек задаёт цель, роли и ограничения и принимает решения на развилках. Ведущий агент ведёт план, пишет задания остальным, сводит их работу в общий код и сам пересчитывает числа. Исследователи читают литературу и кода не пишут. Инженеры пишут код и ставят опыты, каждый в своей копии кода. Отдельная модель-ревьюер читает каждую работу и ищет ошибки. Советников зовём редко, на развилках. Каждое исследование идёт по одному кругу: вопрос и гипотеза, задание, код и опыт, независимое ревью, исправления, вливание, пересчёт чисел. Больше 85 поручений агентам и 32 круга ревью: 19 работ из 20 ревью вернуло на исправления. Агенты работали часами без участия человека, но направление, роли и приоритеты задавал человек.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— одно исследование, каждый значок — один шаг: обзор исследователя, работа инженера или ревью. Галочка — работа принята. В первых двух исследованиях ревью нашло 7 ошибок, и два вывода пришлось перевернуть. В обзорах литературы проверка нашла две выдуманные ссылки. Робот с языковой моделью выполнил миссии, заданные словами, в 45–46 из 48 прогонов на каждой из трёх моделей; робот с правилом, которое текст не читает, — ни разу. На имитаторе модели с задержкой 15 секунд ожидание ответа стоило 73 очка; если робот в это время едет по правилу, возвращается 42. На настоящей модели на десяти трудных сценариях то же: стоять — 34,7 очка, ехать по правилу — 73,2. Режим по умолчанию выключен. В Gazebo робот вернулся на базу в прогонах 8 из 9, после правки — 7 из 7. Разбор потерь дал плюс шесть очков на трудном уровне. Не всё закончилось выигрышем: для реакции на смену грунта, новых схем агента и пяти правок по разбору потерь выигрыш не показан. Это записано как результаты. Качество держится на устройстве процесса,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ИИ-исследователь на роботе-платформе · DID Hack 2026 · работа с ИИ-агентами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1.png"/><Relationship Id="rId4" Type="http://schemas.openxmlformats.org/officeDocument/2006/relationships/image" Target="../media/image-1-4.png"/><Relationship Id="rId5" Type="http://schemas.openxmlformats.org/officeDocument/2006/relationships/image" Target="../media/image-1-1.png"/><Relationship Id="rId6" Type="http://schemas.openxmlformats.org/officeDocument/2006/relationships/image" Target="../media/image-1-4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1.png"/><Relationship Id="rId5" Type="http://schemas.openxmlformats.org/officeDocument/2006/relationships/image" Target="../media/image-2-3.png"/><Relationship Id="rId6" Type="http://schemas.openxmlformats.org/officeDocument/2006/relationships/image" Target="../media/image-2-2.png"/><Relationship Id="rId7" Type="http://schemas.openxmlformats.org/officeDocument/2006/relationships/image" Target="../media/image-2-3.png"/><Relationship Id="rId8" Type="http://schemas.openxmlformats.org/officeDocument/2006/relationships/image" Target="../media/image-2-2.png"/><Relationship Id="rId9" Type="http://schemas.openxmlformats.org/officeDocument/2006/relationships/image" Target="../media/image-2-3.png"/><Relationship Id="rId10" Type="http://schemas.openxmlformats.org/officeDocument/2006/relationships/image" Target="../media/image-2-2.png"/><Relationship Id="rId11" Type="http://schemas.openxmlformats.org/officeDocument/2006/relationships/image" Target="../media/image-2-3.png"/><Relationship Id="rId12" Type="http://schemas.openxmlformats.org/officeDocument/2006/relationships/image" Target="../media/image-2-2.png"/><Relationship Id="rId13" Type="http://schemas.openxmlformats.org/officeDocument/2006/relationships/image" Target="../media/image-2-1.png"/><Relationship Id="rId14" Type="http://schemas.openxmlformats.org/officeDocument/2006/relationships/image" Target="../media/image-2-1.png"/><Relationship Id="rId15" Type="http://schemas.openxmlformats.org/officeDocument/2006/relationships/image" Target="../media/image-2-1.png"/><Relationship Id="rId16" Type="http://schemas.openxmlformats.org/officeDocument/2006/relationships/image" Target="../media/image-2-1.png"/><Relationship Id="rId17" Type="http://schemas.openxmlformats.org/officeDocument/2006/relationships/image" Target="../media/image-2-2.png"/><Relationship Id="rId18" Type="http://schemas.openxmlformats.org/officeDocument/2006/relationships/image" Target="../media/image-2-1.png"/><Relationship Id="rId19" Type="http://schemas.openxmlformats.org/officeDocument/2006/relationships/image" Target="../media/image-2-2.png"/><Relationship Id="rId20" Type="http://schemas.openxmlformats.org/officeDocument/2006/relationships/image" Target="../media/image-2-3.png"/><Relationship Id="rId21" Type="http://schemas.openxmlformats.org/officeDocument/2006/relationships/image" Target="../media/image-2-2.png"/><Relationship Id="rId22" Type="http://schemas.openxmlformats.org/officeDocument/2006/relationships/image" Target="../media/image-2-2.png"/><Relationship Id="rId23" Type="http://schemas.openxmlformats.org/officeDocument/2006/relationships/image" Target="../media/image-2-3.png"/><Relationship Id="rId24" Type="http://schemas.openxmlformats.org/officeDocument/2006/relationships/image" Target="../media/image-2-2.png"/><Relationship Id="rId25" Type="http://schemas.openxmlformats.org/officeDocument/2006/relationships/image" Target="../media/image-2-2.png"/><Relationship Id="rId26" Type="http://schemas.openxmlformats.org/officeDocument/2006/relationships/image" Target="../media/image-2-3.png"/><Relationship Id="rId27" Type="http://schemas.openxmlformats.org/officeDocument/2006/relationships/image" Target="../media/image-2-2.png"/><Relationship Id="rId28" Type="http://schemas.openxmlformats.org/officeDocument/2006/relationships/image" Target="../media/image-2-3.png"/><Relationship Id="rId29" Type="http://schemas.openxmlformats.org/officeDocument/2006/relationships/image" Target="../media/image-2-2.png"/><Relationship Id="rId30" Type="http://schemas.openxmlformats.org/officeDocument/2006/relationships/image" Target="../media/image-2-2.png"/><Relationship Id="rId31" Type="http://schemas.openxmlformats.org/officeDocument/2006/relationships/image" Target="../media/image-2-3.png"/><Relationship Id="rId32" Type="http://schemas.openxmlformats.org/officeDocument/2006/relationships/image" Target="../media/image-2-2.png"/><Relationship Id="rId33" Type="http://schemas.openxmlformats.org/officeDocument/2006/relationships/image" Target="../media/image-2-3.png"/><Relationship Id="rId34" Type="http://schemas.openxmlformats.org/officeDocument/2006/relationships/image" Target="../media/image-2-2.png"/><Relationship Id="rId35" Type="http://schemas.openxmlformats.org/officeDocument/2006/relationships/image" Target="../media/image-2-3.png"/><Relationship Id="rId36" Type="http://schemas.openxmlformats.org/officeDocument/2006/relationships/image" Target="../media/image-2-2.png"/><Relationship Id="rId37" Type="http://schemas.openxmlformats.org/officeDocument/2006/relationships/image" Target="../media/image-2-3.png"/><Relationship Id="rId38" Type="http://schemas.openxmlformats.org/officeDocument/2006/relationships/image" Target="../media/image-2-2.png"/><Relationship Id="rId39" Type="http://schemas.openxmlformats.org/officeDocument/2006/relationships/image" Target="../media/image-2-2.png"/><Relationship Id="rId40" Type="http://schemas.openxmlformats.org/officeDocument/2006/relationships/image" Target="../media/image-2-3.png"/><Relationship Id="rId41" Type="http://schemas.openxmlformats.org/officeDocument/2006/relationships/image" Target="../media/image-2-2.png"/><Relationship Id="rId42" Type="http://schemas.openxmlformats.org/officeDocument/2006/relationships/image" Target="../media/image-2-3.png"/><Relationship Id="rId43" Type="http://schemas.openxmlformats.org/officeDocument/2006/relationships/image" Target="../media/image-2-2.png"/><Relationship Id="rId44" Type="http://schemas.openxmlformats.org/officeDocument/2006/relationships/image" Target="../media/image-2-3.png"/><Relationship Id="rId45" Type="http://schemas.openxmlformats.org/officeDocument/2006/relationships/image" Target="../media/image-2-2.png"/><Relationship Id="rId46" Type="http://schemas.openxmlformats.org/officeDocument/2006/relationships/image" Target="../media/image-2-3.png"/><Relationship Id="rId47" Type="http://schemas.openxmlformats.org/officeDocument/2006/relationships/image" Target="../media/image-2-2.png"/><Relationship Id="rId48" Type="http://schemas.openxmlformats.org/officeDocument/2006/relationships/image" Target="../media/image-2-3.png"/><Relationship Id="rId49" Type="http://schemas.openxmlformats.org/officeDocument/2006/relationships/image" Target="../media/image-2-2.png"/><Relationship Id="rId50" Type="http://schemas.openxmlformats.org/officeDocument/2006/relationships/image" Target="../media/image-2-2.png"/><Relationship Id="rId51" Type="http://schemas.openxmlformats.org/officeDocument/2006/relationships/image" Target="../media/image-2-3.png"/><Relationship Id="rId52" Type="http://schemas.openxmlformats.org/officeDocument/2006/relationships/image" Target="../media/image-2-2.png"/><Relationship Id="rId53" Type="http://schemas.openxmlformats.org/officeDocument/2006/relationships/image" Target="../media/image-2-2.png"/><Relationship Id="rId54" Type="http://schemas.openxmlformats.org/officeDocument/2006/relationships/image" Target="../media/image-2-3.png"/><Relationship Id="rId55" Type="http://schemas.openxmlformats.org/officeDocument/2006/relationships/image" Target="../media/image-2-2.png"/><Relationship Id="rId56" Type="http://schemas.openxmlformats.org/officeDocument/2006/relationships/image" Target="../media/image-2-2.png"/><Relationship Id="rId57" Type="http://schemas.openxmlformats.org/officeDocument/2006/relationships/image" Target="../media/image-2-3.png"/><Relationship Id="rId58" Type="http://schemas.openxmlformats.org/officeDocument/2006/relationships/image" Target="../media/image-2-2.png"/><Relationship Id="rId59" Type="http://schemas.openxmlformats.org/officeDocument/2006/relationships/image" Target="../media/image-2-3.png"/><Relationship Id="rId60" Type="http://schemas.openxmlformats.org/officeDocument/2006/relationships/image" Target="../media/image-2-2.png"/><Relationship Id="rId61" Type="http://schemas.openxmlformats.org/officeDocument/2006/relationships/image" Target="../media/image-2-2.png"/><Relationship Id="rId62" Type="http://schemas.openxmlformats.org/officeDocument/2006/relationships/image" Target="../media/image-2-3.png"/><Relationship Id="rId63" Type="http://schemas.openxmlformats.org/officeDocument/2006/relationships/image" Target="../media/image-2-2.png"/><Relationship Id="rId64" Type="http://schemas.openxmlformats.org/officeDocument/2006/relationships/image" Target="../media/image-2-2.png"/><Relationship Id="rId65" Type="http://schemas.openxmlformats.org/officeDocument/2006/relationships/image" Target="../media/image-2-3.png"/><Relationship Id="rId66" Type="http://schemas.openxmlformats.org/officeDocument/2006/relationships/image" Target="../media/image-2-2.png"/><Relationship Id="rId67" Type="http://schemas.openxmlformats.org/officeDocument/2006/relationships/image" Target="../media/image-2-3.png"/><Relationship Id="rId68" Type="http://schemas.openxmlformats.org/officeDocument/2006/relationships/image" Target="../media/image-2-2.png"/><Relationship Id="rId69" Type="http://schemas.openxmlformats.org/officeDocument/2006/relationships/image" Target="../media/image-2-3.png"/><Relationship Id="rId70" Type="http://schemas.openxmlformats.org/officeDocument/2006/relationships/image" Target="../media/image-2-2.png"/><Relationship Id="rId71" Type="http://schemas.openxmlformats.org/officeDocument/2006/relationships/image" Target="../media/image-2-1.png"/><Relationship Id="rId72" Type="http://schemas.openxmlformats.org/officeDocument/2006/relationships/image" Target="../media/image-2-2.png"/><Relationship Id="rId73" Type="http://schemas.openxmlformats.org/officeDocument/2006/relationships/image" Target="../media/image-2-3.png"/><Relationship Id="rId74" Type="http://schemas.openxmlformats.org/officeDocument/2006/relationships/image" Target="../media/image-2-2.png"/><Relationship Id="rId75" Type="http://schemas.openxmlformats.org/officeDocument/2006/relationships/image" Target="../media/image-2-3.png"/><Relationship Id="rId76" Type="http://schemas.openxmlformats.org/officeDocument/2006/relationships/image" Target="../media/image-2-2.png"/><Relationship Id="rId77" Type="http://schemas.openxmlformats.org/officeDocument/2006/relationships/image" Target="../media/image-2-3.png"/><Relationship Id="rId78" Type="http://schemas.openxmlformats.org/officeDocument/2006/relationships/slideLayout" Target="../slideLayouts/slideLayout2.xml"/><Relationship Id="rId79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Человек руководит лабораторией, агенты в ней работают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Агенты работали часами без участия человека, но направление, роли и приоритеты задавал человек</a:t>
            </a:r>
            <a:endParaRPr lang="en-US" sz="1600" dirty="0"/>
          </a:p>
        </p:txBody>
      </p:sp>
      <p:sp>
        <p:nvSpPr>
          <p:cNvPr id="5" name="human-card"/>
          <p:cNvSpPr/>
          <p:nvPr/>
        </p:nvSpPr>
        <p:spPr>
          <a:xfrm>
            <a:off x="548640" y="1691640"/>
            <a:ext cx="2103120" cy="2432304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6" name="human-head"/>
          <p:cNvSpPr txBox="1"/>
          <p:nvPr/>
        </p:nvSpPr>
        <p:spPr>
          <a:xfrm>
            <a:off x="749808" y="183794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Человек</a:t>
            </a:r>
            <a:endParaRPr lang="en-US" sz="1800" dirty="0"/>
          </a:p>
        </p:txBody>
      </p:sp>
      <p:sp>
        <p:nvSpPr>
          <p:cNvPr id="7" name="human-list"/>
          <p:cNvSpPr txBox="1"/>
          <p:nvPr/>
        </p:nvSpPr>
        <p:spPr>
          <a:xfrm>
            <a:off x="749808" y="22402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цель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роли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ограничения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решения на развилках</a:t>
            </a:r>
            <a:endParaRPr lang="en-US" sz="1600" dirty="0"/>
          </a:p>
        </p:txBody>
      </p:sp>
      <p:sp>
        <p:nvSpPr>
          <p:cNvPr id="8" name="human-caption"/>
          <p:cNvSpPr txBox="1"/>
          <p:nvPr/>
        </p:nvSpPr>
        <p:spPr>
          <a:xfrm>
            <a:off x="749808" y="3648456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около 70 сообщений за 1,5 суток</a:t>
            </a:r>
            <a:endParaRPr lang="en-US" sz="1200" dirty="0"/>
          </a:p>
        </p:txBody>
      </p:sp>
      <p:sp>
        <p:nvSpPr>
          <p:cNvPr id="9" name="arrow-human-lead"/>
          <p:cNvSpPr/>
          <p:nvPr/>
        </p:nvSpPr>
        <p:spPr>
          <a:xfrm>
            <a:off x="2724912" y="2907792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lead-card"/>
          <p:cNvSpPr/>
          <p:nvPr/>
        </p:nvSpPr>
        <p:spPr>
          <a:xfrm>
            <a:off x="3017520" y="1691640"/>
            <a:ext cx="2286000" cy="2432304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11" name="lead-head"/>
          <p:cNvSpPr txBox="1"/>
          <p:nvPr/>
        </p:nvSpPr>
        <p:spPr>
          <a:xfrm>
            <a:off x="3218688" y="1837944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Ведущий агент</a:t>
            </a:r>
            <a:endParaRPr lang="en-US" sz="1800" dirty="0"/>
          </a:p>
        </p:txBody>
      </p:sp>
      <p:sp>
        <p:nvSpPr>
          <p:cNvPr id="12" name="lead-list"/>
          <p:cNvSpPr txBox="1"/>
          <p:nvPr/>
        </p:nvSpPr>
        <p:spPr>
          <a:xfrm>
            <a:off x="3218688" y="224028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ведёт план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пишет задания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сводит ветки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пересчитывает числа</a:t>
            </a:r>
            <a:endParaRPr lang="en-US" sz="1600" dirty="0"/>
          </a:p>
        </p:txBody>
      </p:sp>
      <p:pic>
        <p:nvPicPr>
          <p:cNvPr id="13" name="lead-logo" descr="/Users/a/MAI/DID/presentation/assets/logos/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3822192"/>
            <a:ext cx="173736" cy="173736"/>
          </a:xfrm>
          <a:prstGeom prst="rect">
            <a:avLst/>
          </a:prstGeom>
        </p:spPr>
      </p:pic>
      <p:sp>
        <p:nvSpPr>
          <p:cNvPr id="14" name="lead-model"/>
          <p:cNvSpPr txBox="1"/>
          <p:nvPr/>
        </p:nvSpPr>
        <p:spPr>
          <a:xfrm>
            <a:off x="3474720" y="373989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15" name="arrow-lead-roles"/>
          <p:cNvSpPr/>
          <p:nvPr/>
        </p:nvSpPr>
        <p:spPr>
          <a:xfrm>
            <a:off x="5376672" y="2907792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role-1-card"/>
          <p:cNvSpPr/>
          <p:nvPr/>
        </p:nvSpPr>
        <p:spPr>
          <a:xfrm>
            <a:off x="566928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7" name="role-1-head"/>
          <p:cNvSpPr txBox="1"/>
          <p:nvPr/>
        </p:nvSpPr>
        <p:spPr>
          <a:xfrm>
            <a:off x="585216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Исследователи</a:t>
            </a:r>
            <a:endParaRPr lang="en-US" sz="1600" dirty="0"/>
          </a:p>
        </p:txBody>
      </p:sp>
      <p:sp>
        <p:nvSpPr>
          <p:cNvPr id="18" name="role-1-body"/>
          <p:cNvSpPr txBox="1"/>
          <p:nvPr/>
        </p:nvSpPr>
        <p:spPr>
          <a:xfrm>
            <a:off x="585216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обзоры литературы; кода не пишут</a:t>
            </a:r>
            <a:endParaRPr lang="en-US" sz="1600" dirty="0"/>
          </a:p>
        </p:txBody>
      </p:sp>
      <p:pic>
        <p:nvPicPr>
          <p:cNvPr id="19" name="role-1-logo-1" descr="/Users/a/MAI/DID/presentation/assets/logos/ge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96896"/>
            <a:ext cx="173736" cy="173736"/>
          </a:xfrm>
          <a:prstGeom prst="rect">
            <a:avLst/>
          </a:prstGeom>
        </p:spPr>
      </p:pic>
      <p:sp>
        <p:nvSpPr>
          <p:cNvPr id="20" name="role-1-model"/>
          <p:cNvSpPr txBox="1"/>
          <p:nvPr/>
        </p:nvSpPr>
        <p:spPr>
          <a:xfrm>
            <a:off x="610819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3.8 Flash</a:t>
            </a:r>
            <a:endParaRPr lang="en-US" sz="1200" dirty="0"/>
          </a:p>
        </p:txBody>
      </p:sp>
      <p:sp>
        <p:nvSpPr>
          <p:cNvPr id="21" name="role-2-card"/>
          <p:cNvSpPr/>
          <p:nvPr/>
        </p:nvSpPr>
        <p:spPr>
          <a:xfrm>
            <a:off x="870966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2" name="role-2-head"/>
          <p:cNvSpPr txBox="1"/>
          <p:nvPr/>
        </p:nvSpPr>
        <p:spPr>
          <a:xfrm>
            <a:off x="889254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Инженеры</a:t>
            </a:r>
            <a:endParaRPr lang="en-US" sz="1600" dirty="0"/>
          </a:p>
        </p:txBody>
      </p:sp>
      <p:sp>
        <p:nvSpPr>
          <p:cNvPr id="23" name="role-2-body"/>
          <p:cNvSpPr txBox="1"/>
          <p:nvPr/>
        </p:nvSpPr>
        <p:spPr>
          <a:xfrm>
            <a:off x="889254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код, опыт, отчёт — каждый в своей копии кода</a:t>
            </a:r>
            <a:endParaRPr lang="en-US" sz="1600" dirty="0"/>
          </a:p>
        </p:txBody>
      </p:sp>
      <p:pic>
        <p:nvPicPr>
          <p:cNvPr id="24" name="role-2-logo-1" descr="/Users/a/MAI/DID/presentation/assets/logos/clau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2540" y="2596896"/>
            <a:ext cx="173736" cy="173736"/>
          </a:xfrm>
          <a:prstGeom prst="rect">
            <a:avLst/>
          </a:prstGeom>
        </p:spPr>
      </p:pic>
      <p:sp>
        <p:nvSpPr>
          <p:cNvPr id="25" name="role-2-model"/>
          <p:cNvSpPr txBox="1"/>
          <p:nvPr/>
        </p:nvSpPr>
        <p:spPr>
          <a:xfrm>
            <a:off x="914857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26" name="role-3-card"/>
          <p:cNvSpPr/>
          <p:nvPr/>
        </p:nvSpPr>
        <p:spPr>
          <a:xfrm>
            <a:off x="566928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7" name="role-3-head"/>
          <p:cNvSpPr txBox="1"/>
          <p:nvPr/>
        </p:nvSpPr>
        <p:spPr>
          <a:xfrm>
            <a:off x="585216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Ревьюер (проверяющий)</a:t>
            </a:r>
            <a:endParaRPr lang="en-US" sz="1600" dirty="0"/>
          </a:p>
        </p:txBody>
      </p:sp>
      <p:sp>
        <p:nvSpPr>
          <p:cNvPr id="28" name="role-3-body"/>
          <p:cNvSpPr txBox="1"/>
          <p:nvPr/>
        </p:nvSpPr>
        <p:spPr>
          <a:xfrm>
            <a:off x="585216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читает разницу, ищет ошибки, ничего не меняет</a:t>
            </a:r>
            <a:endParaRPr lang="en-US" sz="1600" dirty="0"/>
          </a:p>
        </p:txBody>
      </p:sp>
      <p:pic>
        <p:nvPicPr>
          <p:cNvPr id="29" name="role-3-logo-1" descr="/Users/a/MAI/DID/presentation/assets/logos/opena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867912"/>
            <a:ext cx="173736" cy="173736"/>
          </a:xfrm>
          <a:prstGeom prst="rect">
            <a:avLst/>
          </a:prstGeom>
        </p:spPr>
      </p:pic>
      <p:sp>
        <p:nvSpPr>
          <p:cNvPr id="30" name="role-3-model"/>
          <p:cNvSpPr txBox="1"/>
          <p:nvPr/>
        </p:nvSpPr>
        <p:spPr>
          <a:xfrm>
            <a:off x="6108192" y="3858768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GPT-6.1 Sol</a:t>
            </a:r>
            <a:endParaRPr lang="en-US" sz="1200" dirty="0"/>
          </a:p>
        </p:txBody>
      </p:sp>
      <p:sp>
        <p:nvSpPr>
          <p:cNvPr id="31" name="role-4-card"/>
          <p:cNvSpPr/>
          <p:nvPr/>
        </p:nvSpPr>
        <p:spPr>
          <a:xfrm>
            <a:off x="870966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32" name="role-4-head"/>
          <p:cNvSpPr txBox="1"/>
          <p:nvPr/>
        </p:nvSpPr>
        <p:spPr>
          <a:xfrm>
            <a:off x="889254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Советники</a:t>
            </a:r>
            <a:endParaRPr lang="en-US" sz="1600" dirty="0"/>
          </a:p>
        </p:txBody>
      </p:sp>
      <p:sp>
        <p:nvSpPr>
          <p:cNvPr id="33" name="role-4-body"/>
          <p:cNvSpPr txBox="1"/>
          <p:nvPr/>
        </p:nvSpPr>
        <p:spPr>
          <a:xfrm>
            <a:off x="889254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редко, только на развилках</a:t>
            </a:r>
            <a:endParaRPr lang="en-US" sz="1600" dirty="0"/>
          </a:p>
        </p:txBody>
      </p:sp>
      <p:pic>
        <p:nvPicPr>
          <p:cNvPr id="34" name="role-4-logo-1" descr="/Users/a/MAI/DID/presentation/assets/logos/clau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540" y="3867912"/>
            <a:ext cx="173736" cy="173736"/>
          </a:xfrm>
          <a:prstGeom prst="rect">
            <a:avLst/>
          </a:prstGeom>
        </p:spPr>
      </p:pic>
      <p:pic>
        <p:nvPicPr>
          <p:cNvPr id="35" name="role-4-logo-2" descr="/Users/a/MAI/DID/presentation/assets/logos/opena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1140" y="3867912"/>
            <a:ext cx="173736" cy="173736"/>
          </a:xfrm>
          <a:prstGeom prst="rect">
            <a:avLst/>
          </a:prstGeom>
        </p:spPr>
      </p:pic>
      <p:sp>
        <p:nvSpPr>
          <p:cNvPr id="36" name="role-4-model"/>
          <p:cNvSpPr txBox="1"/>
          <p:nvPr/>
        </p:nvSpPr>
        <p:spPr>
          <a:xfrm>
            <a:off x="9377172" y="3858768"/>
            <a:ext cx="20802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Fable 5.1 и GPT-6 Astra</a:t>
            </a:r>
            <a:endParaRPr lang="en-US" sz="1200" dirty="0"/>
          </a:p>
        </p:txBody>
      </p:sp>
      <p:sp>
        <p:nvSpPr>
          <p:cNvPr id="37" name="cycle-label"/>
          <p:cNvSpPr txBox="1"/>
          <p:nvPr/>
        </p:nvSpPr>
        <p:spPr>
          <a:xfrm>
            <a:off x="548640" y="4215384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Цикл одного исследования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   ветка — отдельная копия кода; ревью — независимая проверка кода другой моделью</a:t>
            </a:r>
            <a:endParaRPr lang="en-US" sz="1300" dirty="0"/>
          </a:p>
        </p:txBody>
      </p:sp>
      <p:sp>
        <p:nvSpPr>
          <p:cNvPr id="38" name="cycle-1-card"/>
          <p:cNvSpPr/>
          <p:nvPr/>
        </p:nvSpPr>
        <p:spPr>
          <a:xfrm>
            <a:off x="548640" y="4507992"/>
            <a:ext cx="129667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9" name="cycle-1-text"/>
          <p:cNvSpPr txBox="1"/>
          <p:nvPr/>
        </p:nvSpPr>
        <p:spPr>
          <a:xfrm>
            <a:off x="548640" y="4507992"/>
            <a:ext cx="12966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вопрос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 гипотеза</a:t>
            </a:r>
            <a:endParaRPr lang="en-US" sz="1600" dirty="0"/>
          </a:p>
        </p:txBody>
      </p:sp>
      <p:sp>
        <p:nvSpPr>
          <p:cNvPr id="40" name="cycle-1-arrow"/>
          <p:cNvSpPr/>
          <p:nvPr/>
        </p:nvSpPr>
        <p:spPr>
          <a:xfrm>
            <a:off x="187274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1" name="cycle-2-card"/>
          <p:cNvSpPr/>
          <p:nvPr/>
        </p:nvSpPr>
        <p:spPr>
          <a:xfrm>
            <a:off x="2064771" y="4507992"/>
            <a:ext cx="997442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2" name="cycle-2-text"/>
          <p:cNvSpPr txBox="1"/>
          <p:nvPr/>
        </p:nvSpPr>
        <p:spPr>
          <a:xfrm>
            <a:off x="2064771" y="4507992"/>
            <a:ext cx="9974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задание</a:t>
            </a:r>
            <a:endParaRPr lang="en-US" sz="1600" dirty="0"/>
          </a:p>
        </p:txBody>
      </p:sp>
      <p:sp>
        <p:nvSpPr>
          <p:cNvPr id="43" name="cycle-2-arrow"/>
          <p:cNvSpPr/>
          <p:nvPr/>
        </p:nvSpPr>
        <p:spPr>
          <a:xfrm>
            <a:off x="308964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4" name="cycle-3-card"/>
          <p:cNvSpPr/>
          <p:nvPr/>
        </p:nvSpPr>
        <p:spPr>
          <a:xfrm>
            <a:off x="3281670" y="4507992"/>
            <a:ext cx="199488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5" name="cycle-3-text"/>
          <p:cNvSpPr txBox="1"/>
          <p:nvPr/>
        </p:nvSpPr>
        <p:spPr>
          <a:xfrm>
            <a:off x="3281670" y="4507992"/>
            <a:ext cx="19948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код и опыт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отдельной ветке</a:t>
            </a:r>
            <a:endParaRPr lang="en-US" sz="1600" dirty="0"/>
          </a:p>
        </p:txBody>
      </p:sp>
      <p:sp>
        <p:nvSpPr>
          <p:cNvPr id="46" name="cycle-3-arrow"/>
          <p:cNvSpPr/>
          <p:nvPr/>
        </p:nvSpPr>
        <p:spPr>
          <a:xfrm>
            <a:off x="530398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7" name="cycle-4-card"/>
          <p:cNvSpPr/>
          <p:nvPr/>
        </p:nvSpPr>
        <p:spPr>
          <a:xfrm>
            <a:off x="5496011" y="4507992"/>
            <a:ext cx="1595908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48" name="cycle-4-text"/>
          <p:cNvSpPr txBox="1"/>
          <p:nvPr/>
        </p:nvSpPr>
        <p:spPr>
          <a:xfrm>
            <a:off x="5496011" y="4507992"/>
            <a:ext cx="159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независимое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ревью</a:t>
            </a:r>
            <a:endParaRPr lang="en-US" sz="1600" dirty="0"/>
          </a:p>
        </p:txBody>
      </p:sp>
      <p:sp>
        <p:nvSpPr>
          <p:cNvPr id="49" name="cycle-4-arrow"/>
          <p:cNvSpPr/>
          <p:nvPr/>
        </p:nvSpPr>
        <p:spPr>
          <a:xfrm>
            <a:off x="7119350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0" name="cycle-5-card"/>
          <p:cNvSpPr/>
          <p:nvPr/>
        </p:nvSpPr>
        <p:spPr>
          <a:xfrm>
            <a:off x="7311374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1" name="cycle-5-text"/>
          <p:cNvSpPr txBox="1"/>
          <p:nvPr/>
        </p:nvSpPr>
        <p:spPr>
          <a:xfrm>
            <a:off x="7311374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исправления</a:t>
            </a:r>
            <a:endParaRPr lang="en-US" sz="1600" dirty="0"/>
          </a:p>
        </p:txBody>
      </p:sp>
      <p:sp>
        <p:nvSpPr>
          <p:cNvPr id="52" name="cycle-5-arrow"/>
          <p:cNvSpPr/>
          <p:nvPr/>
        </p:nvSpPr>
        <p:spPr>
          <a:xfrm>
            <a:off x="873522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3" name="cycle-6-card"/>
          <p:cNvSpPr/>
          <p:nvPr/>
        </p:nvSpPr>
        <p:spPr>
          <a:xfrm>
            <a:off x="8927250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4" name="cycle-6-text"/>
          <p:cNvSpPr txBox="1"/>
          <p:nvPr/>
        </p:nvSpPr>
        <p:spPr>
          <a:xfrm>
            <a:off x="8927250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вливание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общий код</a:t>
            </a:r>
            <a:endParaRPr lang="en-US" sz="1600" dirty="0"/>
          </a:p>
        </p:txBody>
      </p:sp>
      <p:sp>
        <p:nvSpPr>
          <p:cNvPr id="55" name="cycle-6-arrow"/>
          <p:cNvSpPr/>
          <p:nvPr/>
        </p:nvSpPr>
        <p:spPr>
          <a:xfrm>
            <a:off x="10351101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6" name="cycle-7-card"/>
          <p:cNvSpPr/>
          <p:nvPr/>
        </p:nvSpPr>
        <p:spPr>
          <a:xfrm>
            <a:off x="10543125" y="4507992"/>
            <a:ext cx="1097187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7" name="cycle-7-text"/>
          <p:cNvSpPr txBox="1"/>
          <p:nvPr/>
        </p:nvSpPr>
        <p:spPr>
          <a:xfrm>
            <a:off x="10543125" y="4507992"/>
            <a:ext cx="10971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пересчёт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чисел</a:t>
            </a:r>
            <a:endParaRPr lang="en-US" sz="1600" dirty="0"/>
          </a:p>
        </p:txBody>
      </p:sp>
      <p:sp>
        <p:nvSpPr>
          <p:cNvPr id="58" name="num-1-card"/>
          <p:cNvSpPr/>
          <p:nvPr/>
        </p:nvSpPr>
        <p:spPr>
          <a:xfrm>
            <a:off x="548640" y="5239512"/>
            <a:ext cx="201168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9" name="num-1-value"/>
          <p:cNvSpPr txBox="1"/>
          <p:nvPr/>
        </p:nvSpPr>
        <p:spPr>
          <a:xfrm>
            <a:off x="749808" y="529437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1,5 суток</a:t>
            </a:r>
            <a:endParaRPr lang="en-US" sz="2800" dirty="0"/>
          </a:p>
        </p:txBody>
      </p:sp>
      <p:sp>
        <p:nvSpPr>
          <p:cNvPr id="60" name="num-1-label"/>
          <p:cNvSpPr txBox="1"/>
          <p:nvPr/>
        </p:nvSpPr>
        <p:spPr>
          <a:xfrm>
            <a:off x="749808" y="5724144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непрерывная сессия</a:t>
            </a:r>
            <a:endParaRPr lang="en-US" sz="1300" dirty="0"/>
          </a:p>
        </p:txBody>
      </p:sp>
      <p:sp>
        <p:nvSpPr>
          <p:cNvPr id="61" name="num-2-card"/>
          <p:cNvSpPr/>
          <p:nvPr/>
        </p:nvSpPr>
        <p:spPr>
          <a:xfrm>
            <a:off x="2697480" y="5239512"/>
            <a:ext cx="18288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2" name="num-2-value"/>
          <p:cNvSpPr txBox="1"/>
          <p:nvPr/>
        </p:nvSpPr>
        <p:spPr>
          <a:xfrm>
            <a:off x="2898648" y="52943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85+</a:t>
            </a:r>
            <a:endParaRPr lang="en-US" sz="2800" dirty="0"/>
          </a:p>
        </p:txBody>
      </p:sp>
      <p:sp>
        <p:nvSpPr>
          <p:cNvPr id="63" name="num-2-label"/>
          <p:cNvSpPr txBox="1"/>
          <p:nvPr/>
        </p:nvSpPr>
        <p:spPr>
          <a:xfrm>
            <a:off x="2898648" y="5724144"/>
            <a:ext cx="14996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поручений агентам</a:t>
            </a:r>
            <a:endParaRPr lang="en-US" sz="1300" dirty="0"/>
          </a:p>
        </p:txBody>
      </p:sp>
      <p:sp>
        <p:nvSpPr>
          <p:cNvPr id="64" name="num-3-card"/>
          <p:cNvSpPr/>
          <p:nvPr/>
        </p:nvSpPr>
        <p:spPr>
          <a:xfrm>
            <a:off x="4663440" y="5239512"/>
            <a:ext cx="25146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5" name="num-3-value"/>
          <p:cNvSpPr txBox="1"/>
          <p:nvPr/>
        </p:nvSpPr>
        <p:spPr>
          <a:xfrm>
            <a:off x="4864608" y="5294376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19 из 20</a:t>
            </a:r>
            <a:endParaRPr lang="en-US" sz="2800" dirty="0"/>
          </a:p>
        </p:txBody>
      </p:sp>
      <p:sp>
        <p:nvSpPr>
          <p:cNvPr id="66" name="num-3-label"/>
          <p:cNvSpPr txBox="1"/>
          <p:nvPr/>
        </p:nvSpPr>
        <p:spPr>
          <a:xfrm>
            <a:off x="4864608" y="5724144"/>
            <a:ext cx="21854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 ревью вернуло на исправления</a:t>
            </a:r>
            <a:endParaRPr lang="en-US" sz="1300" dirty="0"/>
          </a:p>
        </p:txBody>
      </p:sp>
      <p:sp>
        <p:nvSpPr>
          <p:cNvPr id="67" name="num-4-card"/>
          <p:cNvSpPr/>
          <p:nvPr/>
        </p:nvSpPr>
        <p:spPr>
          <a:xfrm>
            <a:off x="7315200" y="5239512"/>
            <a:ext cx="4325112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8" name="num-4-1-value"/>
          <p:cNvSpPr txBox="1"/>
          <p:nvPr/>
        </p:nvSpPr>
        <p:spPr>
          <a:xfrm>
            <a:off x="7516368" y="529437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260</a:t>
            </a:r>
            <a:endParaRPr lang="en-US" sz="2800" dirty="0"/>
          </a:p>
        </p:txBody>
      </p:sp>
      <p:sp>
        <p:nvSpPr>
          <p:cNvPr id="69" name="num-4-1-label"/>
          <p:cNvSpPr txBox="1"/>
          <p:nvPr/>
        </p:nvSpPr>
        <p:spPr>
          <a:xfrm>
            <a:off x="7516368" y="5724144"/>
            <a:ext cx="10058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правок кода (коммитов)</a:t>
            </a:r>
            <a:endParaRPr lang="en-US" sz="1300" dirty="0"/>
          </a:p>
        </p:txBody>
      </p:sp>
      <p:sp>
        <p:nvSpPr>
          <p:cNvPr id="70" name="num-4-2-value"/>
          <p:cNvSpPr txBox="1"/>
          <p:nvPr/>
        </p:nvSpPr>
        <p:spPr>
          <a:xfrm>
            <a:off x="8613648" y="52943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982</a:t>
            </a:r>
            <a:endParaRPr lang="en-US" sz="2800" dirty="0"/>
          </a:p>
        </p:txBody>
      </p:sp>
      <p:sp>
        <p:nvSpPr>
          <p:cNvPr id="71" name="num-4-2-label"/>
          <p:cNvSpPr txBox="1"/>
          <p:nvPr/>
        </p:nvSpPr>
        <p:spPr>
          <a:xfrm>
            <a:off x="8613648" y="5724144"/>
            <a:ext cx="12344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автоматических проверок</a:t>
            </a:r>
            <a:endParaRPr lang="en-US" sz="1300" dirty="0"/>
          </a:p>
        </p:txBody>
      </p:sp>
      <p:sp>
        <p:nvSpPr>
          <p:cNvPr id="72" name="num-4-3-value"/>
          <p:cNvSpPr txBox="1"/>
          <p:nvPr/>
        </p:nvSpPr>
        <p:spPr>
          <a:xfrm>
            <a:off x="9939528" y="52943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24 000+</a:t>
            </a:r>
            <a:endParaRPr lang="en-US" sz="2800" dirty="0"/>
          </a:p>
        </p:txBody>
      </p:sp>
      <p:sp>
        <p:nvSpPr>
          <p:cNvPr id="73" name="num-4-3-label"/>
          <p:cNvSpPr txBox="1"/>
          <p:nvPr/>
        </p:nvSpPr>
        <p:spPr>
          <a:xfrm>
            <a:off x="9939528" y="5724144"/>
            <a:ext cx="1463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прогонов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прошли исследования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55448" cy="155448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59536" y="1691640"/>
            <a:ext cx="278709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3.8 Flash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847795" y="170078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943" y="1741932"/>
            <a:ext cx="155448" cy="155448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4158691" y="1691640"/>
            <a:ext cx="218541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5.5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6545275" y="170078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6423" y="1741932"/>
            <a:ext cx="155448" cy="155448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6856171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GPT-6.1 Sol — ревьюер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8898941" y="170078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9209837" y="1691640"/>
            <a:ext cx="123992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работа принята</a:t>
            </a:r>
            <a:endParaRPr lang="en-US" sz="1300" dirty="0"/>
          </a:p>
        </p:txBody>
      </p:sp>
      <p:sp>
        <p:nvSpPr>
          <p:cNvPr id="16" name="lane-1-rule"/>
          <p:cNvSpPr/>
          <p:nvPr/>
        </p:nvSpPr>
        <p:spPr>
          <a:xfrm>
            <a:off x="548640" y="205740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" name="lane-1-name"/>
          <p:cNvSpPr txBox="1"/>
          <p:nvPr/>
        </p:nvSpPr>
        <p:spPr>
          <a:xfrm>
            <a:off x="548640" y="2057400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R1, R4. Среда и гипотезы</a:t>
            </a:r>
            <a:endParaRPr lang="en-US" sz="1600" dirty="0"/>
          </a:p>
        </p:txBody>
      </p:sp>
      <p:sp>
        <p:nvSpPr>
          <p:cNvPr id="18" name="lane-1-chip-1-tile"/>
          <p:cNvSpPr/>
          <p:nvPr/>
        </p:nvSpPr>
        <p:spPr>
          <a:xfrm>
            <a:off x="425196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9" name="lane-1-chip-1" descr="/Users/a/MAI/DID/presentation/assets/logos/gemin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108" y="2119298"/>
            <a:ext cx="155448" cy="155448"/>
          </a:xfrm>
          <a:prstGeom prst="rect">
            <a:avLst/>
          </a:prstGeom>
        </p:spPr>
      </p:pic>
      <p:sp>
        <p:nvSpPr>
          <p:cNvPr id="20" name="lane-1-chip-2-tile"/>
          <p:cNvSpPr/>
          <p:nvPr/>
        </p:nvSpPr>
        <p:spPr>
          <a:xfrm>
            <a:off x="452628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1" name="lane-1-chip-2" descr="/Users/a/MAI/DID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7428" y="2119298"/>
            <a:ext cx="155448" cy="155448"/>
          </a:xfrm>
          <a:prstGeom prst="rect">
            <a:avLst/>
          </a:prstGeom>
        </p:spPr>
      </p:pic>
      <p:sp>
        <p:nvSpPr>
          <p:cNvPr id="22" name="lane-1-chip-3-tile"/>
          <p:cNvSpPr/>
          <p:nvPr/>
        </p:nvSpPr>
        <p:spPr>
          <a:xfrm>
            <a:off x="480060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3" name="lane-1-chip-3" descr="/Users/a/MAI/DID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1748" y="2119298"/>
            <a:ext cx="155448" cy="155448"/>
          </a:xfrm>
          <a:prstGeom prst="rect">
            <a:avLst/>
          </a:prstGeom>
        </p:spPr>
      </p:pic>
      <p:sp>
        <p:nvSpPr>
          <p:cNvPr id="24" name="lane-1-chip-4-tile"/>
          <p:cNvSpPr/>
          <p:nvPr/>
        </p:nvSpPr>
        <p:spPr>
          <a:xfrm>
            <a:off x="507492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5" name="lane-1-chip-4" descr="/Users/a/MAI/DID/presentation/assets/logos/opena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16068" y="2119298"/>
            <a:ext cx="155448" cy="155448"/>
          </a:xfrm>
          <a:prstGeom prst="rect">
            <a:avLst/>
          </a:prstGeom>
        </p:spPr>
      </p:pic>
      <p:sp>
        <p:nvSpPr>
          <p:cNvPr id="26" name="lane-1-chip-5-tile"/>
          <p:cNvSpPr/>
          <p:nvPr/>
        </p:nvSpPr>
        <p:spPr>
          <a:xfrm>
            <a:off x="534924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7" name="lane-1-chip-5" descr="/Users/a/MAI/DID/presentation/assets/logos/clau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0388" y="2119298"/>
            <a:ext cx="155448" cy="155448"/>
          </a:xfrm>
          <a:prstGeom prst="rect">
            <a:avLst/>
          </a:prstGeom>
        </p:spPr>
      </p:pic>
      <p:sp>
        <p:nvSpPr>
          <p:cNvPr id="28" name="lane-1-chip-6-tile"/>
          <p:cNvSpPr/>
          <p:nvPr/>
        </p:nvSpPr>
        <p:spPr>
          <a:xfrm>
            <a:off x="562356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9" name="lane-1-chip-6" descr="/Users/a/MAI/DID/presentation/assets/logos/opena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4708" y="2119298"/>
            <a:ext cx="155448" cy="155448"/>
          </a:xfrm>
          <a:prstGeom prst="rect">
            <a:avLst/>
          </a:prstGeom>
        </p:spPr>
      </p:pic>
      <p:sp>
        <p:nvSpPr>
          <p:cNvPr id="30" name="lane-1-chip-7-tile"/>
          <p:cNvSpPr/>
          <p:nvPr/>
        </p:nvSpPr>
        <p:spPr>
          <a:xfrm>
            <a:off x="589788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31" name="lane-1-chip-7" descr="/Users/a/MAI/DID/presentation/assets/logos/claud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39028" y="2119298"/>
            <a:ext cx="155448" cy="155448"/>
          </a:xfrm>
          <a:prstGeom prst="rect">
            <a:avLst/>
          </a:prstGeom>
        </p:spPr>
      </p:pic>
      <p:sp>
        <p:nvSpPr>
          <p:cNvPr id="32" name="lane-1-chip-8-tile"/>
          <p:cNvSpPr/>
          <p:nvPr/>
        </p:nvSpPr>
        <p:spPr>
          <a:xfrm>
            <a:off x="617220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33" name="lane-1-chip-8" descr="/Users/a/MAI/DID/presentation/assets/logos/opena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3348" y="2119298"/>
            <a:ext cx="155448" cy="155448"/>
          </a:xfrm>
          <a:prstGeom prst="rect">
            <a:avLst/>
          </a:prstGeom>
        </p:spPr>
      </p:pic>
      <p:sp>
        <p:nvSpPr>
          <p:cNvPr id="34" name="lane-1-chip-9-tile"/>
          <p:cNvSpPr/>
          <p:nvPr/>
        </p:nvSpPr>
        <p:spPr>
          <a:xfrm>
            <a:off x="644652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35" name="lane-1-chip-9" descr="/Users/a/MAI/DID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87668" y="2119298"/>
            <a:ext cx="155448" cy="155448"/>
          </a:xfrm>
          <a:prstGeom prst="rect">
            <a:avLst/>
          </a:prstGeom>
        </p:spPr>
      </p:pic>
      <p:sp>
        <p:nvSpPr>
          <p:cNvPr id="36" name="lane-1-chip-10"/>
          <p:cNvSpPr txBox="1"/>
          <p:nvPr/>
        </p:nvSpPr>
        <p:spPr>
          <a:xfrm>
            <a:off x="6720840" y="207815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7" name="lane-1-result"/>
          <p:cNvSpPr txBox="1"/>
          <p:nvPr/>
        </p:nvSpPr>
        <p:spPr>
          <a:xfrm>
            <a:off x="7132320" y="2057400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 ошибок найдено, два вывода перевёрнуты</a:t>
            </a:r>
            <a:endParaRPr lang="en-US" sz="1400" dirty="0"/>
          </a:p>
        </p:txBody>
      </p:sp>
      <p:sp>
        <p:nvSpPr>
          <p:cNvPr id="38" name="lane-2-rule"/>
          <p:cNvSpPr/>
          <p:nvPr/>
        </p:nvSpPr>
        <p:spPr>
          <a:xfrm>
            <a:off x="548640" y="233664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9" name="lane-2-name"/>
          <p:cNvSpPr txBox="1"/>
          <p:nvPr/>
        </p:nvSpPr>
        <p:spPr>
          <a:xfrm>
            <a:off x="548640" y="2336644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K1–K4. Обзоры литературы</a:t>
            </a:r>
            <a:endParaRPr lang="en-US" sz="1600" dirty="0"/>
          </a:p>
        </p:txBody>
      </p:sp>
      <p:sp>
        <p:nvSpPr>
          <p:cNvPr id="40" name="lane-2-chip-1-tile"/>
          <p:cNvSpPr/>
          <p:nvPr/>
        </p:nvSpPr>
        <p:spPr>
          <a:xfrm>
            <a:off x="4251960" y="235739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41" name="lane-2-chip-1" descr="/Users/a/MAI/DID/presentation/assets/logos/gemin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3108" y="2398542"/>
            <a:ext cx="155448" cy="155448"/>
          </a:xfrm>
          <a:prstGeom prst="rect">
            <a:avLst/>
          </a:prstGeom>
        </p:spPr>
      </p:pic>
      <p:sp>
        <p:nvSpPr>
          <p:cNvPr id="42" name="lane-2-chip-2-tile"/>
          <p:cNvSpPr/>
          <p:nvPr/>
        </p:nvSpPr>
        <p:spPr>
          <a:xfrm>
            <a:off x="4526280" y="235739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43" name="lane-2-chip-2" descr="/Users/a/MAI/DID/presentation/assets/logos/gemini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67428" y="2398542"/>
            <a:ext cx="155448" cy="155448"/>
          </a:xfrm>
          <a:prstGeom prst="rect">
            <a:avLst/>
          </a:prstGeom>
        </p:spPr>
      </p:pic>
      <p:sp>
        <p:nvSpPr>
          <p:cNvPr id="44" name="lane-2-chip-3-tile"/>
          <p:cNvSpPr/>
          <p:nvPr/>
        </p:nvSpPr>
        <p:spPr>
          <a:xfrm>
            <a:off x="4800600" y="235739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45" name="lane-2-chip-3" descr="/Users/a/MAI/DID/presentation/assets/logos/gemini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1748" y="2398542"/>
            <a:ext cx="155448" cy="155448"/>
          </a:xfrm>
          <a:prstGeom prst="rect">
            <a:avLst/>
          </a:prstGeom>
        </p:spPr>
      </p:pic>
      <p:sp>
        <p:nvSpPr>
          <p:cNvPr id="46" name="lane-2-chip-4-tile"/>
          <p:cNvSpPr/>
          <p:nvPr/>
        </p:nvSpPr>
        <p:spPr>
          <a:xfrm>
            <a:off x="5074920" y="235739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47" name="lane-2-chip-4" descr="/Users/a/MAI/DID/presentation/assets/logos/gemin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16068" y="2398542"/>
            <a:ext cx="155448" cy="155448"/>
          </a:xfrm>
          <a:prstGeom prst="rect">
            <a:avLst/>
          </a:prstGeom>
        </p:spPr>
      </p:pic>
      <p:sp>
        <p:nvSpPr>
          <p:cNvPr id="48" name="lane-2-chip-5-tile"/>
          <p:cNvSpPr/>
          <p:nvPr/>
        </p:nvSpPr>
        <p:spPr>
          <a:xfrm>
            <a:off x="5349240" y="235739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49" name="lane-2-chip-5" descr="/Users/a/MAI/DID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390388" y="2398542"/>
            <a:ext cx="155448" cy="155448"/>
          </a:xfrm>
          <a:prstGeom prst="rect">
            <a:avLst/>
          </a:prstGeom>
        </p:spPr>
      </p:pic>
      <p:sp>
        <p:nvSpPr>
          <p:cNvPr id="50" name="lane-2-chip-6"/>
          <p:cNvSpPr txBox="1"/>
          <p:nvPr/>
        </p:nvSpPr>
        <p:spPr>
          <a:xfrm>
            <a:off x="5623560" y="235739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1" name="lane-2-result"/>
          <p:cNvSpPr txBox="1"/>
          <p:nvPr/>
        </p:nvSpPr>
        <p:spPr>
          <a:xfrm>
            <a:off x="7132320" y="2336644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проверка нашла две выдуманные ссылки</a:t>
            </a:r>
            <a:endParaRPr lang="en-US" sz="1400" dirty="0"/>
          </a:p>
        </p:txBody>
      </p:sp>
      <p:sp>
        <p:nvSpPr>
          <p:cNvPr id="52" name="lane-3-rule"/>
          <p:cNvSpPr/>
          <p:nvPr/>
        </p:nvSpPr>
        <p:spPr>
          <a:xfrm>
            <a:off x="548640" y="261588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3" name="lane-3-name"/>
          <p:cNvSpPr txBox="1"/>
          <p:nvPr/>
        </p:nvSpPr>
        <p:spPr>
          <a:xfrm>
            <a:off x="548640" y="2615887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R13 → L3. Миссия словами</a:t>
            </a:r>
            <a:endParaRPr lang="en-US" sz="1600" dirty="0"/>
          </a:p>
        </p:txBody>
      </p:sp>
      <p:sp>
        <p:nvSpPr>
          <p:cNvPr id="54" name="lane-3-chip-1-tile"/>
          <p:cNvSpPr/>
          <p:nvPr/>
        </p:nvSpPr>
        <p:spPr>
          <a:xfrm>
            <a:off x="425196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55" name="lane-3-chip-1" descr="/Users/a/MAI/DID/presentation/assets/logos/gemini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93108" y="2677785"/>
            <a:ext cx="155448" cy="155448"/>
          </a:xfrm>
          <a:prstGeom prst="rect">
            <a:avLst/>
          </a:prstGeom>
        </p:spPr>
      </p:pic>
      <p:sp>
        <p:nvSpPr>
          <p:cNvPr id="56" name="lane-3-chip-2-tile"/>
          <p:cNvSpPr/>
          <p:nvPr/>
        </p:nvSpPr>
        <p:spPr>
          <a:xfrm>
            <a:off x="452628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57" name="lane-3-chip-2" descr="/Users/a/MAI/DID/presentation/assets/logos/claud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67428" y="2677785"/>
            <a:ext cx="155448" cy="155448"/>
          </a:xfrm>
          <a:prstGeom prst="rect">
            <a:avLst/>
          </a:prstGeom>
        </p:spPr>
      </p:pic>
      <p:sp>
        <p:nvSpPr>
          <p:cNvPr id="58" name="lane-3-chip-3-tile"/>
          <p:cNvSpPr/>
          <p:nvPr/>
        </p:nvSpPr>
        <p:spPr>
          <a:xfrm>
            <a:off x="480060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59" name="lane-3-chip-3" descr="/Users/a/MAI/DID/presentation/assets/logos/openai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41748" y="2677785"/>
            <a:ext cx="155448" cy="155448"/>
          </a:xfrm>
          <a:prstGeom prst="rect">
            <a:avLst/>
          </a:prstGeom>
        </p:spPr>
      </p:pic>
      <p:sp>
        <p:nvSpPr>
          <p:cNvPr id="60" name="lane-3-chip-4-tile"/>
          <p:cNvSpPr/>
          <p:nvPr/>
        </p:nvSpPr>
        <p:spPr>
          <a:xfrm>
            <a:off x="507492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61" name="lane-3-chip-4" descr="/Users/a/MAI/DID/presentation/assets/logos/claud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16068" y="2677785"/>
            <a:ext cx="155448" cy="155448"/>
          </a:xfrm>
          <a:prstGeom prst="rect">
            <a:avLst/>
          </a:prstGeom>
        </p:spPr>
      </p:pic>
      <p:sp>
        <p:nvSpPr>
          <p:cNvPr id="62" name="lane-3-chip-5"/>
          <p:cNvSpPr txBox="1"/>
          <p:nvPr/>
        </p:nvSpPr>
        <p:spPr>
          <a:xfrm>
            <a:off x="534924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3" name="lane-3-next"/>
          <p:cNvSpPr txBox="1"/>
          <p:nvPr/>
        </p:nvSpPr>
        <p:spPr>
          <a:xfrm>
            <a:off x="5623560" y="2615887"/>
            <a:ext cx="237744" cy="279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64" name="lane-3-chip-7-tile"/>
          <p:cNvSpPr/>
          <p:nvPr/>
        </p:nvSpPr>
        <p:spPr>
          <a:xfrm>
            <a:off x="589788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65" name="lane-3-chip-7" descr="/Users/a/MAI/DID/presentation/assets/logos/claud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939028" y="2677785"/>
            <a:ext cx="155448" cy="155448"/>
          </a:xfrm>
          <a:prstGeom prst="rect">
            <a:avLst/>
          </a:prstGeom>
        </p:spPr>
      </p:pic>
      <p:sp>
        <p:nvSpPr>
          <p:cNvPr id="66" name="lane-3-chip-8-tile"/>
          <p:cNvSpPr/>
          <p:nvPr/>
        </p:nvSpPr>
        <p:spPr>
          <a:xfrm>
            <a:off x="617220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67" name="lane-3-chip-8" descr="/Users/a/MAI/DID/presentation/assets/logos/openai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213348" y="2677785"/>
            <a:ext cx="155448" cy="155448"/>
          </a:xfrm>
          <a:prstGeom prst="rect">
            <a:avLst/>
          </a:prstGeom>
        </p:spPr>
      </p:pic>
      <p:sp>
        <p:nvSpPr>
          <p:cNvPr id="68" name="lane-3-chip-9-tile"/>
          <p:cNvSpPr/>
          <p:nvPr/>
        </p:nvSpPr>
        <p:spPr>
          <a:xfrm>
            <a:off x="644652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69" name="lane-3-chip-9" descr="/Users/a/MAI/DID/presentation/assets/logos/claud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487668" y="2677785"/>
            <a:ext cx="155448" cy="155448"/>
          </a:xfrm>
          <a:prstGeom prst="rect">
            <a:avLst/>
          </a:prstGeom>
        </p:spPr>
      </p:pic>
      <p:sp>
        <p:nvSpPr>
          <p:cNvPr id="70" name="lane-3-chip-10"/>
          <p:cNvSpPr txBox="1"/>
          <p:nvPr/>
        </p:nvSpPr>
        <p:spPr>
          <a:xfrm>
            <a:off x="6720840" y="263663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71" name="lane-3-result"/>
          <p:cNvSpPr txBox="1"/>
          <p:nvPr/>
        </p:nvSpPr>
        <p:spPr>
          <a:xfrm>
            <a:off x="7132320" y="2615887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модель — 45–46 из 48 прогонов, правило — 0 из 48</a:t>
            </a:r>
            <a:endParaRPr lang="en-US" sz="1400" dirty="0"/>
          </a:p>
        </p:txBody>
      </p:sp>
      <p:sp>
        <p:nvSpPr>
          <p:cNvPr id="72" name="lane-4-rule"/>
          <p:cNvSpPr/>
          <p:nvPr/>
        </p:nvSpPr>
        <p:spPr>
          <a:xfrm>
            <a:off x="548640" y="2895131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73" name="lane-4-name"/>
          <p:cNvSpPr txBox="1"/>
          <p:nvPr/>
        </p:nvSpPr>
        <p:spPr>
          <a:xfrm>
            <a:off x="548640" y="2895131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R16. Ехать, пока модель думает</a:t>
            </a:r>
            <a:endParaRPr lang="en-US" sz="1600" dirty="0"/>
          </a:p>
        </p:txBody>
      </p:sp>
      <p:sp>
        <p:nvSpPr>
          <p:cNvPr id="74" name="lane-4-chip-1-tile"/>
          <p:cNvSpPr/>
          <p:nvPr/>
        </p:nvSpPr>
        <p:spPr>
          <a:xfrm>
            <a:off x="425196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75" name="lane-4-chip-1" descr="/Users/a/MAI/DID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293108" y="2957029"/>
            <a:ext cx="155448" cy="155448"/>
          </a:xfrm>
          <a:prstGeom prst="rect">
            <a:avLst/>
          </a:prstGeom>
        </p:spPr>
      </p:pic>
      <p:sp>
        <p:nvSpPr>
          <p:cNvPr id="76" name="lane-4-chip-2-tile"/>
          <p:cNvSpPr/>
          <p:nvPr/>
        </p:nvSpPr>
        <p:spPr>
          <a:xfrm>
            <a:off x="452628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77" name="lane-4-chip-2" descr="/Users/a/MAI/DID/presentation/assets/logos/openai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567428" y="2957029"/>
            <a:ext cx="155448" cy="155448"/>
          </a:xfrm>
          <a:prstGeom prst="rect">
            <a:avLst/>
          </a:prstGeom>
        </p:spPr>
      </p:pic>
      <p:sp>
        <p:nvSpPr>
          <p:cNvPr id="78" name="lane-4-chip-3-tile"/>
          <p:cNvSpPr/>
          <p:nvPr/>
        </p:nvSpPr>
        <p:spPr>
          <a:xfrm>
            <a:off x="480060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79" name="lane-4-chip-3" descr="/Users/a/MAI/DID/presentation/assets/logos/claud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841748" y="2957029"/>
            <a:ext cx="155448" cy="155448"/>
          </a:xfrm>
          <a:prstGeom prst="rect">
            <a:avLst/>
          </a:prstGeom>
        </p:spPr>
      </p:pic>
      <p:sp>
        <p:nvSpPr>
          <p:cNvPr id="80" name="lane-4-chip-4-tile"/>
          <p:cNvSpPr/>
          <p:nvPr/>
        </p:nvSpPr>
        <p:spPr>
          <a:xfrm>
            <a:off x="507492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81" name="lane-4-chip-4" descr="/Users/a/MAI/DID/presentation/assets/logos/openai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116068" y="2957029"/>
            <a:ext cx="155448" cy="155448"/>
          </a:xfrm>
          <a:prstGeom prst="rect">
            <a:avLst/>
          </a:prstGeom>
        </p:spPr>
      </p:pic>
      <p:sp>
        <p:nvSpPr>
          <p:cNvPr id="82" name="lane-4-chip-5-tile"/>
          <p:cNvSpPr/>
          <p:nvPr/>
        </p:nvSpPr>
        <p:spPr>
          <a:xfrm>
            <a:off x="534924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83" name="lane-4-chip-5" descr="/Users/a/MAI/DID/presentation/assets/logos/claud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390388" y="2957029"/>
            <a:ext cx="155448" cy="155448"/>
          </a:xfrm>
          <a:prstGeom prst="rect">
            <a:avLst/>
          </a:prstGeom>
        </p:spPr>
      </p:pic>
      <p:sp>
        <p:nvSpPr>
          <p:cNvPr id="84" name="lane-4-chip-6"/>
          <p:cNvSpPr txBox="1"/>
          <p:nvPr/>
        </p:nvSpPr>
        <p:spPr>
          <a:xfrm>
            <a:off x="562356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85" name="lane-4-next"/>
          <p:cNvSpPr txBox="1"/>
          <p:nvPr/>
        </p:nvSpPr>
        <p:spPr>
          <a:xfrm>
            <a:off x="5897880" y="2895131"/>
            <a:ext cx="237744" cy="279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86" name="lane-4-chip-8-tile"/>
          <p:cNvSpPr/>
          <p:nvPr/>
        </p:nvSpPr>
        <p:spPr>
          <a:xfrm>
            <a:off x="617220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87" name="lane-4-chip-8" descr="/Users/a/MAI/DID/presentation/assets/logos/claud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213348" y="2957029"/>
            <a:ext cx="155448" cy="155448"/>
          </a:xfrm>
          <a:prstGeom prst="rect">
            <a:avLst/>
          </a:prstGeom>
        </p:spPr>
      </p:pic>
      <p:sp>
        <p:nvSpPr>
          <p:cNvPr id="88" name="lane-4-chip-9-tile"/>
          <p:cNvSpPr/>
          <p:nvPr/>
        </p:nvSpPr>
        <p:spPr>
          <a:xfrm>
            <a:off x="644652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89" name="lane-4-chip-9" descr="/Users/a/MAI/DID/presentation/assets/logos/openai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6487668" y="2957029"/>
            <a:ext cx="155448" cy="155448"/>
          </a:xfrm>
          <a:prstGeom prst="rect">
            <a:avLst/>
          </a:prstGeom>
        </p:spPr>
      </p:pic>
      <p:sp>
        <p:nvSpPr>
          <p:cNvPr id="90" name="lane-4-chip-10"/>
          <p:cNvSpPr txBox="1"/>
          <p:nvPr/>
        </p:nvSpPr>
        <p:spPr>
          <a:xfrm>
            <a:off x="6720840" y="2915881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91" name="lane-4-result"/>
          <p:cNvSpPr txBox="1"/>
          <p:nvPr/>
        </p:nvSpPr>
        <p:spPr>
          <a:xfrm>
            <a:off x="7132320" y="2895131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на настоящей модели: стоять 34,7 → ехать 73,2 очка</a:t>
            </a:r>
            <a:endParaRPr lang="en-US" sz="1400" dirty="0"/>
          </a:p>
        </p:txBody>
      </p:sp>
      <p:sp>
        <p:nvSpPr>
          <p:cNvPr id="92" name="lane-5-rule"/>
          <p:cNvSpPr/>
          <p:nvPr/>
        </p:nvSpPr>
        <p:spPr>
          <a:xfrm>
            <a:off x="548640" y="3174375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3" name="lane-5-name"/>
          <p:cNvSpPr txBox="1"/>
          <p:nvPr/>
        </p:nvSpPr>
        <p:spPr>
          <a:xfrm>
            <a:off x="548640" y="3174375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R10. Смена грунта на пути</a:t>
            </a:r>
            <a:endParaRPr lang="en-US" sz="1600" dirty="0"/>
          </a:p>
        </p:txBody>
      </p:sp>
      <p:sp>
        <p:nvSpPr>
          <p:cNvPr id="94" name="lane-5-chip-1-tile"/>
          <p:cNvSpPr/>
          <p:nvPr/>
        </p:nvSpPr>
        <p:spPr>
          <a:xfrm>
            <a:off x="4251960" y="319512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95" name="lane-5-chip-1" descr="/Users/a/MAI/DID/presentation/assets/logos/claud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293108" y="3236273"/>
            <a:ext cx="155448" cy="155448"/>
          </a:xfrm>
          <a:prstGeom prst="rect">
            <a:avLst/>
          </a:prstGeom>
        </p:spPr>
      </p:pic>
      <p:sp>
        <p:nvSpPr>
          <p:cNvPr id="96" name="lane-5-chip-2-tile"/>
          <p:cNvSpPr/>
          <p:nvPr/>
        </p:nvSpPr>
        <p:spPr>
          <a:xfrm>
            <a:off x="4526280" y="319512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97" name="lane-5-chip-2" descr="/Users/a/MAI/DID/presentation/assets/logos/openai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567428" y="3236273"/>
            <a:ext cx="155448" cy="155448"/>
          </a:xfrm>
          <a:prstGeom prst="rect">
            <a:avLst/>
          </a:prstGeom>
        </p:spPr>
      </p:pic>
      <p:sp>
        <p:nvSpPr>
          <p:cNvPr id="98" name="lane-5-chip-3-tile"/>
          <p:cNvSpPr/>
          <p:nvPr/>
        </p:nvSpPr>
        <p:spPr>
          <a:xfrm>
            <a:off x="4800600" y="319512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99" name="lane-5-chip-3" descr="/Users/a/MAI/DID/presentation/assets/logos/claud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841748" y="3236273"/>
            <a:ext cx="155448" cy="155448"/>
          </a:xfrm>
          <a:prstGeom prst="rect">
            <a:avLst/>
          </a:prstGeom>
        </p:spPr>
      </p:pic>
      <p:sp>
        <p:nvSpPr>
          <p:cNvPr id="100" name="lane-5-chip-4-tile"/>
          <p:cNvSpPr/>
          <p:nvPr/>
        </p:nvSpPr>
        <p:spPr>
          <a:xfrm>
            <a:off x="5074920" y="319512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01" name="lane-5-chip-4" descr="/Users/a/MAI/DID/presentation/assets/logos/openai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116068" y="3236273"/>
            <a:ext cx="155448" cy="155448"/>
          </a:xfrm>
          <a:prstGeom prst="rect">
            <a:avLst/>
          </a:prstGeom>
        </p:spPr>
      </p:pic>
      <p:sp>
        <p:nvSpPr>
          <p:cNvPr id="102" name="lane-5-chip-5"/>
          <p:cNvSpPr txBox="1"/>
          <p:nvPr/>
        </p:nvSpPr>
        <p:spPr>
          <a:xfrm>
            <a:off x="5349240" y="3195125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3" name="lane-5-result"/>
          <p:cNvSpPr txBox="1"/>
          <p:nvPr/>
        </p:nvSpPr>
        <p:spPr>
          <a:xfrm>
            <a:off x="7132320" y="3174375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выигрыш не показан — так и записано</a:t>
            </a:r>
            <a:endParaRPr lang="en-US" sz="1400" dirty="0"/>
          </a:p>
        </p:txBody>
      </p:sp>
      <p:sp>
        <p:nvSpPr>
          <p:cNvPr id="104" name="lane-6-rule"/>
          <p:cNvSpPr/>
          <p:nvPr/>
        </p:nvSpPr>
        <p:spPr>
          <a:xfrm>
            <a:off x="548640" y="345361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5" name="lane-6-name"/>
          <p:cNvSpPr txBox="1"/>
          <p:nvPr/>
        </p:nvSpPr>
        <p:spPr>
          <a:xfrm>
            <a:off x="548640" y="3453618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G2 → G3. Положение и сторожа</a:t>
            </a:r>
            <a:endParaRPr lang="en-US" sz="1600" dirty="0"/>
          </a:p>
        </p:txBody>
      </p:sp>
      <p:sp>
        <p:nvSpPr>
          <p:cNvPr id="106" name="lane-6-chip-1-tile"/>
          <p:cNvSpPr/>
          <p:nvPr/>
        </p:nvSpPr>
        <p:spPr>
          <a:xfrm>
            <a:off x="425196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07" name="lane-6-chip-1" descr="/Users/a/MAI/DID/presentation/assets/logos/claude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293108" y="3515516"/>
            <a:ext cx="155448" cy="155448"/>
          </a:xfrm>
          <a:prstGeom prst="rect">
            <a:avLst/>
          </a:prstGeom>
        </p:spPr>
      </p:pic>
      <p:sp>
        <p:nvSpPr>
          <p:cNvPr id="108" name="lane-6-chip-2-tile"/>
          <p:cNvSpPr/>
          <p:nvPr/>
        </p:nvSpPr>
        <p:spPr>
          <a:xfrm>
            <a:off x="452628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09" name="lane-6-chip-2" descr="/Users/a/MAI/DID/presentation/assets/logos/openai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567428" y="3515516"/>
            <a:ext cx="155448" cy="155448"/>
          </a:xfrm>
          <a:prstGeom prst="rect">
            <a:avLst/>
          </a:prstGeom>
        </p:spPr>
      </p:pic>
      <p:sp>
        <p:nvSpPr>
          <p:cNvPr id="110" name="lane-6-chip-3-tile"/>
          <p:cNvSpPr/>
          <p:nvPr/>
        </p:nvSpPr>
        <p:spPr>
          <a:xfrm>
            <a:off x="480060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11" name="lane-6-chip-3" descr="/Users/a/MAI/DID/presentation/assets/logos/claude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841748" y="3515516"/>
            <a:ext cx="155448" cy="155448"/>
          </a:xfrm>
          <a:prstGeom prst="rect">
            <a:avLst/>
          </a:prstGeom>
        </p:spPr>
      </p:pic>
      <p:sp>
        <p:nvSpPr>
          <p:cNvPr id="112" name="lane-6-chip-4"/>
          <p:cNvSpPr txBox="1"/>
          <p:nvPr/>
        </p:nvSpPr>
        <p:spPr>
          <a:xfrm>
            <a:off x="507492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13" name="lane-6-next"/>
          <p:cNvSpPr txBox="1"/>
          <p:nvPr/>
        </p:nvSpPr>
        <p:spPr>
          <a:xfrm>
            <a:off x="5349240" y="3453618"/>
            <a:ext cx="237744" cy="279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114" name="lane-6-chip-6-tile"/>
          <p:cNvSpPr/>
          <p:nvPr/>
        </p:nvSpPr>
        <p:spPr>
          <a:xfrm>
            <a:off x="562356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15" name="lane-6-chip-6" descr="/Users/a/MAI/DID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664708" y="3515516"/>
            <a:ext cx="155448" cy="155448"/>
          </a:xfrm>
          <a:prstGeom prst="rect">
            <a:avLst/>
          </a:prstGeom>
        </p:spPr>
      </p:pic>
      <p:sp>
        <p:nvSpPr>
          <p:cNvPr id="116" name="lane-6-chip-7-tile"/>
          <p:cNvSpPr/>
          <p:nvPr/>
        </p:nvSpPr>
        <p:spPr>
          <a:xfrm>
            <a:off x="589788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17" name="lane-6-chip-7" descr="/Users/a/MAI/DID/presentation/assets/logos/openai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5939028" y="3515516"/>
            <a:ext cx="155448" cy="155448"/>
          </a:xfrm>
          <a:prstGeom prst="rect">
            <a:avLst/>
          </a:prstGeom>
        </p:spPr>
      </p:pic>
      <p:sp>
        <p:nvSpPr>
          <p:cNvPr id="118" name="lane-6-chip-8-tile"/>
          <p:cNvSpPr/>
          <p:nvPr/>
        </p:nvSpPr>
        <p:spPr>
          <a:xfrm>
            <a:off x="617220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19" name="lane-6-chip-8" descr="/Users/a/MAI/DID/presentation/assets/logos/claude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6213348" y="3515516"/>
            <a:ext cx="155448" cy="155448"/>
          </a:xfrm>
          <a:prstGeom prst="rect">
            <a:avLst/>
          </a:prstGeom>
        </p:spPr>
      </p:pic>
      <p:sp>
        <p:nvSpPr>
          <p:cNvPr id="120" name="lane-6-chip-9-tile"/>
          <p:cNvSpPr/>
          <p:nvPr/>
        </p:nvSpPr>
        <p:spPr>
          <a:xfrm>
            <a:off x="644652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21" name="lane-6-chip-9" descr="/Users/a/MAI/DID/presentation/assets/logos/openai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487668" y="3515516"/>
            <a:ext cx="155448" cy="155448"/>
          </a:xfrm>
          <a:prstGeom prst="rect">
            <a:avLst/>
          </a:prstGeom>
        </p:spPr>
      </p:pic>
      <p:sp>
        <p:nvSpPr>
          <p:cNvPr id="122" name="lane-6-chip-10"/>
          <p:cNvSpPr txBox="1"/>
          <p:nvPr/>
        </p:nvSpPr>
        <p:spPr>
          <a:xfrm>
            <a:off x="6720840" y="3474368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23" name="lane-6-result"/>
          <p:cNvSpPr txBox="1"/>
          <p:nvPr/>
        </p:nvSpPr>
        <p:spPr>
          <a:xfrm>
            <a:off x="7132320" y="3453618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на базу в Gazebo: 8 из 9 → 7 из 7</a:t>
            </a:r>
            <a:endParaRPr lang="en-US" sz="1400" dirty="0"/>
          </a:p>
        </p:txBody>
      </p:sp>
      <p:sp>
        <p:nvSpPr>
          <p:cNvPr id="124" name="lane-7-rule"/>
          <p:cNvSpPr/>
          <p:nvPr/>
        </p:nvSpPr>
        <p:spPr>
          <a:xfrm>
            <a:off x="548640" y="373286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25" name="lane-7-name"/>
          <p:cNvSpPr txBox="1"/>
          <p:nvPr/>
        </p:nvSpPr>
        <p:spPr>
          <a:xfrm>
            <a:off x="548640" y="3732862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P1 → P2. Где робот теряет очки</a:t>
            </a:r>
            <a:endParaRPr lang="en-US" sz="1600" dirty="0"/>
          </a:p>
        </p:txBody>
      </p:sp>
      <p:sp>
        <p:nvSpPr>
          <p:cNvPr id="126" name="lane-7-chip-1-tile"/>
          <p:cNvSpPr/>
          <p:nvPr/>
        </p:nvSpPr>
        <p:spPr>
          <a:xfrm>
            <a:off x="425196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27" name="lane-7-chip-1" descr="/Users/a/MAI/DID/presentation/assets/logos/claude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293108" y="3794760"/>
            <a:ext cx="155448" cy="155448"/>
          </a:xfrm>
          <a:prstGeom prst="rect">
            <a:avLst/>
          </a:prstGeom>
        </p:spPr>
      </p:pic>
      <p:sp>
        <p:nvSpPr>
          <p:cNvPr id="128" name="lane-7-chip-2-tile"/>
          <p:cNvSpPr/>
          <p:nvPr/>
        </p:nvSpPr>
        <p:spPr>
          <a:xfrm>
            <a:off x="452628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29" name="lane-7-chip-2" descr="/Users/a/MAI/DID/presentation/assets/logos/openai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4567428" y="3794760"/>
            <a:ext cx="155448" cy="155448"/>
          </a:xfrm>
          <a:prstGeom prst="rect">
            <a:avLst/>
          </a:prstGeom>
        </p:spPr>
      </p:pic>
      <p:sp>
        <p:nvSpPr>
          <p:cNvPr id="130" name="lane-7-chip-3-tile"/>
          <p:cNvSpPr/>
          <p:nvPr/>
        </p:nvSpPr>
        <p:spPr>
          <a:xfrm>
            <a:off x="480060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31" name="lane-7-chip-3" descr="/Users/a/MAI/DID/presentation/assets/logos/claude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841748" y="3794760"/>
            <a:ext cx="155448" cy="155448"/>
          </a:xfrm>
          <a:prstGeom prst="rect">
            <a:avLst/>
          </a:prstGeom>
        </p:spPr>
      </p:pic>
      <p:sp>
        <p:nvSpPr>
          <p:cNvPr id="132" name="lane-7-chip-4-tile"/>
          <p:cNvSpPr/>
          <p:nvPr/>
        </p:nvSpPr>
        <p:spPr>
          <a:xfrm>
            <a:off x="507492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33" name="lane-7-chip-4" descr="/Users/a/MAI/DID/presentation/assets/logos/openai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5116068" y="3794760"/>
            <a:ext cx="155448" cy="155448"/>
          </a:xfrm>
          <a:prstGeom prst="rect">
            <a:avLst/>
          </a:prstGeom>
        </p:spPr>
      </p:pic>
      <p:sp>
        <p:nvSpPr>
          <p:cNvPr id="134" name="lane-7-chip-5"/>
          <p:cNvSpPr txBox="1"/>
          <p:nvPr/>
        </p:nvSpPr>
        <p:spPr>
          <a:xfrm>
            <a:off x="534924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35" name="lane-7-next"/>
          <p:cNvSpPr txBox="1"/>
          <p:nvPr/>
        </p:nvSpPr>
        <p:spPr>
          <a:xfrm>
            <a:off x="5623560" y="3732862"/>
            <a:ext cx="237744" cy="279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136" name="lane-7-chip-7-tile"/>
          <p:cNvSpPr/>
          <p:nvPr/>
        </p:nvSpPr>
        <p:spPr>
          <a:xfrm>
            <a:off x="589788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37" name="lane-7-chip-7" descr="/Users/a/MAI/DID/presentation/assets/logos/claude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5939028" y="3794760"/>
            <a:ext cx="155448" cy="155448"/>
          </a:xfrm>
          <a:prstGeom prst="rect">
            <a:avLst/>
          </a:prstGeom>
        </p:spPr>
      </p:pic>
      <p:sp>
        <p:nvSpPr>
          <p:cNvPr id="138" name="lane-7-chip-8-tile"/>
          <p:cNvSpPr/>
          <p:nvPr/>
        </p:nvSpPr>
        <p:spPr>
          <a:xfrm>
            <a:off x="617220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39" name="lane-7-chip-8" descr="/Users/a/MAI/DID/presentation/assets/logos/openai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6213348" y="3794760"/>
            <a:ext cx="155448" cy="155448"/>
          </a:xfrm>
          <a:prstGeom prst="rect">
            <a:avLst/>
          </a:prstGeom>
        </p:spPr>
      </p:pic>
      <p:sp>
        <p:nvSpPr>
          <p:cNvPr id="140" name="lane-7-chip-9-tile"/>
          <p:cNvSpPr/>
          <p:nvPr/>
        </p:nvSpPr>
        <p:spPr>
          <a:xfrm>
            <a:off x="644652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41" name="lane-7-chip-9" descr="/Users/a/MAI/DID/presentation/assets/logos/claude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6487668" y="3794760"/>
            <a:ext cx="155448" cy="155448"/>
          </a:xfrm>
          <a:prstGeom prst="rect">
            <a:avLst/>
          </a:prstGeom>
        </p:spPr>
      </p:pic>
      <p:sp>
        <p:nvSpPr>
          <p:cNvPr id="142" name="lane-7-chip-10"/>
          <p:cNvSpPr txBox="1"/>
          <p:nvPr/>
        </p:nvSpPr>
        <p:spPr>
          <a:xfrm>
            <a:off x="6720840" y="3753612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43" name="lane-7-result"/>
          <p:cNvSpPr txBox="1"/>
          <p:nvPr/>
        </p:nvSpPr>
        <p:spPr>
          <a:xfrm>
            <a:off x="7132320" y="3732862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сбой датчика: +6,4; пять правок: не показано</a:t>
            </a:r>
            <a:endParaRPr lang="en-US" sz="1400" dirty="0"/>
          </a:p>
        </p:txBody>
      </p:sp>
      <p:sp>
        <p:nvSpPr>
          <p:cNvPr id="144" name="lane-8-rule"/>
          <p:cNvSpPr/>
          <p:nvPr/>
        </p:nvSpPr>
        <p:spPr>
          <a:xfrm>
            <a:off x="548640" y="401210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45" name="lane-8-name"/>
          <p:cNvSpPr txBox="1"/>
          <p:nvPr/>
        </p:nvSpPr>
        <p:spPr>
          <a:xfrm>
            <a:off x="548640" y="4012106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A1. Новые схемы агента</a:t>
            </a:r>
            <a:endParaRPr lang="en-US" sz="1600" dirty="0"/>
          </a:p>
        </p:txBody>
      </p:sp>
      <p:sp>
        <p:nvSpPr>
          <p:cNvPr id="146" name="lane-8-chip-1-tile"/>
          <p:cNvSpPr/>
          <p:nvPr/>
        </p:nvSpPr>
        <p:spPr>
          <a:xfrm>
            <a:off x="4251960" y="4032856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47" name="lane-8-chip-1" descr="/Users/a/MAI/DID/presentation/assets/logos/claude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4293108" y="4074004"/>
            <a:ext cx="155448" cy="155448"/>
          </a:xfrm>
          <a:prstGeom prst="rect">
            <a:avLst/>
          </a:prstGeom>
        </p:spPr>
      </p:pic>
      <p:sp>
        <p:nvSpPr>
          <p:cNvPr id="148" name="lane-8-chip-2-tile"/>
          <p:cNvSpPr/>
          <p:nvPr/>
        </p:nvSpPr>
        <p:spPr>
          <a:xfrm>
            <a:off x="4526280" y="4032856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49" name="lane-8-chip-2" descr="/Users/a/MAI/DID/presentation/assets/logos/openai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4567428" y="4074004"/>
            <a:ext cx="155448" cy="155448"/>
          </a:xfrm>
          <a:prstGeom prst="rect">
            <a:avLst/>
          </a:prstGeom>
        </p:spPr>
      </p:pic>
      <p:sp>
        <p:nvSpPr>
          <p:cNvPr id="150" name="lane-8-chip-3-tile"/>
          <p:cNvSpPr/>
          <p:nvPr/>
        </p:nvSpPr>
        <p:spPr>
          <a:xfrm>
            <a:off x="4800600" y="4032856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51" name="lane-8-chip-3" descr="/Users/a/MAI/DID/presentation/assets/logos/claude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4841748" y="4074004"/>
            <a:ext cx="155448" cy="155448"/>
          </a:xfrm>
          <a:prstGeom prst="rect">
            <a:avLst/>
          </a:prstGeom>
        </p:spPr>
      </p:pic>
      <p:sp>
        <p:nvSpPr>
          <p:cNvPr id="152" name="lane-8-chip-4"/>
          <p:cNvSpPr txBox="1"/>
          <p:nvPr/>
        </p:nvSpPr>
        <p:spPr>
          <a:xfrm>
            <a:off x="5074920" y="4032856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3" name="lane-8-result"/>
          <p:cNvSpPr txBox="1"/>
          <p:nvPr/>
        </p:nvSpPr>
        <p:spPr>
          <a:xfrm>
            <a:off x="7132320" y="4012106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 лучше нынешней; с подсказками — 92,5 очка</a:t>
            </a:r>
            <a:endParaRPr lang="en-US" sz="1400" dirty="0"/>
          </a:p>
        </p:txBody>
      </p:sp>
      <p:sp>
        <p:nvSpPr>
          <p:cNvPr id="154" name="lane-9-rule"/>
          <p:cNvSpPr/>
          <p:nvPr/>
        </p:nvSpPr>
        <p:spPr>
          <a:xfrm>
            <a:off x="548640" y="429135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55" name="lane-9-name"/>
          <p:cNvSpPr txBox="1"/>
          <p:nvPr/>
        </p:nvSpPr>
        <p:spPr>
          <a:xfrm>
            <a:off x="548640" y="4291350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R12. Выбор опыта с учётом цены</a:t>
            </a:r>
            <a:endParaRPr lang="en-US" sz="1600" dirty="0"/>
          </a:p>
        </p:txBody>
      </p:sp>
      <p:sp>
        <p:nvSpPr>
          <p:cNvPr id="156" name="lane-9-chip-1-tile"/>
          <p:cNvSpPr/>
          <p:nvPr/>
        </p:nvSpPr>
        <p:spPr>
          <a:xfrm>
            <a:off x="4251960" y="431209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57" name="lane-9-chip-1" descr="/Users/a/MAI/DID/presentation/assets/logos/claude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4293108" y="4353247"/>
            <a:ext cx="155448" cy="155448"/>
          </a:xfrm>
          <a:prstGeom prst="rect">
            <a:avLst/>
          </a:prstGeom>
        </p:spPr>
      </p:pic>
      <p:sp>
        <p:nvSpPr>
          <p:cNvPr id="158" name="lane-9-chip-2-tile"/>
          <p:cNvSpPr/>
          <p:nvPr/>
        </p:nvSpPr>
        <p:spPr>
          <a:xfrm>
            <a:off x="4526280" y="431209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59" name="lane-9-chip-2" descr="/Users/a/MAI/DID/presentation/assets/logos/openai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4567428" y="4353247"/>
            <a:ext cx="155448" cy="155448"/>
          </a:xfrm>
          <a:prstGeom prst="rect">
            <a:avLst/>
          </a:prstGeom>
        </p:spPr>
      </p:pic>
      <p:sp>
        <p:nvSpPr>
          <p:cNvPr id="160" name="lane-9-chip-3-tile"/>
          <p:cNvSpPr/>
          <p:nvPr/>
        </p:nvSpPr>
        <p:spPr>
          <a:xfrm>
            <a:off x="4800600" y="431209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61" name="lane-9-chip-3" descr="/Users/a/MAI/DID/presentation/assets/logos/claude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4841748" y="4353247"/>
            <a:ext cx="155448" cy="155448"/>
          </a:xfrm>
          <a:prstGeom prst="rect">
            <a:avLst/>
          </a:prstGeom>
        </p:spPr>
      </p:pic>
      <p:sp>
        <p:nvSpPr>
          <p:cNvPr id="162" name="lane-9-chip-4"/>
          <p:cNvSpPr txBox="1"/>
          <p:nvPr/>
        </p:nvSpPr>
        <p:spPr>
          <a:xfrm>
            <a:off x="5074920" y="4312099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63" name="lane-9-result"/>
          <p:cNvSpPr txBox="1"/>
          <p:nvPr/>
        </p:nvSpPr>
        <p:spPr>
          <a:xfrm>
            <a:off x="7132320" y="4291350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расход на расследование: 0,54 → 0,08</a:t>
            </a:r>
            <a:endParaRPr lang="en-US" sz="1400" dirty="0"/>
          </a:p>
        </p:txBody>
      </p:sp>
      <p:sp>
        <p:nvSpPr>
          <p:cNvPr id="164" name="lane-10-rule"/>
          <p:cNvSpPr/>
          <p:nvPr/>
        </p:nvSpPr>
        <p:spPr>
          <a:xfrm>
            <a:off x="548640" y="457059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65" name="lane-10-name"/>
          <p:cNvSpPr txBox="1"/>
          <p:nvPr/>
        </p:nvSpPr>
        <p:spPr>
          <a:xfrm>
            <a:off x="548640" y="4570593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R14. Самокалибровка датчика</a:t>
            </a:r>
            <a:endParaRPr lang="en-US" sz="1600" dirty="0"/>
          </a:p>
        </p:txBody>
      </p:sp>
      <p:sp>
        <p:nvSpPr>
          <p:cNvPr id="166" name="lane-10-chip-1-tile"/>
          <p:cNvSpPr/>
          <p:nvPr/>
        </p:nvSpPr>
        <p:spPr>
          <a:xfrm>
            <a:off x="4251960" y="459134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67" name="lane-10-chip-1" descr="/Users/a/MAI/DID/presentation/assets/logos/claude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4293108" y="4632491"/>
            <a:ext cx="155448" cy="155448"/>
          </a:xfrm>
          <a:prstGeom prst="rect">
            <a:avLst/>
          </a:prstGeom>
        </p:spPr>
      </p:pic>
      <p:sp>
        <p:nvSpPr>
          <p:cNvPr id="168" name="lane-10-chip-2-tile"/>
          <p:cNvSpPr/>
          <p:nvPr/>
        </p:nvSpPr>
        <p:spPr>
          <a:xfrm>
            <a:off x="4526280" y="459134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69" name="lane-10-chip-2" descr="/Users/a/MAI/DID/presentation/assets/logos/openai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4567428" y="4632491"/>
            <a:ext cx="155448" cy="155448"/>
          </a:xfrm>
          <a:prstGeom prst="rect">
            <a:avLst/>
          </a:prstGeom>
        </p:spPr>
      </p:pic>
      <p:sp>
        <p:nvSpPr>
          <p:cNvPr id="170" name="lane-10-chip-3-tile"/>
          <p:cNvSpPr/>
          <p:nvPr/>
        </p:nvSpPr>
        <p:spPr>
          <a:xfrm>
            <a:off x="4800600" y="459134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71" name="lane-10-chip-3" descr="/Users/a/MAI/DID/presentation/assets/logos/claude.png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4841748" y="4632491"/>
            <a:ext cx="155448" cy="155448"/>
          </a:xfrm>
          <a:prstGeom prst="rect">
            <a:avLst/>
          </a:prstGeom>
        </p:spPr>
      </p:pic>
      <p:sp>
        <p:nvSpPr>
          <p:cNvPr id="172" name="lane-10-chip-4-tile"/>
          <p:cNvSpPr/>
          <p:nvPr/>
        </p:nvSpPr>
        <p:spPr>
          <a:xfrm>
            <a:off x="5074920" y="459134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73" name="lane-10-chip-4" descr="/Users/a/MAI/DID/presentation/assets/logos/openai.png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5116068" y="4632491"/>
            <a:ext cx="155448" cy="155448"/>
          </a:xfrm>
          <a:prstGeom prst="rect">
            <a:avLst/>
          </a:prstGeom>
        </p:spPr>
      </p:pic>
      <p:sp>
        <p:nvSpPr>
          <p:cNvPr id="174" name="lane-10-chip-5-tile"/>
          <p:cNvSpPr/>
          <p:nvPr/>
        </p:nvSpPr>
        <p:spPr>
          <a:xfrm>
            <a:off x="5349240" y="459134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75" name="lane-10-chip-5" descr="/Users/a/MAI/DID/presentation/assets/logos/claude.png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5390388" y="4632491"/>
            <a:ext cx="155448" cy="155448"/>
          </a:xfrm>
          <a:prstGeom prst="rect">
            <a:avLst/>
          </a:prstGeom>
        </p:spPr>
      </p:pic>
      <p:sp>
        <p:nvSpPr>
          <p:cNvPr id="176" name="lane-10-chip-6"/>
          <p:cNvSpPr txBox="1"/>
          <p:nvPr/>
        </p:nvSpPr>
        <p:spPr>
          <a:xfrm>
            <a:off x="5623560" y="4591343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77" name="lane-10-result"/>
          <p:cNvSpPr txBox="1"/>
          <p:nvPr/>
        </p:nvSpPr>
        <p:spPr>
          <a:xfrm>
            <a:off x="7132320" y="4570593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неверный закон датчика: 1% → 71% образцов</a:t>
            </a:r>
            <a:endParaRPr lang="en-US" sz="1400" dirty="0"/>
          </a:p>
        </p:txBody>
      </p:sp>
      <p:sp>
        <p:nvSpPr>
          <p:cNvPr id="178" name="lane-11-rule"/>
          <p:cNvSpPr/>
          <p:nvPr/>
        </p:nvSpPr>
        <p:spPr>
          <a:xfrm>
            <a:off x="548640" y="484983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9" name="lane-11-name"/>
          <p:cNvSpPr txBox="1"/>
          <p:nvPr/>
        </p:nvSpPr>
        <p:spPr>
          <a:xfrm>
            <a:off x="548640" y="4849837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J1. Быстрая модель-сторож</a:t>
            </a:r>
            <a:endParaRPr lang="en-US" sz="1600" dirty="0"/>
          </a:p>
        </p:txBody>
      </p:sp>
      <p:sp>
        <p:nvSpPr>
          <p:cNvPr id="180" name="lane-11-chip-1-tile"/>
          <p:cNvSpPr/>
          <p:nvPr/>
        </p:nvSpPr>
        <p:spPr>
          <a:xfrm>
            <a:off x="4251960" y="487058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81" name="lane-11-chip-1" descr="/Users/a/MAI/DID/presentation/assets/logos/claude.png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4293108" y="4911735"/>
            <a:ext cx="155448" cy="155448"/>
          </a:xfrm>
          <a:prstGeom prst="rect">
            <a:avLst/>
          </a:prstGeom>
        </p:spPr>
      </p:pic>
      <p:sp>
        <p:nvSpPr>
          <p:cNvPr id="182" name="lane-11-chip-2-tile"/>
          <p:cNvSpPr/>
          <p:nvPr/>
        </p:nvSpPr>
        <p:spPr>
          <a:xfrm>
            <a:off x="4526280" y="487058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83" name="lane-11-chip-2" descr="/Users/a/MAI/DID/presentation/assets/logos/openai.png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4567428" y="4911735"/>
            <a:ext cx="155448" cy="155448"/>
          </a:xfrm>
          <a:prstGeom prst="rect">
            <a:avLst/>
          </a:prstGeom>
        </p:spPr>
      </p:pic>
      <p:sp>
        <p:nvSpPr>
          <p:cNvPr id="184" name="lane-11-chip-3-tile"/>
          <p:cNvSpPr/>
          <p:nvPr/>
        </p:nvSpPr>
        <p:spPr>
          <a:xfrm>
            <a:off x="4800600" y="487058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85" name="lane-11-chip-3" descr="/Users/a/MAI/DID/presentation/assets/logos/claude.png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4841748" y="4911735"/>
            <a:ext cx="155448" cy="155448"/>
          </a:xfrm>
          <a:prstGeom prst="rect">
            <a:avLst/>
          </a:prstGeom>
        </p:spPr>
      </p:pic>
      <p:sp>
        <p:nvSpPr>
          <p:cNvPr id="186" name="lane-11-chip-4-tile"/>
          <p:cNvSpPr/>
          <p:nvPr/>
        </p:nvSpPr>
        <p:spPr>
          <a:xfrm>
            <a:off x="5074920" y="487058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87" name="lane-11-chip-4" descr="/Users/a/MAI/DID/presentation/assets/logos/claude.png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5116068" y="4911735"/>
            <a:ext cx="155448" cy="155448"/>
          </a:xfrm>
          <a:prstGeom prst="rect">
            <a:avLst/>
          </a:prstGeom>
        </p:spPr>
      </p:pic>
      <p:sp>
        <p:nvSpPr>
          <p:cNvPr id="188" name="lane-11-chip-5-tile"/>
          <p:cNvSpPr/>
          <p:nvPr/>
        </p:nvSpPr>
        <p:spPr>
          <a:xfrm>
            <a:off x="5349240" y="487058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89" name="lane-11-chip-5" descr="/Users/a/MAI/DID/presentation/assets/logos/openai.png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5390388" y="4911735"/>
            <a:ext cx="155448" cy="155448"/>
          </a:xfrm>
          <a:prstGeom prst="rect">
            <a:avLst/>
          </a:prstGeom>
        </p:spPr>
      </p:pic>
      <p:sp>
        <p:nvSpPr>
          <p:cNvPr id="190" name="lane-11-chip-6"/>
          <p:cNvSpPr txBox="1"/>
          <p:nvPr/>
        </p:nvSpPr>
        <p:spPr>
          <a:xfrm>
            <a:off x="5623560" y="4870587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91" name="lane-11-result"/>
          <p:cNvSpPr txBox="1"/>
          <p:nvPr/>
        </p:nvSpPr>
        <p:spPr>
          <a:xfrm>
            <a:off x="7132320" y="4849837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миссия «ровно два образца»: 20 из 20</a:t>
            </a:r>
            <a:endParaRPr lang="en-US" sz="1400" dirty="0"/>
          </a:p>
        </p:txBody>
      </p:sp>
      <p:sp>
        <p:nvSpPr>
          <p:cNvPr id="192" name="lane-12-rule"/>
          <p:cNvSpPr/>
          <p:nvPr/>
        </p:nvSpPr>
        <p:spPr>
          <a:xfrm>
            <a:off x="548640" y="5129081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93" name="lane-12-name"/>
          <p:cNvSpPr txBox="1"/>
          <p:nvPr/>
        </p:nvSpPr>
        <p:spPr>
          <a:xfrm>
            <a:off x="548640" y="5129081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M1. Два робота с координацией</a:t>
            </a:r>
            <a:endParaRPr lang="en-US" sz="1600" dirty="0"/>
          </a:p>
        </p:txBody>
      </p:sp>
      <p:sp>
        <p:nvSpPr>
          <p:cNvPr id="194" name="lane-12-chip-1-tile"/>
          <p:cNvSpPr/>
          <p:nvPr/>
        </p:nvSpPr>
        <p:spPr>
          <a:xfrm>
            <a:off x="4251960" y="514983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95" name="lane-12-chip-1" descr="/Users/a/MAI/DID/presentation/assets/logos/claude.png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4293108" y="5190978"/>
            <a:ext cx="155448" cy="155448"/>
          </a:xfrm>
          <a:prstGeom prst="rect">
            <a:avLst/>
          </a:prstGeom>
        </p:spPr>
      </p:pic>
      <p:sp>
        <p:nvSpPr>
          <p:cNvPr id="196" name="lane-12-chip-2-tile"/>
          <p:cNvSpPr/>
          <p:nvPr/>
        </p:nvSpPr>
        <p:spPr>
          <a:xfrm>
            <a:off x="4526280" y="514983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97" name="lane-12-chip-2" descr="/Users/a/MAI/DID/presentation/assets/logos/openai.png">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4567428" y="5190978"/>
            <a:ext cx="155448" cy="155448"/>
          </a:xfrm>
          <a:prstGeom prst="rect">
            <a:avLst/>
          </a:prstGeom>
        </p:spPr>
      </p:pic>
      <p:sp>
        <p:nvSpPr>
          <p:cNvPr id="198" name="lane-12-chip-3-tile"/>
          <p:cNvSpPr/>
          <p:nvPr/>
        </p:nvSpPr>
        <p:spPr>
          <a:xfrm>
            <a:off x="4800600" y="514983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199" name="lane-12-chip-3" descr="/Users/a/MAI/DID/presentation/assets/logos/claude.png">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4841748" y="5190978"/>
            <a:ext cx="155448" cy="155448"/>
          </a:xfrm>
          <a:prstGeom prst="rect">
            <a:avLst/>
          </a:prstGeom>
        </p:spPr>
      </p:pic>
      <p:sp>
        <p:nvSpPr>
          <p:cNvPr id="200" name="lane-12-chip-4-tile"/>
          <p:cNvSpPr/>
          <p:nvPr/>
        </p:nvSpPr>
        <p:spPr>
          <a:xfrm>
            <a:off x="5074920" y="514983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01" name="lane-12-chip-4" descr="/Users/a/MAI/DID/presentation/assets/logos/openai.png">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5116068" y="5190978"/>
            <a:ext cx="155448" cy="155448"/>
          </a:xfrm>
          <a:prstGeom prst="rect">
            <a:avLst/>
          </a:prstGeom>
        </p:spPr>
      </p:pic>
      <p:sp>
        <p:nvSpPr>
          <p:cNvPr id="202" name="lane-12-chip-5-tile"/>
          <p:cNvSpPr/>
          <p:nvPr/>
        </p:nvSpPr>
        <p:spPr>
          <a:xfrm>
            <a:off x="5349240" y="514983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03" name="lane-12-chip-5" descr="/Users/a/MAI/DID/presentation/assets/logos/claude.png">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5390388" y="5190978"/>
            <a:ext cx="155448" cy="155448"/>
          </a:xfrm>
          <a:prstGeom prst="rect">
            <a:avLst/>
          </a:prstGeom>
        </p:spPr>
      </p:pic>
      <p:sp>
        <p:nvSpPr>
          <p:cNvPr id="204" name="lane-12-chip-6"/>
          <p:cNvSpPr txBox="1"/>
          <p:nvPr/>
        </p:nvSpPr>
        <p:spPr>
          <a:xfrm>
            <a:off x="5623560" y="5149830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205" name="lane-12-result"/>
          <p:cNvSpPr txBox="1"/>
          <p:nvPr/>
        </p:nvSpPr>
        <p:spPr>
          <a:xfrm>
            <a:off x="7132320" y="5129081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прогон короче на 26 с, заряда на четверть меньше</a:t>
            </a:r>
            <a:endParaRPr lang="en-US" sz="1400" dirty="0"/>
          </a:p>
        </p:txBody>
      </p:sp>
      <p:sp>
        <p:nvSpPr>
          <p:cNvPr id="206" name="lane-13-rule"/>
          <p:cNvSpPr/>
          <p:nvPr/>
        </p:nvSpPr>
        <p:spPr>
          <a:xfrm>
            <a:off x="548640" y="540832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207" name="lane-13-name"/>
          <p:cNvSpPr txBox="1"/>
          <p:nvPr/>
        </p:nvSpPr>
        <p:spPr>
          <a:xfrm>
            <a:off x="548640" y="5408324"/>
            <a:ext cx="3611880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F2. SLAM вместо готовой карты</a:t>
            </a:r>
            <a:endParaRPr lang="en-US" sz="1600" dirty="0"/>
          </a:p>
        </p:txBody>
      </p:sp>
      <p:sp>
        <p:nvSpPr>
          <p:cNvPr id="208" name="lane-13-chip-1-tile"/>
          <p:cNvSpPr/>
          <p:nvPr/>
        </p:nvSpPr>
        <p:spPr>
          <a:xfrm>
            <a:off x="4251960" y="542907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09" name="lane-13-chip-1" descr="/Users/a/MAI/DID/presentation/assets/logos/gemini.png">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4293108" y="5470222"/>
            <a:ext cx="155448" cy="155448"/>
          </a:xfrm>
          <a:prstGeom prst="rect">
            <a:avLst/>
          </a:prstGeom>
        </p:spPr>
      </p:pic>
      <p:sp>
        <p:nvSpPr>
          <p:cNvPr id="210" name="lane-13-chip-2-tile"/>
          <p:cNvSpPr/>
          <p:nvPr/>
        </p:nvSpPr>
        <p:spPr>
          <a:xfrm>
            <a:off x="4526280" y="542907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11" name="lane-13-chip-2" descr="/Users/a/MAI/DID/presentation/assets/logos/claude.png">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4567428" y="5470222"/>
            <a:ext cx="155448" cy="155448"/>
          </a:xfrm>
          <a:prstGeom prst="rect">
            <a:avLst/>
          </a:prstGeom>
        </p:spPr>
      </p:pic>
      <p:sp>
        <p:nvSpPr>
          <p:cNvPr id="212" name="lane-13-chip-3-tile"/>
          <p:cNvSpPr/>
          <p:nvPr/>
        </p:nvSpPr>
        <p:spPr>
          <a:xfrm>
            <a:off x="4800600" y="542907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13" name="lane-13-chip-3" descr="/Users/a/MAI/DID/presentation/assets/logos/openai.png">    </p:cNvPr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4841748" y="5470222"/>
            <a:ext cx="155448" cy="155448"/>
          </a:xfrm>
          <a:prstGeom prst="rect">
            <a:avLst/>
          </a:prstGeom>
        </p:spPr>
      </p:pic>
      <p:sp>
        <p:nvSpPr>
          <p:cNvPr id="214" name="lane-13-chip-4-tile"/>
          <p:cNvSpPr/>
          <p:nvPr/>
        </p:nvSpPr>
        <p:spPr>
          <a:xfrm>
            <a:off x="5074920" y="542907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15" name="lane-13-chip-4" descr="/Users/a/MAI/DID/presentation/assets/logos/claude.png">    </p:cNvPr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5116068" y="5470222"/>
            <a:ext cx="155448" cy="155448"/>
          </a:xfrm>
          <a:prstGeom prst="rect">
            <a:avLst/>
          </a:prstGeom>
        </p:spPr>
      </p:pic>
      <p:sp>
        <p:nvSpPr>
          <p:cNvPr id="216" name="lane-13-chip-5-tile"/>
          <p:cNvSpPr/>
          <p:nvPr/>
        </p:nvSpPr>
        <p:spPr>
          <a:xfrm>
            <a:off x="5349240" y="542907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17" name="lane-13-chip-5" descr="/Users/a/MAI/DID/presentation/assets/logos/openai.png">    </p:cNvPr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5390388" y="5470222"/>
            <a:ext cx="155448" cy="155448"/>
          </a:xfrm>
          <a:prstGeom prst="rect">
            <a:avLst/>
          </a:prstGeom>
        </p:spPr>
      </p:pic>
      <p:sp>
        <p:nvSpPr>
          <p:cNvPr id="218" name="lane-13-chip-6-tile"/>
          <p:cNvSpPr/>
          <p:nvPr/>
        </p:nvSpPr>
        <p:spPr>
          <a:xfrm>
            <a:off x="5623560" y="542907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19" name="lane-13-chip-6" descr="/Users/a/MAI/DID/presentation/assets/logos/claude.png">    </p:cNvPr>
          <p:cNvPicPr>
            <a:picLocks noChangeAspect="1"/>
          </p:cNvPicPr>
          <p:nvPr/>
        </p:nvPicPr>
        <p:blipFill>
          <a:blip r:embed="rId76"/>
          <a:stretch>
            <a:fillRect/>
          </a:stretch>
        </p:blipFill>
        <p:spPr>
          <a:xfrm>
            <a:off x="5664708" y="5470222"/>
            <a:ext cx="155448" cy="155448"/>
          </a:xfrm>
          <a:prstGeom prst="rect">
            <a:avLst/>
          </a:prstGeom>
        </p:spPr>
      </p:pic>
      <p:sp>
        <p:nvSpPr>
          <p:cNvPr id="220" name="lane-13-chip-7-tile"/>
          <p:cNvSpPr/>
          <p:nvPr/>
        </p:nvSpPr>
        <p:spPr>
          <a:xfrm>
            <a:off x="5897880" y="542907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</p:spPr>
      </p:sp>
      <p:pic>
        <p:nvPicPr>
          <p:cNvPr id="221" name="lane-13-chip-7" descr="/Users/a/MAI/DID/presentation/assets/logos/openai.png">    </p:cNvPr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5939028" y="5470222"/>
            <a:ext cx="155448" cy="155448"/>
          </a:xfrm>
          <a:prstGeom prst="rect">
            <a:avLst/>
          </a:prstGeom>
        </p:spPr>
      </p:pic>
      <p:sp>
        <p:nvSpPr>
          <p:cNvPr id="222" name="lane-13-chip-8"/>
          <p:cNvSpPr txBox="1"/>
          <p:nvPr/>
        </p:nvSpPr>
        <p:spPr>
          <a:xfrm>
            <a:off x="6172200" y="5429074"/>
            <a:ext cx="237744" cy="237744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223" name="lane-13-result"/>
          <p:cNvSpPr txBox="1"/>
          <p:nvPr/>
        </p:nvSpPr>
        <p:spPr>
          <a:xfrm>
            <a:off x="7132320" y="5408324"/>
            <a:ext cx="4507992" cy="2792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 на 96–99%</a:t>
            </a:r>
            <a:endParaRPr lang="en-US" sz="1400" dirty="0"/>
          </a:p>
        </p:txBody>
      </p:sp>
      <p:sp>
        <p:nvSpPr>
          <p:cNvPr id="224" name="conclusion-card"/>
          <p:cNvSpPr/>
          <p:nvPr/>
        </p:nvSpPr>
        <p:spPr>
          <a:xfrm>
            <a:off x="548640" y="576072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</p:sp>
      <p:sp>
        <p:nvSpPr>
          <p:cNvPr id="225" name="conclusion-text"/>
          <p:cNvSpPr txBox="1"/>
          <p:nvPr/>
        </p:nvSpPr>
        <p:spPr>
          <a:xfrm>
            <a:off x="822960" y="57607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Качество держится на устройстве процесса, а не на вере в один ответ модели.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ИИ-исследователь на роботе-платформе — как работали с ИИ-агентами</dc:title>
  <dc:subject>PptxGenJS Presentation</dc:subject>
  <dc:creator>PptxGenJS</dc:creator>
  <cp:lastModifiedBy>PptxGenJS</cp:lastModifiedBy>
  <cp:revision>1</cp:revision>
  <dcterms:created xsi:type="dcterms:W3CDTF">2026-10-08T22:18:41Z</dcterms:created>
  <dcterms:modified xsi:type="dcterms:W3CDTF">2026-10-08T22:18:41Z</dcterms:modified>
</cp:coreProperties>
</file>