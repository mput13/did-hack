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530d199d-a576-2e27-d80b-6f4d5eae92f7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работу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Больше 90 поручений агентам и 34 круга ревью: 19 работ из 20 ревью вернуло на исправления.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один шаг: обзор исследователя, работа инженера или ревью. Галочка — работа принята. В первых двух исследованиях ревью нашло 7 ошибок, и два вывода пришлось перевернуть. В обзорах литературы проверка нашла две выдуманные ссылки. Робот с языковой моделью выполнил миссии, заданные словами, в 45–46 из 48 прогонов на каждой из трёх моделей; робот с правилом, которое текст не читает, — ни разу. На имитаторе модели с задержкой 15 секунд ожидание ответа стоило 73 очка; если робот в это время едет по правилу, возвращается 42. На настоящей модели на десяти трудных сценариях то же: стоять — 34,7 очка, ехать по правилу — 73,2. Режим по умолчанию выключен. В Gazebo робот вернулся на базу в прогонах 8 из 9, после правки — 7 из 7. Разбор потерь дал плюс шесть очков на трудном уровне. Не всё закончилось выигрышем: для реакции на смену грунта, новых схем агента и пяти правок по разбору потерь выигрыш не показан. Это записано как результаты.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1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3.png"/><Relationship Id="rId6" Type="http://schemas.openxmlformats.org/officeDocument/2006/relationships/image" Target="../media/image-2-2.png"/><Relationship Id="rId7" Type="http://schemas.openxmlformats.org/officeDocument/2006/relationships/image" Target="../media/image-2-3.png"/><Relationship Id="rId8" Type="http://schemas.openxmlformats.org/officeDocument/2006/relationships/image" Target="../media/image-2-2.png"/><Relationship Id="rId9" Type="http://schemas.openxmlformats.org/officeDocument/2006/relationships/image" Target="../media/image-2-3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2.png"/><Relationship Id="rId13" Type="http://schemas.openxmlformats.org/officeDocument/2006/relationships/image" Target="../media/image-2-1.png"/><Relationship Id="rId14" Type="http://schemas.openxmlformats.org/officeDocument/2006/relationships/image" Target="../media/image-2-1.png"/><Relationship Id="rId15" Type="http://schemas.openxmlformats.org/officeDocument/2006/relationships/image" Target="../media/image-2-1.png"/><Relationship Id="rId16" Type="http://schemas.openxmlformats.org/officeDocument/2006/relationships/image" Target="../media/image-2-1.png"/><Relationship Id="rId17" Type="http://schemas.openxmlformats.org/officeDocument/2006/relationships/image" Target="../media/image-2-2.png"/><Relationship Id="rId18" Type="http://schemas.openxmlformats.org/officeDocument/2006/relationships/image" Target="../media/image-2-1.png"/><Relationship Id="rId19" Type="http://schemas.openxmlformats.org/officeDocument/2006/relationships/image" Target="../media/image-2-2.png"/><Relationship Id="rId20" Type="http://schemas.openxmlformats.org/officeDocument/2006/relationships/image" Target="../media/image-2-3.png"/><Relationship Id="rId21" Type="http://schemas.openxmlformats.org/officeDocument/2006/relationships/image" Target="../media/image-2-2.png"/><Relationship Id="rId22" Type="http://schemas.openxmlformats.org/officeDocument/2006/relationships/image" Target="../media/image-2-2.png"/><Relationship Id="rId23" Type="http://schemas.openxmlformats.org/officeDocument/2006/relationships/image" Target="../media/image-2-3.png"/><Relationship Id="rId24" Type="http://schemas.openxmlformats.org/officeDocument/2006/relationships/image" Target="../media/image-2-2.png"/><Relationship Id="rId25" Type="http://schemas.openxmlformats.org/officeDocument/2006/relationships/image" Target="../media/image-2-2.png"/><Relationship Id="rId26" Type="http://schemas.openxmlformats.org/officeDocument/2006/relationships/image" Target="../media/image-2-3.png"/><Relationship Id="rId27" Type="http://schemas.openxmlformats.org/officeDocument/2006/relationships/image" Target="../media/image-2-2.png"/><Relationship Id="rId28" Type="http://schemas.openxmlformats.org/officeDocument/2006/relationships/image" Target="../media/image-2-3.png"/><Relationship Id="rId29" Type="http://schemas.openxmlformats.org/officeDocument/2006/relationships/image" Target="../media/image-2-2.png"/><Relationship Id="rId30" Type="http://schemas.openxmlformats.org/officeDocument/2006/relationships/image" Target="../media/image-2-2.png"/><Relationship Id="rId31" Type="http://schemas.openxmlformats.org/officeDocument/2006/relationships/image" Target="../media/image-2-3.png"/><Relationship Id="rId32" Type="http://schemas.openxmlformats.org/officeDocument/2006/relationships/image" Target="../media/image-2-2.png"/><Relationship Id="rId33" Type="http://schemas.openxmlformats.org/officeDocument/2006/relationships/image" Target="../media/image-2-3.png"/><Relationship Id="rId34" Type="http://schemas.openxmlformats.org/officeDocument/2006/relationships/image" Target="../media/image-2-2.png"/><Relationship Id="rId35" Type="http://schemas.openxmlformats.org/officeDocument/2006/relationships/image" Target="../media/image-2-3.png"/><Relationship Id="rId36" Type="http://schemas.openxmlformats.org/officeDocument/2006/relationships/image" Target="../media/image-2-2.png"/><Relationship Id="rId37" Type="http://schemas.openxmlformats.org/officeDocument/2006/relationships/image" Target="../media/image-2-3.png"/><Relationship Id="rId38" Type="http://schemas.openxmlformats.org/officeDocument/2006/relationships/image" Target="../media/image-2-2.png"/><Relationship Id="rId39" Type="http://schemas.openxmlformats.org/officeDocument/2006/relationships/image" Target="../media/image-2-2.png"/><Relationship Id="rId40" Type="http://schemas.openxmlformats.org/officeDocument/2006/relationships/image" Target="../media/image-2-3.png"/><Relationship Id="rId41" Type="http://schemas.openxmlformats.org/officeDocument/2006/relationships/image" Target="../media/image-2-2.png"/><Relationship Id="rId42" Type="http://schemas.openxmlformats.org/officeDocument/2006/relationships/image" Target="../media/image-2-3.png"/><Relationship Id="rId43" Type="http://schemas.openxmlformats.org/officeDocument/2006/relationships/image" Target="../media/image-2-2.png"/><Relationship Id="rId44" Type="http://schemas.openxmlformats.org/officeDocument/2006/relationships/image" Target="../media/image-2-3.png"/><Relationship Id="rId45" Type="http://schemas.openxmlformats.org/officeDocument/2006/relationships/image" Target="../media/image-2-2.png"/><Relationship Id="rId46" Type="http://schemas.openxmlformats.org/officeDocument/2006/relationships/image" Target="../media/image-2-3.png"/><Relationship Id="rId47" Type="http://schemas.openxmlformats.org/officeDocument/2006/relationships/image" Target="../media/image-2-2.png"/><Relationship Id="rId48" Type="http://schemas.openxmlformats.org/officeDocument/2006/relationships/image" Target="../media/image-2-3.png"/><Relationship Id="rId49" Type="http://schemas.openxmlformats.org/officeDocument/2006/relationships/image" Target="../media/image-2-2.png"/><Relationship Id="rId50" Type="http://schemas.openxmlformats.org/officeDocument/2006/relationships/image" Target="../media/image-2-2.png"/><Relationship Id="rId51" Type="http://schemas.openxmlformats.org/officeDocument/2006/relationships/image" Target="../media/image-2-3.png"/><Relationship Id="rId52" Type="http://schemas.openxmlformats.org/officeDocument/2006/relationships/image" Target="../media/image-2-2.png"/><Relationship Id="rId53" Type="http://schemas.openxmlformats.org/officeDocument/2006/relationships/image" Target="../media/image-2-2.png"/><Relationship Id="rId54" Type="http://schemas.openxmlformats.org/officeDocument/2006/relationships/image" Target="../media/image-2-3.png"/><Relationship Id="rId55" Type="http://schemas.openxmlformats.org/officeDocument/2006/relationships/image" Target="../media/image-2-2.png"/><Relationship Id="rId56" Type="http://schemas.openxmlformats.org/officeDocument/2006/relationships/image" Target="../media/image-2-2.png"/><Relationship Id="rId57" Type="http://schemas.openxmlformats.org/officeDocument/2006/relationships/image" Target="../media/image-2-3.png"/><Relationship Id="rId58" Type="http://schemas.openxmlformats.org/officeDocument/2006/relationships/image" Target="../media/image-2-2.png"/><Relationship Id="rId59" Type="http://schemas.openxmlformats.org/officeDocument/2006/relationships/image" Target="../media/image-2-3.png"/><Relationship Id="rId60" Type="http://schemas.openxmlformats.org/officeDocument/2006/relationships/image" Target="../media/image-2-2.png"/><Relationship Id="rId61" Type="http://schemas.openxmlformats.org/officeDocument/2006/relationships/image" Target="../media/image-2-2.png"/><Relationship Id="rId62" Type="http://schemas.openxmlformats.org/officeDocument/2006/relationships/image" Target="../media/image-2-3.png"/><Relationship Id="rId63" Type="http://schemas.openxmlformats.org/officeDocument/2006/relationships/image" Target="../media/image-2-2.png"/><Relationship Id="rId64" Type="http://schemas.openxmlformats.org/officeDocument/2006/relationships/image" Target="../media/image-2-2.png"/><Relationship Id="rId65" Type="http://schemas.openxmlformats.org/officeDocument/2006/relationships/image" Target="../media/image-2-3.png"/><Relationship Id="rId66" Type="http://schemas.openxmlformats.org/officeDocument/2006/relationships/image" Target="../media/image-2-2.png"/><Relationship Id="rId67" Type="http://schemas.openxmlformats.org/officeDocument/2006/relationships/image" Target="../media/image-2-3.png"/><Relationship Id="rId68" Type="http://schemas.openxmlformats.org/officeDocument/2006/relationships/image" Target="../media/image-2-2.png"/><Relationship Id="rId69" Type="http://schemas.openxmlformats.org/officeDocument/2006/relationships/image" Target="../media/image-2-3.png"/><Relationship Id="rId70" Type="http://schemas.openxmlformats.org/officeDocument/2006/relationships/image" Target="../media/image-2-2.png"/><Relationship Id="rId71" Type="http://schemas.openxmlformats.org/officeDocument/2006/relationships/image" Target="../media/image-2-1.png"/><Relationship Id="rId72" Type="http://schemas.openxmlformats.org/officeDocument/2006/relationships/image" Target="../media/image-2-2.png"/><Relationship Id="rId73" Type="http://schemas.openxmlformats.org/officeDocument/2006/relationships/image" Target="../media/image-2-3.png"/><Relationship Id="rId74" Type="http://schemas.openxmlformats.org/officeDocument/2006/relationships/image" Target="../media/image-2-2.png"/><Relationship Id="rId75" Type="http://schemas.openxmlformats.org/officeDocument/2006/relationships/image" Target="../media/image-2-3.png"/><Relationship Id="rId76" Type="http://schemas.openxmlformats.org/officeDocument/2006/relationships/image" Target="../media/image-2-2.png"/><Relationship Id="rId77" Type="http://schemas.openxmlformats.org/officeDocument/2006/relationships/image" Target="../media/image-2-3.png"/><Relationship Id="rId78" Type="http://schemas.openxmlformats.org/officeDocument/2006/relationships/slideLayout" Target="../slideLayouts/slideLayout2.xml"/><Relationship Id="rId7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70 сообщений за 1,5 суток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1,5 суток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90+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19 из 20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 ревью вернуло на исправления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516368" y="529437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279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516368" y="5724144"/>
            <a:ext cx="1005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613648" y="52943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1022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613648" y="5724144"/>
            <a:ext cx="1234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993952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30 000+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9939528" y="5724144"/>
            <a:ext cx="1463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59536" y="1691640"/>
            <a:ext cx="278709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3.8 Flash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847795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943" y="1741932"/>
            <a:ext cx="155448" cy="155448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4158691" y="1691640"/>
            <a:ext cx="21854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5.5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6545275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423" y="1741932"/>
            <a:ext cx="155448" cy="155448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685617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GPT-6.1 Sol — ревьюер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8898941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9209837" y="1691640"/>
            <a:ext cx="123992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принята</a:t>
            </a:r>
            <a:endParaRPr lang="en-US" sz="1300" dirty="0"/>
          </a:p>
        </p:txBody>
      </p:sp>
      <p:sp>
        <p:nvSpPr>
          <p:cNvPr id="16" name="lane-1-rule"/>
          <p:cNvSpPr/>
          <p:nvPr/>
        </p:nvSpPr>
        <p:spPr>
          <a:xfrm>
            <a:off x="548640" y="20574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lane-1-name"/>
          <p:cNvSpPr txBox="1"/>
          <p:nvPr/>
        </p:nvSpPr>
        <p:spPr>
          <a:xfrm>
            <a:off x="548640" y="2057400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8" name="lane-1-chip-1-tile"/>
          <p:cNvSpPr/>
          <p:nvPr/>
        </p:nvSpPr>
        <p:spPr>
          <a:xfrm>
            <a:off x="425196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119298"/>
            <a:ext cx="155448" cy="155448"/>
          </a:xfrm>
          <a:prstGeom prst="rect">
            <a:avLst/>
          </a:prstGeom>
        </p:spPr>
      </p:pic>
      <p:sp>
        <p:nvSpPr>
          <p:cNvPr id="20" name="lane-1-chip-2-tile"/>
          <p:cNvSpPr/>
          <p:nvPr/>
        </p:nvSpPr>
        <p:spPr>
          <a:xfrm>
            <a:off x="452628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7428" y="2119298"/>
            <a:ext cx="155448" cy="155448"/>
          </a:xfrm>
          <a:prstGeom prst="rect">
            <a:avLst/>
          </a:prstGeom>
        </p:spPr>
      </p:pic>
      <p:sp>
        <p:nvSpPr>
          <p:cNvPr id="22" name="lane-1-chip-3-tile"/>
          <p:cNvSpPr/>
          <p:nvPr/>
        </p:nvSpPr>
        <p:spPr>
          <a:xfrm>
            <a:off x="480060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3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1748" y="2119298"/>
            <a:ext cx="155448" cy="155448"/>
          </a:xfrm>
          <a:prstGeom prst="rect">
            <a:avLst/>
          </a:prstGeom>
        </p:spPr>
      </p:pic>
      <p:sp>
        <p:nvSpPr>
          <p:cNvPr id="24" name="lane-1-chip-4-tile"/>
          <p:cNvSpPr/>
          <p:nvPr/>
        </p:nvSpPr>
        <p:spPr>
          <a:xfrm>
            <a:off x="507492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5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16068" y="2119298"/>
            <a:ext cx="155448" cy="155448"/>
          </a:xfrm>
          <a:prstGeom prst="rect">
            <a:avLst/>
          </a:prstGeom>
        </p:spPr>
      </p:pic>
      <p:sp>
        <p:nvSpPr>
          <p:cNvPr id="26" name="lane-1-chip-5-tile"/>
          <p:cNvSpPr/>
          <p:nvPr/>
        </p:nvSpPr>
        <p:spPr>
          <a:xfrm>
            <a:off x="534924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7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0388" y="2119298"/>
            <a:ext cx="155448" cy="155448"/>
          </a:xfrm>
          <a:prstGeom prst="rect">
            <a:avLst/>
          </a:prstGeom>
        </p:spPr>
      </p:pic>
      <p:sp>
        <p:nvSpPr>
          <p:cNvPr id="28" name="lane-1-chip-6-tile"/>
          <p:cNvSpPr/>
          <p:nvPr/>
        </p:nvSpPr>
        <p:spPr>
          <a:xfrm>
            <a:off x="562356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4708" y="2119298"/>
            <a:ext cx="155448" cy="155448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589788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39028" y="2119298"/>
            <a:ext cx="155448" cy="155448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17220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3348" y="2119298"/>
            <a:ext cx="155448" cy="155448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44652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7668" y="2119298"/>
            <a:ext cx="155448" cy="155448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672084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132320" y="2057400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33664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336644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25196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108" y="2398542"/>
            <a:ext cx="155448" cy="155448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52628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67428" y="2398542"/>
            <a:ext cx="155448" cy="155448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480060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1748" y="2398542"/>
            <a:ext cx="155448" cy="155448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07492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16068" y="2398542"/>
            <a:ext cx="155448" cy="155448"/>
          </a:xfrm>
          <a:prstGeom prst="rect">
            <a:avLst/>
          </a:prstGeom>
        </p:spPr>
      </p:pic>
      <p:sp>
        <p:nvSpPr>
          <p:cNvPr id="48" name="lane-2-chip-5-tile"/>
          <p:cNvSpPr/>
          <p:nvPr/>
        </p:nvSpPr>
        <p:spPr>
          <a:xfrm>
            <a:off x="534924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9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90388" y="2398542"/>
            <a:ext cx="155448" cy="155448"/>
          </a:xfrm>
          <a:prstGeom prst="rect">
            <a:avLst/>
          </a:prstGeom>
        </p:spPr>
      </p:pic>
      <p:sp>
        <p:nvSpPr>
          <p:cNvPr id="50" name="lane-2-chip-6"/>
          <p:cNvSpPr txBox="1"/>
          <p:nvPr/>
        </p:nvSpPr>
        <p:spPr>
          <a:xfrm>
            <a:off x="562356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1" name="lane-2-result"/>
          <p:cNvSpPr txBox="1"/>
          <p:nvPr/>
        </p:nvSpPr>
        <p:spPr>
          <a:xfrm>
            <a:off x="7132320" y="2336644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2" name="lane-3-rule"/>
          <p:cNvSpPr/>
          <p:nvPr/>
        </p:nvSpPr>
        <p:spPr>
          <a:xfrm>
            <a:off x="548640" y="261588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3" name="lane-3-name"/>
          <p:cNvSpPr txBox="1"/>
          <p:nvPr/>
        </p:nvSpPr>
        <p:spPr>
          <a:xfrm>
            <a:off x="548640" y="2615887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 → L3. Миссия словами</a:t>
            </a:r>
            <a:endParaRPr lang="en-US" sz="1600" dirty="0"/>
          </a:p>
        </p:txBody>
      </p:sp>
      <p:sp>
        <p:nvSpPr>
          <p:cNvPr id="54" name="lane-3-chip-1-tile"/>
          <p:cNvSpPr/>
          <p:nvPr/>
        </p:nvSpPr>
        <p:spPr>
          <a:xfrm>
            <a:off x="425196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55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93108" y="2677785"/>
            <a:ext cx="155448" cy="155448"/>
          </a:xfrm>
          <a:prstGeom prst="rect">
            <a:avLst/>
          </a:prstGeom>
        </p:spPr>
      </p:pic>
      <p:sp>
        <p:nvSpPr>
          <p:cNvPr id="56" name="lane-3-chip-2-tile"/>
          <p:cNvSpPr/>
          <p:nvPr/>
        </p:nvSpPr>
        <p:spPr>
          <a:xfrm>
            <a:off x="452628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57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67428" y="2677785"/>
            <a:ext cx="155448" cy="155448"/>
          </a:xfrm>
          <a:prstGeom prst="rect">
            <a:avLst/>
          </a:prstGeom>
        </p:spPr>
      </p:pic>
      <p:sp>
        <p:nvSpPr>
          <p:cNvPr id="58" name="lane-3-chip-3-tile"/>
          <p:cNvSpPr/>
          <p:nvPr/>
        </p:nvSpPr>
        <p:spPr>
          <a:xfrm>
            <a:off x="480060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59" name="lane-3-chip-3" descr="/Users/a/MAI/DID/presentation/assets/logos/opena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1748" y="2677785"/>
            <a:ext cx="155448" cy="155448"/>
          </a:xfrm>
          <a:prstGeom prst="rect">
            <a:avLst/>
          </a:prstGeom>
        </p:spPr>
      </p:pic>
      <p:sp>
        <p:nvSpPr>
          <p:cNvPr id="60" name="lane-3-chip-4-tile"/>
          <p:cNvSpPr/>
          <p:nvPr/>
        </p:nvSpPr>
        <p:spPr>
          <a:xfrm>
            <a:off x="507492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1" name="lane-3-chip-4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16068" y="2677785"/>
            <a:ext cx="155448" cy="155448"/>
          </a:xfrm>
          <a:prstGeom prst="rect">
            <a:avLst/>
          </a:prstGeom>
        </p:spPr>
      </p:pic>
      <p:sp>
        <p:nvSpPr>
          <p:cNvPr id="62" name="lane-3-chip-5"/>
          <p:cNvSpPr txBox="1"/>
          <p:nvPr/>
        </p:nvSpPr>
        <p:spPr>
          <a:xfrm>
            <a:off x="534924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3" name="lane-3-next"/>
          <p:cNvSpPr txBox="1"/>
          <p:nvPr/>
        </p:nvSpPr>
        <p:spPr>
          <a:xfrm>
            <a:off x="5623560" y="2615887"/>
            <a:ext cx="237744" cy="27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64" name="lane-3-chip-7-tile"/>
          <p:cNvSpPr/>
          <p:nvPr/>
        </p:nvSpPr>
        <p:spPr>
          <a:xfrm>
            <a:off x="589788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5" name="lane-3-chip-7" descr="/Users/a/MAI/DID/presentation/assets/logos/claud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939028" y="2677785"/>
            <a:ext cx="155448" cy="155448"/>
          </a:xfrm>
          <a:prstGeom prst="rect">
            <a:avLst/>
          </a:prstGeom>
        </p:spPr>
      </p:pic>
      <p:sp>
        <p:nvSpPr>
          <p:cNvPr id="66" name="lane-3-chip-8-tile"/>
          <p:cNvSpPr/>
          <p:nvPr/>
        </p:nvSpPr>
        <p:spPr>
          <a:xfrm>
            <a:off x="617220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7" name="lane-3-chip-8" descr="/Users/a/MAI/DID/presentation/assets/logos/openai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213348" y="2677785"/>
            <a:ext cx="155448" cy="155448"/>
          </a:xfrm>
          <a:prstGeom prst="rect">
            <a:avLst/>
          </a:prstGeom>
        </p:spPr>
      </p:pic>
      <p:sp>
        <p:nvSpPr>
          <p:cNvPr id="68" name="lane-3-chip-9-tile"/>
          <p:cNvSpPr/>
          <p:nvPr/>
        </p:nvSpPr>
        <p:spPr>
          <a:xfrm>
            <a:off x="644652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9" name="lane-3-chip-9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87668" y="2677785"/>
            <a:ext cx="155448" cy="155448"/>
          </a:xfrm>
          <a:prstGeom prst="rect">
            <a:avLst/>
          </a:prstGeom>
        </p:spPr>
      </p:pic>
      <p:sp>
        <p:nvSpPr>
          <p:cNvPr id="70" name="lane-3-chip-10"/>
          <p:cNvSpPr txBox="1"/>
          <p:nvPr/>
        </p:nvSpPr>
        <p:spPr>
          <a:xfrm>
            <a:off x="672084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1" name="lane-3-result"/>
          <p:cNvSpPr txBox="1"/>
          <p:nvPr/>
        </p:nvSpPr>
        <p:spPr>
          <a:xfrm>
            <a:off x="7132320" y="2615887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— 45–46 из 48 прогонов, правило — 0 из 48</a:t>
            </a:r>
            <a:endParaRPr lang="en-US" sz="1400" dirty="0"/>
          </a:p>
        </p:txBody>
      </p:sp>
      <p:sp>
        <p:nvSpPr>
          <p:cNvPr id="72" name="lane-4-rule"/>
          <p:cNvSpPr/>
          <p:nvPr/>
        </p:nvSpPr>
        <p:spPr>
          <a:xfrm>
            <a:off x="548640" y="289513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3" name="lane-4-name"/>
          <p:cNvSpPr txBox="1"/>
          <p:nvPr/>
        </p:nvSpPr>
        <p:spPr>
          <a:xfrm>
            <a:off x="548640" y="2895131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R16. Ехать, пока модель думает</a:t>
            </a:r>
            <a:endParaRPr lang="en-US" sz="1600" dirty="0"/>
          </a:p>
        </p:txBody>
      </p:sp>
      <p:sp>
        <p:nvSpPr>
          <p:cNvPr id="74" name="lane-4-chip-1-tile"/>
          <p:cNvSpPr/>
          <p:nvPr/>
        </p:nvSpPr>
        <p:spPr>
          <a:xfrm>
            <a:off x="425196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75" name="lane-4-chip-1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293108" y="2957029"/>
            <a:ext cx="155448" cy="155448"/>
          </a:xfrm>
          <a:prstGeom prst="rect">
            <a:avLst/>
          </a:prstGeom>
        </p:spPr>
      </p:pic>
      <p:sp>
        <p:nvSpPr>
          <p:cNvPr id="76" name="lane-4-chip-2-tile"/>
          <p:cNvSpPr/>
          <p:nvPr/>
        </p:nvSpPr>
        <p:spPr>
          <a:xfrm>
            <a:off x="452628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77" name="lane-4-chip-2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67428" y="2957029"/>
            <a:ext cx="155448" cy="155448"/>
          </a:xfrm>
          <a:prstGeom prst="rect">
            <a:avLst/>
          </a:prstGeom>
        </p:spPr>
      </p:pic>
      <p:sp>
        <p:nvSpPr>
          <p:cNvPr id="78" name="lane-4-chip-3-tile"/>
          <p:cNvSpPr/>
          <p:nvPr/>
        </p:nvSpPr>
        <p:spPr>
          <a:xfrm>
            <a:off x="480060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79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841748" y="2957029"/>
            <a:ext cx="155448" cy="155448"/>
          </a:xfrm>
          <a:prstGeom prst="rect">
            <a:avLst/>
          </a:prstGeom>
        </p:spPr>
      </p:pic>
      <p:sp>
        <p:nvSpPr>
          <p:cNvPr id="80" name="lane-4-chip-4-tile"/>
          <p:cNvSpPr/>
          <p:nvPr/>
        </p:nvSpPr>
        <p:spPr>
          <a:xfrm>
            <a:off x="507492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1" name="lane-4-chip-4" descr="/Users/a/MAI/DID/presentation/assets/logos/openai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116068" y="2957029"/>
            <a:ext cx="155448" cy="155448"/>
          </a:xfrm>
          <a:prstGeom prst="rect">
            <a:avLst/>
          </a:prstGeom>
        </p:spPr>
      </p:pic>
      <p:sp>
        <p:nvSpPr>
          <p:cNvPr id="82" name="lane-4-chip-5-tile"/>
          <p:cNvSpPr/>
          <p:nvPr/>
        </p:nvSpPr>
        <p:spPr>
          <a:xfrm>
            <a:off x="534924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3" name="lane-4-chip-5" descr="/Users/a/MAI/DID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390388" y="2957029"/>
            <a:ext cx="155448" cy="155448"/>
          </a:xfrm>
          <a:prstGeom prst="rect">
            <a:avLst/>
          </a:prstGeom>
        </p:spPr>
      </p:pic>
      <p:sp>
        <p:nvSpPr>
          <p:cNvPr id="84" name="lane-4-chip-6"/>
          <p:cNvSpPr txBox="1"/>
          <p:nvPr/>
        </p:nvSpPr>
        <p:spPr>
          <a:xfrm>
            <a:off x="562356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5" name="lane-4-next"/>
          <p:cNvSpPr txBox="1"/>
          <p:nvPr/>
        </p:nvSpPr>
        <p:spPr>
          <a:xfrm>
            <a:off x="5897880" y="2895131"/>
            <a:ext cx="237744" cy="27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86" name="lane-4-chip-8-tile"/>
          <p:cNvSpPr/>
          <p:nvPr/>
        </p:nvSpPr>
        <p:spPr>
          <a:xfrm>
            <a:off x="617220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7" name="lane-4-chip-8" descr="/Users/a/MAI/DID/presentation/assets/logos/clau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213348" y="2957029"/>
            <a:ext cx="155448" cy="155448"/>
          </a:xfrm>
          <a:prstGeom prst="rect">
            <a:avLst/>
          </a:prstGeom>
        </p:spPr>
      </p:pic>
      <p:sp>
        <p:nvSpPr>
          <p:cNvPr id="88" name="lane-4-chip-9-tile"/>
          <p:cNvSpPr/>
          <p:nvPr/>
        </p:nvSpPr>
        <p:spPr>
          <a:xfrm>
            <a:off x="644652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9" name="lane-4-chip-9" descr="/Users/a/MAI/DID/presentation/assets/logos/openai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487668" y="2957029"/>
            <a:ext cx="155448" cy="155448"/>
          </a:xfrm>
          <a:prstGeom prst="rect">
            <a:avLst/>
          </a:prstGeom>
        </p:spPr>
      </p:pic>
      <p:sp>
        <p:nvSpPr>
          <p:cNvPr id="90" name="lane-4-chip-10"/>
          <p:cNvSpPr txBox="1"/>
          <p:nvPr/>
        </p:nvSpPr>
        <p:spPr>
          <a:xfrm>
            <a:off x="672084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1" name="lane-4-result"/>
          <p:cNvSpPr txBox="1"/>
          <p:nvPr/>
        </p:nvSpPr>
        <p:spPr>
          <a:xfrm>
            <a:off x="7132320" y="2895131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настоящей модели: стоять 34,7 → ехать 73,2 очка</a:t>
            </a:r>
            <a:endParaRPr lang="en-US" sz="1400" dirty="0"/>
          </a:p>
        </p:txBody>
      </p:sp>
      <p:sp>
        <p:nvSpPr>
          <p:cNvPr id="92" name="lane-5-rule"/>
          <p:cNvSpPr/>
          <p:nvPr/>
        </p:nvSpPr>
        <p:spPr>
          <a:xfrm>
            <a:off x="548640" y="317437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3" name="lane-5-name"/>
          <p:cNvSpPr txBox="1"/>
          <p:nvPr/>
        </p:nvSpPr>
        <p:spPr>
          <a:xfrm>
            <a:off x="548640" y="3174375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94" name="lane-5-chip-1-tile"/>
          <p:cNvSpPr/>
          <p:nvPr/>
        </p:nvSpPr>
        <p:spPr>
          <a:xfrm>
            <a:off x="425196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5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293108" y="3236273"/>
            <a:ext cx="155448" cy="155448"/>
          </a:xfrm>
          <a:prstGeom prst="rect">
            <a:avLst/>
          </a:prstGeom>
        </p:spPr>
      </p:pic>
      <p:sp>
        <p:nvSpPr>
          <p:cNvPr id="96" name="lane-5-chip-2-tile"/>
          <p:cNvSpPr/>
          <p:nvPr/>
        </p:nvSpPr>
        <p:spPr>
          <a:xfrm>
            <a:off x="452628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7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567428" y="3236273"/>
            <a:ext cx="155448" cy="155448"/>
          </a:xfrm>
          <a:prstGeom prst="rect">
            <a:avLst/>
          </a:prstGeom>
        </p:spPr>
      </p:pic>
      <p:sp>
        <p:nvSpPr>
          <p:cNvPr id="98" name="lane-5-chip-3-tile"/>
          <p:cNvSpPr/>
          <p:nvPr/>
        </p:nvSpPr>
        <p:spPr>
          <a:xfrm>
            <a:off x="480060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9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41748" y="3236273"/>
            <a:ext cx="155448" cy="155448"/>
          </a:xfrm>
          <a:prstGeom prst="rect">
            <a:avLst/>
          </a:prstGeom>
        </p:spPr>
      </p:pic>
      <p:sp>
        <p:nvSpPr>
          <p:cNvPr id="100" name="lane-5-chip-4-tile"/>
          <p:cNvSpPr/>
          <p:nvPr/>
        </p:nvSpPr>
        <p:spPr>
          <a:xfrm>
            <a:off x="507492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01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116068" y="3236273"/>
            <a:ext cx="155448" cy="155448"/>
          </a:xfrm>
          <a:prstGeom prst="rect">
            <a:avLst/>
          </a:prstGeom>
        </p:spPr>
      </p:pic>
      <p:sp>
        <p:nvSpPr>
          <p:cNvPr id="102" name="lane-5-chip-5"/>
          <p:cNvSpPr txBox="1"/>
          <p:nvPr/>
        </p:nvSpPr>
        <p:spPr>
          <a:xfrm>
            <a:off x="534924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3" name="lane-5-result"/>
          <p:cNvSpPr txBox="1"/>
          <p:nvPr/>
        </p:nvSpPr>
        <p:spPr>
          <a:xfrm>
            <a:off x="7132320" y="3174375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104" name="lane-6-rule"/>
          <p:cNvSpPr/>
          <p:nvPr/>
        </p:nvSpPr>
        <p:spPr>
          <a:xfrm>
            <a:off x="548640" y="34536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5" name="lane-6-name"/>
          <p:cNvSpPr txBox="1"/>
          <p:nvPr/>
        </p:nvSpPr>
        <p:spPr>
          <a:xfrm>
            <a:off x="548640" y="3453618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 → G3. Положение и сторожа</a:t>
            </a:r>
            <a:endParaRPr lang="en-US" sz="1600" dirty="0"/>
          </a:p>
        </p:txBody>
      </p:sp>
      <p:sp>
        <p:nvSpPr>
          <p:cNvPr id="106" name="lane-6-chip-1-tile"/>
          <p:cNvSpPr/>
          <p:nvPr/>
        </p:nvSpPr>
        <p:spPr>
          <a:xfrm>
            <a:off x="425196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07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293108" y="3515516"/>
            <a:ext cx="155448" cy="155448"/>
          </a:xfrm>
          <a:prstGeom prst="rect">
            <a:avLst/>
          </a:prstGeom>
        </p:spPr>
      </p:pic>
      <p:sp>
        <p:nvSpPr>
          <p:cNvPr id="108" name="lane-6-chip-2-tile"/>
          <p:cNvSpPr/>
          <p:nvPr/>
        </p:nvSpPr>
        <p:spPr>
          <a:xfrm>
            <a:off x="452628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09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567428" y="3515516"/>
            <a:ext cx="155448" cy="155448"/>
          </a:xfrm>
          <a:prstGeom prst="rect">
            <a:avLst/>
          </a:prstGeom>
        </p:spPr>
      </p:pic>
      <p:sp>
        <p:nvSpPr>
          <p:cNvPr id="110" name="lane-6-chip-3-tile"/>
          <p:cNvSpPr/>
          <p:nvPr/>
        </p:nvSpPr>
        <p:spPr>
          <a:xfrm>
            <a:off x="480060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1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841748" y="3515516"/>
            <a:ext cx="155448" cy="155448"/>
          </a:xfrm>
          <a:prstGeom prst="rect">
            <a:avLst/>
          </a:prstGeom>
        </p:spPr>
      </p:pic>
      <p:sp>
        <p:nvSpPr>
          <p:cNvPr id="112" name="lane-6-chip-4"/>
          <p:cNvSpPr txBox="1"/>
          <p:nvPr/>
        </p:nvSpPr>
        <p:spPr>
          <a:xfrm>
            <a:off x="507492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3" name="lane-6-next"/>
          <p:cNvSpPr txBox="1"/>
          <p:nvPr/>
        </p:nvSpPr>
        <p:spPr>
          <a:xfrm>
            <a:off x="5349240" y="3453618"/>
            <a:ext cx="237744" cy="27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14" name="lane-6-chip-6-tile"/>
          <p:cNvSpPr/>
          <p:nvPr/>
        </p:nvSpPr>
        <p:spPr>
          <a:xfrm>
            <a:off x="562356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5" name="lane-6-chip-6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664708" y="3515516"/>
            <a:ext cx="155448" cy="155448"/>
          </a:xfrm>
          <a:prstGeom prst="rect">
            <a:avLst/>
          </a:prstGeom>
        </p:spPr>
      </p:pic>
      <p:sp>
        <p:nvSpPr>
          <p:cNvPr id="116" name="lane-6-chip-7-tile"/>
          <p:cNvSpPr/>
          <p:nvPr/>
        </p:nvSpPr>
        <p:spPr>
          <a:xfrm>
            <a:off x="589788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7" name="lane-6-chip-7" descr="/Users/a/MAI/DID/presentation/assets/logos/openai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939028" y="3515516"/>
            <a:ext cx="155448" cy="155448"/>
          </a:xfrm>
          <a:prstGeom prst="rect">
            <a:avLst/>
          </a:prstGeom>
        </p:spPr>
      </p:pic>
      <p:sp>
        <p:nvSpPr>
          <p:cNvPr id="118" name="lane-6-chip-8-tile"/>
          <p:cNvSpPr/>
          <p:nvPr/>
        </p:nvSpPr>
        <p:spPr>
          <a:xfrm>
            <a:off x="617220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9" name="lane-6-chip-8" descr="/Users/a/MAI/DID/presentation/assets/logos/claude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213348" y="3515516"/>
            <a:ext cx="155448" cy="155448"/>
          </a:xfrm>
          <a:prstGeom prst="rect">
            <a:avLst/>
          </a:prstGeom>
        </p:spPr>
      </p:pic>
      <p:sp>
        <p:nvSpPr>
          <p:cNvPr id="120" name="lane-6-chip-9-tile"/>
          <p:cNvSpPr/>
          <p:nvPr/>
        </p:nvSpPr>
        <p:spPr>
          <a:xfrm>
            <a:off x="644652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1" name="lane-6-chip-9" descr="/Users/a/MAI/DID/presentation/assets/logos/openai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87668" y="3515516"/>
            <a:ext cx="155448" cy="155448"/>
          </a:xfrm>
          <a:prstGeom prst="rect">
            <a:avLst/>
          </a:prstGeom>
        </p:spPr>
      </p:pic>
      <p:sp>
        <p:nvSpPr>
          <p:cNvPr id="122" name="lane-6-chip-10"/>
          <p:cNvSpPr txBox="1"/>
          <p:nvPr/>
        </p:nvSpPr>
        <p:spPr>
          <a:xfrm>
            <a:off x="672084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3" name="lane-6-result"/>
          <p:cNvSpPr txBox="1"/>
          <p:nvPr/>
        </p:nvSpPr>
        <p:spPr>
          <a:xfrm>
            <a:off x="7132320" y="3453618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400" dirty="0"/>
          </a:p>
        </p:txBody>
      </p:sp>
      <p:sp>
        <p:nvSpPr>
          <p:cNvPr id="124" name="lane-7-rule"/>
          <p:cNvSpPr/>
          <p:nvPr/>
        </p:nvSpPr>
        <p:spPr>
          <a:xfrm>
            <a:off x="548640" y="373286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5" name="lane-7-name"/>
          <p:cNvSpPr txBox="1"/>
          <p:nvPr/>
        </p:nvSpPr>
        <p:spPr>
          <a:xfrm>
            <a:off x="548640" y="3732862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 → P2. Где робот теряет очки</a:t>
            </a:r>
            <a:endParaRPr lang="en-US" sz="1600" dirty="0"/>
          </a:p>
        </p:txBody>
      </p:sp>
      <p:sp>
        <p:nvSpPr>
          <p:cNvPr id="126" name="lane-7-chip-1-tile"/>
          <p:cNvSpPr/>
          <p:nvPr/>
        </p:nvSpPr>
        <p:spPr>
          <a:xfrm>
            <a:off x="425196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7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293108" y="3794760"/>
            <a:ext cx="155448" cy="155448"/>
          </a:xfrm>
          <a:prstGeom prst="rect">
            <a:avLst/>
          </a:prstGeom>
        </p:spPr>
      </p:pic>
      <p:sp>
        <p:nvSpPr>
          <p:cNvPr id="128" name="lane-7-chip-2-tile"/>
          <p:cNvSpPr/>
          <p:nvPr/>
        </p:nvSpPr>
        <p:spPr>
          <a:xfrm>
            <a:off x="452628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9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567428" y="3794760"/>
            <a:ext cx="155448" cy="155448"/>
          </a:xfrm>
          <a:prstGeom prst="rect">
            <a:avLst/>
          </a:prstGeom>
        </p:spPr>
      </p:pic>
      <p:sp>
        <p:nvSpPr>
          <p:cNvPr id="130" name="lane-7-chip-3-tile"/>
          <p:cNvSpPr/>
          <p:nvPr/>
        </p:nvSpPr>
        <p:spPr>
          <a:xfrm>
            <a:off x="480060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1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841748" y="3794760"/>
            <a:ext cx="155448" cy="155448"/>
          </a:xfrm>
          <a:prstGeom prst="rect">
            <a:avLst/>
          </a:prstGeom>
        </p:spPr>
      </p:pic>
      <p:sp>
        <p:nvSpPr>
          <p:cNvPr id="132" name="lane-7-chip-4-tile"/>
          <p:cNvSpPr/>
          <p:nvPr/>
        </p:nvSpPr>
        <p:spPr>
          <a:xfrm>
            <a:off x="507492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3" name="lane-7-chip-4" descr="/Users/a/MAI/DID/presentation/assets/logos/openai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116068" y="3794760"/>
            <a:ext cx="155448" cy="155448"/>
          </a:xfrm>
          <a:prstGeom prst="rect">
            <a:avLst/>
          </a:prstGeom>
        </p:spPr>
      </p:pic>
      <p:sp>
        <p:nvSpPr>
          <p:cNvPr id="134" name="lane-7-chip-5"/>
          <p:cNvSpPr txBox="1"/>
          <p:nvPr/>
        </p:nvSpPr>
        <p:spPr>
          <a:xfrm>
            <a:off x="534924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35" name="lane-7-next"/>
          <p:cNvSpPr txBox="1"/>
          <p:nvPr/>
        </p:nvSpPr>
        <p:spPr>
          <a:xfrm>
            <a:off x="5623560" y="3732862"/>
            <a:ext cx="237744" cy="27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36" name="lane-7-chip-7-tile"/>
          <p:cNvSpPr/>
          <p:nvPr/>
        </p:nvSpPr>
        <p:spPr>
          <a:xfrm>
            <a:off x="589788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7" name="lane-7-chip-7" descr="/Users/a/MAI/DID/presentation/assets/logos/claude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5939028" y="3794760"/>
            <a:ext cx="155448" cy="155448"/>
          </a:xfrm>
          <a:prstGeom prst="rect">
            <a:avLst/>
          </a:prstGeom>
        </p:spPr>
      </p:pic>
      <p:sp>
        <p:nvSpPr>
          <p:cNvPr id="138" name="lane-7-chip-8-tile"/>
          <p:cNvSpPr/>
          <p:nvPr/>
        </p:nvSpPr>
        <p:spPr>
          <a:xfrm>
            <a:off x="617220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9" name="lane-7-chip-8" descr="/Users/a/MAI/DID/presentation/assets/logos/openai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213348" y="3794760"/>
            <a:ext cx="155448" cy="155448"/>
          </a:xfrm>
          <a:prstGeom prst="rect">
            <a:avLst/>
          </a:prstGeom>
        </p:spPr>
      </p:pic>
      <p:sp>
        <p:nvSpPr>
          <p:cNvPr id="140" name="lane-7-chip-9-tile"/>
          <p:cNvSpPr/>
          <p:nvPr/>
        </p:nvSpPr>
        <p:spPr>
          <a:xfrm>
            <a:off x="644652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41" name="lane-7-chip-9" descr="/Users/a/MAI/DID/presentation/assets/logos/claude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487668" y="3794760"/>
            <a:ext cx="155448" cy="155448"/>
          </a:xfrm>
          <a:prstGeom prst="rect">
            <a:avLst/>
          </a:prstGeom>
        </p:spPr>
      </p:pic>
      <p:sp>
        <p:nvSpPr>
          <p:cNvPr id="142" name="lane-7-chip-10"/>
          <p:cNvSpPr txBox="1"/>
          <p:nvPr/>
        </p:nvSpPr>
        <p:spPr>
          <a:xfrm>
            <a:off x="672084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43" name="lane-7-result"/>
          <p:cNvSpPr txBox="1"/>
          <p:nvPr/>
        </p:nvSpPr>
        <p:spPr>
          <a:xfrm>
            <a:off x="7132320" y="3732862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сбой датчика: +6,4; пять правок: не показано</a:t>
            </a:r>
            <a:endParaRPr lang="en-US" sz="1400" dirty="0"/>
          </a:p>
        </p:txBody>
      </p:sp>
      <p:sp>
        <p:nvSpPr>
          <p:cNvPr id="144" name="lane-8-rule"/>
          <p:cNvSpPr/>
          <p:nvPr/>
        </p:nvSpPr>
        <p:spPr>
          <a:xfrm>
            <a:off x="548640" y="401210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45" name="lane-8-name"/>
          <p:cNvSpPr txBox="1"/>
          <p:nvPr/>
        </p:nvSpPr>
        <p:spPr>
          <a:xfrm>
            <a:off x="548640" y="4012106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146" name="lane-8-chip-1-tile"/>
          <p:cNvSpPr/>
          <p:nvPr/>
        </p:nvSpPr>
        <p:spPr>
          <a:xfrm>
            <a:off x="4251960" y="4032856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47" name="lane-8-chip-1" descr="/Users/a/MAI/DID/presentation/assets/logos/claude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293108" y="4074004"/>
            <a:ext cx="155448" cy="155448"/>
          </a:xfrm>
          <a:prstGeom prst="rect">
            <a:avLst/>
          </a:prstGeom>
        </p:spPr>
      </p:pic>
      <p:sp>
        <p:nvSpPr>
          <p:cNvPr id="148" name="lane-8-chip-2-tile"/>
          <p:cNvSpPr/>
          <p:nvPr/>
        </p:nvSpPr>
        <p:spPr>
          <a:xfrm>
            <a:off x="4526280" y="4032856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49" name="lane-8-chip-2" descr="/Users/a/MAI/DID/presentation/assets/logos/openai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567428" y="4074004"/>
            <a:ext cx="155448" cy="155448"/>
          </a:xfrm>
          <a:prstGeom prst="rect">
            <a:avLst/>
          </a:prstGeom>
        </p:spPr>
      </p:pic>
      <p:sp>
        <p:nvSpPr>
          <p:cNvPr id="150" name="lane-8-chip-3-tile"/>
          <p:cNvSpPr/>
          <p:nvPr/>
        </p:nvSpPr>
        <p:spPr>
          <a:xfrm>
            <a:off x="4800600" y="4032856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51" name="lane-8-chip-3" descr="/Users/a/MAI/DID/presentation/assets/logos/claude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4841748" y="4074004"/>
            <a:ext cx="155448" cy="155448"/>
          </a:xfrm>
          <a:prstGeom prst="rect">
            <a:avLst/>
          </a:prstGeom>
        </p:spPr>
      </p:pic>
      <p:sp>
        <p:nvSpPr>
          <p:cNvPr id="152" name="lane-8-chip-4"/>
          <p:cNvSpPr txBox="1"/>
          <p:nvPr/>
        </p:nvSpPr>
        <p:spPr>
          <a:xfrm>
            <a:off x="5074920" y="4032856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3" name="lane-8-result"/>
          <p:cNvSpPr txBox="1"/>
          <p:nvPr/>
        </p:nvSpPr>
        <p:spPr>
          <a:xfrm>
            <a:off x="7132320" y="4012106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с подсказками — 92,5 очка</a:t>
            </a:r>
            <a:endParaRPr lang="en-US" sz="1400" dirty="0"/>
          </a:p>
        </p:txBody>
      </p:sp>
      <p:sp>
        <p:nvSpPr>
          <p:cNvPr id="154" name="lane-9-rule"/>
          <p:cNvSpPr/>
          <p:nvPr/>
        </p:nvSpPr>
        <p:spPr>
          <a:xfrm>
            <a:off x="548640" y="429135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5" name="lane-9-name"/>
          <p:cNvSpPr txBox="1"/>
          <p:nvPr/>
        </p:nvSpPr>
        <p:spPr>
          <a:xfrm>
            <a:off x="548640" y="4291350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R12. Выбор опыта с учётом цены</a:t>
            </a:r>
            <a:endParaRPr lang="en-US" sz="1600" dirty="0"/>
          </a:p>
        </p:txBody>
      </p:sp>
      <p:sp>
        <p:nvSpPr>
          <p:cNvPr id="156" name="lane-9-chip-1-tile"/>
          <p:cNvSpPr/>
          <p:nvPr/>
        </p:nvSpPr>
        <p:spPr>
          <a:xfrm>
            <a:off x="4251960" y="43120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57" name="lane-9-chip-1" descr="/Users/a/MAI/DID/presentation/assets/logos/claude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4293108" y="4353247"/>
            <a:ext cx="155448" cy="155448"/>
          </a:xfrm>
          <a:prstGeom prst="rect">
            <a:avLst/>
          </a:prstGeom>
        </p:spPr>
      </p:pic>
      <p:sp>
        <p:nvSpPr>
          <p:cNvPr id="158" name="lane-9-chip-2-tile"/>
          <p:cNvSpPr/>
          <p:nvPr/>
        </p:nvSpPr>
        <p:spPr>
          <a:xfrm>
            <a:off x="4526280" y="43120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59" name="lane-9-chip-2" descr="/Users/a/MAI/DID/presentation/assets/logos/openai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4567428" y="4353247"/>
            <a:ext cx="155448" cy="155448"/>
          </a:xfrm>
          <a:prstGeom prst="rect">
            <a:avLst/>
          </a:prstGeom>
        </p:spPr>
      </p:pic>
      <p:sp>
        <p:nvSpPr>
          <p:cNvPr id="160" name="lane-9-chip-3-tile"/>
          <p:cNvSpPr/>
          <p:nvPr/>
        </p:nvSpPr>
        <p:spPr>
          <a:xfrm>
            <a:off x="4800600" y="43120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61" name="lane-9-chip-3" descr="/Users/a/MAI/DID/presentation/assets/logos/claude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4841748" y="4353247"/>
            <a:ext cx="155448" cy="155448"/>
          </a:xfrm>
          <a:prstGeom prst="rect">
            <a:avLst/>
          </a:prstGeom>
        </p:spPr>
      </p:pic>
      <p:sp>
        <p:nvSpPr>
          <p:cNvPr id="162" name="lane-9-chip-4"/>
          <p:cNvSpPr txBox="1"/>
          <p:nvPr/>
        </p:nvSpPr>
        <p:spPr>
          <a:xfrm>
            <a:off x="5074920" y="43120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63" name="lane-9-result"/>
          <p:cNvSpPr txBox="1"/>
          <p:nvPr/>
        </p:nvSpPr>
        <p:spPr>
          <a:xfrm>
            <a:off x="7132320" y="4291350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расход на расследование: 0,54 → 0,08</a:t>
            </a:r>
            <a:endParaRPr lang="en-US" sz="1400" dirty="0"/>
          </a:p>
        </p:txBody>
      </p:sp>
      <p:sp>
        <p:nvSpPr>
          <p:cNvPr id="164" name="lane-10-rule"/>
          <p:cNvSpPr/>
          <p:nvPr/>
        </p:nvSpPr>
        <p:spPr>
          <a:xfrm>
            <a:off x="548640" y="457059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65" name="lane-10-name"/>
          <p:cNvSpPr txBox="1"/>
          <p:nvPr/>
        </p:nvSpPr>
        <p:spPr>
          <a:xfrm>
            <a:off x="548640" y="4570593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66" name="lane-10-chip-1-tile"/>
          <p:cNvSpPr/>
          <p:nvPr/>
        </p:nvSpPr>
        <p:spPr>
          <a:xfrm>
            <a:off x="425196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67" name="lane-10-chip-1" descr="/Users/a/MAI/DID/presentation/assets/logos/claude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4293108" y="4632491"/>
            <a:ext cx="155448" cy="155448"/>
          </a:xfrm>
          <a:prstGeom prst="rect">
            <a:avLst/>
          </a:prstGeom>
        </p:spPr>
      </p:pic>
      <p:sp>
        <p:nvSpPr>
          <p:cNvPr id="168" name="lane-10-chip-2-tile"/>
          <p:cNvSpPr/>
          <p:nvPr/>
        </p:nvSpPr>
        <p:spPr>
          <a:xfrm>
            <a:off x="452628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69" name="lane-10-chip-2" descr="/Users/a/MAI/DID/presentation/assets/logos/openai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4567428" y="4632491"/>
            <a:ext cx="155448" cy="155448"/>
          </a:xfrm>
          <a:prstGeom prst="rect">
            <a:avLst/>
          </a:prstGeom>
        </p:spPr>
      </p:pic>
      <p:sp>
        <p:nvSpPr>
          <p:cNvPr id="170" name="lane-10-chip-3-tile"/>
          <p:cNvSpPr/>
          <p:nvPr/>
        </p:nvSpPr>
        <p:spPr>
          <a:xfrm>
            <a:off x="480060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71" name="lane-10-chip-3" descr="/Users/a/MAI/DID/presentation/assets/logos/claude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4841748" y="4632491"/>
            <a:ext cx="155448" cy="155448"/>
          </a:xfrm>
          <a:prstGeom prst="rect">
            <a:avLst/>
          </a:prstGeom>
        </p:spPr>
      </p:pic>
      <p:sp>
        <p:nvSpPr>
          <p:cNvPr id="172" name="lane-10-chip-4-tile"/>
          <p:cNvSpPr/>
          <p:nvPr/>
        </p:nvSpPr>
        <p:spPr>
          <a:xfrm>
            <a:off x="507492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73" name="lane-10-chip-4" descr="/Users/a/MAI/DID/presentation/assets/logos/openai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5116068" y="4632491"/>
            <a:ext cx="155448" cy="155448"/>
          </a:xfrm>
          <a:prstGeom prst="rect">
            <a:avLst/>
          </a:prstGeom>
        </p:spPr>
      </p:pic>
      <p:sp>
        <p:nvSpPr>
          <p:cNvPr id="174" name="lane-10-chip-5-tile"/>
          <p:cNvSpPr/>
          <p:nvPr/>
        </p:nvSpPr>
        <p:spPr>
          <a:xfrm>
            <a:off x="534924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75" name="lane-10-chip-5" descr="/Users/a/MAI/DID/presentation/assets/logos/claude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5390388" y="4632491"/>
            <a:ext cx="155448" cy="155448"/>
          </a:xfrm>
          <a:prstGeom prst="rect">
            <a:avLst/>
          </a:prstGeom>
        </p:spPr>
      </p:pic>
      <p:sp>
        <p:nvSpPr>
          <p:cNvPr id="176" name="lane-10-chip-6"/>
          <p:cNvSpPr txBox="1"/>
          <p:nvPr/>
        </p:nvSpPr>
        <p:spPr>
          <a:xfrm>
            <a:off x="562356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77" name="lane-10-result"/>
          <p:cNvSpPr txBox="1"/>
          <p:nvPr/>
        </p:nvSpPr>
        <p:spPr>
          <a:xfrm>
            <a:off x="7132320" y="4570593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неверный закон датчика: 1% → 71% образцов</a:t>
            </a:r>
            <a:endParaRPr lang="en-US" sz="1400" dirty="0"/>
          </a:p>
        </p:txBody>
      </p:sp>
      <p:sp>
        <p:nvSpPr>
          <p:cNvPr id="178" name="lane-11-rule"/>
          <p:cNvSpPr/>
          <p:nvPr/>
        </p:nvSpPr>
        <p:spPr>
          <a:xfrm>
            <a:off x="548640" y="484983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9" name="lane-11-name"/>
          <p:cNvSpPr txBox="1"/>
          <p:nvPr/>
        </p:nvSpPr>
        <p:spPr>
          <a:xfrm>
            <a:off x="548640" y="4849837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J1. Быстрая модель-сторож</a:t>
            </a:r>
            <a:endParaRPr lang="en-US" sz="1600" dirty="0"/>
          </a:p>
        </p:txBody>
      </p:sp>
      <p:sp>
        <p:nvSpPr>
          <p:cNvPr id="180" name="lane-11-chip-1-tile"/>
          <p:cNvSpPr/>
          <p:nvPr/>
        </p:nvSpPr>
        <p:spPr>
          <a:xfrm>
            <a:off x="425196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1" name="lane-11-chip-1" descr="/Users/a/MAI/DID/presentation/assets/logos/claude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4293108" y="4911735"/>
            <a:ext cx="155448" cy="155448"/>
          </a:xfrm>
          <a:prstGeom prst="rect">
            <a:avLst/>
          </a:prstGeom>
        </p:spPr>
      </p:pic>
      <p:sp>
        <p:nvSpPr>
          <p:cNvPr id="182" name="lane-11-chip-2-tile"/>
          <p:cNvSpPr/>
          <p:nvPr/>
        </p:nvSpPr>
        <p:spPr>
          <a:xfrm>
            <a:off x="452628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3" name="lane-11-chip-2" descr="/Users/a/MAI/DID/presentation/assets/logos/openai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4567428" y="4911735"/>
            <a:ext cx="155448" cy="155448"/>
          </a:xfrm>
          <a:prstGeom prst="rect">
            <a:avLst/>
          </a:prstGeom>
        </p:spPr>
      </p:pic>
      <p:sp>
        <p:nvSpPr>
          <p:cNvPr id="184" name="lane-11-chip-3-tile"/>
          <p:cNvSpPr/>
          <p:nvPr/>
        </p:nvSpPr>
        <p:spPr>
          <a:xfrm>
            <a:off x="480060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5" name="lane-11-chip-3" descr="/Users/a/MAI/DID/presentation/assets/logos/claude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841748" y="4911735"/>
            <a:ext cx="155448" cy="155448"/>
          </a:xfrm>
          <a:prstGeom prst="rect">
            <a:avLst/>
          </a:prstGeom>
        </p:spPr>
      </p:pic>
      <p:sp>
        <p:nvSpPr>
          <p:cNvPr id="186" name="lane-11-chip-4-tile"/>
          <p:cNvSpPr/>
          <p:nvPr/>
        </p:nvSpPr>
        <p:spPr>
          <a:xfrm>
            <a:off x="507492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7" name="lane-11-chip-4" descr="/Users/a/MAI/DID/presentation/assets/logos/claude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116068" y="4911735"/>
            <a:ext cx="155448" cy="155448"/>
          </a:xfrm>
          <a:prstGeom prst="rect">
            <a:avLst/>
          </a:prstGeom>
        </p:spPr>
      </p:pic>
      <p:sp>
        <p:nvSpPr>
          <p:cNvPr id="188" name="lane-11-chip-5-tile"/>
          <p:cNvSpPr/>
          <p:nvPr/>
        </p:nvSpPr>
        <p:spPr>
          <a:xfrm>
            <a:off x="534924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9" name="lane-11-chip-5" descr="/Users/a/MAI/DID/presentation/assets/logos/openai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5390388" y="4911735"/>
            <a:ext cx="155448" cy="155448"/>
          </a:xfrm>
          <a:prstGeom prst="rect">
            <a:avLst/>
          </a:prstGeom>
        </p:spPr>
      </p:pic>
      <p:sp>
        <p:nvSpPr>
          <p:cNvPr id="190" name="lane-11-chip-6"/>
          <p:cNvSpPr txBox="1"/>
          <p:nvPr/>
        </p:nvSpPr>
        <p:spPr>
          <a:xfrm>
            <a:off x="562356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91" name="lane-11-result"/>
          <p:cNvSpPr txBox="1"/>
          <p:nvPr/>
        </p:nvSpPr>
        <p:spPr>
          <a:xfrm>
            <a:off x="7132320" y="4849837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миссия «ровно два образца»: 20 из 20</a:t>
            </a:r>
            <a:endParaRPr lang="en-US" sz="1400" dirty="0"/>
          </a:p>
        </p:txBody>
      </p:sp>
      <p:sp>
        <p:nvSpPr>
          <p:cNvPr id="192" name="lane-12-rule"/>
          <p:cNvSpPr/>
          <p:nvPr/>
        </p:nvSpPr>
        <p:spPr>
          <a:xfrm>
            <a:off x="548640" y="512908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3" name="lane-12-name"/>
          <p:cNvSpPr txBox="1"/>
          <p:nvPr/>
        </p:nvSpPr>
        <p:spPr>
          <a:xfrm>
            <a:off x="548640" y="5129081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194" name="lane-12-chip-1-tile"/>
          <p:cNvSpPr/>
          <p:nvPr/>
        </p:nvSpPr>
        <p:spPr>
          <a:xfrm>
            <a:off x="425196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5" name="lane-12-chip-1" descr="/Users/a/MAI/DID/presentation/assets/logos/claude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4293108" y="5190978"/>
            <a:ext cx="155448" cy="155448"/>
          </a:xfrm>
          <a:prstGeom prst="rect">
            <a:avLst/>
          </a:prstGeom>
        </p:spPr>
      </p:pic>
      <p:sp>
        <p:nvSpPr>
          <p:cNvPr id="196" name="lane-12-chip-2-tile"/>
          <p:cNvSpPr/>
          <p:nvPr/>
        </p:nvSpPr>
        <p:spPr>
          <a:xfrm>
            <a:off x="452628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7" name="lane-12-chip-2" descr="/Users/a/MAI/DID/presentation/assets/logos/openai.png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4567428" y="5190978"/>
            <a:ext cx="155448" cy="155448"/>
          </a:xfrm>
          <a:prstGeom prst="rect">
            <a:avLst/>
          </a:prstGeom>
        </p:spPr>
      </p:pic>
      <p:sp>
        <p:nvSpPr>
          <p:cNvPr id="198" name="lane-12-chip-3-tile"/>
          <p:cNvSpPr/>
          <p:nvPr/>
        </p:nvSpPr>
        <p:spPr>
          <a:xfrm>
            <a:off x="480060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9" name="lane-12-chip-3" descr="/Users/a/MAI/DID/presentation/assets/logos/claude.png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4841748" y="5190978"/>
            <a:ext cx="155448" cy="155448"/>
          </a:xfrm>
          <a:prstGeom prst="rect">
            <a:avLst/>
          </a:prstGeom>
        </p:spPr>
      </p:pic>
      <p:sp>
        <p:nvSpPr>
          <p:cNvPr id="200" name="lane-12-chip-4-tile"/>
          <p:cNvSpPr/>
          <p:nvPr/>
        </p:nvSpPr>
        <p:spPr>
          <a:xfrm>
            <a:off x="507492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1" name="lane-12-chip-4" descr="/Users/a/MAI/DID/presentation/assets/logos/openai.png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5116068" y="5190978"/>
            <a:ext cx="155448" cy="155448"/>
          </a:xfrm>
          <a:prstGeom prst="rect">
            <a:avLst/>
          </a:prstGeom>
        </p:spPr>
      </p:pic>
      <p:sp>
        <p:nvSpPr>
          <p:cNvPr id="202" name="lane-12-chip-5-tile"/>
          <p:cNvSpPr/>
          <p:nvPr/>
        </p:nvSpPr>
        <p:spPr>
          <a:xfrm>
            <a:off x="534924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3" name="lane-12-chip-5" descr="/Users/a/MAI/DID/presentation/assets/logos/claude.png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5390388" y="5190978"/>
            <a:ext cx="155448" cy="155448"/>
          </a:xfrm>
          <a:prstGeom prst="rect">
            <a:avLst/>
          </a:prstGeom>
        </p:spPr>
      </p:pic>
      <p:sp>
        <p:nvSpPr>
          <p:cNvPr id="204" name="lane-12-chip-6"/>
          <p:cNvSpPr txBox="1"/>
          <p:nvPr/>
        </p:nvSpPr>
        <p:spPr>
          <a:xfrm>
            <a:off x="562356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05" name="lane-12-result"/>
          <p:cNvSpPr txBox="1"/>
          <p:nvPr/>
        </p:nvSpPr>
        <p:spPr>
          <a:xfrm>
            <a:off x="7132320" y="5129081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прогон короче на 26 с, заряда на четверть меньше</a:t>
            </a:r>
            <a:endParaRPr lang="en-US" sz="1400" dirty="0"/>
          </a:p>
        </p:txBody>
      </p:sp>
      <p:sp>
        <p:nvSpPr>
          <p:cNvPr id="206" name="lane-13-rule"/>
          <p:cNvSpPr/>
          <p:nvPr/>
        </p:nvSpPr>
        <p:spPr>
          <a:xfrm>
            <a:off x="548640" y="540832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7" name="lane-13-name"/>
          <p:cNvSpPr txBox="1"/>
          <p:nvPr/>
        </p:nvSpPr>
        <p:spPr>
          <a:xfrm>
            <a:off x="548640" y="5408324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208" name="lane-13-chip-1-tile"/>
          <p:cNvSpPr/>
          <p:nvPr/>
        </p:nvSpPr>
        <p:spPr>
          <a:xfrm>
            <a:off x="425196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9" name="lane-13-chip-1" descr="/Users/a/MAI/DID/presentation/assets/logos/gemini.png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293108" y="5470222"/>
            <a:ext cx="155448" cy="155448"/>
          </a:xfrm>
          <a:prstGeom prst="rect">
            <a:avLst/>
          </a:prstGeom>
        </p:spPr>
      </p:pic>
      <p:sp>
        <p:nvSpPr>
          <p:cNvPr id="210" name="lane-13-chip-2-tile"/>
          <p:cNvSpPr/>
          <p:nvPr/>
        </p:nvSpPr>
        <p:spPr>
          <a:xfrm>
            <a:off x="452628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1" name="lane-13-chip-2" descr="/Users/a/MAI/DID/presentation/assets/logos/claude.png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567428" y="5470222"/>
            <a:ext cx="155448" cy="155448"/>
          </a:xfrm>
          <a:prstGeom prst="rect">
            <a:avLst/>
          </a:prstGeom>
        </p:spPr>
      </p:pic>
      <p:sp>
        <p:nvSpPr>
          <p:cNvPr id="212" name="lane-13-chip-3-tile"/>
          <p:cNvSpPr/>
          <p:nvPr/>
        </p:nvSpPr>
        <p:spPr>
          <a:xfrm>
            <a:off x="480060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3" name="lane-13-chip-3" descr="/Users/a/MAI/DID/presentation/assets/logos/openai.png">    </p:cNvPr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4841748" y="5470222"/>
            <a:ext cx="155448" cy="155448"/>
          </a:xfrm>
          <a:prstGeom prst="rect">
            <a:avLst/>
          </a:prstGeom>
        </p:spPr>
      </p:pic>
      <p:sp>
        <p:nvSpPr>
          <p:cNvPr id="214" name="lane-13-chip-4-tile"/>
          <p:cNvSpPr/>
          <p:nvPr/>
        </p:nvSpPr>
        <p:spPr>
          <a:xfrm>
            <a:off x="507492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5" name="lane-13-chip-4" descr="/Users/a/MAI/DID/presentation/assets/logos/claude.png">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5116068" y="5470222"/>
            <a:ext cx="155448" cy="155448"/>
          </a:xfrm>
          <a:prstGeom prst="rect">
            <a:avLst/>
          </a:prstGeom>
        </p:spPr>
      </p:pic>
      <p:sp>
        <p:nvSpPr>
          <p:cNvPr id="216" name="lane-13-chip-5-tile"/>
          <p:cNvSpPr/>
          <p:nvPr/>
        </p:nvSpPr>
        <p:spPr>
          <a:xfrm>
            <a:off x="534924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7" name="lane-13-chip-5" descr="/Users/a/MAI/DID/presentation/assets/logos/openai.png">    </p:cNvPr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5390388" y="5470222"/>
            <a:ext cx="155448" cy="155448"/>
          </a:xfrm>
          <a:prstGeom prst="rect">
            <a:avLst/>
          </a:prstGeom>
        </p:spPr>
      </p:pic>
      <p:sp>
        <p:nvSpPr>
          <p:cNvPr id="218" name="lane-13-chip-6-tile"/>
          <p:cNvSpPr/>
          <p:nvPr/>
        </p:nvSpPr>
        <p:spPr>
          <a:xfrm>
            <a:off x="562356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9" name="lane-13-chip-6" descr="/Users/a/MAI/DID/presentation/assets/logos/claude.png">    </p:cNvPr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5664708" y="5470222"/>
            <a:ext cx="155448" cy="155448"/>
          </a:xfrm>
          <a:prstGeom prst="rect">
            <a:avLst/>
          </a:prstGeom>
        </p:spPr>
      </p:pic>
      <p:sp>
        <p:nvSpPr>
          <p:cNvPr id="220" name="lane-13-chip-7-tile"/>
          <p:cNvSpPr/>
          <p:nvPr/>
        </p:nvSpPr>
        <p:spPr>
          <a:xfrm>
            <a:off x="589788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21" name="lane-13-chip-7" descr="/Users/a/MAI/DID/presentation/assets/logos/openai.png">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5939028" y="5470222"/>
            <a:ext cx="155448" cy="155448"/>
          </a:xfrm>
          <a:prstGeom prst="rect">
            <a:avLst/>
          </a:prstGeom>
        </p:spPr>
      </p:pic>
      <p:sp>
        <p:nvSpPr>
          <p:cNvPr id="222" name="lane-13-chip-8"/>
          <p:cNvSpPr txBox="1"/>
          <p:nvPr/>
        </p:nvSpPr>
        <p:spPr>
          <a:xfrm>
            <a:off x="617220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23" name="lane-13-result"/>
          <p:cNvSpPr txBox="1"/>
          <p:nvPr/>
        </p:nvSpPr>
        <p:spPr>
          <a:xfrm>
            <a:off x="7132320" y="5408324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224" name="conclusion-card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225" name="conclusion-text"/>
          <p:cNvSpPr txBox="1"/>
          <p:nvPr/>
        </p:nvSpPr>
        <p:spPr>
          <a:xfrm>
            <a:off x="822960" y="57607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процесса,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2026-10-08T23:02:35Z</dcterms:created>
  <dcterms:modified xsi:type="dcterms:W3CDTF">2026-10-08T23:02:35Z</dcterms:modified>
</cp:coreProperties>
</file>