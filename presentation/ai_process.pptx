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d6a036e6-e0cc-97d5-0c7e-7ea36f17bb23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За сутки — 45 поручений агентам, и все 11 ревью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исследования. Каждая плашка — один шаг: обзор, работа инженера, ревью или решение человека. В первых двух исследованиях ревью нашло 7 ошибок, и два вывода пришлось перевернуть. Робот с языковой моделью выполнил миссию, заданную словами, 6 из 6; робот с простым правилом — ни разу. В Gazebo робот вернулся на базу в прогонах 8 из 9, после правки — 7 из 7. Разбор потерь дал плюс шесть очков на трудном уровне. Ожидание ответа модели стоило 73 очка; если робот едет, пока модель думает, возвращается 42 — эта работа ещё на ревью. А один опыт выигрыша не показал, и мы говорим об этом прямо. Справа — решения людей: не минимальная версия, робот-учёный, исследователи не пишут код, главная цель — результативный робот.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sp>
        <p:nvSpPr>
          <p:cNvPr id="13" name="lead-model"/>
          <p:cNvSpPr txBox="1"/>
          <p:nvPr/>
        </p:nvSpPr>
        <p:spPr>
          <a:xfrm>
            <a:off x="3218688" y="37398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4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6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7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sp>
        <p:nvSpPr>
          <p:cNvPr id="18" name="role-1-model"/>
          <p:cNvSpPr txBox="1"/>
          <p:nvPr/>
        </p:nvSpPr>
        <p:spPr>
          <a:xfrm>
            <a:off x="5852160" y="2587752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19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0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1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sp>
        <p:nvSpPr>
          <p:cNvPr id="22" name="role-2-model"/>
          <p:cNvSpPr txBox="1"/>
          <p:nvPr/>
        </p:nvSpPr>
        <p:spPr>
          <a:xfrm>
            <a:off x="8892540" y="2587752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3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4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5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sp>
        <p:nvSpPr>
          <p:cNvPr id="26" name="role-3-model"/>
          <p:cNvSpPr txBox="1"/>
          <p:nvPr/>
        </p:nvSpPr>
        <p:spPr>
          <a:xfrm>
            <a:off x="5852160" y="3858768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27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8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29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sp>
        <p:nvSpPr>
          <p:cNvPr id="30" name="role-4-model"/>
          <p:cNvSpPr txBox="1"/>
          <p:nvPr/>
        </p:nvSpPr>
        <p:spPr>
          <a:xfrm>
            <a:off x="8892540" y="3858768"/>
            <a:ext cx="2564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Fable 5.1 и GPT-6 Astra</a:t>
            </a:r>
            <a:endParaRPr lang="en-US" sz="1200" dirty="0"/>
          </a:p>
        </p:txBody>
      </p:sp>
      <p:sp>
        <p:nvSpPr>
          <p:cNvPr id="31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2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3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34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6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37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0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2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3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46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8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49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2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3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54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55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6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</a:t>
            </a:r>
            <a:endParaRPr lang="en-US" sz="2800" dirty="0"/>
          </a:p>
        </p:txBody>
      </p:sp>
      <p:sp>
        <p:nvSpPr>
          <p:cNvPr id="57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58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0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 вернули работу на доработку</a:t>
            </a:r>
            <a:endParaRPr lang="en-US" sz="1300" dirty="0"/>
          </a:p>
        </p:txBody>
      </p:sp>
      <p:sp>
        <p:nvSpPr>
          <p:cNvPr id="61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104</a:t>
            </a:r>
            <a:endParaRPr lang="en-US" sz="2800" dirty="0"/>
          </a:p>
        </p:txBody>
      </p:sp>
      <p:sp>
        <p:nvSpPr>
          <p:cNvPr id="63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правки кода (коммита)</a:t>
            </a:r>
            <a:endParaRPr lang="en-US" sz="1300" dirty="0"/>
          </a:p>
        </p:txBody>
      </p:sp>
      <p:sp>
        <p:nvSpPr>
          <p:cNvPr id="64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600+</a:t>
            </a:r>
            <a:endParaRPr lang="en-US" sz="2800" dirty="0"/>
          </a:p>
        </p:txBody>
      </p:sp>
      <p:sp>
        <p:nvSpPr>
          <p:cNvPr id="65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66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7 500</a:t>
            </a:r>
            <a:endParaRPr lang="en-US" sz="2800" dirty="0"/>
          </a:p>
        </p:txBody>
      </p:sp>
      <p:sp>
        <p:nvSpPr>
          <p:cNvPr id="67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решали люди и 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На развилках решал человек; код каждой работы до вливания читала независимая модель-ревьюер</a:t>
            </a:r>
            <a:endParaRPr lang="en-US" sz="1600" dirty="0"/>
          </a:p>
        </p:txBody>
      </p:sp>
      <p:sp>
        <p:nvSpPr>
          <p:cNvPr id="5" name="legend-1-chip"/>
          <p:cNvSpPr txBox="1"/>
          <p:nvPr/>
        </p:nvSpPr>
        <p:spPr>
          <a:xfrm>
            <a:off x="54864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6" name="legend-1-word"/>
          <p:cNvSpPr txBox="1"/>
          <p:nvPr/>
        </p:nvSpPr>
        <p:spPr>
          <a:xfrm>
            <a:off x="859536" y="1691640"/>
            <a:ext cx="56875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</a:t>
            </a:r>
            <a:endParaRPr lang="en-US" sz="1300" dirty="0"/>
          </a:p>
        </p:txBody>
      </p:sp>
      <p:sp>
        <p:nvSpPr>
          <p:cNvPr id="7" name="legend-2-chip"/>
          <p:cNvSpPr txBox="1"/>
          <p:nvPr/>
        </p:nvSpPr>
        <p:spPr>
          <a:xfrm>
            <a:off x="1528877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8" name="legend-2-word"/>
          <p:cNvSpPr txBox="1"/>
          <p:nvPr/>
        </p:nvSpPr>
        <p:spPr>
          <a:xfrm>
            <a:off x="1839773" y="1691640"/>
            <a:ext cx="6574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инженер</a:t>
            </a:r>
            <a:endParaRPr lang="en-US" sz="1300" dirty="0"/>
          </a:p>
        </p:txBody>
      </p:sp>
      <p:sp>
        <p:nvSpPr>
          <p:cNvPr id="9" name="legend-3-chip"/>
          <p:cNvSpPr txBox="1"/>
          <p:nvPr/>
        </p:nvSpPr>
        <p:spPr>
          <a:xfrm>
            <a:off x="259781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10" name="legend-3-word"/>
          <p:cNvSpPr txBox="1"/>
          <p:nvPr/>
        </p:nvSpPr>
        <p:spPr>
          <a:xfrm>
            <a:off x="2908706" y="1691640"/>
            <a:ext cx="4800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</a:t>
            </a:r>
            <a:endParaRPr lang="en-US" sz="1300" dirty="0"/>
          </a:p>
        </p:txBody>
      </p:sp>
      <p:sp>
        <p:nvSpPr>
          <p:cNvPr id="11" name="legend-4-chip"/>
          <p:cNvSpPr txBox="1"/>
          <p:nvPr/>
        </p:nvSpPr>
        <p:spPr>
          <a:xfrm>
            <a:off x="3489350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legend-4-word"/>
          <p:cNvSpPr txBox="1"/>
          <p:nvPr/>
        </p:nvSpPr>
        <p:spPr>
          <a:xfrm>
            <a:off x="3800246" y="1691640"/>
            <a:ext cx="6574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3" name="legend-5-chip"/>
          <p:cNvSpPr txBox="1"/>
          <p:nvPr/>
        </p:nvSpPr>
        <p:spPr>
          <a:xfrm>
            <a:off x="4558284" y="170535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14" name="legend-5-word"/>
          <p:cNvSpPr txBox="1"/>
          <p:nvPr/>
        </p:nvSpPr>
        <p:spPr>
          <a:xfrm>
            <a:off x="4869180" y="1691640"/>
            <a:ext cx="145572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решение человека</a:t>
            </a:r>
            <a:endParaRPr lang="en-US" sz="1300" dirty="0"/>
          </a:p>
        </p:txBody>
      </p:sp>
      <p:sp>
        <p:nvSpPr>
          <p:cNvPr id="15" name="lane-1-name"/>
          <p:cNvSpPr txBox="1"/>
          <p:nvPr/>
        </p:nvSpPr>
        <p:spPr>
          <a:xfrm>
            <a:off x="548640" y="207568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6" name="lane-1-chip-1"/>
          <p:cNvSpPr txBox="1"/>
          <p:nvPr/>
        </p:nvSpPr>
        <p:spPr>
          <a:xfrm>
            <a:off x="331927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17" name="lane-1-chip-2"/>
          <p:cNvSpPr txBox="1"/>
          <p:nvPr/>
        </p:nvSpPr>
        <p:spPr>
          <a:xfrm>
            <a:off x="3602736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18" name="lane-1-chip-3"/>
          <p:cNvSpPr txBox="1"/>
          <p:nvPr/>
        </p:nvSpPr>
        <p:spPr>
          <a:xfrm>
            <a:off x="388620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19" name="lane-1-chip-4"/>
          <p:cNvSpPr txBox="1"/>
          <p:nvPr/>
        </p:nvSpPr>
        <p:spPr>
          <a:xfrm>
            <a:off x="4169664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0" name="lane-1-chip-5"/>
          <p:cNvSpPr txBox="1"/>
          <p:nvPr/>
        </p:nvSpPr>
        <p:spPr>
          <a:xfrm>
            <a:off x="4453128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1" name="lane-1-chip-6"/>
          <p:cNvSpPr txBox="1"/>
          <p:nvPr/>
        </p:nvSpPr>
        <p:spPr>
          <a:xfrm>
            <a:off x="473659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2" name="lane-1-chip-7"/>
          <p:cNvSpPr txBox="1"/>
          <p:nvPr/>
        </p:nvSpPr>
        <p:spPr>
          <a:xfrm>
            <a:off x="5020056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3" name="lane-1-chip-8"/>
          <p:cNvSpPr txBox="1"/>
          <p:nvPr/>
        </p:nvSpPr>
        <p:spPr>
          <a:xfrm>
            <a:off x="530352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4" name="lane-1-chip-9"/>
          <p:cNvSpPr txBox="1"/>
          <p:nvPr/>
        </p:nvSpPr>
        <p:spPr>
          <a:xfrm>
            <a:off x="5586984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25" name="lane-1-chip-10"/>
          <p:cNvSpPr txBox="1"/>
          <p:nvPr/>
        </p:nvSpPr>
        <p:spPr>
          <a:xfrm>
            <a:off x="5870448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26" name="lane-1-chip-11"/>
          <p:cNvSpPr txBox="1"/>
          <p:nvPr/>
        </p:nvSpPr>
        <p:spPr>
          <a:xfrm>
            <a:off x="6153912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result"/>
          <p:cNvSpPr txBox="1"/>
          <p:nvPr/>
        </p:nvSpPr>
        <p:spPr>
          <a:xfrm>
            <a:off x="548640" y="232714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ревью нашло 7 ошибок; два вывода перевёрнуты</a:t>
            </a:r>
            <a:endParaRPr lang="en-US" sz="1600" dirty="0"/>
          </a:p>
        </p:txBody>
      </p:sp>
      <p:sp>
        <p:nvSpPr>
          <p:cNvPr id="28" name="lane-2-rule"/>
          <p:cNvSpPr/>
          <p:nvPr/>
        </p:nvSpPr>
        <p:spPr>
          <a:xfrm>
            <a:off x="548640" y="2615184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lane-2-name"/>
          <p:cNvSpPr txBox="1"/>
          <p:nvPr/>
        </p:nvSpPr>
        <p:spPr>
          <a:xfrm>
            <a:off x="548640" y="2642616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30" name="lane-2-chip-1"/>
          <p:cNvSpPr txBox="1"/>
          <p:nvPr/>
        </p:nvSpPr>
        <p:spPr>
          <a:xfrm>
            <a:off x="5020056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31" name="lane-2-chip-2"/>
          <p:cNvSpPr txBox="1"/>
          <p:nvPr/>
        </p:nvSpPr>
        <p:spPr>
          <a:xfrm>
            <a:off x="5303520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2" name="lane-2-chip-3"/>
          <p:cNvSpPr txBox="1"/>
          <p:nvPr/>
        </p:nvSpPr>
        <p:spPr>
          <a:xfrm>
            <a:off x="5586984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33" name="lane-2-chip-4"/>
          <p:cNvSpPr txBox="1"/>
          <p:nvPr/>
        </p:nvSpPr>
        <p:spPr>
          <a:xfrm>
            <a:off x="5870448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4" name="lane-2-chip-5"/>
          <p:cNvSpPr txBox="1"/>
          <p:nvPr/>
        </p:nvSpPr>
        <p:spPr>
          <a:xfrm>
            <a:off x="6153912" y="264718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5" name="lane-2-result"/>
          <p:cNvSpPr txBox="1"/>
          <p:nvPr/>
        </p:nvSpPr>
        <p:spPr>
          <a:xfrm>
            <a:off x="548640" y="2894076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модель выполняет миссию 6 из 6, правило — 0 из 6</a:t>
            </a:r>
            <a:endParaRPr lang="en-US" sz="1600" dirty="0"/>
          </a:p>
        </p:txBody>
      </p:sp>
      <p:sp>
        <p:nvSpPr>
          <p:cNvPr id="36" name="lane-3-rule"/>
          <p:cNvSpPr/>
          <p:nvPr/>
        </p:nvSpPr>
        <p:spPr>
          <a:xfrm>
            <a:off x="548640" y="3182112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548640" y="32095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38" name="lane-3-chip-1"/>
          <p:cNvSpPr txBox="1"/>
          <p:nvPr/>
        </p:nvSpPr>
        <p:spPr>
          <a:xfrm>
            <a:off x="5303520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39" name="lane-3-chip-2"/>
          <p:cNvSpPr txBox="1"/>
          <p:nvPr/>
        </p:nvSpPr>
        <p:spPr>
          <a:xfrm>
            <a:off x="5586984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40" name="lane-3-chip-3"/>
          <p:cNvSpPr txBox="1"/>
          <p:nvPr/>
        </p:nvSpPr>
        <p:spPr>
          <a:xfrm>
            <a:off x="5870448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1" name="lane-3-chip-4"/>
          <p:cNvSpPr txBox="1"/>
          <p:nvPr/>
        </p:nvSpPr>
        <p:spPr>
          <a:xfrm>
            <a:off x="6153912" y="321411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2" name="lane-3-result"/>
          <p:cNvSpPr txBox="1"/>
          <p:nvPr/>
        </p:nvSpPr>
        <p:spPr>
          <a:xfrm>
            <a:off x="548640" y="3461004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600" dirty="0"/>
          </a:p>
        </p:txBody>
      </p:sp>
      <p:sp>
        <p:nvSpPr>
          <p:cNvPr id="43" name="lane-4-rule"/>
          <p:cNvSpPr/>
          <p:nvPr/>
        </p:nvSpPr>
        <p:spPr>
          <a:xfrm>
            <a:off x="548640" y="3749040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4" name="lane-4-name"/>
          <p:cNvSpPr txBox="1"/>
          <p:nvPr/>
        </p:nvSpPr>
        <p:spPr>
          <a:xfrm>
            <a:off x="548640" y="3776472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45" name="lane-4-chip-1"/>
          <p:cNvSpPr txBox="1"/>
          <p:nvPr/>
        </p:nvSpPr>
        <p:spPr>
          <a:xfrm>
            <a:off x="5020056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46" name="lane-4-chip-2"/>
          <p:cNvSpPr txBox="1"/>
          <p:nvPr/>
        </p:nvSpPr>
        <p:spPr>
          <a:xfrm>
            <a:off x="5303520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7" name="lane-4-chip-3"/>
          <p:cNvSpPr txBox="1"/>
          <p:nvPr/>
        </p:nvSpPr>
        <p:spPr>
          <a:xfrm>
            <a:off x="5586984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48" name="lane-4-chip-4"/>
          <p:cNvSpPr txBox="1"/>
          <p:nvPr/>
        </p:nvSpPr>
        <p:spPr>
          <a:xfrm>
            <a:off x="5870448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49" name="lane-4-chip-5"/>
          <p:cNvSpPr txBox="1"/>
          <p:nvPr/>
        </p:nvSpPr>
        <p:spPr>
          <a:xfrm>
            <a:off x="6153912" y="3781044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0" name="lane-4-result"/>
          <p:cNvSpPr txBox="1"/>
          <p:nvPr/>
        </p:nvSpPr>
        <p:spPr>
          <a:xfrm>
            <a:off x="548640" y="4027932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пережидание сбоя датчика: +6,4 очка на трудном уровне</a:t>
            </a:r>
            <a:endParaRPr lang="en-US" sz="1600" dirty="0"/>
          </a:p>
        </p:txBody>
      </p:sp>
      <p:sp>
        <p:nvSpPr>
          <p:cNvPr id="51" name="lane-5-rule"/>
          <p:cNvSpPr/>
          <p:nvPr/>
        </p:nvSpPr>
        <p:spPr>
          <a:xfrm>
            <a:off x="548640" y="4315968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2" name="lane-5-name"/>
          <p:cNvSpPr txBox="1"/>
          <p:nvPr/>
        </p:nvSpPr>
        <p:spPr>
          <a:xfrm>
            <a:off x="548640" y="4343400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53" name="lane-5-chip-1"/>
          <p:cNvSpPr txBox="1"/>
          <p:nvPr/>
        </p:nvSpPr>
        <p:spPr>
          <a:xfrm>
            <a:off x="4736592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</a:t>
            </a:r>
            <a:endParaRPr lang="en-US" sz="1300" dirty="0"/>
          </a:p>
        </p:txBody>
      </p:sp>
      <p:sp>
        <p:nvSpPr>
          <p:cNvPr id="54" name="lane-5-chip-2"/>
          <p:cNvSpPr txBox="1"/>
          <p:nvPr/>
        </p:nvSpPr>
        <p:spPr>
          <a:xfrm>
            <a:off x="5020056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5" name="lane-5-chip-3"/>
          <p:cNvSpPr txBox="1"/>
          <p:nvPr/>
        </p:nvSpPr>
        <p:spPr>
          <a:xfrm>
            <a:off x="5303520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6" name="lane-5-chip-4"/>
          <p:cNvSpPr txBox="1"/>
          <p:nvPr/>
        </p:nvSpPr>
        <p:spPr>
          <a:xfrm>
            <a:off x="5586984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7" name="lane-5-next"/>
          <p:cNvSpPr txBox="1"/>
          <p:nvPr/>
        </p:nvSpPr>
        <p:spPr>
          <a:xfrm>
            <a:off x="5870448" y="4343400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lane-5-chip-6"/>
          <p:cNvSpPr txBox="1"/>
          <p:nvPr/>
        </p:nvSpPr>
        <p:spPr>
          <a:xfrm>
            <a:off x="6153912" y="434797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59" name="lane-5-result"/>
          <p:cNvSpPr txBox="1"/>
          <p:nvPr/>
        </p:nvSpPr>
        <p:spPr>
          <a:xfrm>
            <a:off x="548640" y="4594860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ждать модель — минус 73 очка → ехать, пока думает: +42</a:t>
            </a:r>
            <a:endParaRPr lang="en-US" sz="1600" dirty="0"/>
          </a:p>
        </p:txBody>
      </p:sp>
      <p:sp>
        <p:nvSpPr>
          <p:cNvPr id="60" name="lane-6-rule"/>
          <p:cNvSpPr/>
          <p:nvPr/>
        </p:nvSpPr>
        <p:spPr>
          <a:xfrm>
            <a:off x="548640" y="4882896"/>
            <a:ext cx="585216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1" name="lane-6-name"/>
          <p:cNvSpPr txBox="1"/>
          <p:nvPr/>
        </p:nvSpPr>
        <p:spPr>
          <a:xfrm>
            <a:off x="548640" y="4910328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62" name="lane-6-chip-1"/>
          <p:cNvSpPr txBox="1"/>
          <p:nvPr/>
        </p:nvSpPr>
        <p:spPr>
          <a:xfrm>
            <a:off x="5020056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63" name="lane-6-chip-2"/>
          <p:cNvSpPr txBox="1"/>
          <p:nvPr/>
        </p:nvSpPr>
        <p:spPr>
          <a:xfrm>
            <a:off x="5303520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64" name="lane-6-chip-3"/>
          <p:cNvSpPr txBox="1"/>
          <p:nvPr/>
        </p:nvSpPr>
        <p:spPr>
          <a:xfrm>
            <a:off x="5586984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И</a:t>
            </a:r>
            <a:endParaRPr lang="en-US" sz="1300" dirty="0"/>
          </a:p>
        </p:txBody>
      </p:sp>
      <p:sp>
        <p:nvSpPr>
          <p:cNvPr id="65" name="lane-6-chip-4"/>
          <p:cNvSpPr txBox="1"/>
          <p:nvPr/>
        </p:nvSpPr>
        <p:spPr>
          <a:xfrm>
            <a:off x="5870448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</a:t>
            </a:r>
            <a:endParaRPr lang="en-US" sz="1300" dirty="0"/>
          </a:p>
        </p:txBody>
      </p:sp>
      <p:sp>
        <p:nvSpPr>
          <p:cNvPr id="66" name="lane-6-chip-5"/>
          <p:cNvSpPr txBox="1"/>
          <p:nvPr/>
        </p:nvSpPr>
        <p:spPr>
          <a:xfrm>
            <a:off x="6153912" y="491490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7" name="lane-6-result"/>
          <p:cNvSpPr txBox="1"/>
          <p:nvPr/>
        </p:nvSpPr>
        <p:spPr>
          <a:xfrm>
            <a:off x="548640" y="5161788"/>
            <a:ext cx="5852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выигрыш не показан — честный отрицательный результат</a:t>
            </a:r>
            <a:endParaRPr lang="en-US" sz="1600" dirty="0"/>
          </a:p>
        </p:txBody>
      </p:sp>
      <p:sp>
        <p:nvSpPr>
          <p:cNvPr id="68" name="decisions-head"/>
          <p:cNvSpPr txBox="1"/>
          <p:nvPr/>
        </p:nvSpPr>
        <p:spPr>
          <a:xfrm>
            <a:off x="6675120" y="169164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Решения людей</a:t>
            </a:r>
            <a:endParaRPr lang="en-US" sz="1600" dirty="0"/>
          </a:p>
        </p:txBody>
      </p:sp>
      <p:sp>
        <p:nvSpPr>
          <p:cNvPr id="69" name="decision-1-chip"/>
          <p:cNvSpPr txBox="1"/>
          <p:nvPr/>
        </p:nvSpPr>
        <p:spPr>
          <a:xfrm>
            <a:off x="6675120" y="2080260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0" name="decision-1-quote"/>
          <p:cNvSpPr txBox="1"/>
          <p:nvPr/>
        </p:nvSpPr>
        <p:spPr>
          <a:xfrm>
            <a:off x="7031736" y="2075688"/>
            <a:ext cx="4608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«У нас не MVP, делаем в самом амбициозном виде»</a:t>
            </a:r>
            <a:endParaRPr lang="en-US" sz="1600" dirty="0"/>
          </a:p>
        </p:txBody>
      </p:sp>
      <p:sp>
        <p:nvSpPr>
          <p:cNvPr id="71" name="decision-1-out"/>
          <p:cNvSpPr txBox="1"/>
          <p:nvPr/>
        </p:nvSpPr>
        <p:spPr>
          <a:xfrm>
            <a:off x="7031736" y="2569464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не минимальная версия: два симулятора, 20+ опытов</a:t>
            </a:r>
            <a:endParaRPr lang="en-US" sz="1300" dirty="0"/>
          </a:p>
        </p:txBody>
      </p:sp>
      <p:sp>
        <p:nvSpPr>
          <p:cNvPr id="72" name="decision-2-chip"/>
          <p:cNvSpPr txBox="1"/>
          <p:nvPr/>
        </p:nvSpPr>
        <p:spPr>
          <a:xfrm>
            <a:off x="6675120" y="2899562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3" name="decision-2-quote"/>
          <p:cNvSpPr txBox="1"/>
          <p:nvPr/>
        </p:nvSpPr>
        <p:spPr>
          <a:xfrm>
            <a:off x="7031736" y="2894990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«Робот-учёный» — идея коллеги</a:t>
            </a:r>
            <a:endParaRPr lang="en-US" sz="1600" dirty="0"/>
          </a:p>
        </p:txBody>
      </p:sp>
      <p:sp>
        <p:nvSpPr>
          <p:cNvPr id="74" name="decision-2-out"/>
          <p:cNvSpPr txBox="1"/>
          <p:nvPr/>
        </p:nvSpPr>
        <p:spPr>
          <a:xfrm>
            <a:off x="7031736" y="3151022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верных выводов робота — 98,5%</a:t>
            </a:r>
            <a:endParaRPr lang="en-US" sz="1300" dirty="0"/>
          </a:p>
        </p:txBody>
      </p:sp>
      <p:sp>
        <p:nvSpPr>
          <p:cNvPr id="75" name="decision-3-chip"/>
          <p:cNvSpPr txBox="1"/>
          <p:nvPr/>
        </p:nvSpPr>
        <p:spPr>
          <a:xfrm>
            <a:off x="6675120" y="3481121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6" name="decision-3-quote"/>
          <p:cNvSpPr txBox="1"/>
          <p:nvPr/>
        </p:nvSpPr>
        <p:spPr>
          <a:xfrm>
            <a:off x="7031736" y="3476549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«Исследователи не пишут код»</a:t>
            </a:r>
            <a:endParaRPr lang="en-US" sz="1600" dirty="0"/>
          </a:p>
        </p:txBody>
      </p:sp>
      <p:sp>
        <p:nvSpPr>
          <p:cNvPr id="77" name="decision-3-out"/>
          <p:cNvSpPr txBox="1"/>
          <p:nvPr/>
        </p:nvSpPr>
        <p:spPr>
          <a:xfrm>
            <a:off x="7031736" y="3732581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 их коде ревью нашло 7 ошибок</a:t>
            </a:r>
            <a:endParaRPr lang="en-US" sz="1300" dirty="0"/>
          </a:p>
        </p:txBody>
      </p:sp>
      <p:sp>
        <p:nvSpPr>
          <p:cNvPr id="78" name="decision-4-chip"/>
          <p:cNvSpPr txBox="1"/>
          <p:nvPr/>
        </p:nvSpPr>
        <p:spPr>
          <a:xfrm>
            <a:off x="6675120" y="4062679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79" name="decision-4-quote"/>
          <p:cNvSpPr txBox="1"/>
          <p:nvPr/>
        </p:nvSpPr>
        <p:spPr>
          <a:xfrm>
            <a:off x="7031736" y="4058107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«Главная цель — результативный робот»</a:t>
            </a:r>
            <a:endParaRPr lang="en-US" sz="1600" dirty="0"/>
          </a:p>
        </p:txBody>
      </p:sp>
      <p:sp>
        <p:nvSpPr>
          <p:cNvPr id="80" name="decision-4-out"/>
          <p:cNvSpPr txBox="1"/>
          <p:nvPr/>
        </p:nvSpPr>
        <p:spPr>
          <a:xfrm>
            <a:off x="7031736" y="4314139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разбор потерь очков: +6 очков на трудном уровне</a:t>
            </a:r>
            <a:endParaRPr lang="en-US" sz="1300" dirty="0"/>
          </a:p>
        </p:txBody>
      </p:sp>
      <p:sp>
        <p:nvSpPr>
          <p:cNvPr id="81" name="decision-5-chip"/>
          <p:cNvSpPr txBox="1"/>
          <p:nvPr/>
        </p:nvSpPr>
        <p:spPr>
          <a:xfrm>
            <a:off x="6675120" y="4644238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82" name="decision-5-quote"/>
          <p:cNvSpPr txBox="1"/>
          <p:nvPr/>
        </p:nvSpPr>
        <p:spPr>
          <a:xfrm>
            <a:off x="7031736" y="4639666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«Не два варианта агента, а больше»</a:t>
            </a:r>
            <a:endParaRPr lang="en-US" sz="1600" dirty="0"/>
          </a:p>
        </p:txBody>
      </p:sp>
      <p:sp>
        <p:nvSpPr>
          <p:cNvPr id="83" name="decision-5-out"/>
          <p:cNvSpPr txBox="1"/>
          <p:nvPr/>
        </p:nvSpPr>
        <p:spPr>
          <a:xfrm>
            <a:off x="7031736" y="4895698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шесть устройств агента и потолок 92,5 очка</a:t>
            </a:r>
            <a:endParaRPr lang="en-US" sz="1300" dirty="0"/>
          </a:p>
        </p:txBody>
      </p:sp>
      <p:sp>
        <p:nvSpPr>
          <p:cNvPr id="84" name="decision-6-chip"/>
          <p:cNvSpPr txBox="1"/>
          <p:nvPr/>
        </p:nvSpPr>
        <p:spPr>
          <a:xfrm>
            <a:off x="6675120" y="5225796"/>
            <a:ext cx="246888" cy="246888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Ч</a:t>
            </a:r>
            <a:endParaRPr lang="en-US" sz="1300" dirty="0"/>
          </a:p>
        </p:txBody>
      </p:sp>
      <p:sp>
        <p:nvSpPr>
          <p:cNvPr id="85" name="decision-6-quote"/>
          <p:cNvSpPr txBox="1"/>
          <p:nvPr/>
        </p:nvSpPr>
        <p:spPr>
          <a:xfrm>
            <a:off x="7031736" y="5221224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«Никакого маршрутизатора моделей»</a:t>
            </a:r>
            <a:endParaRPr lang="en-US" sz="1600" dirty="0"/>
          </a:p>
        </p:txBody>
      </p:sp>
      <p:sp>
        <p:nvSpPr>
          <p:cNvPr id="86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87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2026-10-08T14:27:37Z</dcterms:created>
  <dcterms:modified xsi:type="dcterms:W3CDTF">2026-10-08T14:27:37Z</dcterms:modified>
</cp:coreProperties>
</file>