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проект — автономный ИИ-исследователь на TurtleBot3. Сегодня показываем исследовательскую гипотезу, команду и план на три дня. На картинке арена задачи и настоящий скан лидара из нашей симуляции: среда уже запущена.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Гипотеза: адаптивный агент, который обновляет модель среды по данным и перестраивает маршрут, соберёт больше образцов и чаще вернётся на базу, чем агент с фиксированным планом. Проверяем сравнением двух агентов в одинаковых сценариях трёх уровней, по несколько запусков. Измеряем собранные образцы, долю возвращений и расход батареи. Ждём наибольшую разницу в hard, где среда меняется. Справа первый расчёт: на карте арены объезд дорогого грунта тратит 4,6 единицы батареи вместо 7,1.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 трое. Полина — разработчик: ROS, Gazebo, генератор сценариев и движение робота. Анастасия — ML: языковая модель для выбора подцелей и журнал гипотез. Михаил — аналитик: гипотеза, метрики, эксперименты и демонстрация.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на три дня. Сегодня основа: симуляция уже запущена, дальше генератор сценариев, движение и языковая модель для выбора подцелей. Завтра исследование и адаптация: поиск образцов, оценка расхода, журнал гипотез, реакция на изменения среды. Девятого проверяем весь цикл на трёх уровнях, сравниваем агента с адаптацией и без неё и готовим демонстрацию.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00200"/>
            <a:ext cx="612648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Автономный ИИ-исследователь · DID Hack 2026 · чекпоинт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0020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«Автономный ИИ-исследователь на роботе-платформе»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Первый чекпоинт: гипотеза, команда и план</a:t>
            </a:r>
            <a:endParaRPr lang="en-US" sz="2000" dirty="0"/>
          </a:p>
        </p:txBody>
      </p:sp>
      <p:sp>
        <p:nvSpPr>
          <p:cNvPr id="4" name="event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DID Hack 2026 · 7 октября</a:t>
            </a:r>
            <a:endParaRPr lang="en-US" sz="1600" dirty="0"/>
          </a:p>
        </p:txBody>
      </p:sp>
      <p:pic>
        <p:nvPicPr>
          <p:cNvPr id="5" name="title-arena" descr="Арена turtlebot3_world и точки реального скана лида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868680"/>
            <a:ext cx="5433928" cy="5120640"/>
          </a:xfrm>
          <a:prstGeom prst="rect">
            <a:avLst/>
          </a:prstGeom>
        </p:spPr>
      </p:pic>
      <p:sp>
        <p:nvSpPr>
          <p:cNvPr id="6" name="title-caption"/>
          <p:cNvSpPr txBox="1"/>
          <p:nvPr/>
        </p:nvSpPr>
        <p:spPr>
          <a:xfrm>
            <a:off x="667512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Арена задачи; оранжевые точки — скан лидара из нашей симуляции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Исследовательская гипотеза</a:t>
            </a:r>
            <a:endParaRPr lang="en-US" sz="3200" dirty="0"/>
          </a:p>
        </p:txBody>
      </p:sp>
      <p:sp>
        <p:nvSpPr>
          <p:cNvPr id="3" name="hypothesis-card"/>
          <p:cNvSpPr/>
          <p:nvPr/>
        </p:nvSpPr>
        <p:spPr>
          <a:xfrm>
            <a:off x="548640" y="1325880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4" name="hypothesis-text"/>
          <p:cNvSpPr txBox="1"/>
          <p:nvPr/>
        </p:nvSpPr>
        <p:spPr>
          <a:xfrm>
            <a:off x="868680" y="132588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Гипотеза. 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Агент, который по данным датчиков обновляет модель среды и перестраивает маршрут, соберёт больше образцов и чаще вернётся на базу, чем агент с фиксированным планом.</a:t>
            </a:r>
            <a:endParaRPr lang="en-US" sz="2000" dirty="0"/>
          </a:p>
        </p:txBody>
      </p:sp>
      <p:sp>
        <p:nvSpPr>
          <p:cNvPr id="5" name="row-1-badge"/>
          <p:cNvSpPr txBox="1"/>
          <p:nvPr/>
        </p:nvSpPr>
        <p:spPr>
          <a:xfrm>
            <a:off x="548640" y="295351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row-1-head"/>
          <p:cNvSpPr txBox="1"/>
          <p:nvPr/>
        </p:nvSpPr>
        <p:spPr>
          <a:xfrm>
            <a:off x="1207008" y="2926080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проверим</a:t>
            </a:r>
            <a:endParaRPr lang="en-US" sz="1600" dirty="0"/>
          </a:p>
        </p:txBody>
      </p:sp>
      <p:sp>
        <p:nvSpPr>
          <p:cNvPr id="7" name="row-1-body"/>
          <p:cNvSpPr txBox="1"/>
          <p:nvPr/>
        </p:nvSpPr>
        <p:spPr>
          <a:xfrm>
            <a:off x="1207008" y="3273552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Сравним агента с адаптацией и агента с фиксированным планом в одинаковых сценариях easy, medium и hard, по несколько запусков на каждый.</a:t>
            </a:r>
            <a:endParaRPr lang="en-US" sz="1500" dirty="0"/>
          </a:p>
        </p:txBody>
      </p:sp>
      <p:sp>
        <p:nvSpPr>
          <p:cNvPr id="8" name="row-2-badge"/>
          <p:cNvSpPr txBox="1"/>
          <p:nvPr/>
        </p:nvSpPr>
        <p:spPr>
          <a:xfrm>
            <a:off x="548640" y="418795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row-2-head"/>
          <p:cNvSpPr txBox="1"/>
          <p:nvPr/>
        </p:nvSpPr>
        <p:spPr>
          <a:xfrm>
            <a:off x="1207008" y="4160520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измерим</a:t>
            </a:r>
            <a:endParaRPr lang="en-US" sz="1600" dirty="0"/>
          </a:p>
        </p:txBody>
      </p:sp>
      <p:sp>
        <p:nvSpPr>
          <p:cNvPr id="10" name="row-2-body"/>
          <p:cNvSpPr txBox="1"/>
          <p:nvPr/>
        </p:nvSpPr>
        <p:spPr>
          <a:xfrm>
            <a:off x="1207008" y="4507992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Количество собранных образцов, долю успешных возвращений на базу и расход батареи.</a:t>
            </a:r>
            <a:endParaRPr lang="en-US" sz="1500" dirty="0"/>
          </a:p>
        </p:txBody>
      </p:sp>
      <p:sp>
        <p:nvSpPr>
          <p:cNvPr id="11" name="row-3-badge"/>
          <p:cNvSpPr txBox="1"/>
          <p:nvPr/>
        </p:nvSpPr>
        <p:spPr>
          <a:xfrm>
            <a:off x="548640" y="5257800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row-3-head"/>
          <p:cNvSpPr txBox="1"/>
          <p:nvPr/>
        </p:nvSpPr>
        <p:spPr>
          <a:xfrm>
            <a:off x="1207008" y="5230368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ожидаем</a:t>
            </a:r>
            <a:endParaRPr lang="en-US" sz="1600" dirty="0"/>
          </a:p>
        </p:txBody>
      </p:sp>
      <p:sp>
        <p:nvSpPr>
          <p:cNvPr id="13" name="row-3-body"/>
          <p:cNvSpPr txBox="1"/>
          <p:nvPr/>
        </p:nvSpPr>
        <p:spPr>
          <a:xfrm>
            <a:off x="1207008" y="557784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Наибольшую разницу — в hard, где среда меняется во время прогона.</a:t>
            </a:r>
            <a:endParaRPr lang="en-US" sz="1500" dirty="0"/>
          </a:p>
        </p:txBody>
      </p:sp>
      <p:pic>
        <p:nvPicPr>
          <p:cNvPr id="14" name="routes" descr="Два маршрута к цели: напрямик через дорогой грунт и в обход нег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880360"/>
            <a:ext cx="2987922" cy="2971800"/>
          </a:xfrm>
          <a:prstGeom prst="rect">
            <a:avLst/>
          </a:prstGeom>
        </p:spPr>
      </p:pic>
      <p:sp>
        <p:nvSpPr>
          <p:cNvPr id="15" name="routes-caption"/>
          <p:cNvSpPr txBox="1"/>
          <p:nvPr/>
        </p:nvSpPr>
        <p:spPr>
          <a:xfrm>
            <a:off x="7406640" y="5870448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Первый расчёт на карте арены: объезд дорогого грунта тратит 4,6 ед. батареи вместо 7,1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Команда и роли</a:t>
            </a:r>
            <a:endParaRPr lang="en-US" sz="3200" dirty="0"/>
          </a:p>
        </p:txBody>
      </p:sp>
      <p:sp>
        <p:nvSpPr>
          <p:cNvPr id="3" name="member-1-card"/>
          <p:cNvSpPr/>
          <p:nvPr/>
        </p:nvSpPr>
        <p:spPr>
          <a:xfrm>
            <a:off x="548640" y="1417320"/>
            <a:ext cx="3447288" cy="4297680"/>
          </a:xfrm>
          <a:prstGeom prst="roundRect">
            <a:avLst>
              <a:gd name="adj" fmla="val 2122"/>
            </a:avLst>
          </a:prstGeom>
          <a:solidFill>
            <a:schemeClr val="bg2"/>
          </a:solidFill>
          <a:ln/>
        </p:spPr>
      </p:sp>
      <p:sp>
        <p:nvSpPr>
          <p:cNvPr id="4" name="member-1-badge"/>
          <p:cNvSpPr txBox="1"/>
          <p:nvPr/>
        </p:nvSpPr>
        <p:spPr>
          <a:xfrm>
            <a:off x="822960" y="1737360"/>
            <a:ext cx="990295" cy="86868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ЖП</a:t>
            </a:r>
            <a:endParaRPr lang="en-US" sz="2000" dirty="0"/>
          </a:p>
        </p:txBody>
      </p:sp>
      <p:sp>
        <p:nvSpPr>
          <p:cNvPr id="5" name="member-1-name"/>
          <p:cNvSpPr txBox="1"/>
          <p:nvPr/>
        </p:nvSpPr>
        <p:spPr>
          <a:xfrm>
            <a:off x="822960" y="283464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Журавлёва Полина Петровна</a:t>
            </a:r>
            <a:endParaRPr lang="en-US" sz="2000" dirty="0"/>
          </a:p>
        </p:txBody>
      </p:sp>
      <p:sp>
        <p:nvSpPr>
          <p:cNvPr id="6" name="member-1-role"/>
          <p:cNvSpPr txBox="1"/>
          <p:nvPr/>
        </p:nvSpPr>
        <p:spPr>
          <a:xfrm>
            <a:off x="822960" y="3730752"/>
            <a:ext cx="2898648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разработчик (Back/ROS)</a:t>
            </a:r>
            <a:endParaRPr lang="en-US" sz="1400" dirty="0"/>
          </a:p>
        </p:txBody>
      </p:sp>
      <p:sp>
        <p:nvSpPr>
          <p:cNvPr id="7" name="member-1-does"/>
          <p:cNvSpPr txBox="1"/>
          <p:nvPr/>
        </p:nvSpPr>
        <p:spPr>
          <a:xfrm>
            <a:off x="822960" y="4370832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ROS 2 и Gazebo, генератор сценариев, учёт батареи и штрафов, движение робота</a:t>
            </a:r>
            <a:endParaRPr lang="en-US" sz="1500" dirty="0"/>
          </a:p>
        </p:txBody>
      </p:sp>
      <p:sp>
        <p:nvSpPr>
          <p:cNvPr id="8" name="member-2-card"/>
          <p:cNvSpPr/>
          <p:nvPr/>
        </p:nvSpPr>
        <p:spPr>
          <a:xfrm>
            <a:off x="4370832" y="1417320"/>
            <a:ext cx="3447288" cy="4297680"/>
          </a:xfrm>
          <a:prstGeom prst="roundRect">
            <a:avLst>
              <a:gd name="adj" fmla="val 2122"/>
            </a:avLst>
          </a:prstGeom>
          <a:solidFill>
            <a:schemeClr val="bg2"/>
          </a:solidFill>
          <a:ln/>
        </p:spPr>
      </p:sp>
      <p:sp>
        <p:nvSpPr>
          <p:cNvPr id="9" name="member-2-badge"/>
          <p:cNvSpPr txBox="1"/>
          <p:nvPr/>
        </p:nvSpPr>
        <p:spPr>
          <a:xfrm>
            <a:off x="4645152" y="1737360"/>
            <a:ext cx="990295" cy="86868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ЕА</a:t>
            </a:r>
            <a:endParaRPr lang="en-US" sz="2000" dirty="0"/>
          </a:p>
        </p:txBody>
      </p:sp>
      <p:sp>
        <p:nvSpPr>
          <p:cNvPr id="10" name="member-2-name"/>
          <p:cNvSpPr txBox="1"/>
          <p:nvPr/>
        </p:nvSpPr>
        <p:spPr>
          <a:xfrm>
            <a:off x="4645152" y="283464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Ефремова Анастасия Михайловна</a:t>
            </a:r>
            <a:endParaRPr lang="en-US" sz="2000" dirty="0"/>
          </a:p>
        </p:txBody>
      </p:sp>
      <p:sp>
        <p:nvSpPr>
          <p:cNvPr id="11" name="member-2-role"/>
          <p:cNvSpPr txBox="1"/>
          <p:nvPr/>
        </p:nvSpPr>
        <p:spPr>
          <a:xfrm>
            <a:off x="4645152" y="3730752"/>
            <a:ext cx="2898648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 (LLM)</a:t>
            </a:r>
            <a:endParaRPr lang="en-US" sz="1400" dirty="0"/>
          </a:p>
        </p:txBody>
      </p:sp>
      <p:sp>
        <p:nvSpPr>
          <p:cNvPr id="12" name="member-2-does"/>
          <p:cNvSpPr txBox="1"/>
          <p:nvPr/>
        </p:nvSpPr>
        <p:spPr>
          <a:xfrm>
            <a:off x="4645152" y="4370832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LLM для выбора подцелей, промпты и проверка ответов модели, журнал гипотез</a:t>
            </a:r>
            <a:endParaRPr lang="en-US" sz="1500" dirty="0"/>
          </a:p>
        </p:txBody>
      </p:sp>
      <p:sp>
        <p:nvSpPr>
          <p:cNvPr id="13" name="member-3-card"/>
          <p:cNvSpPr/>
          <p:nvPr/>
        </p:nvSpPr>
        <p:spPr>
          <a:xfrm>
            <a:off x="8193024" y="1417320"/>
            <a:ext cx="3447288" cy="4297680"/>
          </a:xfrm>
          <a:prstGeom prst="roundRect">
            <a:avLst>
              <a:gd name="adj" fmla="val 2122"/>
            </a:avLst>
          </a:prstGeom>
          <a:solidFill>
            <a:schemeClr val="bg2"/>
          </a:solidFill>
          <a:ln/>
        </p:spPr>
      </p:sp>
      <p:sp>
        <p:nvSpPr>
          <p:cNvPr id="14" name="member-3-badge"/>
          <p:cNvSpPr txBox="1"/>
          <p:nvPr/>
        </p:nvSpPr>
        <p:spPr>
          <a:xfrm>
            <a:off x="8467344" y="1737360"/>
            <a:ext cx="990295" cy="86868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ПМ</a:t>
            </a:r>
            <a:endParaRPr lang="en-US" sz="2000" dirty="0"/>
          </a:p>
        </p:txBody>
      </p:sp>
      <p:sp>
        <p:nvSpPr>
          <p:cNvPr id="15" name="member-3-name"/>
          <p:cNvSpPr txBox="1"/>
          <p:nvPr/>
        </p:nvSpPr>
        <p:spPr>
          <a:xfrm>
            <a:off x="8467344" y="283464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Путиловский Михаил Вячеславович</a:t>
            </a:r>
            <a:endParaRPr lang="en-US" sz="2000" dirty="0"/>
          </a:p>
        </p:txBody>
      </p:sp>
      <p:sp>
        <p:nvSpPr>
          <p:cNvPr id="16" name="member-3-role"/>
          <p:cNvSpPr txBox="1"/>
          <p:nvPr/>
        </p:nvSpPr>
        <p:spPr>
          <a:xfrm>
            <a:off x="8467344" y="3730752"/>
            <a:ext cx="2898648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аналитик (исследователь)</a:t>
            </a:r>
            <a:endParaRPr lang="en-US" sz="1400" dirty="0"/>
          </a:p>
        </p:txBody>
      </p:sp>
      <p:sp>
        <p:nvSpPr>
          <p:cNvPr id="17" name="member-3-does"/>
          <p:cNvSpPr txBox="1"/>
          <p:nvPr/>
        </p:nvSpPr>
        <p:spPr>
          <a:xfrm>
            <a:off x="8467344" y="4370832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гипотеза и метрики, эксперименты и сравнение агентов, результаты и демо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План реализации проекта: 7–9 октября</a:t>
            </a:r>
            <a:endParaRPr lang="en-US" sz="3200" dirty="0"/>
          </a:p>
        </p:txBody>
      </p:sp>
      <p:sp>
        <p:nvSpPr>
          <p:cNvPr id="3" name="day-1-card"/>
          <p:cNvSpPr/>
          <p:nvPr/>
        </p:nvSpPr>
        <p:spPr>
          <a:xfrm>
            <a:off x="548640" y="1371600"/>
            <a:ext cx="3566160" cy="4800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day-1-date"/>
          <p:cNvSpPr txBox="1"/>
          <p:nvPr/>
        </p:nvSpPr>
        <p:spPr>
          <a:xfrm>
            <a:off x="777240" y="1600200"/>
            <a:ext cx="833933" cy="73152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7.10</a:t>
            </a:r>
            <a:endParaRPr lang="en-US" sz="1600" dirty="0"/>
          </a:p>
        </p:txBody>
      </p:sp>
      <p:sp>
        <p:nvSpPr>
          <p:cNvPr id="5" name="day-1-title"/>
          <p:cNvSpPr txBox="1"/>
          <p:nvPr/>
        </p:nvSpPr>
        <p:spPr>
          <a:xfrm>
            <a:off x="178308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Основа системы</a:t>
            </a:r>
            <a:endParaRPr lang="en-US" sz="1700" dirty="0"/>
          </a:p>
        </p:txBody>
      </p:sp>
      <p:sp>
        <p:nvSpPr>
          <p:cNvPr id="6" name="day-1-items"/>
          <p:cNvSpPr txBox="1"/>
          <p:nvPr/>
        </p:nvSpPr>
        <p:spPr>
          <a:xfrm>
            <a:off x="777240" y="25603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ROS 2, Gazebo, робот и датчики — готово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Генератор сценариев; учёт батареи, образцов и штрафов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Движение с обходом препятствий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LLM для выбора подцелей</a:t>
            </a:r>
            <a:endParaRPr lang="en-US" sz="1400" dirty="0"/>
          </a:p>
        </p:txBody>
      </p:sp>
      <p:sp>
        <p:nvSpPr>
          <p:cNvPr id="7" name="day-1-result-card"/>
          <p:cNvSpPr/>
          <p:nvPr/>
        </p:nvSpPr>
        <p:spPr>
          <a:xfrm>
            <a:off x="731520" y="498348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8" name="day-1-result"/>
          <p:cNvSpPr txBox="1"/>
          <p:nvPr/>
        </p:nvSpPr>
        <p:spPr>
          <a:xfrm>
            <a:off x="896112" y="49834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Результат: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робот получает миссию и выполняет подцели</a:t>
            </a:r>
            <a:endParaRPr lang="en-US" sz="1400" dirty="0"/>
          </a:p>
        </p:txBody>
      </p:sp>
      <p:sp>
        <p:nvSpPr>
          <p:cNvPr id="9" name="day-2-card"/>
          <p:cNvSpPr/>
          <p:nvPr/>
        </p:nvSpPr>
        <p:spPr>
          <a:xfrm>
            <a:off x="4311396" y="1371600"/>
            <a:ext cx="3566160" cy="4800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0" name="day-2-date"/>
          <p:cNvSpPr txBox="1"/>
          <p:nvPr/>
        </p:nvSpPr>
        <p:spPr>
          <a:xfrm>
            <a:off x="4539996" y="1600200"/>
            <a:ext cx="833933" cy="73152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8.10</a:t>
            </a:r>
            <a:endParaRPr lang="en-US" sz="1600" dirty="0"/>
          </a:p>
        </p:txBody>
      </p:sp>
      <p:sp>
        <p:nvSpPr>
          <p:cNvPr id="11" name="day-2-title"/>
          <p:cNvSpPr txBox="1"/>
          <p:nvPr/>
        </p:nvSpPr>
        <p:spPr>
          <a:xfrm>
            <a:off x="5545836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Исследование и адаптация</a:t>
            </a:r>
            <a:endParaRPr lang="en-US" sz="1700" dirty="0"/>
          </a:p>
        </p:txBody>
      </p:sp>
      <p:sp>
        <p:nvSpPr>
          <p:cNvPr id="12" name="day-2-items"/>
          <p:cNvSpPr txBox="1"/>
          <p:nvPr/>
        </p:nvSpPr>
        <p:spPr>
          <a:xfrm>
            <a:off x="4539996" y="25603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Поиск образцов по сигналу датчика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Оценка расхода энергии на единицу пути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Журнал гипотез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Реакция на смену грунта, опасные зоны и сбои датчика: обновление модели и маршрута</a:t>
            </a:r>
            <a:endParaRPr lang="en-US" sz="1400" dirty="0"/>
          </a:p>
        </p:txBody>
      </p:sp>
      <p:sp>
        <p:nvSpPr>
          <p:cNvPr id="13" name="day-2-result-card"/>
          <p:cNvSpPr/>
          <p:nvPr/>
        </p:nvSpPr>
        <p:spPr>
          <a:xfrm>
            <a:off x="4494276" y="498348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4" name="day-2-result"/>
          <p:cNvSpPr txBox="1"/>
          <p:nvPr/>
        </p:nvSpPr>
        <p:spPr>
          <a:xfrm>
            <a:off x="4658868" y="49834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Результат: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робот проверяет гипотезы и адаптируется к изменениям</a:t>
            </a:r>
            <a:endParaRPr lang="en-US" sz="1400" dirty="0"/>
          </a:p>
        </p:txBody>
      </p:sp>
      <p:sp>
        <p:nvSpPr>
          <p:cNvPr id="15" name="day-3-card"/>
          <p:cNvSpPr/>
          <p:nvPr/>
        </p:nvSpPr>
        <p:spPr>
          <a:xfrm>
            <a:off x="8074152" y="1371600"/>
            <a:ext cx="3566160" cy="4800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6" name="day-3-date"/>
          <p:cNvSpPr txBox="1"/>
          <p:nvPr/>
        </p:nvSpPr>
        <p:spPr>
          <a:xfrm>
            <a:off x="8302752" y="1600200"/>
            <a:ext cx="833933" cy="73152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9.10</a:t>
            </a:r>
            <a:endParaRPr lang="en-US" sz="1600" dirty="0"/>
          </a:p>
        </p:txBody>
      </p:sp>
      <p:sp>
        <p:nvSpPr>
          <p:cNvPr id="17" name="day-3-title"/>
          <p:cNvSpPr txBox="1"/>
          <p:nvPr/>
        </p:nvSpPr>
        <p:spPr>
          <a:xfrm>
            <a:off x="9308592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Проверка и демонстрация</a:t>
            </a:r>
            <a:endParaRPr lang="en-US" sz="1700" dirty="0"/>
          </a:p>
        </p:txBody>
      </p:sp>
      <p:sp>
        <p:nvSpPr>
          <p:cNvPr id="18" name="day-3-items"/>
          <p:cNvSpPr txBox="1"/>
          <p:nvPr/>
        </p:nvSpPr>
        <p:spPr>
          <a:xfrm>
            <a:off x="8302752" y="25603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Весь цикл на easy, medium и hard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Сравнение работы с адаптацией и без неё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Исправление ошибок, проверка возврата на базу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Запуск одной командой, результаты и финальное демо</a:t>
            </a:r>
            <a:endParaRPr lang="en-US" sz="1400" dirty="0"/>
          </a:p>
        </p:txBody>
      </p:sp>
      <p:sp>
        <p:nvSpPr>
          <p:cNvPr id="19" name="day-3-result-card"/>
          <p:cNvSpPr/>
          <p:nvPr/>
        </p:nvSpPr>
        <p:spPr>
          <a:xfrm>
            <a:off x="8257032" y="498348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0" name="day-3-result"/>
          <p:cNvSpPr txBox="1"/>
          <p:nvPr/>
        </p:nvSpPr>
        <p:spPr>
          <a:xfrm>
            <a:off x="8421624" y="49834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Результат: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проверенная система уровней 0–4 с воспроизводимой демонстрацией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Researcher">
  <a:themeElements>
    <a:clrScheme name="DID Researcher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DID Researc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ИИ-исследователь на роботе-платформе — чекпоинт 1</dc:title>
  <dc:subject>PptxGenJS Presentation</dc:subject>
  <dc:creator>Журавлёва, Ефремова, Путиловский</dc:creator>
  <cp:lastModifiedBy>Журавлёва, Ефремова, Путиловский</cp:lastModifiedBy>
  <cp:revision>1</cp:revision>
  <dcterms:created xsi:type="dcterms:W3CDTF">2026-10-07T14:43:52Z</dcterms:created>
  <dcterms:modified xsi:type="dcterms:W3CDTF">2026-10-07T14:43:52Z</dcterms:modified>
</cp:coreProperties>
</file>