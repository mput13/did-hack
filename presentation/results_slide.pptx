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шесть опытов, по одному на каждый критерий. Везде агенты проходят одни и те же сценарии, и мы считаем разность по парам. Первый: робот, который перестраивает маршрут по измерениям, набирает на трудном уровне на 13 очков больше, чем робот с готовым маршрутом. Второй: из способов поиска, названных в условии, карта вероятностей собирает 99,5% образцов против 82% у подъёма по сигналу. Третий: когда датчик образцов ломается, выгоднее постоять и переждать — это даёт +6,4 очка. Четвёртый: задание словами. Правило без модели не выполнило ни одного задания с ограничением, с языковой моделью — 16 из 18. Пятый: журнал гипотез мы сверили со скрытой правдой среды. У исследователя подтверждённые гипотезы о грунте верны в 98% случаев, у обычного агента — в 61%. Шестой: те же сценарии в Gazebo дают в среднем тот же счёт, разность +0,2 очка. И то, что не подтвердилось: реакция на смену грунта очков не добавляет. Мы это измерили и записали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Собирает 81% образцов вместо 60%. Возврат на базу одинаковый — 95%. В этом прогоне: 61,1 очка против 75,1, собрано 4 и 6 образцов из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вероятностей находит почти всё и тратит на 7 единиц заряда меньше. Спираль — 67,5%. В этом прогоне спираль собрала 3 образца из 5, подъём по сигналу — 4, карта вероятностей — все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Заметить сбой и постоять выгоднее, чем ехать по ложным показаниям. Чёрным — путь за время сбоя, жёлтое кольцо — робот ждёт. В этом прогоне: 80,4 очка против 90,6.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Меняем текст задания — меняется поведение. На обычной миссии модель счёт не повышает. Правило текста не читает и собирает дальше: 5 образцов. Модель после второго поворачивает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Запрет есть только в тексте задания. Здесь модель отвечает на каждое решение; если часть решений оставить правилу — 1 из 6. Красная черта — граница из задания. Робот на правиле её пересекает, робот с моделью —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Исследователь проверяет другие объяснения и ошибается реже. Счёт почти тот же: 68,4 и 67,5. Строка появляется, когда робот выдвигает гипотезу. Ошибка в строке H6: грунт сменился как раз во время измерения.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7 сценариях из 11 счёт сходится до 6 очков. Систематического сдвига нет. В этом сценарии: 91,3 очка в быстром симуляторе и 90,9 в Gazebo. Бледная линия справа — путь из быстрого симулятора.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Робот задел столб, отъехал назад вслепую и потерял положение. В быстром симуляторе этого не было видно. До правки: 4 столкновения, 37,0 очка; пунктир — где робот себя считал. После: 91,1 очка.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шесть опытов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проходят одни и те же сценарии; в скобках — 95% интервал разности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24128" y="16824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Опыт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224528" y="16824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Что сравнивали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16824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Главное число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098280" y="16824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Вывод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956816"/>
            <a:ext cx="1109167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0" name="Номер 1"/>
          <p:cNvSpPr/>
          <p:nvPr/>
        </p:nvSpPr>
        <p:spPr>
          <a:xfrm>
            <a:off x="548640" y="2107692"/>
            <a:ext cx="310896" cy="31089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1076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03911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Агент против готового маршрута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229514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240 прогонов · счёт на трудном уровне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224528" y="204825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готовый маршрут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596128" y="2093976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5596128" y="2093976"/>
            <a:ext cx="445004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19088" y="20482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59,3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24528" y="227685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адаптивный агент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596128" y="2322576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0" name="Shape 17"/>
          <p:cNvSpPr/>
          <p:nvPr/>
        </p:nvSpPr>
        <p:spPr>
          <a:xfrm>
            <a:off x="5596128" y="2322576"/>
            <a:ext cx="544968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19088" y="22768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72,7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269480" y="20116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+13,3 очка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23225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[7,4; 19,0]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098280" y="1993392"/>
            <a:ext cx="254203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Собирает 81% образцов вместо 60%. Возврат на базу одинаковый — 95%.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2583180"/>
            <a:ext cx="11091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26" name="Номер 2"/>
          <p:cNvSpPr/>
          <p:nvPr/>
        </p:nvSpPr>
        <p:spPr>
          <a:xfrm>
            <a:off x="548640" y="2734056"/>
            <a:ext cx="310896" cy="31089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4864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024128" y="266547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Как искать образцы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2921508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400 прогонов · доля собранных образцов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224528" y="267462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подъём по сигналу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596128" y="2720340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2" name="Shape 29"/>
          <p:cNvSpPr/>
          <p:nvPr/>
        </p:nvSpPr>
        <p:spPr>
          <a:xfrm>
            <a:off x="5596128" y="2720340"/>
            <a:ext cx="614843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419088" y="267462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82%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224528" y="290322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карта вероятностей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596128" y="2948940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6" name="Shape 33"/>
          <p:cNvSpPr/>
          <p:nvPr/>
        </p:nvSpPr>
        <p:spPr>
          <a:xfrm>
            <a:off x="5596128" y="2948940"/>
            <a:ext cx="746059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419088" y="290322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99,5%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7269480" y="263804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+17,5 п. п.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7269480" y="29489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[13; 22]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9098280" y="2619756"/>
            <a:ext cx="254203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Карта вероятностей находит почти всё и тратит на 7 единиц заряда меньше. Спираль — 67,5%.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48640" y="3209544"/>
            <a:ext cx="11091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42" name="Номер 3"/>
          <p:cNvSpPr/>
          <p:nvPr/>
        </p:nvSpPr>
        <p:spPr>
          <a:xfrm>
            <a:off x="548640" y="3360420"/>
            <a:ext cx="310896" cy="31089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548640" y="33604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24128" y="329184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Сбой датчика: ехать или ждать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24128" y="354787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80 прогонов · счёт на трудном уровне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4224528" y="33009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едет по показаниям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5596128" y="3346704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8" name="Shape 45"/>
          <p:cNvSpPr/>
          <p:nvPr/>
        </p:nvSpPr>
        <p:spPr>
          <a:xfrm>
            <a:off x="5596128" y="3346704"/>
            <a:ext cx="561503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419088" y="3300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74,9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224528" y="35295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пережидает сбой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5596128" y="3575304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2" name="Shape 49"/>
          <p:cNvSpPr/>
          <p:nvPr/>
        </p:nvSpPr>
        <p:spPr>
          <a:xfrm>
            <a:off x="5596128" y="3575304"/>
            <a:ext cx="60933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419088" y="35295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81,3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7269480" y="326440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+6,4 очка</a:t>
            </a:r>
            <a:endParaRPr lang="en-US" sz="2000" dirty="0"/>
          </a:p>
        </p:txBody>
      </p:sp>
      <p:sp>
        <p:nvSpPr>
          <p:cNvPr id="55" name="Text 52"/>
          <p:cNvSpPr txBox="1"/>
          <p:nvPr/>
        </p:nvSpPr>
        <p:spPr>
          <a:xfrm>
            <a:off x="7269480" y="357530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[2,9; 9,8]</a:t>
            </a:r>
            <a:endParaRPr lang="en-US" sz="1050" dirty="0"/>
          </a:p>
        </p:txBody>
      </p:sp>
      <p:sp>
        <p:nvSpPr>
          <p:cNvPr id="56" name="Text 53"/>
          <p:cNvSpPr txBox="1"/>
          <p:nvPr/>
        </p:nvSpPr>
        <p:spPr>
          <a:xfrm>
            <a:off x="9098280" y="3246120"/>
            <a:ext cx="254203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Заметить сбой и постоять выгоднее, чем ехать по ложным показаниям.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548640" y="3835908"/>
            <a:ext cx="11091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58" name="Номер 4"/>
          <p:cNvSpPr/>
          <p:nvPr/>
        </p:nvSpPr>
        <p:spPr>
          <a:xfrm>
            <a:off x="548640" y="3986784"/>
            <a:ext cx="310896" cy="31089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548640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024128" y="391820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Миссия, заданная словами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1024128" y="417423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3 задания с ограничением × 6 сценариев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4224528" y="392734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правило без модели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5596128" y="3973068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6419088" y="39273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 из 18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224528" y="415594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языковая модель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5596128" y="4201668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7" name="Shape 64"/>
          <p:cNvSpPr/>
          <p:nvPr/>
        </p:nvSpPr>
        <p:spPr>
          <a:xfrm>
            <a:off x="5596128" y="4201668"/>
            <a:ext cx="666496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6419088" y="41559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16 из 18</a:t>
            </a:r>
            <a:endParaRPr lang="en-US" sz="1100" dirty="0"/>
          </a:p>
        </p:txBody>
      </p:sp>
      <p:sp>
        <p:nvSpPr>
          <p:cNvPr id="69" name="Text 66"/>
          <p:cNvSpPr txBox="1"/>
          <p:nvPr/>
        </p:nvSpPr>
        <p:spPr>
          <a:xfrm>
            <a:off x="7269480" y="389077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16 из 18</a:t>
            </a:r>
            <a:endParaRPr lang="en-US" sz="2000" dirty="0"/>
          </a:p>
        </p:txBody>
      </p:sp>
      <p:sp>
        <p:nvSpPr>
          <p:cNvPr id="70" name="Text 67"/>
          <p:cNvSpPr txBox="1"/>
          <p:nvPr/>
        </p:nvSpPr>
        <p:spPr>
          <a:xfrm>
            <a:off x="7269480" y="420166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заданий выполнено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098280" y="3872484"/>
            <a:ext cx="254203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Меняем текст задания — меняется поведение. На обычной миссии модель счёт не повышает.</a:t>
            </a:r>
            <a:endParaRPr lang="en-US" sz="1100" dirty="0"/>
          </a:p>
        </p:txBody>
      </p:sp>
      <p:sp>
        <p:nvSpPr>
          <p:cNvPr id="72" name="Shape 69"/>
          <p:cNvSpPr/>
          <p:nvPr/>
        </p:nvSpPr>
        <p:spPr>
          <a:xfrm>
            <a:off x="548640" y="4462272"/>
            <a:ext cx="11091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73" name="Номер 5"/>
          <p:cNvSpPr/>
          <p:nvPr/>
        </p:nvSpPr>
        <p:spPr>
          <a:xfrm>
            <a:off x="548640" y="4613148"/>
            <a:ext cx="310896" cy="31089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548640" y="4613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1024128" y="454456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Журнал гипотез и скрытая правда</a:t>
            </a: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1024128" y="480060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320 прогонов · верны ли выводы о грунте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4224528" y="455371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адаптивный агент</a:t>
            </a:r>
            <a:endParaRPr lang="en-US" sz="1050" dirty="0"/>
          </a:p>
        </p:txBody>
      </p:sp>
      <p:sp>
        <p:nvSpPr>
          <p:cNvPr id="78" name="Shape 75"/>
          <p:cNvSpPr/>
          <p:nvPr/>
        </p:nvSpPr>
        <p:spPr>
          <a:xfrm>
            <a:off x="5596128" y="4599432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9" name="Shape 76"/>
          <p:cNvSpPr/>
          <p:nvPr/>
        </p:nvSpPr>
        <p:spPr>
          <a:xfrm>
            <a:off x="5596128" y="4599432"/>
            <a:ext cx="458674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6419088" y="45537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61%</a:t>
            </a:r>
            <a:endParaRPr lang="en-US" sz="1100" dirty="0"/>
          </a:p>
        </p:txBody>
      </p:sp>
      <p:sp>
        <p:nvSpPr>
          <p:cNvPr id="81" name="Text 78"/>
          <p:cNvSpPr txBox="1"/>
          <p:nvPr/>
        </p:nvSpPr>
        <p:spPr>
          <a:xfrm>
            <a:off x="4224528" y="478231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исследователь</a:t>
            </a:r>
            <a:endParaRPr lang="en-US" sz="1050" dirty="0"/>
          </a:p>
        </p:txBody>
      </p:sp>
      <p:sp>
        <p:nvSpPr>
          <p:cNvPr id="82" name="Shape 79"/>
          <p:cNvSpPr/>
          <p:nvPr/>
        </p:nvSpPr>
        <p:spPr>
          <a:xfrm>
            <a:off x="5596128" y="4828032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3" name="Shape 80"/>
          <p:cNvSpPr/>
          <p:nvPr/>
        </p:nvSpPr>
        <p:spPr>
          <a:xfrm>
            <a:off x="5596128" y="4828032"/>
            <a:ext cx="732895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6419088" y="47823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98%</a:t>
            </a:r>
            <a:endParaRPr lang="en-US" sz="1100" dirty="0"/>
          </a:p>
        </p:txBody>
      </p:sp>
      <p:sp>
        <p:nvSpPr>
          <p:cNvPr id="85" name="Text 82"/>
          <p:cNvSpPr txBox="1"/>
          <p:nvPr/>
        </p:nvSpPr>
        <p:spPr>
          <a:xfrm>
            <a:off x="7269480" y="451713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98%</a:t>
            </a:r>
            <a:endParaRPr lang="en-US" sz="2000" dirty="0"/>
          </a:p>
        </p:txBody>
      </p:sp>
      <p:sp>
        <p:nvSpPr>
          <p:cNvPr id="86" name="Text 83"/>
          <p:cNvSpPr txBox="1"/>
          <p:nvPr/>
        </p:nvSpPr>
        <p:spPr>
          <a:xfrm>
            <a:off x="7269480" y="48280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гипотез о грунте верны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9098280" y="4498848"/>
            <a:ext cx="254203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Исследователь проверяет другие объяснения и ошибается реже. Счёт почти тот же: 68,4 и 67,5.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548640" y="5088636"/>
            <a:ext cx="11091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89" name="Номер 6"/>
          <p:cNvSpPr/>
          <p:nvPr/>
        </p:nvSpPr>
        <p:spPr>
          <a:xfrm>
            <a:off x="548640" y="5239512"/>
            <a:ext cx="310896" cy="31089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548640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1024128" y="51709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Перенос в Gazebo</a:t>
            </a:r>
            <a:endParaRPr lang="en-US" sz="1400" dirty="0"/>
          </a:p>
        </p:txBody>
      </p:sp>
      <p:sp>
        <p:nvSpPr>
          <p:cNvPr id="92" name="Text 89"/>
          <p:cNvSpPr txBox="1"/>
          <p:nvPr/>
        </p:nvSpPr>
        <p:spPr>
          <a:xfrm>
            <a:off x="1024128" y="542696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11 сценариев в двух симуляторах · счёт</a:t>
            </a:r>
            <a:endParaRPr lang="en-US" sz="1050" dirty="0"/>
          </a:p>
        </p:txBody>
      </p:sp>
      <p:sp>
        <p:nvSpPr>
          <p:cNvPr id="93" name="Text 90"/>
          <p:cNvSpPr txBox="1"/>
          <p:nvPr/>
        </p:nvSpPr>
        <p:spPr>
          <a:xfrm>
            <a:off x="4224528" y="518007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быстрый симулятор</a:t>
            </a:r>
            <a:endParaRPr lang="en-US" sz="1050" dirty="0"/>
          </a:p>
        </p:txBody>
      </p:sp>
      <p:sp>
        <p:nvSpPr>
          <p:cNvPr id="94" name="Shape 91"/>
          <p:cNvSpPr/>
          <p:nvPr/>
        </p:nvSpPr>
        <p:spPr>
          <a:xfrm>
            <a:off x="5596128" y="5225796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5" name="Shape 92"/>
          <p:cNvSpPr/>
          <p:nvPr/>
        </p:nvSpPr>
        <p:spPr>
          <a:xfrm>
            <a:off x="5596128" y="5225796"/>
            <a:ext cx="550959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419088" y="518007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73,5</a:t>
            </a:r>
            <a:endParaRPr lang="en-US" sz="1100" dirty="0"/>
          </a:p>
        </p:txBody>
      </p:sp>
      <p:sp>
        <p:nvSpPr>
          <p:cNvPr id="97" name="Text 94"/>
          <p:cNvSpPr txBox="1"/>
          <p:nvPr/>
        </p:nvSpPr>
        <p:spPr>
          <a:xfrm>
            <a:off x="4224528" y="540867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Gazebo</a:t>
            </a:r>
            <a:endParaRPr lang="en-US" sz="1050" dirty="0"/>
          </a:p>
        </p:txBody>
      </p:sp>
      <p:sp>
        <p:nvSpPr>
          <p:cNvPr id="98" name="Shape 95"/>
          <p:cNvSpPr/>
          <p:nvPr/>
        </p:nvSpPr>
        <p:spPr>
          <a:xfrm>
            <a:off x="5596128" y="5454396"/>
            <a:ext cx="749808" cy="1097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9" name="Shape 96"/>
          <p:cNvSpPr/>
          <p:nvPr/>
        </p:nvSpPr>
        <p:spPr>
          <a:xfrm>
            <a:off x="5596128" y="5454396"/>
            <a:ext cx="552711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419088" y="540867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73,7</a:t>
            </a:r>
            <a:endParaRPr lang="en-US" sz="1100" dirty="0"/>
          </a:p>
        </p:txBody>
      </p:sp>
      <p:sp>
        <p:nvSpPr>
          <p:cNvPr id="101" name="Text 98"/>
          <p:cNvSpPr txBox="1"/>
          <p:nvPr/>
        </p:nvSpPr>
        <p:spPr>
          <a:xfrm>
            <a:off x="7269480" y="51435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+0,2 очка</a:t>
            </a:r>
            <a:endParaRPr lang="en-US" sz="2000" dirty="0"/>
          </a:p>
        </p:txBody>
      </p:sp>
      <p:sp>
        <p:nvSpPr>
          <p:cNvPr id="102" name="Text 99"/>
          <p:cNvSpPr txBox="1"/>
          <p:nvPr/>
        </p:nvSpPr>
        <p:spPr>
          <a:xfrm>
            <a:off x="7269480" y="545439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средняя разность счёта</a:t>
            </a:r>
            <a:endParaRPr lang="en-US" sz="1050" dirty="0"/>
          </a:p>
        </p:txBody>
      </p:sp>
      <p:sp>
        <p:nvSpPr>
          <p:cNvPr id="103" name="Text 100"/>
          <p:cNvSpPr txBox="1"/>
          <p:nvPr/>
        </p:nvSpPr>
        <p:spPr>
          <a:xfrm>
            <a:off x="9098280" y="5125212"/>
            <a:ext cx="254203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7 сценариях из 11 счёт сходится до 6 очков. После правки в Gazebo — 5 возвратов из 5.</a:t>
            </a:r>
            <a:endParaRPr lang="en-US" sz="1100" dirty="0"/>
          </a:p>
        </p:txBody>
      </p:sp>
      <p:sp>
        <p:nvSpPr>
          <p:cNvPr id="104" name="Что не подтвердилось"/>
          <p:cNvSpPr/>
          <p:nvPr/>
        </p:nvSpPr>
        <p:spPr>
          <a:xfrm>
            <a:off x="548640" y="5806440"/>
            <a:ext cx="11091672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05" name="Text 102"/>
          <p:cNvSpPr txBox="1"/>
          <p:nvPr/>
        </p:nvSpPr>
        <p:spPr>
          <a:xfrm>
            <a:off x="731520" y="5806440"/>
            <a:ext cx="10725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Что не подтвердилось. </a:t>
            </a:r>
            <a:pPr algn="l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Обнаружение смены грунта: +0,5 [−1,4; 2,4]. Обучение цене грунта: +1,0 [−3,6; 5,4]. Различие не показано.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Опыт 1. Агент против готового маршрута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Один сценарий: слева робот едет по готовому маршруту, справа перестраивает его по измерениям</a:t>
            </a:r>
            <a:endParaRPr lang="en-US" sz="1600" dirty="0"/>
          </a:p>
        </p:txBody>
      </p:sp>
      <p:pic>
        <p:nvPicPr>
          <p:cNvPr id="5" name="Image 0" descr="Один сценарий: слева робот едет по готовому маршруту, справа перестраивает его по измерения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671661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69164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+13,3 очка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549640" y="229514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[7,4; 19,0] · 240 прогонов, трудный уровень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3090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Собирает 81% образцов вместо 60%. Возврат на базу одинаковый — 95%.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49640" y="4480560"/>
            <a:ext cx="3090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57200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 ролике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4846320"/>
            <a:ext cx="3090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В этом прогоне: 61,1 очка против 75,1, собрано 4 и 6 образцов из 7.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Опыт 2. Как искать образцы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Один сценарий среднего уровня, три способа искать по датчику без направления</a:t>
            </a:r>
            <a:endParaRPr lang="en-US" sz="1600" dirty="0"/>
          </a:p>
        </p:txBody>
      </p:sp>
      <p:pic>
        <p:nvPicPr>
          <p:cNvPr id="5" name="Image 0" descr="Один сценарий среднего уровня, три способа искать по датчику без направлен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726680" cy="338686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69164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+17,5 п. п.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549640" y="229514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[13; 22] к подъёму по сигналу · 400 прогонов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3090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Карта вероятностей находит почти всё и тратит на 7 единиц заряда меньше. Спираль — 67,5%.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49640" y="4480560"/>
            <a:ext cx="3090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57200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 ролике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4846320"/>
            <a:ext cx="3090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В этом прогоне спираль собрала 3 образца из 5, подъём по сигналу — 4, карта вероятностей — все 5.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Опыт 3. Сбой датчика: ехать или ждать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Датчик образцов выходит из строя на полминуты: прежний агент едет дальше, новый стоит и ждёт</a:t>
            </a:r>
            <a:endParaRPr lang="en-US" sz="1600" dirty="0"/>
          </a:p>
        </p:txBody>
      </p:sp>
      <p:pic>
        <p:nvPicPr>
          <p:cNvPr id="5" name="Image 0" descr="Датчик образцов выходит из строя на полминуты: прежний агент едет дальше, новый стоит и ждё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671661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69164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+6,4 очка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549640" y="229514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[2,9; 9,8] · 80 прогонов, трудный уровень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3090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Заметить сбой и постоять выгоднее, чем ехать по ложным показаниям.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49640" y="4480560"/>
            <a:ext cx="3090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57200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 ролике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4846320"/>
            <a:ext cx="3090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Чёрным — путь за время сбоя, жёлтое кольцо — робот ждёт. В этом прогоне: 80,4 очка против 90,6.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Опыт 4. Миссия, заданная словами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Задание: «Собери ровно два образца и сразу возвращайся на базу»</a:t>
            </a:r>
            <a:endParaRPr lang="en-US" sz="1600" dirty="0"/>
          </a:p>
        </p:txBody>
      </p:sp>
      <p:pic>
        <p:nvPicPr>
          <p:cNvPr id="5" name="Image 0" descr="Задание: «Собери ровно два образца и сразу возвращайся на базу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671661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69164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6 из 6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549640" y="229514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прогонов с моделью выполнили задание; правило — 0 из 6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3090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Меняем текст задания — меняется поведение. На обычной миссии модель счёт не повышает.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49640" y="4480560"/>
            <a:ext cx="3090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57200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 ролике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4846320"/>
            <a:ext cx="3090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Правило текста не читает и собирает дальше: 5 образцов. Модель после второго поворачивает на базу.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Опыт 4. Миссия словами: запретная половина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Задание: «Не заезжай в правую половину арены (x больше 0,5 м)»</a:t>
            </a:r>
            <a:endParaRPr lang="en-US" sz="1600" dirty="0"/>
          </a:p>
        </p:txBody>
      </p:sp>
      <p:pic>
        <p:nvPicPr>
          <p:cNvPr id="5" name="Image 0" descr="Задание: «Не заезжай в правую половину арены (x больше 0,5 м)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671661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69164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 из 6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549640" y="229514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прогонов без заезда за черту; правило — 0 из 6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3090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Запрет есть только в тексте задания. Здесь модель отвечает на каждое решение; если часть решений оставить правилу — 1 из 6.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49640" y="4480560"/>
            <a:ext cx="3090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57200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 ролике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4846320"/>
            <a:ext cx="3090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Красная черта — граница из задания. Робот на правиле её пересекает, робот с моделью — нет.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Опыт 5. Журнал гипотез и скрытая правда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Справа — журнал робота; после финиша его выводы сверяются со скрытой правдой среды</a:t>
            </a:r>
            <a:endParaRPr lang="en-US" sz="1600" dirty="0"/>
          </a:p>
        </p:txBody>
      </p:sp>
      <p:pic>
        <p:nvPicPr>
          <p:cNvPr id="5" name="Image 0" descr="Справа — журнал робота; после финиша его выводы сверяются со скрытой правдой сред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671661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69164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98%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549640" y="229514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гипотез о грунте верны; у адаптивного агента — 61%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3090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Исследователь проверяет другие объяснения и ошибается реже. Счёт почти тот же: 68,4 и 67,5.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49640" y="4480560"/>
            <a:ext cx="3090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57200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 ролике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4846320"/>
            <a:ext cx="3090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Строка появляется, когда робот выдвигает гипотезу. Ошибка в строке H6: грунт сменился как раз во время измерения.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Опыт 6. Перенос в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Один сценарий трудного уровня, один агент, два симулятора</a:t>
            </a:r>
            <a:endParaRPr lang="en-US" sz="1600" dirty="0"/>
          </a:p>
        </p:txBody>
      </p:sp>
      <p:pic>
        <p:nvPicPr>
          <p:cNvPr id="5" name="Image 0" descr="Один сценарий трудного уровня, один агент, два симулято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671661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69164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+0,2 очка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549640" y="229514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средняя разность счёта · 11 сценариев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3090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7 сценариях из 11 счёт сходится до 6 очков. Систематического сдвига нет.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49640" y="4480560"/>
            <a:ext cx="3090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57200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 ролике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4846320"/>
            <a:ext cx="3090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В этом сценарии: 91,3 очка в быстром симуляторе и 90,9 в Gazebo. Бледная линия справа — путь из быстрого симулятора.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Опыт 6. Сбой, который нашёл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Трудный сценарий 5 в Gazebo: до правки агента и после неё</a:t>
            </a:r>
            <a:endParaRPr lang="en-US" sz="1600" dirty="0"/>
          </a:p>
        </p:txBody>
      </p:sp>
      <p:pic>
        <p:nvPicPr>
          <p:cNvPr id="5" name="Image 0" descr="Трудный сценарий 5 в Gazebo: до правки агента и после неё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671661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69164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 из 5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549640" y="229514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возвратов на базу после правки, без столкновений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3090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Робот задел столб, отъехал назад вслепую и потерял положение. В быстром симуляторе этого не было видно.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49640" y="4480560"/>
            <a:ext cx="3090672" cy="0"/>
          </a:xfrm>
          <a:prstGeom prst="line">
            <a:avLst/>
          </a:prstGeom>
          <a:noFill/>
          <a:ln w="9525">
            <a:solidFill>
              <a:srgbClr val="D5D9D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57200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В ролике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4846320"/>
            <a:ext cx="3090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До правки: 4 столкновения, 37,0 очка; пунктир — где робот себя считал. После: 91,1 очка.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реальные результаты</dc:title>
  <dc:subject>PptxGenJS Presentation</dc:subject>
  <dc:creator>PptxGenJS</dc:creator>
  <cp:lastModifiedBy>PptxGenJS</cp:lastModifiedBy>
  <cp:revision>1</cp:revision>
  <dcterms:created xsi:type="dcterms:W3CDTF">2026-10-08T18:42:21Z</dcterms:created>
  <dcterms:modified xsi:type="dcterms:W3CDTF">2026-10-08T18:42:21Z</dcterms:modified>
</cp:coreProperties>
</file>