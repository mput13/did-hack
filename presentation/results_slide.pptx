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шесть опытов, по одному на каждый критерий. Везде агенты проходят одни и те же сценарии, и мы считаем разность по парам. Первый: робот, который перестраивает маршрут по измерениям, набирает на трудном уровне на 13 очков больше, чем робот с готовым маршрутом. Второй: из способов поиска, названных в условии, карта вероятностей собирает 99,5% образцов против 82% у подъёма по сигналу. Третий: когда датчик образцов ломается, выгоднее постоять и переждать — это даёт +6,4 очка. Четвёртый: задание словами. Правило без модели не выполнило ни одного задания с ограничением, с языковой моделью — 16 из 18. Пятый: журнал гипотез мы сверили со скрытой правдой среды. У исследователя подтверждённые гипотезы о грунте верны в 98% случаев, у обычного агента — в 61%. Шестой: те же сценарии в Gazebo дают в среднем тот же счёт, разность +0,2 очка. И то, что не подтвердилось: реакция на смену грунта очков не добавляет. Мы это измерили и записали как есть.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ИИ-исследователь на роботе-платформе · DID Hack 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Реальные результаты: шесть опытов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Агенты проходят одни и те же сценарии; в скобках — 95% интервал разности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024128" y="1682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Опыт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224528" y="1682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Что сравнивали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1682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Главное число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098280" y="1682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Вывод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956816"/>
            <a:ext cx="1109167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0" name="Номер 1"/>
          <p:cNvSpPr/>
          <p:nvPr/>
        </p:nvSpPr>
        <p:spPr>
          <a:xfrm>
            <a:off x="548640" y="2107692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1076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0391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Агент против готового маршрута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" y="22951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240 прогонов · счёт на трудном уровне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224528" y="20482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готовый маршрут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596128" y="2093976"/>
            <a:ext cx="749808" cy="1097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hape 13"/>
          <p:cNvSpPr/>
          <p:nvPr/>
        </p:nvSpPr>
        <p:spPr>
          <a:xfrm>
            <a:off x="5596128" y="2093976"/>
            <a:ext cx="445004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19088" y="20482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59,3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224528" y="22768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адаптивный агент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596128" y="2322576"/>
            <a:ext cx="749808" cy="1097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5596128" y="2322576"/>
            <a:ext cx="544968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19088" y="22768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72,7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269480" y="2011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+13,3 очка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269480" y="23225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[7,4; 19,0]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098280" y="1993392"/>
            <a:ext cx="254203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Собирает 81% образцов вместо 60%. Возврат на базу одинаковый — 95%.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2583180"/>
            <a:ext cx="11091672" cy="0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</p:sp>
      <p:sp>
        <p:nvSpPr>
          <p:cNvPr id="26" name="Номер 2"/>
          <p:cNvSpPr/>
          <p:nvPr/>
        </p:nvSpPr>
        <p:spPr>
          <a:xfrm>
            <a:off x="548640" y="2734056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4864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024128" y="26654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Как искать образцы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292150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400 прогонов · доля собранных образцов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224528" y="26746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подъём по сигналу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596128" y="2720340"/>
            <a:ext cx="749808" cy="1097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2" name="Shape 29"/>
          <p:cNvSpPr/>
          <p:nvPr/>
        </p:nvSpPr>
        <p:spPr>
          <a:xfrm>
            <a:off x="5596128" y="2720340"/>
            <a:ext cx="614843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19088" y="26746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82%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224528" y="29032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карта вероятностей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596128" y="2948940"/>
            <a:ext cx="749808" cy="1097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6" name="Shape 33"/>
          <p:cNvSpPr/>
          <p:nvPr/>
        </p:nvSpPr>
        <p:spPr>
          <a:xfrm>
            <a:off x="5596128" y="2948940"/>
            <a:ext cx="746059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419088" y="29032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99,5%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7269480" y="263804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+17,5 п. п.</a:t>
            </a:r>
            <a:endParaRPr lang="en-US" sz="2000" dirty="0"/>
          </a:p>
        </p:txBody>
      </p:sp>
      <p:sp>
        <p:nvSpPr>
          <p:cNvPr id="39" name="Text 36"/>
          <p:cNvSpPr txBox="1"/>
          <p:nvPr/>
        </p:nvSpPr>
        <p:spPr>
          <a:xfrm>
            <a:off x="7269480" y="29489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[13; 22]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9098280" y="2619756"/>
            <a:ext cx="254203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Карта вероятностей находит почти всё и тратит на 7 единиц заряда меньше. Спираль — 67,5%.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" y="3209544"/>
            <a:ext cx="11091672" cy="0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</p:sp>
      <p:sp>
        <p:nvSpPr>
          <p:cNvPr id="42" name="Номер 3"/>
          <p:cNvSpPr/>
          <p:nvPr/>
        </p:nvSpPr>
        <p:spPr>
          <a:xfrm>
            <a:off x="548640" y="3360420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548640" y="3360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1024128" y="32918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Сбой датчика: ехать или ждать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1024128" y="35478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80 прогонов · счёт на трудном уровне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4224528" y="330098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едет по показаниям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5596128" y="3346704"/>
            <a:ext cx="749808" cy="1097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8" name="Shape 45"/>
          <p:cNvSpPr/>
          <p:nvPr/>
        </p:nvSpPr>
        <p:spPr>
          <a:xfrm>
            <a:off x="5596128" y="3346704"/>
            <a:ext cx="561503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6419088" y="3300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74,9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4224528" y="352958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пережидает сбой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5596128" y="3575304"/>
            <a:ext cx="749808" cy="1097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2" name="Shape 49"/>
          <p:cNvSpPr/>
          <p:nvPr/>
        </p:nvSpPr>
        <p:spPr>
          <a:xfrm>
            <a:off x="5596128" y="3575304"/>
            <a:ext cx="60933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6419088" y="35295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81,3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7269480" y="32644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+6,4 очка</a:t>
            </a:r>
            <a:endParaRPr lang="en-US" sz="2000" dirty="0"/>
          </a:p>
        </p:txBody>
      </p:sp>
      <p:sp>
        <p:nvSpPr>
          <p:cNvPr id="55" name="Text 52"/>
          <p:cNvSpPr txBox="1"/>
          <p:nvPr/>
        </p:nvSpPr>
        <p:spPr>
          <a:xfrm>
            <a:off x="7269480" y="35753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[2,9; 9,8]</a:t>
            </a:r>
            <a:endParaRPr lang="en-US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9098280" y="3246120"/>
            <a:ext cx="254203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Заметить сбой и постоять выгоднее, чем ехать по ложным показаниям.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48640" y="3835908"/>
            <a:ext cx="11091672" cy="0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</p:sp>
      <p:sp>
        <p:nvSpPr>
          <p:cNvPr id="58" name="Номер 4"/>
          <p:cNvSpPr/>
          <p:nvPr/>
        </p:nvSpPr>
        <p:spPr>
          <a:xfrm>
            <a:off x="548640" y="3986784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48640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1024128" y="39182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Миссия, заданная словами</a:t>
            </a:r>
            <a:endParaRPr lang="en-US" sz="1400" dirty="0"/>
          </a:p>
        </p:txBody>
      </p:sp>
      <p:sp>
        <p:nvSpPr>
          <p:cNvPr id="61" name="Text 58"/>
          <p:cNvSpPr txBox="1"/>
          <p:nvPr/>
        </p:nvSpPr>
        <p:spPr>
          <a:xfrm>
            <a:off x="1024128" y="41742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3 задания с ограничением × 6 сценариев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4224528" y="392734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правило без модели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5596128" y="3973068"/>
            <a:ext cx="749808" cy="1097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6419088" y="39273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0 из 18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224528" y="415594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языковая модель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5596128" y="4201668"/>
            <a:ext cx="749808" cy="1097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7" name="Shape 64"/>
          <p:cNvSpPr/>
          <p:nvPr/>
        </p:nvSpPr>
        <p:spPr>
          <a:xfrm>
            <a:off x="5596128" y="4201668"/>
            <a:ext cx="666496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6419088" y="41559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16 из 18</a:t>
            </a:r>
            <a:endParaRPr lang="en-US" sz="1100" dirty="0"/>
          </a:p>
        </p:txBody>
      </p:sp>
      <p:sp>
        <p:nvSpPr>
          <p:cNvPr id="69" name="Text 66"/>
          <p:cNvSpPr txBox="1"/>
          <p:nvPr/>
        </p:nvSpPr>
        <p:spPr>
          <a:xfrm>
            <a:off x="7269480" y="38907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16 из 18</a:t>
            </a:r>
            <a:endParaRPr lang="en-US" sz="2000" dirty="0"/>
          </a:p>
        </p:txBody>
      </p:sp>
      <p:sp>
        <p:nvSpPr>
          <p:cNvPr id="70" name="Text 67"/>
          <p:cNvSpPr txBox="1"/>
          <p:nvPr/>
        </p:nvSpPr>
        <p:spPr>
          <a:xfrm>
            <a:off x="7269480" y="42016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заданий выполнено</a:t>
            </a:r>
            <a:endParaRPr lang="en-US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9098280" y="3872484"/>
            <a:ext cx="254203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Меняем текст задания — меняется поведение. На обычной миссии модель счёт не повышает.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548640" y="4462272"/>
            <a:ext cx="11091672" cy="0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</p:sp>
      <p:sp>
        <p:nvSpPr>
          <p:cNvPr id="73" name="Номер 5"/>
          <p:cNvSpPr/>
          <p:nvPr/>
        </p:nvSpPr>
        <p:spPr>
          <a:xfrm>
            <a:off x="548640" y="4613148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548640" y="46131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75" name="Text 72"/>
          <p:cNvSpPr txBox="1"/>
          <p:nvPr/>
        </p:nvSpPr>
        <p:spPr>
          <a:xfrm>
            <a:off x="1024128" y="45445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Журнал гипотез и скрытая правда</a:t>
            </a:r>
            <a:endParaRPr lang="en-US" sz="1400" dirty="0"/>
          </a:p>
        </p:txBody>
      </p:sp>
      <p:sp>
        <p:nvSpPr>
          <p:cNvPr id="76" name="Text 73"/>
          <p:cNvSpPr txBox="1"/>
          <p:nvPr/>
        </p:nvSpPr>
        <p:spPr>
          <a:xfrm>
            <a:off x="1024128" y="48006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320 прогонов · верны ли выводы о грунте</a:t>
            </a:r>
            <a:endParaRPr lang="en-US" sz="1050" dirty="0"/>
          </a:p>
        </p:txBody>
      </p:sp>
      <p:sp>
        <p:nvSpPr>
          <p:cNvPr id="77" name="Text 74"/>
          <p:cNvSpPr txBox="1"/>
          <p:nvPr/>
        </p:nvSpPr>
        <p:spPr>
          <a:xfrm>
            <a:off x="4224528" y="45537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адаптивный агент</a:t>
            </a:r>
            <a:endParaRPr lang="en-US" sz="1050" dirty="0"/>
          </a:p>
        </p:txBody>
      </p:sp>
      <p:sp>
        <p:nvSpPr>
          <p:cNvPr id="78" name="Shape 75"/>
          <p:cNvSpPr/>
          <p:nvPr/>
        </p:nvSpPr>
        <p:spPr>
          <a:xfrm>
            <a:off x="5596128" y="4599432"/>
            <a:ext cx="749808" cy="1097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9" name="Shape 76"/>
          <p:cNvSpPr/>
          <p:nvPr/>
        </p:nvSpPr>
        <p:spPr>
          <a:xfrm>
            <a:off x="5596128" y="4599432"/>
            <a:ext cx="458674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6419088" y="45537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61%</a:t>
            </a:r>
            <a:endParaRPr lang="en-US" sz="1100" dirty="0"/>
          </a:p>
        </p:txBody>
      </p:sp>
      <p:sp>
        <p:nvSpPr>
          <p:cNvPr id="81" name="Text 78"/>
          <p:cNvSpPr txBox="1"/>
          <p:nvPr/>
        </p:nvSpPr>
        <p:spPr>
          <a:xfrm>
            <a:off x="4224528" y="47823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исследователь</a:t>
            </a:r>
            <a:endParaRPr lang="en-US" sz="1050" dirty="0"/>
          </a:p>
        </p:txBody>
      </p:sp>
      <p:sp>
        <p:nvSpPr>
          <p:cNvPr id="82" name="Shape 79"/>
          <p:cNvSpPr/>
          <p:nvPr/>
        </p:nvSpPr>
        <p:spPr>
          <a:xfrm>
            <a:off x="5596128" y="4828032"/>
            <a:ext cx="749808" cy="1097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3" name="Shape 80"/>
          <p:cNvSpPr/>
          <p:nvPr/>
        </p:nvSpPr>
        <p:spPr>
          <a:xfrm>
            <a:off x="5596128" y="4828032"/>
            <a:ext cx="733146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6419088" y="47823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98%</a:t>
            </a:r>
            <a:endParaRPr lang="en-US" sz="1100" dirty="0"/>
          </a:p>
        </p:txBody>
      </p:sp>
      <p:sp>
        <p:nvSpPr>
          <p:cNvPr id="85" name="Text 82"/>
          <p:cNvSpPr txBox="1"/>
          <p:nvPr/>
        </p:nvSpPr>
        <p:spPr>
          <a:xfrm>
            <a:off x="7269480" y="451713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98%</a:t>
            </a:r>
            <a:endParaRPr lang="en-US" sz="2000" dirty="0"/>
          </a:p>
        </p:txBody>
      </p:sp>
      <p:sp>
        <p:nvSpPr>
          <p:cNvPr id="86" name="Text 83"/>
          <p:cNvSpPr txBox="1"/>
          <p:nvPr/>
        </p:nvSpPr>
        <p:spPr>
          <a:xfrm>
            <a:off x="7269480" y="4828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гипотез о грунте верны</a:t>
            </a:r>
            <a:endParaRPr lang="en-US" sz="1050" dirty="0"/>
          </a:p>
        </p:txBody>
      </p:sp>
      <p:sp>
        <p:nvSpPr>
          <p:cNvPr id="87" name="Text 84"/>
          <p:cNvSpPr txBox="1"/>
          <p:nvPr/>
        </p:nvSpPr>
        <p:spPr>
          <a:xfrm>
            <a:off x="9098280" y="4498848"/>
            <a:ext cx="254203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Исследователь проверяет другие объяснения и ошибается реже. Счёт почти тот же: 68,1 и 67,5.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548640" y="5088636"/>
            <a:ext cx="11091672" cy="0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</p:sp>
      <p:sp>
        <p:nvSpPr>
          <p:cNvPr id="89" name="Номер 6"/>
          <p:cNvSpPr/>
          <p:nvPr/>
        </p:nvSpPr>
        <p:spPr>
          <a:xfrm>
            <a:off x="548640" y="5239512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548640" y="5239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91" name="Text 88"/>
          <p:cNvSpPr txBox="1"/>
          <p:nvPr/>
        </p:nvSpPr>
        <p:spPr>
          <a:xfrm>
            <a:off x="1024128" y="51709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Перенос в Gazebo</a:t>
            </a:r>
            <a:endParaRPr lang="en-US" sz="1400" dirty="0"/>
          </a:p>
        </p:txBody>
      </p:sp>
      <p:sp>
        <p:nvSpPr>
          <p:cNvPr id="92" name="Text 89"/>
          <p:cNvSpPr txBox="1"/>
          <p:nvPr/>
        </p:nvSpPr>
        <p:spPr>
          <a:xfrm>
            <a:off x="1024128" y="542696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11 сценариев в двух симуляторах · счёт</a:t>
            </a:r>
            <a:endParaRPr lang="en-US" sz="1050" dirty="0"/>
          </a:p>
        </p:txBody>
      </p:sp>
      <p:sp>
        <p:nvSpPr>
          <p:cNvPr id="93" name="Text 90"/>
          <p:cNvSpPr txBox="1"/>
          <p:nvPr/>
        </p:nvSpPr>
        <p:spPr>
          <a:xfrm>
            <a:off x="4224528" y="51800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быстрый симулятор</a:t>
            </a:r>
            <a:endParaRPr lang="en-US" sz="1050" dirty="0"/>
          </a:p>
        </p:txBody>
      </p:sp>
      <p:sp>
        <p:nvSpPr>
          <p:cNvPr id="94" name="Shape 91"/>
          <p:cNvSpPr/>
          <p:nvPr/>
        </p:nvSpPr>
        <p:spPr>
          <a:xfrm>
            <a:off x="5596128" y="5225796"/>
            <a:ext cx="749808" cy="1097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5" name="Shape 92"/>
          <p:cNvSpPr/>
          <p:nvPr/>
        </p:nvSpPr>
        <p:spPr>
          <a:xfrm>
            <a:off x="5596128" y="5225796"/>
            <a:ext cx="550959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6" name="Text 93"/>
          <p:cNvSpPr txBox="1"/>
          <p:nvPr/>
        </p:nvSpPr>
        <p:spPr>
          <a:xfrm>
            <a:off x="6419088" y="51800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73,5</a:t>
            </a:r>
            <a:endParaRPr lang="en-US" sz="1100" dirty="0"/>
          </a:p>
        </p:txBody>
      </p:sp>
      <p:sp>
        <p:nvSpPr>
          <p:cNvPr id="97" name="Text 94"/>
          <p:cNvSpPr txBox="1"/>
          <p:nvPr/>
        </p:nvSpPr>
        <p:spPr>
          <a:xfrm>
            <a:off x="4224528" y="54086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Gazebo</a:t>
            </a:r>
            <a:endParaRPr lang="en-US" sz="1050" dirty="0"/>
          </a:p>
        </p:txBody>
      </p:sp>
      <p:sp>
        <p:nvSpPr>
          <p:cNvPr id="98" name="Shape 95"/>
          <p:cNvSpPr/>
          <p:nvPr/>
        </p:nvSpPr>
        <p:spPr>
          <a:xfrm>
            <a:off x="5596128" y="5454396"/>
            <a:ext cx="749808" cy="1097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9" name="Shape 96"/>
          <p:cNvSpPr/>
          <p:nvPr/>
        </p:nvSpPr>
        <p:spPr>
          <a:xfrm>
            <a:off x="5596128" y="5454396"/>
            <a:ext cx="552711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6419088" y="54086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73,7</a:t>
            </a:r>
            <a:endParaRPr lang="en-US" sz="1100" dirty="0"/>
          </a:p>
        </p:txBody>
      </p:sp>
      <p:sp>
        <p:nvSpPr>
          <p:cNvPr id="101" name="Text 98"/>
          <p:cNvSpPr txBox="1"/>
          <p:nvPr/>
        </p:nvSpPr>
        <p:spPr>
          <a:xfrm>
            <a:off x="7269480" y="51435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+0,2 очка</a:t>
            </a:r>
            <a:endParaRPr lang="en-US" sz="2000" dirty="0"/>
          </a:p>
        </p:txBody>
      </p:sp>
      <p:sp>
        <p:nvSpPr>
          <p:cNvPr id="102" name="Text 99"/>
          <p:cNvSpPr txBox="1"/>
          <p:nvPr/>
        </p:nvSpPr>
        <p:spPr>
          <a:xfrm>
            <a:off x="7269480" y="54543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средняя разность счёта</a:t>
            </a:r>
            <a:endParaRPr lang="en-US" sz="1050" dirty="0"/>
          </a:p>
        </p:txBody>
      </p:sp>
      <p:sp>
        <p:nvSpPr>
          <p:cNvPr id="103" name="Text 100"/>
          <p:cNvSpPr txBox="1"/>
          <p:nvPr/>
        </p:nvSpPr>
        <p:spPr>
          <a:xfrm>
            <a:off x="9098280" y="5125212"/>
            <a:ext cx="254203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В 7 сценариях из 11 счёт сходится до 6 очков. После правки в Gazebo — 5 возвратов из 5.</a:t>
            </a:r>
            <a:endParaRPr lang="en-US" sz="1100" dirty="0"/>
          </a:p>
        </p:txBody>
      </p:sp>
      <p:sp>
        <p:nvSpPr>
          <p:cNvPr id="104" name="Что не подтвердилось"/>
          <p:cNvSpPr/>
          <p:nvPr/>
        </p:nvSpPr>
        <p:spPr>
          <a:xfrm>
            <a:off x="548640" y="5806440"/>
            <a:ext cx="11091672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105" name="Text 102"/>
          <p:cNvSpPr txBox="1"/>
          <p:nvPr/>
        </p:nvSpPr>
        <p:spPr>
          <a:xfrm>
            <a:off x="731520" y="580644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Что не подтвердилось. </a:t>
            </a:r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Обнаружение смены грунта: +0,5 [−1,4; 2,4]. Обучение цене грунта: +1,0 [−3,6; 5,4]. Различие не показано.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D Researcher">
  <a:themeElements>
    <a:clrScheme name="DID Researcher">
      <a:dk1>
        <a:srgbClr val="14181C"/>
      </a:dk1>
      <a:lt1>
        <a:srgbClr val="FFFFFF"/>
      </a:lt1>
      <a:dk2>
        <a:srgbClr val="2B3138"/>
      </a:dk2>
      <a:lt2>
        <a:srgbClr val="EEF0F2"/>
      </a:lt2>
      <a:accent1>
        <a:srgbClr val="EB6834"/>
      </a:accent1>
      <a:accent2>
        <a:srgbClr val="2A78D6"/>
      </a:accent2>
      <a:accent3>
        <a:srgbClr val="1BAF7A"/>
      </a:accent3>
      <a:accent4>
        <a:srgbClr val="EDA100"/>
      </a:accent4>
      <a:accent5>
        <a:srgbClr val="5B6168"/>
      </a:accent5>
      <a:accent6>
        <a:srgbClr val="D03B3B"/>
      </a:accent6>
      <a:hlink>
        <a:srgbClr val="2A78D6"/>
      </a:hlink>
      <a:folHlink>
        <a:srgbClr val="4A3AA7"/>
      </a:folHlink>
    </a:clrScheme>
    <a:fontScheme name="DID Research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ИИ-исследователь на роботе-платформе — реальные результаты</dc:title>
  <dc:subject>PptxGenJS Presentation</dc:subject>
  <dc:creator>PptxGenJS</dc:creator>
  <cp:lastModifiedBy>PptxGenJS</cp:lastModifiedBy>
  <cp:revision>1</cp:revision>
  <dcterms:created xsi:type="dcterms:W3CDTF">2026-10-08T17:58:43Z</dcterms:created>
  <dcterms:modified xsi:type="dcterms:W3CDTF">2026-10-08T17:58:43Z</dcterms:modified>
</cp:coreProperties>
</file>