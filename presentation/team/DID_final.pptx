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embeddedFontLst>
    <p:embeddedFont>
      <p:font typeface="Inter"/>
      <p:regular r:id="rIdFontInter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FontInter" Type="http://schemas.openxmlformats.org/officeDocument/2006/relationships/font" Target="fonts/inter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Собрано образцов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D63D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спираль</c:v>
                  </c:pt>
                  <c:pt idx="1">
                    <c:v>подъём по сигналу</c:v>
                  </c:pt>
                  <c:pt idx="2">
                    <c:v>карта вероятностей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67.5</c:v>
                </c:pt>
                <c:pt idx="1">
                  <c:v>82</c:v>
                </c:pt>
                <c:pt idx="2">
                  <c:v>99.5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опыта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</c:v>
                </c:pt>
                <c:pt idx="1">
                  <c:v>23</c:v>
                </c:pt>
                <c:pt idx="2">
                  <c:v>11</c:v>
                </c:pt>
                <c:pt idx="3">
                  <c:v>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опыта</c:v>
                </c:pt>
              </c:strCache>
            </c:strRef>
          </c:tx>
          <c:spPr>
            <a:solidFill>
              <a:srgbClr val="3D63D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536B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10 с. Мы сделали робота, который ищет скрытые образцы, сам замечает, что среда изменилась, и возвращается на базу до разрядки.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Слева — как арена устроена на самом деле: семь образцов, участки дорогого грунта, опасная зона. Справа — всё, что знает робот: стены по лидару и одно число датчика близости. По одному числу можно сказать только, что образец где-то на кольце. Заряда хватает примерно на 24 метра, а среда по ходу прогона меняется без объявления.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Гипотеза одна и проверяемая: робот, который по ходу прогона сверяет ожидания с данными и перестраивает поиск, наберёт больше очков, чем робот с планом, составленным заранее. Проверяем на одних и тех же сорока сценариях, смотрим разность счёта. Опровержение — если интервал разности целиком ниже нуля; если он включает ноль, выигрыш не показан. Итог в быстром симуляторе: плюс тринадцать очков, интервал от семи до девятнадцати.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Сверху стенд: генератор сценариев, судья и симулятор — Gazebo с TurtleBot3 или быстрый симулятор с тем же интерфейсом. Агент видит только каналы ROS 2 из условия задачи. Внутри агента — картина мира, научный цикл, планировщик и исполнитель; планировщик может спросить языковую модель с сервера МАИ, скоростями она не управляет. Каждый прогон записывается: запись открывается в лаборатории и идёт в серии опытов, из которых получаются числа с интервалами.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с. Робот и симуляция — стандартные: ROS 2 Jazzy, Gazebo Harmonic, TurtleBot3 и SLAM Toolbox. Свой код — на Python с NumPy и SciPy; для серий опытов мы написали быстрый симулятор с тем же судьёй. Языковые модели робота — с сервера МАИ. Разрабатывали с ИИ-агентами: Claude пишет код, GPT независимо проверяет, Gemini читает литературу.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40 с. Датчик образцов сообщает одно число. По нему известно расстояние, но не направление: образец где-то на кольце вокруг робота. Робот делит арену на клетки и для каждой хранит вероятность, что образец там. Каждое новое показание — ещё одно кольцо: вероятность клетки умножается на то, насколько показание с ней согласуется. Где кольца сходятся, вероятность растёт. После трёх показаний остаётся одно место — это и есть 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Перед каждым движением робот считает три вещи. Первое — цель: это максимум карты вероятностей. Простой подъём по сигналу — градиентный подъём, когда робот шагает туда, где показание растёт, — собирает заметно меньше: он теряется, когда образцов несколько. Второе — путь: алгоритм Дейкстры по сетке, где шаг по дорогому грунту стоит дороже, поэтому робот выбирает не самый короткий, а самый дешёвый по заряду путь. Третье — запас: к цели он едет, только если заряда хватит и туда, и домой.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45 с. Это запись прогона в Gazebo. За первые полминуты робот собирает три образца. На тридцать первой секунде судья делает грунт дороже — робот замечает перерасход и ставит опыт. На сорок второй шумит датчик — робот делает вывод «сбой» и ждёт тридцать шесть секунд, потому что стоять дешевле, чем ехать вслепую. Потом собирает ещё четыре образца и возвращается: семь из семи, без штрафов.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Один и тот же сценарий. Слева робот едет по маршруту, составленному до старта, и берёт только то, что оказалось по пути: четыре образца из семи. Справа — наш робот: он едет туда, где образец вероятнее, и собирает шесть. В среднем по сорока сценариям разница — тринадцать очков.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Это научный цикл внутри робота. Когда измерение расходится с прогнозом — например, заряд уходит быстрее, чем должен, — робот не гадает. Он выдвигает несколько объяснений с вероятностями и выбирает опыт, который различит их дешевле всего: например, постоять две секунды. По результату вероятности пересчитываются, и робот действует: вносит участок в карту стоимости и меняет запас на возврат. Справа пример из прогона: до опыта объяснений четыре, после — одно.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Языковая модель нужна там, где задание дано словами. Миссия: не заезжай в правую половину арены. Слева робот с обычным правилом: текст он не читает и едет за образцами через запретную половину. Справа подцели выбирает языковая модель: она читает миссию и работает только в разрешённой половине — собирает там все три образца и возвращается. Так же словами можно задать, например, сколько образцов собрать. Модель выполняет такую миссию в одиннадцати прогонах из двенадцати, правило — ни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Сводим всё на одну шкалу. Главное подтвердилось: робот с адаптацией против плана заранее — плюс тринадцать. Пережидание сбоя датчика, контроль его исправности, запас на возврат по оценке пути и память о лаборатории между прогонами — тоже в плюсе. А учёт дорогого грунта и реакция на его смену выигрыша не показали: интервалы включают ноль, и мы это говорим прямо. В Gazebo показной сценарий пройден шесть раз из шести засчитанных.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 агентами мы работали как в лаборатории. Человек задаёт цель, роли и ограничения. Ведущий агент ведёт план и сводит код. Исследователи читают литературу, инженеры пишут код и ставят опыты, а независимая модель проверяет каждую работу. Почти все работы — двадцать одну из двадцати двух — ревью вернуло на доработку, и в этом смысл: качество держится на процессе,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15 с. Команда — три человека. Сделаны все уровни задания, научный цикл, задания словами через языковую модель, своя карта и два робота. Дальше покажем робота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" name="Text 0"/>
          <p:cNvSpPr/>
          <p:nvPr/>
        </p:nvSpPr>
        <p:spPr>
          <a:xfrm>
            <a:off x="667512" y="4773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-lavender"/>
          <p:cNvSpPr/>
          <p:nvPr/>
        </p:nvSpPr>
        <p:spPr>
          <a:xfrm>
            <a:off x="5230368" y="365760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circle-mint"/>
          <p:cNvSpPr/>
          <p:nvPr/>
        </p:nvSpPr>
        <p:spPr>
          <a:xfrm>
            <a:off x="7973568" y="4572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circle-blue"/>
          <p:cNvSpPr/>
          <p:nvPr/>
        </p:nvSpPr>
        <p:spPr>
          <a:xfrm>
            <a:off x="5669280" y="1005840"/>
            <a:ext cx="3017520" cy="3017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itle-map" descr="Карта арены с путём робота: семь образцов собраны, робот вернулся на баз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527048"/>
            <a:ext cx="2066544" cy="1903984"/>
          </a:xfrm>
          <a:prstGeom prst="rect">
            <a:avLst/>
          </a:prstGeom>
        </p:spPr>
      </p:pic>
      <p:sp>
        <p:nvSpPr>
          <p:cNvPr id="6" name="title"/>
          <p:cNvSpPr txBox="1"/>
          <p:nvPr/>
        </p:nvSpPr>
        <p:spPr>
          <a:xfrm>
            <a:off x="822960" y="10515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Автономный ИИ-исследователь</a:t>
            </a:r>
            <a:endParaRPr lang="en-US" sz="3400" dirty="0"/>
          </a:p>
        </p:txBody>
      </p:sp>
      <p:sp>
        <p:nvSpPr>
          <p:cNvPr id="7" name="subtitle"/>
          <p:cNvSpPr txBox="1"/>
          <p:nvPr/>
        </p:nvSpPr>
        <p:spPr>
          <a:xfrm>
            <a:off x="822960" y="2487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образцов и исследование среды с ограниченным запасом энергии</a:t>
            </a:r>
            <a:endParaRPr lang="en-US" sz="1400" dirty="0"/>
          </a:p>
        </p:txBody>
      </p:sp>
      <p:sp>
        <p:nvSpPr>
          <p:cNvPr id="8" name="team"/>
          <p:cNvSpPr txBox="1"/>
          <p:nvPr/>
        </p:nvSpPr>
        <p:spPr>
          <a:xfrm>
            <a:off x="822960" y="404164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 Анастасия · Путиловский Михаил · Журавлева Полина</a:t>
            </a:r>
            <a:endParaRPr lang="en-US" sz="1050" dirty="0"/>
          </a:p>
        </p:txBody>
      </p:sp>
      <p:sp>
        <p:nvSpPr>
          <p:cNvPr id="9" name="event"/>
          <p:cNvSpPr txBox="1"/>
          <p:nvPr/>
        </p:nvSpPr>
        <p:spPr>
          <a:xfrm>
            <a:off x="822960" y="43708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Задача: найти скрытое и успеть вернуться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Скрытые образцы, неизвестные затраты и ограниченный запас энергии</a:t>
            </a:r>
            <a:endParaRPr lang="en-US" sz="1150" dirty="0"/>
          </a:p>
        </p:txBody>
      </p:sp>
      <p:pic>
        <p:nvPicPr>
          <p:cNvPr id="5" name="truth_vs_robot" descr="Две карты арены: слева скрытая правда с образцами, грунтами и опасной зоной, справа то, что видит робот, — стены и кольцо возможных мест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4526280" cy="2057651"/>
          </a:xfrm>
          <a:prstGeom prst="rect">
            <a:avLst/>
          </a:prstGeom>
        </p:spPr>
      </p:pic>
      <p:sp>
        <p:nvSpPr>
          <p:cNvPr id="6" name="cap-truth"/>
          <p:cNvSpPr txBox="1"/>
          <p:nvPr/>
        </p:nvSpPr>
        <p:spPr>
          <a:xfrm>
            <a:off x="667512" y="3392675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на самом деле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образцов, дорогой грунт (×2…×4), опасная зона</a:t>
            </a:r>
            <a:endParaRPr lang="en-US" sz="1100" dirty="0"/>
          </a:p>
        </p:txBody>
      </p:sp>
      <p:sp>
        <p:nvSpPr>
          <p:cNvPr id="7" name="cap-robot"/>
          <p:cNvSpPr txBox="1"/>
          <p:nvPr/>
        </p:nvSpPr>
        <p:spPr>
          <a:xfrm>
            <a:off x="2953512" y="3392675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видит робот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стены по лидару и одно число: z = 0,53 — образец на кольце радиусом 0,95 м</a:t>
            </a:r>
            <a:endParaRPr lang="en-US" sz="1100" dirty="0"/>
          </a:p>
        </p:txBody>
      </p:sp>
      <p:sp>
        <p:nvSpPr>
          <p:cNvPr id="8" name="task-1-pill"/>
          <p:cNvSpPr/>
          <p:nvPr/>
        </p:nvSpPr>
        <p:spPr>
          <a:xfrm>
            <a:off x="5669280" y="1298448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task-1-text"/>
          <p:cNvSpPr txBox="1"/>
          <p:nvPr/>
        </p:nvSpPr>
        <p:spPr>
          <a:xfrm>
            <a:off x="5897880" y="138074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сигнал близости без координат и направления</a:t>
            </a:r>
            <a:endParaRPr lang="en-US" sz="1100" dirty="0"/>
          </a:p>
        </p:txBody>
      </p:sp>
      <p:sp>
        <p:nvSpPr>
          <p:cNvPr id="10" name="task-2-pill"/>
          <p:cNvSpPr/>
          <p:nvPr/>
        </p:nvSpPr>
        <p:spPr>
          <a:xfrm>
            <a:off x="5669280" y="2066544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1" name="task-2-text"/>
          <p:cNvSpPr txBox="1"/>
          <p:nvPr/>
        </p:nvSpPr>
        <p:spPr>
          <a:xfrm>
            <a:off x="5897880" y="214884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Изучить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разных грунтах и опасные зоны</a:t>
            </a:r>
            <a:endParaRPr lang="en-US" sz="1100" dirty="0"/>
          </a:p>
        </p:txBody>
      </p:sp>
      <p:sp>
        <p:nvSpPr>
          <p:cNvPr id="12" name="task-3-pill"/>
          <p:cNvSpPr/>
          <p:nvPr/>
        </p:nvSpPr>
        <p:spPr>
          <a:xfrm>
            <a:off x="5669280" y="2834640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3" name="task-3-text"/>
          <p:cNvSpPr txBox="1"/>
          <p:nvPr/>
        </p:nvSpPr>
        <p:spPr>
          <a:xfrm>
            <a:off x="5897880" y="291693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Вернуться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образцами, пока хватает заряда: 60 единиц ≈ 24 м</a:t>
            </a:r>
            <a:endParaRPr lang="en-US" sz="1100" dirty="0"/>
          </a:p>
        </p:txBody>
      </p:sp>
      <p:sp>
        <p:nvSpPr>
          <p:cNvPr id="14" name="idea-pill"/>
          <p:cNvSpPr/>
          <p:nvPr/>
        </p:nvSpPr>
        <p:spPr>
          <a:xfrm>
            <a:off x="667512" y="4005072"/>
            <a:ext cx="7808976" cy="6035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idea-text"/>
          <p:cNvSpPr txBox="1"/>
          <p:nvPr/>
        </p:nvSpPr>
        <p:spPr>
          <a:xfrm>
            <a:off x="941832" y="4059936"/>
            <a:ext cx="72603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Наша идея — действовать по проверяемой модели среды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Наблюдение → гипотеза → короткая проверка → новая оценка → новый маршрут. Среда меняется без объявления — робот пересматривает прежние знания.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Исследовательская гипотеза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утверждаем, как проверяем и что считаем опровержением</a:t>
            </a:r>
            <a:endParaRPr lang="en-US" sz="1150" dirty="0"/>
          </a:p>
        </p:txBody>
      </p:sp>
      <p:sp>
        <p:nvSpPr>
          <p:cNvPr id="5" name="hyp-card"/>
          <p:cNvSpPr/>
          <p:nvPr/>
        </p:nvSpPr>
        <p:spPr>
          <a:xfrm>
            <a:off x="667512" y="1280160"/>
            <a:ext cx="7808976" cy="1024128"/>
          </a:xfrm>
          <a:prstGeom prst="roundRect">
            <a:avLst>
              <a:gd name="adj" fmla="val 26786"/>
            </a:avLst>
          </a:prstGeom>
          <a:solidFill>
            <a:schemeClr val="accent1"/>
          </a:solidFill>
          <a:ln/>
        </p:spPr>
      </p:sp>
      <p:sp>
        <p:nvSpPr>
          <p:cNvPr id="6" name="hyp-text"/>
          <p:cNvSpPr txBox="1"/>
          <p:nvPr/>
        </p:nvSpPr>
        <p:spPr>
          <a:xfrm>
            <a:off x="960120" y="1344168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Робот, который по ходу прогона сверяет свои ожидания с показаниями датчика и расходом батареи и по расхождению меняет поиск и запас на возврат, наберёт больше очков, чем робот с планом, составленным заранее.</a:t>
            </a:r>
            <a:endParaRPr lang="en-US" sz="1350" dirty="0"/>
          </a:p>
        </p:txBody>
      </p:sp>
      <p:sp>
        <p:nvSpPr>
          <p:cNvPr id="7" name="check-1-dot"/>
          <p:cNvSpPr/>
          <p:nvPr/>
        </p:nvSpPr>
        <p:spPr>
          <a:xfrm>
            <a:off x="667512" y="2542032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heck-1-head"/>
          <p:cNvSpPr txBox="1"/>
          <p:nvPr/>
        </p:nvSpPr>
        <p:spPr>
          <a:xfrm>
            <a:off x="108813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проверяем</a:t>
            </a:r>
            <a:endParaRPr lang="en-US" sz="1250" dirty="0"/>
          </a:p>
        </p:txBody>
      </p:sp>
      <p:sp>
        <p:nvSpPr>
          <p:cNvPr id="9" name="check-1-body"/>
          <p:cNvSpPr txBox="1"/>
          <p:nvPr/>
        </p:nvSpPr>
        <p:spPr>
          <a:xfrm>
            <a:off x="66751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на одних и тех же 40 сценариях трудного уровня: «план заранее» и «с адаптацией». Разность счёта — на каждом сценарии.</a:t>
            </a:r>
            <a:endParaRPr lang="en-US" sz="1050" dirty="0"/>
          </a:p>
        </p:txBody>
      </p:sp>
      <p:sp>
        <p:nvSpPr>
          <p:cNvPr id="10" name="check-2-dot"/>
          <p:cNvSpPr/>
          <p:nvPr/>
        </p:nvSpPr>
        <p:spPr>
          <a:xfrm>
            <a:off x="3319272" y="2542032"/>
            <a:ext cx="310896" cy="31089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check-2-head"/>
          <p:cNvSpPr txBox="1"/>
          <p:nvPr/>
        </p:nvSpPr>
        <p:spPr>
          <a:xfrm>
            <a:off x="373989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измеряем</a:t>
            </a:r>
            <a:endParaRPr lang="en-US" sz="1250" dirty="0"/>
          </a:p>
        </p:txBody>
      </p:sp>
      <p:sp>
        <p:nvSpPr>
          <p:cNvPr id="12" name="check-2-body"/>
          <p:cNvSpPr txBox="1"/>
          <p:nvPr/>
        </p:nvSpPr>
        <p:spPr>
          <a:xfrm>
            <a:off x="331927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Счёт судьи — главная метрика. Рядом: собранные образцы, возврат на базу, расход батареи.</a:t>
            </a:r>
            <a:endParaRPr lang="en-US" sz="1050" dirty="0"/>
          </a:p>
        </p:txBody>
      </p:sp>
      <p:sp>
        <p:nvSpPr>
          <p:cNvPr id="13" name="check-3-dot"/>
          <p:cNvSpPr/>
          <p:nvPr/>
        </p:nvSpPr>
        <p:spPr>
          <a:xfrm>
            <a:off x="5971032" y="2542032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check-3-head"/>
          <p:cNvSpPr txBox="1"/>
          <p:nvPr/>
        </p:nvSpPr>
        <p:spPr>
          <a:xfrm>
            <a:off x="639165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её опровергнет</a:t>
            </a:r>
            <a:endParaRPr lang="en-US" sz="1250" dirty="0"/>
          </a:p>
        </p:txBody>
      </p:sp>
      <p:sp>
        <p:nvSpPr>
          <p:cNvPr id="15" name="check-3-body"/>
          <p:cNvSpPr txBox="1"/>
          <p:nvPr/>
        </p:nvSpPr>
        <p:spPr>
          <a:xfrm>
            <a:off x="597103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разности целиком ниже нуля. Если он включает ноль — выигрыш не показан.</a:t>
            </a:r>
            <a:endParaRPr lang="en-US" sz="1050" dirty="0"/>
          </a:p>
        </p:txBody>
      </p:sp>
      <p:sp>
        <p:nvSpPr>
          <p:cNvPr id="16" name="result-card"/>
          <p:cNvSpPr/>
          <p:nvPr/>
        </p:nvSpPr>
        <p:spPr>
          <a:xfrm>
            <a:off x="667512" y="3886200"/>
            <a:ext cx="7808976" cy="713232"/>
          </a:xfrm>
          <a:prstGeom prst="roundRect">
            <a:avLst>
              <a:gd name="adj" fmla="val 38462"/>
            </a:avLst>
          </a:prstGeom>
          <a:solidFill>
            <a:schemeClr val="bg2"/>
          </a:solidFill>
          <a:ln/>
        </p:spPr>
      </p:sp>
      <p:sp>
        <p:nvSpPr>
          <p:cNvPr id="17" name="result-text"/>
          <p:cNvSpPr txBox="1"/>
          <p:nvPr/>
        </p:nvSpPr>
        <p:spPr>
          <a:xfrm>
            <a:off x="960120" y="39319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очка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[7,4; 19,0] — подтвердилась</a:t>
            </a:r>
            <a:endParaRPr lang="en-US" sz="1300" dirty="0"/>
          </a:p>
        </p:txBody>
      </p:sp>
      <p:sp>
        <p:nvSpPr>
          <p:cNvPr id="18" name="result-note"/>
          <p:cNvSpPr txBox="1"/>
          <p:nvPr/>
        </p:nvSpPr>
        <p:spPr>
          <a:xfrm>
            <a:off x="960120" y="42611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выше в 29 из 40 сценариев</a:t>
            </a:r>
            <a:endParaRPr lang="en-US" sz="1000" dirty="0"/>
          </a:p>
        </p:txBody>
      </p:sp>
      <p:sp>
        <p:nvSpPr>
          <p:cNvPr id="19" name="hyp-axis-zero"/>
          <p:cNvSpPr/>
          <p:nvPr/>
        </p:nvSpPr>
        <p:spPr>
          <a:xfrm>
            <a:off x="5810596" y="3986784"/>
            <a:ext cx="0" cy="36576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20" name="hyp-axis-tick-0"/>
          <p:cNvSpPr txBox="1"/>
          <p:nvPr/>
        </p:nvSpPr>
        <p:spPr>
          <a:xfrm>
            <a:off x="5536276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21" name="hyp-axis-tick-10"/>
          <p:cNvSpPr txBox="1"/>
          <p:nvPr/>
        </p:nvSpPr>
        <p:spPr>
          <a:xfrm>
            <a:off x="6700058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22" name="hyp-axis-tick-20"/>
          <p:cNvSpPr txBox="1"/>
          <p:nvPr/>
        </p:nvSpPr>
        <p:spPr>
          <a:xfrm>
            <a:off x="7863840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23" name="hyp-e1-ci"/>
          <p:cNvSpPr/>
          <p:nvPr/>
        </p:nvSpPr>
        <p:spPr>
          <a:xfrm>
            <a:off x="6671795" y="4169664"/>
            <a:ext cx="134998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4" name="hyp-e1-dot"/>
          <p:cNvSpPr/>
          <p:nvPr/>
        </p:nvSpPr>
        <p:spPr>
          <a:xfrm>
            <a:off x="7298990" y="4110228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Архитектура: как всё связано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агент и один судья на двух симуляторах; каждый прогон записывается и идёт в показ и в опыты</a:t>
            </a:r>
            <a:endParaRPr lang="en-US" sz="1150" dirty="0"/>
          </a:p>
        </p:txBody>
      </p:sp>
      <p:sp>
        <p:nvSpPr>
          <p:cNvPr id="5" name="stand-band"/>
          <p:cNvSpPr/>
          <p:nvPr/>
        </p:nvSpPr>
        <p:spPr>
          <a:xfrm>
            <a:off x="667512" y="1225296"/>
            <a:ext cx="7808976" cy="786384"/>
          </a:xfrm>
          <a:prstGeom prst="roundRect">
            <a:avLst>
              <a:gd name="adj" fmla="val 30233"/>
            </a:avLst>
          </a:prstGeom>
          <a:solidFill>
            <a:schemeClr val="accent1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868680" y="1225296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Стенд</a:t>
            </a:r>
            <a:endParaRPr lang="en-US" sz="1250" dirty="0"/>
          </a:p>
        </p:txBody>
      </p:sp>
      <p:sp>
        <p:nvSpPr>
          <p:cNvPr id="7" name="stand-1-pill"/>
          <p:cNvSpPr/>
          <p:nvPr/>
        </p:nvSpPr>
        <p:spPr>
          <a:xfrm>
            <a:off x="1600200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8" name="stand-1-text"/>
          <p:cNvSpPr txBox="1"/>
          <p:nvPr/>
        </p:nvSpPr>
        <p:spPr>
          <a:xfrm>
            <a:off x="1709928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Генератор сценариев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грунты, зоны, события</a:t>
            </a:r>
            <a:endParaRPr lang="en-US" sz="1100" dirty="0"/>
          </a:p>
        </p:txBody>
      </p:sp>
      <p:sp>
        <p:nvSpPr>
          <p:cNvPr id="9" name="stand-2-pill"/>
          <p:cNvSpPr/>
          <p:nvPr/>
        </p:nvSpPr>
        <p:spPr>
          <a:xfrm>
            <a:off x="3300984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0" name="stand-2-text"/>
          <p:cNvSpPr txBox="1"/>
          <p:nvPr/>
        </p:nvSpPr>
        <p:spPr>
          <a:xfrm>
            <a:off x="3410712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Судья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заряд, датчик, штрафы, счёт</a:t>
            </a:r>
            <a:endParaRPr lang="en-US" sz="1100" dirty="0"/>
          </a:p>
        </p:txBody>
      </p:sp>
      <p:sp>
        <p:nvSpPr>
          <p:cNvPr id="11" name="stand-3-pill"/>
          <p:cNvSpPr/>
          <p:nvPr/>
        </p:nvSpPr>
        <p:spPr>
          <a:xfrm>
            <a:off x="5001768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2" name="stand-3-text"/>
          <p:cNvSpPr txBox="1"/>
          <p:nvPr/>
        </p:nvSpPr>
        <p:spPr>
          <a:xfrm>
            <a:off x="5111496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+ TurtleBot3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или быстрый симулятор</a:t>
            </a:r>
            <a:endParaRPr lang="en-US" sz="1100" dirty="0"/>
          </a:p>
        </p:txBody>
      </p:sp>
      <p:sp>
        <p:nvSpPr>
          <p:cNvPr id="13" name="stand-4-pill"/>
          <p:cNvSpPr/>
          <p:nvPr/>
        </p:nvSpPr>
        <p:spPr>
          <a:xfrm>
            <a:off x="6702552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4" name="stand-4-text"/>
          <p:cNvSpPr txBox="1"/>
          <p:nvPr/>
        </p:nvSpPr>
        <p:spPr>
          <a:xfrm>
            <a:off x="6812280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5" name="bus-strip"/>
          <p:cNvSpPr/>
          <p:nvPr/>
        </p:nvSpPr>
        <p:spPr>
          <a:xfrm>
            <a:off x="667512" y="2103120"/>
            <a:ext cx="5504688" cy="2743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6" name="bus-text"/>
          <p:cNvSpPr txBox="1"/>
          <p:nvPr/>
        </p:nvSpPr>
        <p:spPr>
          <a:xfrm>
            <a:off x="850392" y="2103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   </a:t>
            </a:r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 лидар, одометрия, заряд, датчик    ↑ скорости, «собрать», «финиш»</a:t>
            </a:r>
            <a:endParaRPr lang="en-US" sz="900" dirty="0"/>
          </a:p>
        </p:txBody>
      </p:sp>
      <p:sp>
        <p:nvSpPr>
          <p:cNvPr id="17" name="agent-band"/>
          <p:cNvSpPr/>
          <p:nvPr/>
        </p:nvSpPr>
        <p:spPr>
          <a:xfrm>
            <a:off x="667512" y="2450592"/>
            <a:ext cx="5504688" cy="1225296"/>
          </a:xfrm>
          <a:prstGeom prst="roundRect">
            <a:avLst>
              <a:gd name="adj" fmla="val 19403"/>
            </a:avLst>
          </a:prstGeom>
          <a:solidFill>
            <a:schemeClr val="accent3"/>
          </a:solidFill>
          <a:ln/>
        </p:spPr>
      </p:sp>
      <p:sp>
        <p:nvSpPr>
          <p:cNvPr id="18" name="agent-label"/>
          <p:cNvSpPr txBox="1"/>
          <p:nvPr/>
        </p:nvSpPr>
        <p:spPr>
          <a:xfrm>
            <a:off x="868680" y="2450592"/>
            <a:ext cx="731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Агент</a:t>
            </a:r>
            <a:endParaRPr lang="en-US" sz="1250" dirty="0"/>
          </a:p>
        </p:txBody>
      </p:sp>
      <p:sp>
        <p:nvSpPr>
          <p:cNvPr id="19" name="agent-1-pill"/>
          <p:cNvSpPr/>
          <p:nvPr/>
        </p:nvSpPr>
        <p:spPr>
          <a:xfrm>
            <a:off x="1600200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0" name="agent-1-text"/>
          <p:cNvSpPr txBox="1"/>
          <p:nvPr/>
        </p:nvSpPr>
        <p:spPr>
          <a:xfrm>
            <a:off x="1709928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Картина мира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грунт, зоны, поза</a:t>
            </a:r>
            <a:endParaRPr lang="en-US" sz="1100" dirty="0"/>
          </a:p>
        </p:txBody>
      </p:sp>
      <p:sp>
        <p:nvSpPr>
          <p:cNvPr id="21" name="agent-2-pill"/>
          <p:cNvSpPr/>
          <p:nvPr/>
        </p:nvSpPr>
        <p:spPr>
          <a:xfrm>
            <a:off x="3118104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2" name="agent-2-text"/>
          <p:cNvSpPr txBox="1"/>
          <p:nvPr/>
        </p:nvSpPr>
        <p:spPr>
          <a:xfrm>
            <a:off x="3227832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цикл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 → опыт → вывод</a:t>
            </a:r>
            <a:endParaRPr lang="en-US" sz="1100" dirty="0"/>
          </a:p>
        </p:txBody>
      </p:sp>
      <p:sp>
        <p:nvSpPr>
          <p:cNvPr id="23" name="agent-3-pill"/>
          <p:cNvSpPr/>
          <p:nvPr/>
        </p:nvSpPr>
        <p:spPr>
          <a:xfrm>
            <a:off x="4636008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4" name="agent-3-text"/>
          <p:cNvSpPr txBox="1"/>
          <p:nvPr/>
        </p:nvSpPr>
        <p:spPr>
          <a:xfrm>
            <a:off x="4745736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Планировщик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или LLM → подцели</a:t>
            </a:r>
            <a:endParaRPr lang="en-US" sz="1100" dirty="0"/>
          </a:p>
        </p:txBody>
      </p:sp>
      <p:sp>
        <p:nvSpPr>
          <p:cNvPr id="25" name="agent-4-pill"/>
          <p:cNvSpPr/>
          <p:nvPr/>
        </p:nvSpPr>
        <p:spPr>
          <a:xfrm>
            <a:off x="1600200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6" name="agent-4-text"/>
          <p:cNvSpPr txBox="1"/>
          <p:nvPr/>
        </p:nvSpPr>
        <p:spPr>
          <a:xfrm>
            <a:off x="1709928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Исполнитель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Дейкстра → v, ω; сторожа</a:t>
            </a:r>
            <a:endParaRPr lang="en-US" sz="1100" dirty="0"/>
          </a:p>
        </p:txBody>
      </p:sp>
      <p:sp>
        <p:nvSpPr>
          <p:cNvPr id="27" name="agent-5-pill"/>
          <p:cNvSpPr/>
          <p:nvPr/>
        </p:nvSpPr>
        <p:spPr>
          <a:xfrm>
            <a:off x="3118104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8" name="agent-5-text"/>
          <p:cNvSpPr txBox="1"/>
          <p:nvPr/>
        </p:nvSpPr>
        <p:spPr>
          <a:xfrm>
            <a:off x="3227832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 лаборатории, между прогонами</a:t>
            </a:r>
            <a:endParaRPr lang="en-US" sz="1100" dirty="0"/>
          </a:p>
        </p:txBody>
      </p:sp>
      <p:sp>
        <p:nvSpPr>
          <p:cNvPr id="29" name="agent-6-pill"/>
          <p:cNvSpPr/>
          <p:nvPr/>
        </p:nvSpPr>
        <p:spPr>
          <a:xfrm>
            <a:off x="4636008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30" name="agent-6-text"/>
          <p:cNvSpPr txBox="1"/>
          <p:nvPr/>
        </p:nvSpPr>
        <p:spPr>
          <a:xfrm>
            <a:off x="4745736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обмен сообщениями</a:t>
            </a:r>
            <a:endParaRPr lang="en-US" sz="1100" dirty="0"/>
          </a:p>
        </p:txBody>
      </p:sp>
      <p:sp>
        <p:nvSpPr>
          <p:cNvPr id="31" name="llm-card"/>
          <p:cNvSpPr/>
          <p:nvPr/>
        </p:nvSpPr>
        <p:spPr>
          <a:xfrm>
            <a:off x="6464808" y="2103120"/>
            <a:ext cx="2011680" cy="1572768"/>
          </a:xfrm>
          <a:prstGeom prst="roundRect">
            <a:avLst>
              <a:gd name="adj" fmla="val 15116"/>
            </a:avLst>
          </a:prstGeom>
          <a:solidFill>
            <a:schemeClr val="accent2"/>
          </a:solidFill>
          <a:ln/>
        </p:spPr>
      </p:sp>
      <p:sp>
        <p:nvSpPr>
          <p:cNvPr id="32" name="llm-text"/>
          <p:cNvSpPr txBox="1"/>
          <p:nvPr/>
        </p:nvSpPr>
        <p:spPr>
          <a:xfrm>
            <a:off x="6620256" y="2176272"/>
            <a:ext cx="17373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МАИ: QWEN, DeepSeek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вход: миссия + сводка состояния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выход: подцели в JSON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ответа, запасное правило, кэш</a:t>
            </a:r>
            <a:endParaRPr lang="en-US" sz="1100" dirty="0"/>
          </a:p>
        </p:txBody>
      </p:sp>
      <p:sp>
        <p:nvSpPr>
          <p:cNvPr id="33" name="arrow-planner-llm"/>
          <p:cNvSpPr/>
          <p:nvPr/>
        </p:nvSpPr>
        <p:spPr>
          <a:xfrm>
            <a:off x="6108192" y="2706624"/>
            <a:ext cx="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4" name="arrow-llm-planner"/>
          <p:cNvSpPr/>
          <p:nvPr/>
        </p:nvSpPr>
        <p:spPr>
          <a:xfrm>
            <a:off x="6437376" y="2852928"/>
            <a:ext cx="-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flow-1-card"/>
          <p:cNvSpPr/>
          <p:nvPr/>
        </p:nvSpPr>
        <p:spPr>
          <a:xfrm>
            <a:off x="667512" y="3858768"/>
            <a:ext cx="1874520" cy="585216"/>
          </a:xfrm>
          <a:prstGeom prst="roundRect">
            <a:avLst>
              <a:gd name="adj" fmla="val 31250"/>
            </a:avLst>
          </a:prstGeom>
          <a:solidFill>
            <a:schemeClr val="accent2"/>
          </a:solidFill>
          <a:ln/>
        </p:spPr>
      </p:sp>
      <p:sp>
        <p:nvSpPr>
          <p:cNvPr id="36" name="flow-1-text"/>
          <p:cNvSpPr txBox="1"/>
          <p:nvPr/>
        </p:nvSpPr>
        <p:spPr>
          <a:xfrm>
            <a:off x="813816" y="385876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Лаборатория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страница показа и пульт, проигрыватель</a:t>
            </a:r>
            <a:endParaRPr lang="en-US" sz="1100" dirty="0"/>
          </a:p>
        </p:txBody>
      </p:sp>
      <p:sp>
        <p:nvSpPr>
          <p:cNvPr id="37" name="flow-2-card"/>
          <p:cNvSpPr/>
          <p:nvPr/>
        </p:nvSpPr>
        <p:spPr>
          <a:xfrm>
            <a:off x="2743200" y="3858768"/>
            <a:ext cx="1700784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38" name="flow-2-text"/>
          <p:cNvSpPr txBox="1"/>
          <p:nvPr/>
        </p:nvSpPr>
        <p:spPr>
          <a:xfrm>
            <a:off x="2889504" y="3858768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прогона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путь, заряд, решения, гипотезы</a:t>
            </a:r>
            <a:endParaRPr lang="en-US" sz="1100" dirty="0"/>
          </a:p>
        </p:txBody>
      </p:sp>
      <p:sp>
        <p:nvSpPr>
          <p:cNvPr id="39" name="flow-3-card"/>
          <p:cNvSpPr/>
          <p:nvPr/>
        </p:nvSpPr>
        <p:spPr>
          <a:xfrm>
            <a:off x="4645152" y="3858768"/>
            <a:ext cx="1920240" cy="585216"/>
          </a:xfrm>
          <a:prstGeom prst="roundRect">
            <a:avLst>
              <a:gd name="adj" fmla="val 31250"/>
            </a:avLst>
          </a:prstGeom>
          <a:solidFill>
            <a:schemeClr val="accent3"/>
          </a:solidFill>
          <a:ln/>
        </p:spPr>
      </p:sp>
      <p:sp>
        <p:nvSpPr>
          <p:cNvPr id="40" name="flow-3-text"/>
          <p:cNvSpPr txBox="1"/>
          <p:nvPr/>
        </p:nvSpPr>
        <p:spPr>
          <a:xfrm>
            <a:off x="4791456" y="3858768"/>
            <a:ext cx="1682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Серии опытов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сценарии × варианты → интервалы</a:t>
            </a:r>
            <a:endParaRPr lang="en-US" sz="1100" dirty="0"/>
          </a:p>
        </p:txBody>
      </p:sp>
      <p:sp>
        <p:nvSpPr>
          <p:cNvPr id="41" name="flow-4-card"/>
          <p:cNvSpPr/>
          <p:nvPr/>
        </p:nvSpPr>
        <p:spPr>
          <a:xfrm>
            <a:off x="6766560" y="3858768"/>
            <a:ext cx="1709928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42" name="flow-4-text"/>
          <p:cNvSpPr txBox="1"/>
          <p:nvPr/>
        </p:nvSpPr>
        <p:spPr>
          <a:xfrm>
            <a:off x="6912864" y="3858768"/>
            <a:ext cx="1472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отчёты, страница-объяснение</a:t>
            </a:r>
            <a:endParaRPr lang="en-US" sz="1100" dirty="0"/>
          </a:p>
        </p:txBody>
      </p:sp>
      <p:sp>
        <p:nvSpPr>
          <p:cNvPr id="43" name="arrow-agent-record"/>
          <p:cNvSpPr/>
          <p:nvPr/>
        </p:nvSpPr>
        <p:spPr>
          <a:xfrm>
            <a:off x="3593592" y="3685032"/>
            <a:ext cx="0" cy="155448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4" name="arrow-record-lab"/>
          <p:cNvSpPr/>
          <p:nvPr/>
        </p:nvSpPr>
        <p:spPr>
          <a:xfrm>
            <a:off x="2724912" y="4151376"/>
            <a:ext cx="-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5" name="arrow-record-series"/>
          <p:cNvSpPr/>
          <p:nvPr/>
        </p:nvSpPr>
        <p:spPr>
          <a:xfrm>
            <a:off x="4462272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6" name="arrow-series-reports"/>
          <p:cNvSpPr/>
          <p:nvPr/>
        </p:nvSpPr>
        <p:spPr>
          <a:xfrm>
            <a:off x="6583680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7" name="dev-line"/>
          <p:cNvSpPr txBox="1"/>
          <p:nvPr/>
        </p:nvSpPr>
        <p:spPr>
          <a:xfrm>
            <a:off x="667512" y="4498848"/>
            <a:ext cx="7808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Разработка: человек задаёт цель → ведущий агент → исследователи, инженеры и независимое ревью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Ресурсы и инструменты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использовали в работе и для чего</a:t>
            </a:r>
            <a:endParaRPr lang="en-US" sz="1150" dirty="0"/>
          </a:p>
        </p:txBody>
      </p:sp>
      <p:sp>
        <p:nvSpPr>
          <p:cNvPr id="5" name="res-1-card"/>
          <p:cNvSpPr/>
          <p:nvPr/>
        </p:nvSpPr>
        <p:spPr>
          <a:xfrm>
            <a:off x="667512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6" name="res-1-head"/>
          <p:cNvSpPr txBox="1"/>
          <p:nvPr/>
        </p:nvSpPr>
        <p:spPr>
          <a:xfrm>
            <a:off x="850392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и симуляция</a:t>
            </a:r>
            <a:endParaRPr lang="en-US" sz="1200" dirty="0"/>
          </a:p>
        </p:txBody>
      </p:sp>
      <p:sp>
        <p:nvSpPr>
          <p:cNvPr id="7" name="res-1-row-1"/>
          <p:cNvSpPr txBox="1"/>
          <p:nvPr/>
        </p:nvSpPr>
        <p:spPr>
          <a:xfrm>
            <a:off x="850392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Jazzy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датчики и команды</a:t>
            </a:r>
            <a:endParaRPr lang="en-US" sz="1100" dirty="0"/>
          </a:p>
        </p:txBody>
      </p:sp>
      <p:sp>
        <p:nvSpPr>
          <p:cNvPr id="8" name="res-1-row-2"/>
          <p:cNvSpPr txBox="1"/>
          <p:nvPr/>
        </p:nvSpPr>
        <p:spPr>
          <a:xfrm>
            <a:off x="850392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Harmonic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физика и мир</a:t>
            </a:r>
            <a:endParaRPr lang="en-US" sz="1100" dirty="0"/>
          </a:p>
        </p:txBody>
      </p:sp>
      <p:sp>
        <p:nvSpPr>
          <p:cNvPr id="9" name="res-1-row-3"/>
          <p:cNvSpPr txBox="1"/>
          <p:nvPr/>
        </p:nvSpPr>
        <p:spPr>
          <a:xfrm>
            <a:off x="850392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TurtleBot3 Burger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робота</a:t>
            </a:r>
            <a:endParaRPr lang="en-US" sz="1100" dirty="0"/>
          </a:p>
        </p:txBody>
      </p:sp>
      <p:sp>
        <p:nvSpPr>
          <p:cNvPr id="10" name="res-1-row-4"/>
          <p:cNvSpPr txBox="1"/>
          <p:nvPr/>
        </p:nvSpPr>
        <p:spPr>
          <a:xfrm>
            <a:off x="850392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1" name="res-2-card"/>
          <p:cNvSpPr/>
          <p:nvPr/>
        </p:nvSpPr>
        <p:spPr>
          <a:xfrm>
            <a:off x="2660904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3"/>
          </a:solidFill>
          <a:ln/>
        </p:spPr>
      </p:sp>
      <p:sp>
        <p:nvSpPr>
          <p:cNvPr id="12" name="res-2-head"/>
          <p:cNvSpPr txBox="1"/>
          <p:nvPr/>
        </p:nvSpPr>
        <p:spPr>
          <a:xfrm>
            <a:off x="2843784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расчёты</a:t>
            </a:r>
            <a:endParaRPr lang="en-US" sz="1200" dirty="0"/>
          </a:p>
        </p:txBody>
      </p:sp>
      <p:sp>
        <p:nvSpPr>
          <p:cNvPr id="13" name="res-2-row-1"/>
          <p:cNvSpPr txBox="1"/>
          <p:nvPr/>
        </p:nvSpPr>
        <p:spPr>
          <a:xfrm>
            <a:off x="2843784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Python, NumPy, SciPy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логика агента</a:t>
            </a:r>
            <a:endParaRPr lang="en-US" sz="1100" dirty="0"/>
          </a:p>
        </p:txBody>
      </p:sp>
      <p:sp>
        <p:nvSpPr>
          <p:cNvPr id="14" name="res-2-row-2"/>
          <p:cNvSpPr txBox="1"/>
          <p:nvPr/>
        </p:nvSpPr>
        <p:spPr>
          <a:xfrm>
            <a:off x="2843784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свой: серии опытов</a:t>
            </a:r>
            <a:endParaRPr lang="en-US" sz="1100" dirty="0"/>
          </a:p>
        </p:txBody>
      </p:sp>
      <p:sp>
        <p:nvSpPr>
          <p:cNvPr id="15" name="res-2-row-3"/>
          <p:cNvSpPr txBox="1"/>
          <p:nvPr/>
        </p:nvSpPr>
        <p:spPr>
          <a:xfrm>
            <a:off x="2843784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pytest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 проверок</a:t>
            </a:r>
            <a:endParaRPr lang="en-US" sz="1100" dirty="0"/>
          </a:p>
        </p:txBody>
      </p:sp>
      <p:sp>
        <p:nvSpPr>
          <p:cNvPr id="16" name="res-2-row-4"/>
          <p:cNvSpPr txBox="1"/>
          <p:nvPr/>
        </p:nvSpPr>
        <p:spPr>
          <a:xfrm>
            <a:off x="2843784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pixi + RoboStack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сборка окружения</a:t>
            </a:r>
            <a:endParaRPr lang="en-US" sz="1100" dirty="0"/>
          </a:p>
        </p:txBody>
      </p:sp>
      <p:sp>
        <p:nvSpPr>
          <p:cNvPr id="17" name="res-3-card"/>
          <p:cNvSpPr/>
          <p:nvPr/>
        </p:nvSpPr>
        <p:spPr>
          <a:xfrm>
            <a:off x="4654296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2"/>
          </a:solidFill>
          <a:ln/>
        </p:spPr>
      </p:sp>
      <p:sp>
        <p:nvSpPr>
          <p:cNvPr id="18" name="res-3-head"/>
          <p:cNvSpPr txBox="1"/>
          <p:nvPr/>
        </p:nvSpPr>
        <p:spPr>
          <a:xfrm>
            <a:off x="4837176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Языковые модели</a:t>
            </a:r>
            <a:endParaRPr lang="en-US" sz="1200" dirty="0"/>
          </a:p>
        </p:txBody>
      </p:sp>
      <p:sp>
        <p:nvSpPr>
          <p:cNvPr id="19" name="res-3-row-1"/>
          <p:cNvSpPr txBox="1"/>
          <p:nvPr/>
        </p:nvSpPr>
        <p:spPr>
          <a:xfrm>
            <a:off x="4837176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QWEN, DeepSeek</a:t>
            </a:r>
            <a:endParaRPr lang="en-US" sz="1100" dirty="0"/>
          </a:p>
        </p:txBody>
      </p:sp>
      <p:sp>
        <p:nvSpPr>
          <p:cNvPr id="20" name="res-3-row-2"/>
          <p:cNvSpPr txBox="1"/>
          <p:nvPr/>
        </p:nvSpPr>
        <p:spPr>
          <a:xfrm>
            <a:off x="4837176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 в JSON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по схеме</a:t>
            </a:r>
            <a:endParaRPr lang="en-US" sz="1100" dirty="0"/>
          </a:p>
        </p:txBody>
      </p:sp>
      <p:sp>
        <p:nvSpPr>
          <p:cNvPr id="21" name="res-3-row-3"/>
          <p:cNvSpPr txBox="1"/>
          <p:nvPr/>
        </p:nvSpPr>
        <p:spPr>
          <a:xfrm>
            <a:off x="4837176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Кэш ответов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повторяемые опыты</a:t>
            </a:r>
            <a:endParaRPr lang="en-US" sz="1100" dirty="0"/>
          </a:p>
        </p:txBody>
      </p:sp>
      <p:sp>
        <p:nvSpPr>
          <p:cNvPr id="22" name="res-3-row-4"/>
          <p:cNvSpPr txBox="1"/>
          <p:nvPr/>
        </p:nvSpPr>
        <p:spPr>
          <a:xfrm>
            <a:off x="4837176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Jev 1.13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опыт, OpenRouter</a:t>
            </a:r>
            <a:endParaRPr lang="en-US" sz="1100" dirty="0"/>
          </a:p>
        </p:txBody>
      </p:sp>
      <p:sp>
        <p:nvSpPr>
          <p:cNvPr id="23" name="res-4-card"/>
          <p:cNvSpPr/>
          <p:nvPr/>
        </p:nvSpPr>
        <p:spPr>
          <a:xfrm>
            <a:off x="6647688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24" name="res-4-head"/>
          <p:cNvSpPr txBox="1"/>
          <p:nvPr/>
        </p:nvSpPr>
        <p:spPr>
          <a:xfrm>
            <a:off x="6830568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ИИ в разработке</a:t>
            </a:r>
            <a:endParaRPr lang="en-US" sz="1200" dirty="0"/>
          </a:p>
        </p:txBody>
      </p:sp>
      <p:pic>
        <p:nvPicPr>
          <p:cNvPr id="25" name="res-4-logo-1" descr="res-4-logo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0568" y="2020824"/>
            <a:ext cx="182880" cy="182880"/>
          </a:xfrm>
          <a:prstGeom prst="rect">
            <a:avLst/>
          </a:prstGeom>
        </p:spPr>
      </p:pic>
      <p:sp>
        <p:nvSpPr>
          <p:cNvPr id="26" name="res-4-row-1"/>
          <p:cNvSpPr txBox="1"/>
          <p:nvPr/>
        </p:nvSpPr>
        <p:spPr>
          <a:xfrm>
            <a:off x="7086600" y="2002536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Opus: код и опыты</a:t>
            </a:r>
            <a:endParaRPr lang="en-US" sz="1100" dirty="0"/>
          </a:p>
        </p:txBody>
      </p:sp>
      <p:pic>
        <p:nvPicPr>
          <p:cNvPr id="27" name="res-4-logo-2" descr="res-4-logo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2606040"/>
            <a:ext cx="182880" cy="182880"/>
          </a:xfrm>
          <a:prstGeom prst="rect">
            <a:avLst/>
          </a:prstGeom>
        </p:spPr>
      </p:pic>
      <p:sp>
        <p:nvSpPr>
          <p:cNvPr id="28" name="res-4-row-2"/>
          <p:cNvSpPr txBox="1"/>
          <p:nvPr/>
        </p:nvSpPr>
        <p:spPr>
          <a:xfrm>
            <a:off x="7086600" y="2587752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Sol: ревью</a:t>
            </a:r>
            <a:endParaRPr lang="en-US" sz="1100" dirty="0"/>
          </a:p>
        </p:txBody>
      </p:sp>
      <p:pic>
        <p:nvPicPr>
          <p:cNvPr id="29" name="res-4-logo-3" descr="res-4-logo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191256"/>
            <a:ext cx="182880" cy="182880"/>
          </a:xfrm>
          <a:prstGeom prst="rect">
            <a:avLst/>
          </a:prstGeom>
        </p:spPr>
      </p:pic>
      <p:sp>
        <p:nvSpPr>
          <p:cNvPr id="30" name="res-4-row-3"/>
          <p:cNvSpPr txBox="1"/>
          <p:nvPr/>
        </p:nvSpPr>
        <p:spPr>
          <a:xfrm>
            <a:off x="7086600" y="31729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Antigravity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Gemini: литература</a:t>
            </a:r>
            <a:endParaRPr lang="en-US" sz="1100" dirty="0"/>
          </a:p>
        </p:txBody>
      </p:sp>
      <p:sp>
        <p:nvSpPr>
          <p:cNvPr id="31" name="res-4-row-4"/>
          <p:cNvSpPr txBox="1"/>
          <p:nvPr/>
        </p:nvSpPr>
        <p:spPr>
          <a:xfrm>
            <a:off x="6830568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и GitHub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и история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карта вероятностей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 даёт одно число — близость к образцу, без направления. Место находим по правилу Байеса</a:t>
            </a:r>
            <a:endParaRPr lang="en-US" sz="1150" dirty="0"/>
          </a:p>
        </p:txBody>
      </p:sp>
      <p:sp>
        <p:nvSpPr>
          <p:cNvPr id="5" name="law-head"/>
          <p:cNvSpPr txBox="1"/>
          <p:nvPr/>
        </p:nvSpPr>
        <p:spPr>
          <a:xfrm>
            <a:off x="667512" y="12252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Показание → расстояние</a:t>
            </a:r>
            <a:endParaRPr lang="en-US" sz="1150" dirty="0"/>
          </a:p>
        </p:txBody>
      </p:sp>
      <p:pic>
        <p:nvPicPr>
          <p:cNvPr id="6" name="sensor_law" descr="График закона датчика: показание линейно падает с расстоянием до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499616"/>
            <a:ext cx="1938528" cy="1401387"/>
          </a:xfrm>
          <a:prstGeom prst="rect">
            <a:avLst/>
          </a:prstGeom>
        </p:spPr>
      </p:pic>
      <p:sp>
        <p:nvSpPr>
          <p:cNvPr id="7" name="law-cap"/>
          <p:cNvSpPr txBox="1"/>
          <p:nvPr/>
        </p:nvSpPr>
        <p:spPr>
          <a:xfrm>
            <a:off x="667512" y="2946723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 = 1 − d/2. Показание 0,48 — образец примерно в метре, а в какой стороне, неизвестно</a:t>
            </a:r>
            <a:endParaRPr lang="en-US" sz="950" dirty="0"/>
          </a:p>
        </p:txBody>
      </p:sp>
      <p:sp>
        <p:nvSpPr>
          <p:cNvPr id="8" name="rings-head"/>
          <p:cNvSpPr txBox="1"/>
          <p:nvPr/>
        </p:nvSpPr>
        <p:spPr>
          <a:xfrm>
            <a:off x="2926080" y="1225296"/>
            <a:ext cx="5550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Каждое показание — кольцо. Где кольца сходятся, там образец</a:t>
            </a:r>
            <a:endParaRPr lang="en-US" sz="1150" dirty="0"/>
          </a:p>
        </p:txBody>
      </p:sp>
      <p:pic>
        <p:nvPicPr>
          <p:cNvPr id="9" name="bayes_steps" descr="Три карты вероятностей: после одного показания — кольцо, после двух — два места, после трёх — одно место у настоящего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499616"/>
            <a:ext cx="5550408" cy="1691480"/>
          </a:xfrm>
          <a:prstGeom prst="rect">
            <a:avLst/>
          </a:prstGeom>
        </p:spPr>
      </p:pic>
      <p:sp>
        <p:nvSpPr>
          <p:cNvPr id="10" name="rings-cap-1"/>
          <p:cNvSpPr txBox="1"/>
          <p:nvPr/>
        </p:nvSpPr>
        <p:spPr>
          <a:xfrm>
            <a:off x="2971800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одно показание: кольцо</a:t>
            </a:r>
            <a:endParaRPr lang="en-US" sz="950" dirty="0"/>
          </a:p>
        </p:txBody>
      </p:sp>
      <p:sp>
        <p:nvSpPr>
          <p:cNvPr id="11" name="rings-cap-2"/>
          <p:cNvSpPr txBox="1"/>
          <p:nvPr/>
        </p:nvSpPr>
        <p:spPr>
          <a:xfrm>
            <a:off x="4821936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два: осталось два места</a:t>
            </a:r>
            <a:endParaRPr lang="en-US" sz="950" dirty="0"/>
          </a:p>
        </p:txBody>
      </p:sp>
      <p:sp>
        <p:nvSpPr>
          <p:cNvPr id="12" name="rings-cap-3"/>
          <p:cNvSpPr txBox="1"/>
          <p:nvPr/>
        </p:nvSpPr>
        <p:spPr>
          <a:xfrm>
            <a:off x="6672072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три: одно место, 45%</a:t>
            </a:r>
            <a:endParaRPr lang="en-US" sz="950" dirty="0"/>
          </a:p>
        </p:txBody>
      </p:sp>
      <p:sp>
        <p:nvSpPr>
          <p:cNvPr id="13" name="rings-legend"/>
          <p:cNvSpPr txBox="1"/>
          <p:nvPr/>
        </p:nvSpPr>
        <p:spPr>
          <a:xfrm>
            <a:off x="2926080" y="3419696"/>
            <a:ext cx="5550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Пунктир — кольцо показания, синее — вероятность, зелёный кружок — настоящий образец</a:t>
            </a:r>
            <a:endParaRPr lang="en-US" sz="900" dirty="0"/>
          </a:p>
        </p:txBody>
      </p:sp>
      <p:sp>
        <p:nvSpPr>
          <p:cNvPr id="14" name="bayes-card"/>
          <p:cNvSpPr/>
          <p:nvPr/>
        </p:nvSpPr>
        <p:spPr>
          <a:xfrm>
            <a:off x="667512" y="3675888"/>
            <a:ext cx="7808976" cy="530352"/>
          </a:xfrm>
          <a:prstGeom prst="roundRect">
            <a:avLst>
              <a:gd name="adj" fmla="val 44828"/>
            </a:avLst>
          </a:prstGeom>
          <a:solidFill>
            <a:schemeClr val="accent2"/>
          </a:solidFill>
          <a:ln/>
        </p:spPr>
      </p:sp>
      <p:sp>
        <p:nvSpPr>
          <p:cNvPr id="15" name="bayes-text"/>
          <p:cNvSpPr txBox="1"/>
          <p:nvPr/>
        </p:nvSpPr>
        <p:spPr>
          <a:xfrm>
            <a:off x="923544" y="3675888"/>
            <a:ext cx="7351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Правило Байеса — для каждой клетки карты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вероятность  ∝  прежняя вероятность  ×  насколько показание подходит этой клетке</a:t>
            </a:r>
            <a:endParaRPr lang="en-US" sz="1100" dirty="0"/>
          </a:p>
        </p:txBody>
      </p:sp>
      <p:sp>
        <p:nvSpPr>
          <p:cNvPr id="16" name="max-pill"/>
          <p:cNvSpPr/>
          <p:nvPr/>
        </p:nvSpPr>
        <p:spPr>
          <a:xfrm>
            <a:off x="667512" y="4279392"/>
            <a:ext cx="7808976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7" name="max-text"/>
          <p:cNvSpPr txBox="1"/>
          <p:nvPr/>
        </p:nvSpPr>
        <p:spPr>
          <a:xfrm>
            <a:off x="923544" y="4279392"/>
            <a:ext cx="7351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Цель робота — максимум карты: гипотеза «образец здесь» → подъехать → проверить сбором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куда ехать и как доехать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расчёта перед каждым движением: цель, путь и запас заряда</a:t>
            </a:r>
            <a:endParaRPr lang="en-US" sz="1150" dirty="0"/>
          </a:p>
        </p:txBody>
      </p:sp>
      <p:sp>
        <p:nvSpPr>
          <p:cNvPr id="5" name="calc-1-head"/>
          <p:cNvSpPr txBox="1"/>
          <p:nvPr/>
        </p:nvSpPr>
        <p:spPr>
          <a:xfrm>
            <a:off x="667512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— максимум карты</a:t>
            </a:r>
            <a:endParaRPr lang="en-US" sz="1150" dirty="0"/>
          </a:p>
        </p:txBody>
      </p:sp>
      <p:sp>
        <p:nvSpPr>
          <p:cNvPr id="6" name="calc-2-head"/>
          <p:cNvSpPr txBox="1"/>
          <p:nvPr/>
        </p:nvSpPr>
        <p:spPr>
          <a:xfrm>
            <a:off x="3328416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 — Дейкстра по цене грунта</a:t>
            </a:r>
            <a:endParaRPr lang="en-US" sz="1150" dirty="0"/>
          </a:p>
        </p:txBody>
      </p:sp>
      <p:sp>
        <p:nvSpPr>
          <p:cNvPr id="7" name="calc-3-head"/>
          <p:cNvSpPr txBox="1"/>
          <p:nvPr/>
        </p:nvSpPr>
        <p:spPr>
          <a:xfrm>
            <a:off x="5989320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— хватит ли домой</a:t>
            </a:r>
            <a:endParaRPr lang="en-US" sz="1150" dirty="0"/>
          </a:p>
        </p:txBody>
      </p:sp>
      <p:graphicFrame>
        <p:nvGraphicFramePr>
          <p:cNvPr id="8" name="search-chart" descr="Доля собранных образцов: спираль 67,5%, подъём по сигналу 82%, карта вероятностей 99,5%"/>
          <p:cNvGraphicFramePr/>
          <p:nvPr/>
        </p:nvGraphicFramePr>
        <p:xfrm>
          <a:off x="576072" y="1609344"/>
          <a:ext cx="2578608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calc-1-cap"/>
          <p:cNvSpPr txBox="1"/>
          <p:nvPr/>
        </p:nvSpPr>
        <p:spPr>
          <a:xfrm>
            <a:off x="667512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Доля собранных образцов. Подъём по сигналу (градиентный подъём) теряется, когда образцов несколько</a:t>
            </a:r>
            <a:endParaRPr lang="en-US" sz="950" dirty="0"/>
          </a:p>
        </p:txBody>
      </p:sp>
      <p:pic>
        <p:nvPicPr>
          <p:cNvPr id="10" name="dijkstra" descr="Арена с участком дорогого грунта и двумя путями: короткий через дорогой грунт и путь Дейкстры в обх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627632"/>
            <a:ext cx="2487168" cy="1829051"/>
          </a:xfrm>
          <a:prstGeom prst="rect">
            <a:avLst/>
          </a:prstGeom>
        </p:spPr>
      </p:pic>
      <p:sp>
        <p:nvSpPr>
          <p:cNvPr id="11" name="calc-2-cap"/>
          <p:cNvSpPr txBox="1"/>
          <p:nvPr/>
        </p:nvSpPr>
        <p:spPr>
          <a:xfrm>
            <a:off x="3328416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 шага = длина × цена грунта. Пунктир короче, но стоит 10,5 ед. заряда; синий путь — 7,2</a:t>
            </a:r>
            <a:endParaRPr lang="en-US" sz="950" dirty="0"/>
          </a:p>
        </p:txBody>
      </p:sp>
      <p:sp>
        <p:nvSpPr>
          <p:cNvPr id="12" name="reserve-top"/>
          <p:cNvSpPr txBox="1"/>
          <p:nvPr/>
        </p:nvSpPr>
        <p:spPr>
          <a:xfrm>
            <a:off x="5989320" y="1737360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батареи</a:t>
            </a:r>
            <a:endParaRPr lang="en-US" sz="950" dirty="0"/>
          </a:p>
        </p:txBody>
      </p:sp>
      <p:sp>
        <p:nvSpPr>
          <p:cNvPr id="13" name="reserve-part-1"/>
          <p:cNvSpPr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solidFill>
            <a:srgbClr val="3D63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reserve-label-1"/>
          <p:cNvSpPr txBox="1"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цели</a:t>
            </a:r>
            <a:endParaRPr lang="en-US" sz="900" dirty="0"/>
          </a:p>
        </p:txBody>
      </p:sp>
      <p:sp>
        <p:nvSpPr>
          <p:cNvPr id="15" name="reserve-part-2"/>
          <p:cNvSpPr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reserve-label-2"/>
          <p:cNvSpPr txBox="1"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домой × 1,1</a:t>
            </a:r>
            <a:endParaRPr lang="en-US" sz="900" dirty="0"/>
          </a:p>
        </p:txBody>
      </p:sp>
      <p:sp>
        <p:nvSpPr>
          <p:cNvPr id="17" name="reserve-part-3"/>
          <p:cNvSpPr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reserve-label-3"/>
          <p:cNvSpPr txBox="1"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</a:t>
            </a:r>
            <a:endParaRPr lang="en-US" sz="900" dirty="0"/>
          </a:p>
        </p:txBody>
      </p:sp>
      <p:sp>
        <p:nvSpPr>
          <p:cNvPr id="19" name="reserve-part-4"/>
          <p:cNvSpPr/>
          <p:nvPr/>
        </p:nvSpPr>
        <p:spPr>
          <a:xfrm>
            <a:off x="8019288" y="1975104"/>
            <a:ext cx="45720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reserve-text"/>
          <p:cNvSpPr txBox="1"/>
          <p:nvPr/>
        </p:nvSpPr>
        <p:spPr>
          <a:xfrm>
            <a:off x="5989320" y="2523744"/>
            <a:ext cx="24871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цели робот едет, только если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− путь до цели − 1,1 × путь домой − 4 ≥ 0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Иначе — сразу на базу</a:t>
            </a:r>
            <a:endParaRPr lang="en-US" sz="1100" dirty="0"/>
          </a:p>
        </p:txBody>
      </p:sp>
      <p:sp>
        <p:nvSpPr>
          <p:cNvPr id="21" name="goal-pill"/>
          <p:cNvSpPr/>
          <p:nvPr/>
        </p:nvSpPr>
        <p:spPr>
          <a:xfrm>
            <a:off x="667512" y="4169664"/>
            <a:ext cx="7808976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goal-text"/>
          <p:cNvSpPr txBox="1"/>
          <p:nvPr/>
        </p:nvSpPr>
        <p:spPr>
          <a:xfrm>
            <a:off x="923544" y="4169664"/>
            <a:ext cx="7351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всех расчётов — счёт судьи: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 = 10·образцы + 20·возврат + 0,1·остаток заряда − штрафы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Сценарий на карте: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Трудный уровень, сценарий 2 — его же показываем вживую. Скрытое нарисовано для зрителя</a:t>
            </a:r>
            <a:endParaRPr lang="en-US" sz="1150" dirty="0"/>
          </a:p>
        </p:txBody>
      </p:sp>
      <p:pic>
        <p:nvPicPr>
          <p:cNvPr id="5" name="scenario" descr="Карта арены с путём робота и пятью отмеченными событиями прог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43584"/>
            <a:ext cx="3639312" cy="3354837"/>
          </a:xfrm>
          <a:prstGeom prst="rect">
            <a:avLst/>
          </a:prstGeom>
        </p:spPr>
      </p:pic>
      <p:sp>
        <p:nvSpPr>
          <p:cNvPr id="6" name="event-1-badge"/>
          <p:cNvSpPr txBox="1"/>
          <p:nvPr/>
        </p:nvSpPr>
        <p:spPr>
          <a:xfrm>
            <a:off x="4572000" y="1298448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event-1-text"/>
          <p:cNvSpPr txBox="1"/>
          <p:nvPr/>
        </p:nvSpPr>
        <p:spPr>
          <a:xfrm>
            <a:off x="4956048" y="12801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0–30 с · три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«образец здесь» → подъехал → собрал</a:t>
            </a:r>
            <a:endParaRPr lang="en-US" sz="1100" dirty="0"/>
          </a:p>
        </p:txBody>
      </p:sp>
      <p:sp>
        <p:nvSpPr>
          <p:cNvPr id="8" name="event-2-badge"/>
          <p:cNvSpPr txBox="1"/>
          <p:nvPr/>
        </p:nvSpPr>
        <p:spPr>
          <a:xfrm>
            <a:off x="4572000" y="1901952"/>
            <a:ext cx="256032" cy="256032"/>
          </a:xfrm>
          <a:prstGeom prst="ellipse">
            <a:avLst/>
          </a:prstGeom>
          <a:solidFill>
            <a:srgbClr val="C98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event-2-text"/>
          <p:cNvSpPr txBox="1"/>
          <p:nvPr/>
        </p:nvSpPr>
        <p:spPr>
          <a:xfrm>
            <a:off x="4956048" y="1883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с · грунт стал дороже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заметил перерасход, поставил опыт, внёс участок в карту стоимости</a:t>
            </a:r>
            <a:endParaRPr lang="en-US" sz="1100" dirty="0"/>
          </a:p>
        </p:txBody>
      </p:sp>
      <p:sp>
        <p:nvSpPr>
          <p:cNvPr id="10" name="event-3-badge"/>
          <p:cNvSpPr txBox="1"/>
          <p:nvPr/>
        </p:nvSpPr>
        <p:spPr>
          <a:xfrm>
            <a:off x="4572000" y="2505456"/>
            <a:ext cx="256032" cy="256032"/>
          </a:xfrm>
          <a:prstGeom prst="ellipse">
            <a:avLst/>
          </a:prstGeom>
          <a:solidFill>
            <a:srgbClr val="E859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event-3-text"/>
          <p:cNvSpPr txBox="1"/>
          <p:nvPr/>
        </p:nvSpPr>
        <p:spPr>
          <a:xfrm>
            <a:off x="4956048" y="248716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 с · датчик шумит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распознал сбой и переждал 36 секунд</a:t>
            </a:r>
            <a:endParaRPr lang="en-US" sz="1100" dirty="0"/>
          </a:p>
        </p:txBody>
      </p:sp>
      <p:sp>
        <p:nvSpPr>
          <p:cNvPr id="12" name="event-4-badge"/>
          <p:cNvSpPr txBox="1"/>
          <p:nvPr/>
        </p:nvSpPr>
        <p:spPr>
          <a:xfrm>
            <a:off x="4572000" y="3108960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event-4-text"/>
          <p:cNvSpPr txBox="1"/>
          <p:nvPr/>
        </p:nvSpPr>
        <p:spPr>
          <a:xfrm>
            <a:off x="4956048" y="30906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82–134 с · ещё четыре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спал — поиск продолжается</a:t>
            </a:r>
            <a:endParaRPr lang="en-US" sz="1100" dirty="0"/>
          </a:p>
        </p:txBody>
      </p:sp>
      <p:sp>
        <p:nvSpPr>
          <p:cNvPr id="14" name="event-5-badge"/>
          <p:cNvSpPr txBox="1"/>
          <p:nvPr/>
        </p:nvSpPr>
        <p:spPr>
          <a:xfrm>
            <a:off x="4572000" y="3712464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15" name="event-5-text"/>
          <p:cNvSpPr txBox="1"/>
          <p:nvPr/>
        </p:nvSpPr>
        <p:spPr>
          <a:xfrm>
            <a:off x="4956048" y="36941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142 с · на базе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из 7 образцов, счёт судьи 91,8, без штрафов</a:t>
            </a:r>
            <a:endParaRPr lang="en-US" sz="1100" dirty="0"/>
          </a:p>
        </p:txBody>
      </p:sp>
      <p:sp>
        <p:nvSpPr>
          <p:cNvPr id="16" name="legend"/>
          <p:cNvSpPr txBox="1"/>
          <p:nvPr/>
        </p:nvSpPr>
        <p:spPr>
          <a:xfrm>
            <a:off x="4572000" y="4334256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Зелёные точки — образцы, жёлтое — дорогой грунт (×N), красное — опасные зоны, синяя линия — путь робота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Пример: план заранее против робота с адаптацией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сценарий (№1026): слева маршрут составлен заранее, справа — поиск по карте вероятностей</a:t>
            </a:r>
            <a:endParaRPr lang="en-US" sz="1150" dirty="0"/>
          </a:p>
        </p:txBody>
      </p:sp>
      <p:pic>
        <p:nvPicPr>
          <p:cNvPr id="5" name="pair_fixed_adaptive" descr="Две карты одного сценария: путь робота с планом заранее и путь робота-исследовате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5074920" cy="2307063"/>
          </a:xfrm>
          <a:prstGeom prst="rect">
            <a:avLst/>
          </a:prstGeom>
        </p:spPr>
      </p:pic>
      <p:sp>
        <p:nvSpPr>
          <p:cNvPr id="6" name="cap-left"/>
          <p:cNvSpPr txBox="1"/>
          <p:nvPr/>
        </p:nvSpPr>
        <p:spPr>
          <a:xfrm>
            <a:off x="71323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заранее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из 7 образцов · счёт 61,1</a:t>
            </a:r>
            <a:endParaRPr lang="en-US" sz="1100" dirty="0"/>
          </a:p>
        </p:txBody>
      </p:sp>
      <p:sp>
        <p:nvSpPr>
          <p:cNvPr id="7" name="cap-right"/>
          <p:cNvSpPr txBox="1"/>
          <p:nvPr/>
        </p:nvSpPr>
        <p:spPr>
          <a:xfrm>
            <a:off x="329641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7 образцов · счёт 75,1</a:t>
            </a:r>
            <a:endParaRPr lang="en-US" sz="1100" dirty="0"/>
          </a:p>
        </p:txBody>
      </p:sp>
      <p:sp>
        <p:nvSpPr>
          <p:cNvPr id="8" name="stat-circle"/>
          <p:cNvSpPr/>
          <p:nvPr/>
        </p:nvSpPr>
        <p:spPr>
          <a:xfrm>
            <a:off x="6053328" y="1353312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at-value"/>
          <p:cNvSpPr txBox="1"/>
          <p:nvPr/>
        </p:nvSpPr>
        <p:spPr>
          <a:xfrm>
            <a:off x="6053328" y="1828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</a:t>
            </a:r>
            <a:endParaRPr lang="en-US" sz="3400" dirty="0"/>
          </a:p>
        </p:txBody>
      </p:sp>
      <p:sp>
        <p:nvSpPr>
          <p:cNvPr id="10" name="stat-lines"/>
          <p:cNvSpPr txBox="1"/>
          <p:nvPr/>
        </p:nvSpPr>
        <p:spPr>
          <a:xfrm>
            <a:off x="6190488" y="241401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очка в среднем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[7,4; 19,0]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трудных сценариев,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000" dirty="0"/>
          </a:p>
        </p:txBody>
      </p:sp>
      <p:sp>
        <p:nvSpPr>
          <p:cNvPr id="11" name="takeaway-pill"/>
          <p:cNvSpPr/>
          <p:nvPr/>
        </p:nvSpPr>
        <p:spPr>
          <a:xfrm>
            <a:off x="667512" y="4206240"/>
            <a:ext cx="7808976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takeaway-text"/>
          <p:cNvSpPr txBox="1"/>
          <p:nvPr/>
        </p:nvSpPr>
        <p:spPr>
          <a:xfrm>
            <a:off x="941832" y="4206240"/>
            <a:ext cx="7260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 же заряд, та же арена — больше образцов: выше в 29 из 40 сценариев. По возврату на базу различие не показано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подход: робот сам ставит опыт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измерение расходится с прогнозом, робот выдвигает объяснения и проверяет их действием</a:t>
            </a:r>
            <a:endParaRPr lang="en-US" sz="1150" dirty="0"/>
          </a:p>
        </p:txBody>
      </p:sp>
      <p:sp>
        <p:nvSpPr>
          <p:cNvPr id="5" name="step-1-dot"/>
          <p:cNvSpPr/>
          <p:nvPr/>
        </p:nvSpPr>
        <p:spPr>
          <a:xfrm>
            <a:off x="667512" y="12984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tep-1-n"/>
          <p:cNvSpPr txBox="1"/>
          <p:nvPr/>
        </p:nvSpPr>
        <p:spPr>
          <a:xfrm>
            <a:off x="667512" y="1298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tep-1-text"/>
          <p:cNvSpPr txBox="1"/>
          <p:nvPr/>
        </p:nvSpPr>
        <p:spPr>
          <a:xfrm>
            <a:off x="1216152" y="12618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Расхождение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измерение не сходится с прогнозом</a:t>
            </a:r>
            <a:endParaRPr lang="en-US" sz="1100" dirty="0"/>
          </a:p>
        </p:txBody>
      </p:sp>
      <p:sp>
        <p:nvSpPr>
          <p:cNvPr id="8" name="step-1-arrow"/>
          <p:cNvSpPr/>
          <p:nvPr/>
        </p:nvSpPr>
        <p:spPr>
          <a:xfrm>
            <a:off x="868680" y="1728216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step-2-dot"/>
          <p:cNvSpPr/>
          <p:nvPr/>
        </p:nvSpPr>
        <p:spPr>
          <a:xfrm>
            <a:off x="667512" y="190195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step-2-n"/>
          <p:cNvSpPr txBox="1"/>
          <p:nvPr/>
        </p:nvSpPr>
        <p:spPr>
          <a:xfrm>
            <a:off x="667512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tep-2-text"/>
          <p:cNvSpPr txBox="1"/>
          <p:nvPr/>
        </p:nvSpPr>
        <p:spPr>
          <a:xfrm>
            <a:off x="1216152" y="18653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несколько объяснений с вероятностями</a:t>
            </a:r>
            <a:endParaRPr lang="en-US" sz="1100" dirty="0"/>
          </a:p>
        </p:txBody>
      </p:sp>
      <p:sp>
        <p:nvSpPr>
          <p:cNvPr id="12" name="step-2-arrow"/>
          <p:cNvSpPr/>
          <p:nvPr/>
        </p:nvSpPr>
        <p:spPr>
          <a:xfrm>
            <a:off x="868680" y="2331720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3-dot"/>
          <p:cNvSpPr/>
          <p:nvPr/>
        </p:nvSpPr>
        <p:spPr>
          <a:xfrm>
            <a:off x="667512" y="2505456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step-3-n"/>
          <p:cNvSpPr txBox="1"/>
          <p:nvPr/>
        </p:nvSpPr>
        <p:spPr>
          <a:xfrm>
            <a:off x="667512" y="2505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tep-3-text"/>
          <p:cNvSpPr txBox="1"/>
          <p:nvPr/>
        </p:nvSpPr>
        <p:spPr>
          <a:xfrm>
            <a:off x="1216152" y="246888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тот, что различит объяснения дешевле всего</a:t>
            </a:r>
            <a:endParaRPr lang="en-US" sz="1100" dirty="0"/>
          </a:p>
        </p:txBody>
      </p:sp>
      <p:sp>
        <p:nvSpPr>
          <p:cNvPr id="16" name="step-3-arrow"/>
          <p:cNvSpPr/>
          <p:nvPr/>
        </p:nvSpPr>
        <p:spPr>
          <a:xfrm>
            <a:off x="868680" y="2935224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step-4-dot"/>
          <p:cNvSpPr/>
          <p:nvPr/>
        </p:nvSpPr>
        <p:spPr>
          <a:xfrm>
            <a:off x="667512" y="31089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step-4-n"/>
          <p:cNvSpPr txBox="1"/>
          <p:nvPr/>
        </p:nvSpPr>
        <p:spPr>
          <a:xfrm>
            <a:off x="667512" y="3108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step-4-text"/>
          <p:cNvSpPr txBox="1"/>
          <p:nvPr/>
        </p:nvSpPr>
        <p:spPr>
          <a:xfrm>
            <a:off x="1216152" y="30723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 и действие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обновляет карту, маршрут и запас на возврат</a:t>
            </a:r>
            <a:endParaRPr lang="en-US" sz="1100" dirty="0"/>
          </a:p>
        </p:txBody>
      </p:sp>
      <p:sp>
        <p:nvSpPr>
          <p:cNvPr id="20" name="chart-title"/>
          <p:cNvSpPr txBox="1"/>
          <p:nvPr/>
        </p:nvSpPr>
        <p:spPr>
          <a:xfrm>
            <a:off x="4526280" y="1243584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заряда вырос: вероятности объяснений</a:t>
            </a:r>
            <a:endParaRPr lang="en-US" sz="1050" dirty="0"/>
          </a:p>
        </p:txBody>
      </p:sp>
      <p:graphicFrame>
        <p:nvGraphicFramePr>
          <p:cNvPr id="21" name="inquiry-chart" descr="Вероятности четырёх объяснений до и после опыта: «грунт стал дороже» — с 47 до 100 процентов"/>
          <p:cNvGraphicFramePr/>
          <p:nvPr/>
        </p:nvGraphicFramePr>
        <p:xfrm>
          <a:off x="4434840" y="1463040"/>
          <a:ext cx="4041648" cy="22128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metric-1"/>
          <p:cNvSpPr/>
          <p:nvPr/>
        </p:nvSpPr>
        <p:spPr>
          <a:xfrm>
            <a:off x="667512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/>
        </p:spPr>
      </p:sp>
      <p:sp>
        <p:nvSpPr>
          <p:cNvPr id="23" name="metric-1-value"/>
          <p:cNvSpPr txBox="1"/>
          <p:nvPr/>
        </p:nvSpPr>
        <p:spPr>
          <a:xfrm>
            <a:off x="923544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700" dirty="0"/>
          </a:p>
        </p:txBody>
      </p:sp>
      <p:sp>
        <p:nvSpPr>
          <p:cNvPr id="24" name="metric-1-label"/>
          <p:cNvSpPr txBox="1"/>
          <p:nvPr/>
        </p:nvSpPr>
        <p:spPr>
          <a:xfrm>
            <a:off x="2148840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гипотез, которые робот счёл подтверждёнными, верны по скрытой правде</a:t>
            </a:r>
            <a:endParaRPr lang="en-US" sz="950" dirty="0"/>
          </a:p>
        </p:txBody>
      </p:sp>
      <p:sp>
        <p:nvSpPr>
          <p:cNvPr id="25" name="metric-2"/>
          <p:cNvSpPr/>
          <p:nvPr/>
        </p:nvSpPr>
        <p:spPr>
          <a:xfrm>
            <a:off x="4654296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/>
        </p:spPr>
      </p:sp>
      <p:sp>
        <p:nvSpPr>
          <p:cNvPr id="26" name="metric-2-value"/>
          <p:cNvSpPr txBox="1"/>
          <p:nvPr/>
        </p:nvSpPr>
        <p:spPr>
          <a:xfrm>
            <a:off x="4910328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6–7 раз</a:t>
            </a:r>
            <a:endParaRPr lang="en-US" sz="1700" dirty="0"/>
          </a:p>
        </p:txBody>
      </p:sp>
      <p:sp>
        <p:nvSpPr>
          <p:cNvPr id="27" name="metric-2-label"/>
          <p:cNvSpPr txBox="1"/>
          <p:nvPr/>
        </p:nvSpPr>
        <p:spPr>
          <a:xfrm>
            <a:off x="6135624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меньше заряда на опыт, чем при случайном выборе опыта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модель: задание словами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и тот же робот; подцели выбирает правило или языковая модель</a:t>
            </a:r>
            <a:endParaRPr lang="en-US" sz="1150" dirty="0"/>
          </a:p>
        </p:txBody>
      </p:sp>
      <p:sp>
        <p:nvSpPr>
          <p:cNvPr id="5" name="mission-pill"/>
          <p:cNvSpPr/>
          <p:nvPr/>
        </p:nvSpPr>
        <p:spPr>
          <a:xfrm>
            <a:off x="667512" y="1225296"/>
            <a:ext cx="7808976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mission-text"/>
          <p:cNvSpPr txBox="1"/>
          <p:nvPr/>
        </p:nvSpPr>
        <p:spPr>
          <a:xfrm>
            <a:off x="923544" y="1225296"/>
            <a:ext cx="7296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Миссия: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 заезжай в правую половину арены: работай только в левой»</a:t>
            </a:r>
            <a:endParaRPr lang="en-US" sz="1200" dirty="0"/>
          </a:p>
        </p:txBody>
      </p:sp>
      <p:pic>
        <p:nvPicPr>
          <p:cNvPr id="7" name="pair_llm_zone" descr="Две карты одной арены с запретной правой половиной: робот с правилом заезжает в неё, робот с языковой моделью остаётся в лево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00784"/>
            <a:ext cx="5029200" cy="2286279"/>
          </a:xfrm>
          <a:prstGeom prst="rect">
            <a:avLst/>
          </a:prstGeom>
        </p:spPr>
      </p:pic>
      <p:sp>
        <p:nvSpPr>
          <p:cNvPr id="8" name="cap-left"/>
          <p:cNvSpPr txBox="1"/>
          <p:nvPr/>
        </p:nvSpPr>
        <p:spPr>
          <a:xfrm>
            <a:off x="713232" y="4032783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Правило: текст не читает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заехал в запретную половину</a:t>
            </a:r>
            <a:endParaRPr lang="en-US" sz="1100" dirty="0"/>
          </a:p>
        </p:txBody>
      </p:sp>
      <p:sp>
        <p:nvSpPr>
          <p:cNvPr id="9" name="cap-right"/>
          <p:cNvSpPr txBox="1"/>
          <p:nvPr/>
        </p:nvSpPr>
        <p:spPr>
          <a:xfrm>
            <a:off x="3273552" y="4032783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языковой моделью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остался в разрешённой: 3 из 3 образцов там</a:t>
            </a:r>
            <a:endParaRPr lang="en-US" sz="1100" dirty="0"/>
          </a:p>
        </p:txBody>
      </p:sp>
      <p:sp>
        <p:nvSpPr>
          <p:cNvPr id="10" name="stat-circle"/>
          <p:cNvSpPr/>
          <p:nvPr/>
        </p:nvSpPr>
        <p:spPr>
          <a:xfrm>
            <a:off x="6053328" y="1737360"/>
            <a:ext cx="2286000" cy="22860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stat-value"/>
          <p:cNvSpPr txBox="1"/>
          <p:nvPr/>
        </p:nvSpPr>
        <p:spPr>
          <a:xfrm>
            <a:off x="6053328" y="22128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7C5C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из 12</a:t>
            </a:r>
            <a:endParaRPr lang="en-US" sz="3000" dirty="0"/>
          </a:p>
        </p:txBody>
      </p:sp>
      <p:sp>
        <p:nvSpPr>
          <p:cNvPr id="12" name="stat-lines"/>
          <p:cNvSpPr txBox="1"/>
          <p:nvPr/>
        </p:nvSpPr>
        <p:spPr>
          <a:xfrm>
            <a:off x="6236208" y="2779776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прогонов с этой миссией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выполняет модель;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— 0 из 12</a:t>
            </a:r>
            <a:endParaRPr lang="en-US" sz="1000" dirty="0"/>
          </a:p>
        </p:txBody>
      </p:sp>
      <p:sp>
        <p:nvSpPr>
          <p:cNvPr id="13" name="llm-note"/>
          <p:cNvSpPr txBox="1"/>
          <p:nvPr/>
        </p:nvSpPr>
        <p:spPr>
          <a:xfrm>
            <a:off x="5852160" y="411480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время ответа модели не учитывается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Итоги: что подтвердилось, а что нет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Разность счёта на одних и тех же трудных сценариях, быстрый симулятор; отрезок — 95% интервал</a:t>
            </a:r>
            <a:endParaRPr lang="en-US" sz="1150" dirty="0"/>
          </a:p>
        </p:txBody>
      </p:sp>
      <p:sp>
        <p:nvSpPr>
          <p:cNvPr id="5" name="res-axis-zero"/>
          <p:cNvSpPr/>
          <p:nvPr/>
        </p:nvSpPr>
        <p:spPr>
          <a:xfrm>
            <a:off x="6199632" y="1280160"/>
            <a:ext cx="0" cy="237744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6" name="res-axis-tick--5"/>
          <p:cNvSpPr txBox="1"/>
          <p:nvPr/>
        </p:nvSpPr>
        <p:spPr>
          <a:xfrm>
            <a:off x="539496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</a:t>
            </a:r>
            <a:endParaRPr lang="en-US" sz="900" dirty="0"/>
          </a:p>
        </p:txBody>
      </p:sp>
      <p:sp>
        <p:nvSpPr>
          <p:cNvPr id="7" name="res-axis-tick-0"/>
          <p:cNvSpPr txBox="1"/>
          <p:nvPr/>
        </p:nvSpPr>
        <p:spPr>
          <a:xfrm>
            <a:off x="5925312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res-axis-tick-5"/>
          <p:cNvSpPr txBox="1"/>
          <p:nvPr/>
        </p:nvSpPr>
        <p:spPr>
          <a:xfrm>
            <a:off x="6455664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</a:t>
            </a:r>
            <a:endParaRPr lang="en-US" sz="900" dirty="0"/>
          </a:p>
        </p:txBody>
      </p:sp>
      <p:sp>
        <p:nvSpPr>
          <p:cNvPr id="9" name="res-axis-tick-10"/>
          <p:cNvSpPr txBox="1"/>
          <p:nvPr/>
        </p:nvSpPr>
        <p:spPr>
          <a:xfrm>
            <a:off x="6986016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10" name="res-axis-tick-15"/>
          <p:cNvSpPr txBox="1"/>
          <p:nvPr/>
        </p:nvSpPr>
        <p:spPr>
          <a:xfrm>
            <a:off x="7516368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</a:t>
            </a:r>
            <a:endParaRPr lang="en-US" sz="900" dirty="0"/>
          </a:p>
        </p:txBody>
      </p:sp>
      <p:sp>
        <p:nvSpPr>
          <p:cNvPr id="11" name="res-axis-tick-20"/>
          <p:cNvSpPr txBox="1"/>
          <p:nvPr/>
        </p:nvSpPr>
        <p:spPr>
          <a:xfrm>
            <a:off x="804672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12" name="res-1-label"/>
          <p:cNvSpPr txBox="1"/>
          <p:nvPr/>
        </p:nvSpPr>
        <p:spPr>
          <a:xfrm>
            <a:off x="667512" y="12801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 против плана заранее</a:t>
            </a:r>
            <a:endParaRPr lang="en-US" sz="1100" dirty="0"/>
          </a:p>
        </p:txBody>
      </p:sp>
      <p:sp>
        <p:nvSpPr>
          <p:cNvPr id="13" name="res-1-value"/>
          <p:cNvSpPr txBox="1"/>
          <p:nvPr/>
        </p:nvSpPr>
        <p:spPr>
          <a:xfrm>
            <a:off x="3611880" y="12801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[+7,4; +19,0]</a:t>
            </a:r>
            <a:endParaRPr lang="en-US" sz="1000" dirty="0"/>
          </a:p>
        </p:txBody>
      </p:sp>
      <p:sp>
        <p:nvSpPr>
          <p:cNvPr id="14" name="res-1-mark"/>
          <p:cNvSpPr txBox="1"/>
          <p:nvPr/>
        </p:nvSpPr>
        <p:spPr>
          <a:xfrm>
            <a:off x="5029200" y="12801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5" name="res-1-ci"/>
          <p:cNvSpPr/>
          <p:nvPr/>
        </p:nvSpPr>
        <p:spPr>
          <a:xfrm>
            <a:off x="6984553" y="1428750"/>
            <a:ext cx="123041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16" name="res-1-dot"/>
          <p:cNvSpPr/>
          <p:nvPr/>
        </p:nvSpPr>
        <p:spPr>
          <a:xfrm>
            <a:off x="7550932" y="136931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res-2-label"/>
          <p:cNvSpPr txBox="1"/>
          <p:nvPr/>
        </p:nvSpPr>
        <p:spPr>
          <a:xfrm>
            <a:off x="667512" y="15773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Пережидает сбой датчика</a:t>
            </a:r>
            <a:endParaRPr lang="en-US" sz="1100" dirty="0"/>
          </a:p>
        </p:txBody>
      </p:sp>
      <p:sp>
        <p:nvSpPr>
          <p:cNvPr id="18" name="res-2-value"/>
          <p:cNvSpPr txBox="1"/>
          <p:nvPr/>
        </p:nvSpPr>
        <p:spPr>
          <a:xfrm>
            <a:off x="3611880" y="15773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+6,4 [+2,9; +9,8]</a:t>
            </a:r>
            <a:endParaRPr lang="en-US" sz="1000" dirty="0"/>
          </a:p>
        </p:txBody>
      </p:sp>
      <p:sp>
        <p:nvSpPr>
          <p:cNvPr id="19" name="res-2-mark"/>
          <p:cNvSpPr txBox="1"/>
          <p:nvPr/>
        </p:nvSpPr>
        <p:spPr>
          <a:xfrm>
            <a:off x="5029200" y="15773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res-2-ci"/>
          <p:cNvSpPr/>
          <p:nvPr/>
        </p:nvSpPr>
        <p:spPr>
          <a:xfrm>
            <a:off x="6507236" y="1725930"/>
            <a:ext cx="731886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1" name="res-2-dot"/>
          <p:cNvSpPr/>
          <p:nvPr/>
        </p:nvSpPr>
        <p:spPr>
          <a:xfrm>
            <a:off x="6819047" y="166649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res-3-label"/>
          <p:cNvSpPr txBox="1"/>
          <p:nvPr/>
        </p:nvSpPr>
        <p:spPr>
          <a:xfrm>
            <a:off x="667512" y="18745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Следит за исправностью датчика</a:t>
            </a:r>
            <a:endParaRPr lang="en-US" sz="1100" dirty="0"/>
          </a:p>
        </p:txBody>
      </p:sp>
      <p:sp>
        <p:nvSpPr>
          <p:cNvPr id="23" name="res-3-value"/>
          <p:cNvSpPr txBox="1"/>
          <p:nvPr/>
        </p:nvSpPr>
        <p:spPr>
          <a:xfrm>
            <a:off x="3611880" y="18745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+4,9 [+1,7; +8,2]</a:t>
            </a:r>
            <a:endParaRPr lang="en-US" sz="1000" dirty="0"/>
          </a:p>
        </p:txBody>
      </p:sp>
      <p:sp>
        <p:nvSpPr>
          <p:cNvPr id="24" name="res-3-mark"/>
          <p:cNvSpPr txBox="1"/>
          <p:nvPr/>
        </p:nvSpPr>
        <p:spPr>
          <a:xfrm>
            <a:off x="5029200" y="18745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res-3-ci"/>
          <p:cNvSpPr/>
          <p:nvPr/>
        </p:nvSpPr>
        <p:spPr>
          <a:xfrm>
            <a:off x="6379952" y="2023110"/>
            <a:ext cx="689458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6" name="res-3-dot"/>
          <p:cNvSpPr/>
          <p:nvPr/>
        </p:nvSpPr>
        <p:spPr>
          <a:xfrm>
            <a:off x="6659941" y="196367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res-4-label"/>
          <p:cNvSpPr txBox="1"/>
          <p:nvPr/>
        </p:nvSpPr>
        <p:spPr>
          <a:xfrm>
            <a:off x="667512" y="217170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на возврат по оценке пути домой</a:t>
            </a:r>
            <a:endParaRPr lang="en-US" sz="1100" dirty="0"/>
          </a:p>
        </p:txBody>
      </p:sp>
      <p:sp>
        <p:nvSpPr>
          <p:cNvPr id="28" name="res-4-value"/>
          <p:cNvSpPr txBox="1"/>
          <p:nvPr/>
        </p:nvSpPr>
        <p:spPr>
          <a:xfrm>
            <a:off x="3611880" y="217170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+3,6 [+1,6; +5,6]</a:t>
            </a:r>
            <a:endParaRPr lang="en-US" sz="1000" dirty="0"/>
          </a:p>
        </p:txBody>
      </p:sp>
      <p:sp>
        <p:nvSpPr>
          <p:cNvPr id="29" name="res-4-mark"/>
          <p:cNvSpPr txBox="1"/>
          <p:nvPr/>
        </p:nvSpPr>
        <p:spPr>
          <a:xfrm>
            <a:off x="5029200" y="217170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0" name="res-4-ci"/>
          <p:cNvSpPr/>
          <p:nvPr/>
        </p:nvSpPr>
        <p:spPr>
          <a:xfrm>
            <a:off x="6369345" y="2320290"/>
            <a:ext cx="424282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1" name="res-4-dot"/>
          <p:cNvSpPr/>
          <p:nvPr/>
        </p:nvSpPr>
        <p:spPr>
          <a:xfrm>
            <a:off x="6522049" y="226085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res-5-label"/>
          <p:cNvSpPr txBox="1"/>
          <p:nvPr/>
        </p:nvSpPr>
        <p:spPr>
          <a:xfrm>
            <a:off x="667512" y="246888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Помнит лабораторию: второй прогон</a:t>
            </a:r>
            <a:endParaRPr lang="en-US" sz="1100" dirty="0"/>
          </a:p>
        </p:txBody>
      </p:sp>
      <p:sp>
        <p:nvSpPr>
          <p:cNvPr id="33" name="res-5-value"/>
          <p:cNvSpPr txBox="1"/>
          <p:nvPr/>
        </p:nvSpPr>
        <p:spPr>
          <a:xfrm>
            <a:off x="3611880" y="246888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+4,3 [+2,4; +6,3]</a:t>
            </a:r>
            <a:endParaRPr lang="en-US" sz="1000" dirty="0"/>
          </a:p>
        </p:txBody>
      </p:sp>
      <p:sp>
        <p:nvSpPr>
          <p:cNvPr id="34" name="res-5-mark"/>
          <p:cNvSpPr txBox="1"/>
          <p:nvPr/>
        </p:nvSpPr>
        <p:spPr>
          <a:xfrm>
            <a:off x="5029200" y="246888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5" name="res-5-ci"/>
          <p:cNvSpPr/>
          <p:nvPr/>
        </p:nvSpPr>
        <p:spPr>
          <a:xfrm>
            <a:off x="6454201" y="2617470"/>
            <a:ext cx="413675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6" name="res-5-dot"/>
          <p:cNvSpPr/>
          <p:nvPr/>
        </p:nvSpPr>
        <p:spPr>
          <a:xfrm>
            <a:off x="6596299" y="255803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res-6-label"/>
          <p:cNvSpPr txBox="1"/>
          <p:nvPr/>
        </p:nvSpPr>
        <p:spPr>
          <a:xfrm>
            <a:off x="667512" y="27660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Учитывает дорогой грунт</a:t>
            </a:r>
            <a:endParaRPr lang="en-US" sz="1100" dirty="0"/>
          </a:p>
        </p:txBody>
      </p:sp>
      <p:sp>
        <p:nvSpPr>
          <p:cNvPr id="38" name="res-6-value"/>
          <p:cNvSpPr txBox="1"/>
          <p:nvPr/>
        </p:nvSpPr>
        <p:spPr>
          <a:xfrm>
            <a:off x="3611880" y="27660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+1,0 [−3,6; +5,4]</a:t>
            </a:r>
            <a:endParaRPr lang="en-US" sz="1000" dirty="0"/>
          </a:p>
        </p:txBody>
      </p:sp>
      <p:sp>
        <p:nvSpPr>
          <p:cNvPr id="39" name="res-6-mark"/>
          <p:cNvSpPr txBox="1"/>
          <p:nvPr/>
        </p:nvSpPr>
        <p:spPr>
          <a:xfrm>
            <a:off x="5029200" y="27660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0" name="res-6-ci"/>
          <p:cNvSpPr/>
          <p:nvPr/>
        </p:nvSpPr>
        <p:spPr>
          <a:xfrm>
            <a:off x="5817779" y="2914650"/>
            <a:ext cx="95463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41" name="res-6-dot"/>
          <p:cNvSpPr/>
          <p:nvPr/>
        </p:nvSpPr>
        <p:spPr>
          <a:xfrm>
            <a:off x="6246266" y="285521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res-7-label"/>
          <p:cNvSpPr txBox="1"/>
          <p:nvPr/>
        </p:nvSpPr>
        <p:spPr>
          <a:xfrm>
            <a:off x="667512" y="30632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Замечает смену грунта на пути</a:t>
            </a:r>
            <a:endParaRPr lang="en-US" sz="1100" dirty="0"/>
          </a:p>
        </p:txBody>
      </p:sp>
      <p:sp>
        <p:nvSpPr>
          <p:cNvPr id="43" name="res-7-value"/>
          <p:cNvSpPr txBox="1"/>
          <p:nvPr/>
        </p:nvSpPr>
        <p:spPr>
          <a:xfrm>
            <a:off x="3611880" y="30632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+0,02 [−0,03; +0,07]</a:t>
            </a:r>
            <a:endParaRPr lang="en-US" sz="1000" dirty="0"/>
          </a:p>
        </p:txBody>
      </p:sp>
      <p:sp>
        <p:nvSpPr>
          <p:cNvPr id="44" name="res-7-mark"/>
          <p:cNvSpPr txBox="1"/>
          <p:nvPr/>
        </p:nvSpPr>
        <p:spPr>
          <a:xfrm>
            <a:off x="5029200" y="30632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5" name="res-7-dot"/>
          <p:cNvSpPr/>
          <p:nvPr/>
        </p:nvSpPr>
        <p:spPr>
          <a:xfrm>
            <a:off x="6142317" y="315239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res-8-label"/>
          <p:cNvSpPr txBox="1"/>
          <p:nvPr/>
        </p:nvSpPr>
        <p:spPr>
          <a:xfrm>
            <a:off x="667512" y="33604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Новые схемы планирования</a:t>
            </a:r>
            <a:endParaRPr lang="en-US" sz="1100" dirty="0"/>
          </a:p>
        </p:txBody>
      </p:sp>
      <p:sp>
        <p:nvSpPr>
          <p:cNvPr id="47" name="res-8-value"/>
          <p:cNvSpPr txBox="1"/>
          <p:nvPr/>
        </p:nvSpPr>
        <p:spPr>
          <a:xfrm>
            <a:off x="3611880" y="33604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−0,4 [−2,7; +1,9]</a:t>
            </a:r>
            <a:endParaRPr lang="en-US" sz="1000" dirty="0"/>
          </a:p>
        </p:txBody>
      </p:sp>
      <p:sp>
        <p:nvSpPr>
          <p:cNvPr id="48" name="res-8-mark"/>
          <p:cNvSpPr txBox="1"/>
          <p:nvPr/>
        </p:nvSpPr>
        <p:spPr>
          <a:xfrm>
            <a:off x="5029200" y="33604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9" name="res-8-ci"/>
          <p:cNvSpPr/>
          <p:nvPr/>
        </p:nvSpPr>
        <p:spPr>
          <a:xfrm>
            <a:off x="5913242" y="3509010"/>
            <a:ext cx="48792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50" name="res-8-dot"/>
          <p:cNvSpPr/>
          <p:nvPr/>
        </p:nvSpPr>
        <p:spPr>
          <a:xfrm>
            <a:off x="6097768" y="344957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res-note"/>
          <p:cNvSpPr txBox="1"/>
          <p:nvPr/>
        </p:nvSpPr>
        <p:spPr>
          <a:xfrm>
            <a:off x="667512" y="368503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Опыты разные: числа не складывать. Смена грунта — разность разностей</a:t>
            </a:r>
            <a:endParaRPr lang="en-US" sz="950" dirty="0"/>
          </a:p>
        </p:txBody>
      </p:sp>
      <p:sp>
        <p:nvSpPr>
          <p:cNvPr id="52" name="tile-1"/>
          <p:cNvSpPr/>
          <p:nvPr/>
        </p:nvSpPr>
        <p:spPr>
          <a:xfrm>
            <a:off x="66751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1"/>
          </a:solidFill>
          <a:ln/>
        </p:spPr>
      </p:sp>
      <p:sp>
        <p:nvSpPr>
          <p:cNvPr id="53" name="tile-1-value"/>
          <p:cNvSpPr txBox="1"/>
          <p:nvPr/>
        </p:nvSpPr>
        <p:spPr>
          <a:xfrm>
            <a:off x="89611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6 · Gazebo</a:t>
            </a:r>
            <a:endParaRPr lang="en-US" sz="1400" dirty="0"/>
          </a:p>
        </p:txBody>
      </p:sp>
      <p:sp>
        <p:nvSpPr>
          <p:cNvPr id="54" name="tile-1-label"/>
          <p:cNvSpPr txBox="1"/>
          <p:nvPr/>
        </p:nvSpPr>
        <p:spPr>
          <a:xfrm>
            <a:off x="89611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засчитанных прогонов показа: 7 из 7 образцов, без штрафов</a:t>
            </a:r>
            <a:endParaRPr lang="en-US" sz="900" dirty="0"/>
          </a:p>
        </p:txBody>
      </p:sp>
      <p:sp>
        <p:nvSpPr>
          <p:cNvPr id="55" name="tile-2"/>
          <p:cNvSpPr/>
          <p:nvPr/>
        </p:nvSpPr>
        <p:spPr>
          <a:xfrm>
            <a:off x="331927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2"/>
          </a:solidFill>
          <a:ln/>
        </p:spPr>
      </p:sp>
      <p:sp>
        <p:nvSpPr>
          <p:cNvPr id="56" name="tile-2-value"/>
          <p:cNvSpPr txBox="1"/>
          <p:nvPr/>
        </p:nvSpPr>
        <p:spPr>
          <a:xfrm>
            <a:off x="354787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45–46 из 48</a:t>
            </a:r>
            <a:endParaRPr lang="en-US" sz="1400" dirty="0"/>
          </a:p>
        </p:txBody>
      </p:sp>
      <p:sp>
        <p:nvSpPr>
          <p:cNvPr id="57" name="tile-2-label"/>
          <p:cNvSpPr txBox="1"/>
          <p:nvPr/>
        </p:nvSpPr>
        <p:spPr>
          <a:xfrm>
            <a:off x="354787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миссий словами выполняет LLM; правило — ни одной</a:t>
            </a:r>
            <a:endParaRPr lang="en-US" sz="900" dirty="0"/>
          </a:p>
        </p:txBody>
      </p:sp>
      <p:sp>
        <p:nvSpPr>
          <p:cNvPr id="58" name="tile-3"/>
          <p:cNvSpPr/>
          <p:nvPr/>
        </p:nvSpPr>
        <p:spPr>
          <a:xfrm>
            <a:off x="597103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3"/>
          </a:solidFill>
          <a:ln/>
        </p:spPr>
      </p:sp>
      <p:sp>
        <p:nvSpPr>
          <p:cNvPr id="59" name="tile-3-value"/>
          <p:cNvSpPr txBox="1"/>
          <p:nvPr/>
        </p:nvSpPr>
        <p:spPr>
          <a:xfrm>
            <a:off x="619963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60" name="tile-3-label"/>
          <p:cNvSpPr txBox="1"/>
          <p:nvPr/>
        </p:nvSpPr>
        <p:spPr>
          <a:xfrm>
            <a:off x="619963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роботом гипотез верны (базовые правила)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использовали ИИ при разработке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 задавал направление; агенты исследовали, писали код и проверяли друг друга</a:t>
            </a:r>
            <a:endParaRPr lang="en-US" sz="1150" dirty="0"/>
          </a:p>
        </p:txBody>
      </p:sp>
      <p:sp>
        <p:nvSpPr>
          <p:cNvPr id="5" name="role-1-circle"/>
          <p:cNvSpPr/>
          <p:nvPr/>
        </p:nvSpPr>
        <p:spPr>
          <a:xfrm>
            <a:off x="667512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role-1-text"/>
          <p:cNvSpPr txBox="1"/>
          <p:nvPr/>
        </p:nvSpPr>
        <p:spPr>
          <a:xfrm>
            <a:off x="758952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цель, роли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ограничения</a:t>
            </a:r>
            <a:endParaRPr lang="en-US" sz="1100" dirty="0"/>
          </a:p>
        </p:txBody>
      </p:sp>
      <p:sp>
        <p:nvSpPr>
          <p:cNvPr id="7" name="role-1-arrow"/>
          <p:cNvSpPr/>
          <p:nvPr/>
        </p:nvSpPr>
        <p:spPr>
          <a:xfrm>
            <a:off x="2258568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role-2-circle"/>
          <p:cNvSpPr/>
          <p:nvPr/>
        </p:nvSpPr>
        <p:spPr>
          <a:xfrm>
            <a:off x="2776728" y="1207008"/>
            <a:ext cx="1481328" cy="148132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role-2-text"/>
          <p:cNvSpPr txBox="1"/>
          <p:nvPr/>
        </p:nvSpPr>
        <p:spPr>
          <a:xfrm>
            <a:off x="2868168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Ведущий агент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план, задания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сведение кода</a:t>
            </a:r>
            <a:endParaRPr lang="en-US" sz="1100" dirty="0"/>
          </a:p>
        </p:txBody>
      </p:sp>
      <p:pic>
        <p:nvPicPr>
          <p:cNvPr id="10" name="role-2-logo-Claude Opus" descr="role-2-logo-Claude 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5952" y="2350008"/>
            <a:ext cx="182880" cy="182880"/>
          </a:xfrm>
          <a:prstGeom prst="rect">
            <a:avLst/>
          </a:prstGeom>
        </p:spPr>
      </p:pic>
      <p:sp>
        <p:nvSpPr>
          <p:cNvPr id="11" name="role-2-arrow"/>
          <p:cNvSpPr/>
          <p:nvPr/>
        </p:nvSpPr>
        <p:spPr>
          <a:xfrm>
            <a:off x="4367784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role-3-circle"/>
          <p:cNvSpPr/>
          <p:nvPr/>
        </p:nvSpPr>
        <p:spPr>
          <a:xfrm>
            <a:off x="4885944" y="1207008"/>
            <a:ext cx="1481328" cy="14813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role-3-text"/>
          <p:cNvSpPr txBox="1"/>
          <p:nvPr/>
        </p:nvSpPr>
        <p:spPr>
          <a:xfrm>
            <a:off x="4977384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инженеры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литература;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опыты</a:t>
            </a:r>
            <a:endParaRPr lang="en-US" sz="1100" dirty="0"/>
          </a:p>
        </p:txBody>
      </p:sp>
      <p:pic>
        <p:nvPicPr>
          <p:cNvPr id="14" name="role-3-logo-Gemini" descr="role-3-logo-Gemin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296" y="2350008"/>
            <a:ext cx="182880" cy="182880"/>
          </a:xfrm>
          <a:prstGeom prst="rect">
            <a:avLst/>
          </a:prstGeom>
        </p:spPr>
      </p:pic>
      <p:pic>
        <p:nvPicPr>
          <p:cNvPr id="15" name="role-3-logo-Claude" descr="role-3-logo-Clau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40" y="2350008"/>
            <a:ext cx="182880" cy="182880"/>
          </a:xfrm>
          <a:prstGeom prst="rect">
            <a:avLst/>
          </a:prstGeom>
        </p:spPr>
      </p:pic>
      <p:sp>
        <p:nvSpPr>
          <p:cNvPr id="16" name="role-3-arrow"/>
          <p:cNvSpPr/>
          <p:nvPr/>
        </p:nvSpPr>
        <p:spPr>
          <a:xfrm>
            <a:off x="6477000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role-4-circle"/>
          <p:cNvSpPr/>
          <p:nvPr/>
        </p:nvSpPr>
        <p:spPr>
          <a:xfrm>
            <a:off x="6995160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role-4-text"/>
          <p:cNvSpPr txBox="1"/>
          <p:nvPr/>
        </p:nvSpPr>
        <p:spPr>
          <a:xfrm>
            <a:off x="7086600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ошибки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исправления</a:t>
            </a:r>
            <a:endParaRPr lang="en-US" sz="1100" dirty="0"/>
          </a:p>
        </p:txBody>
      </p:sp>
      <p:pic>
        <p:nvPicPr>
          <p:cNvPr id="19" name="role-4-logo-GPT Sol" descr="role-4-logo-GPT S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384" y="2350008"/>
            <a:ext cx="182880" cy="182880"/>
          </a:xfrm>
          <a:prstGeom prst="rect">
            <a:avLst/>
          </a:prstGeom>
        </p:spPr>
      </p:pic>
      <p:sp>
        <p:nvSpPr>
          <p:cNvPr id="20" name="cycle-pill"/>
          <p:cNvSpPr/>
          <p:nvPr/>
        </p:nvSpPr>
        <p:spPr>
          <a:xfrm>
            <a:off x="667512" y="2798064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1" name="cycle-text"/>
          <p:cNvSpPr txBox="1"/>
          <p:nvPr/>
        </p:nvSpPr>
        <p:spPr>
          <a:xfrm>
            <a:off x="667512" y="2798064"/>
            <a:ext cx="7808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→ код и опыт → ревью → исправления → принятие</a:t>
            </a:r>
            <a:endParaRPr lang="en-US" sz="1150" dirty="0"/>
          </a:p>
        </p:txBody>
      </p:sp>
      <p:sp>
        <p:nvSpPr>
          <p:cNvPr id="22" name="num-1-value"/>
          <p:cNvSpPr txBox="1"/>
          <p:nvPr/>
        </p:nvSpPr>
        <p:spPr>
          <a:xfrm>
            <a:off x="66751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316</a:t>
            </a:r>
            <a:endParaRPr lang="en-US" sz="2400" dirty="0"/>
          </a:p>
        </p:txBody>
      </p:sp>
      <p:sp>
        <p:nvSpPr>
          <p:cNvPr id="23" name="num-1-label"/>
          <p:cNvSpPr txBox="1"/>
          <p:nvPr/>
        </p:nvSpPr>
        <p:spPr>
          <a:xfrm>
            <a:off x="66751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правок в Git</a:t>
            </a:r>
            <a:endParaRPr lang="en-US" sz="1100" dirty="0"/>
          </a:p>
        </p:txBody>
      </p:sp>
      <p:sp>
        <p:nvSpPr>
          <p:cNvPr id="24" name="num-2-value"/>
          <p:cNvSpPr txBox="1"/>
          <p:nvPr/>
        </p:nvSpPr>
        <p:spPr>
          <a:xfrm>
            <a:off x="267919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</a:t>
            </a:r>
            <a:endParaRPr lang="en-US" sz="2400" dirty="0"/>
          </a:p>
        </p:txBody>
      </p:sp>
      <p:sp>
        <p:nvSpPr>
          <p:cNvPr id="25" name="num-2-label"/>
          <p:cNvSpPr txBox="1"/>
          <p:nvPr/>
        </p:nvSpPr>
        <p:spPr>
          <a:xfrm>
            <a:off x="267919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автоматических проверок</a:t>
            </a:r>
            <a:endParaRPr lang="en-US" sz="1100" dirty="0"/>
          </a:p>
        </p:txBody>
      </p:sp>
      <p:sp>
        <p:nvSpPr>
          <p:cNvPr id="26" name="num-3-value"/>
          <p:cNvSpPr txBox="1"/>
          <p:nvPr/>
        </p:nvSpPr>
        <p:spPr>
          <a:xfrm>
            <a:off x="469087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30 000+</a:t>
            </a:r>
            <a:endParaRPr lang="en-US" sz="2400" dirty="0"/>
          </a:p>
        </p:txBody>
      </p:sp>
      <p:sp>
        <p:nvSpPr>
          <p:cNvPr id="27" name="num-3-label"/>
          <p:cNvSpPr txBox="1"/>
          <p:nvPr/>
        </p:nvSpPr>
        <p:spPr>
          <a:xfrm>
            <a:off x="469087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записанных прогонов</a:t>
            </a:r>
            <a:endParaRPr lang="en-US" sz="1100" dirty="0"/>
          </a:p>
        </p:txBody>
      </p:sp>
      <p:sp>
        <p:nvSpPr>
          <p:cNvPr id="28" name="num-4-value"/>
          <p:cNvSpPr txBox="1"/>
          <p:nvPr/>
        </p:nvSpPr>
        <p:spPr>
          <a:xfrm>
            <a:off x="670255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из 22</a:t>
            </a:r>
            <a:endParaRPr lang="en-US" sz="2400" dirty="0"/>
          </a:p>
        </p:txBody>
      </p:sp>
      <p:sp>
        <p:nvSpPr>
          <p:cNvPr id="29" name="num-4-label"/>
          <p:cNvSpPr txBox="1"/>
          <p:nvPr/>
        </p:nvSpPr>
        <p:spPr>
          <a:xfrm>
            <a:off x="6702552" y="382219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 ревью вернуло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доработку</a:t>
            </a:r>
            <a:endParaRPr lang="en-US" sz="1100" dirty="0"/>
          </a:p>
        </p:txBody>
      </p:sp>
      <p:sp>
        <p:nvSpPr>
          <p:cNvPr id="30" name="ai-note"/>
          <p:cNvSpPr txBox="1"/>
          <p:nvPr/>
        </p:nvSpPr>
        <p:spPr>
          <a:xfrm>
            <a:off x="667512" y="42793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нашло 7 ошибок в первых исследованиях: исправлены 2 вывода, отклонены 2 выдуманные ссылки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и роли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Спасибо! Дальше — живой показ и вопросы</a:t>
            </a:r>
            <a:endParaRPr lang="en-US" sz="1150" dirty="0"/>
          </a:p>
        </p:txBody>
      </p:sp>
      <p:sp>
        <p:nvSpPr>
          <p:cNvPr id="5" name="member-1-circle"/>
          <p:cNvSpPr/>
          <p:nvPr/>
        </p:nvSpPr>
        <p:spPr>
          <a:xfrm>
            <a:off x="1170432" y="1371600"/>
            <a:ext cx="1920240" cy="19202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member-1-text"/>
          <p:cNvSpPr txBox="1"/>
          <p:nvPr/>
        </p:nvSpPr>
        <p:spPr>
          <a:xfrm>
            <a:off x="135331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Анастасия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(LLM)</a:t>
            </a:r>
            <a:endParaRPr lang="en-US" sz="1100" dirty="0"/>
          </a:p>
        </p:txBody>
      </p:sp>
      <p:sp>
        <p:nvSpPr>
          <p:cNvPr id="7" name="member-2-circle"/>
          <p:cNvSpPr/>
          <p:nvPr/>
        </p:nvSpPr>
        <p:spPr>
          <a:xfrm>
            <a:off x="3776472" y="1371600"/>
            <a:ext cx="1920240" cy="19202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member-2-text"/>
          <p:cNvSpPr txBox="1"/>
          <p:nvPr/>
        </p:nvSpPr>
        <p:spPr>
          <a:xfrm>
            <a:off x="395935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Путиловский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Михаил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аналитик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(исследователь)</a:t>
            </a:r>
            <a:endParaRPr lang="en-US" sz="1100" dirty="0"/>
          </a:p>
        </p:txBody>
      </p:sp>
      <p:sp>
        <p:nvSpPr>
          <p:cNvPr id="9" name="member-3-circle"/>
          <p:cNvSpPr/>
          <p:nvPr/>
        </p:nvSpPr>
        <p:spPr>
          <a:xfrm>
            <a:off x="6382512" y="1371600"/>
            <a:ext cx="1920240" cy="19202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member-3-text"/>
          <p:cNvSpPr txBox="1"/>
          <p:nvPr/>
        </p:nvSpPr>
        <p:spPr>
          <a:xfrm>
            <a:off x="656539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Журавлева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Полина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разработчик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(Back/ROS)</a:t>
            </a:r>
            <a:endParaRPr lang="en-US" sz="1100" dirty="0"/>
          </a:p>
        </p:txBody>
      </p:sp>
      <p:sp>
        <p:nvSpPr>
          <p:cNvPr id="11" name="done-card"/>
          <p:cNvSpPr/>
          <p:nvPr/>
        </p:nvSpPr>
        <p:spPr>
          <a:xfrm>
            <a:off x="667512" y="3611880"/>
            <a:ext cx="7808976" cy="960120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</p:sp>
      <p:sp>
        <p:nvSpPr>
          <p:cNvPr id="12" name="done-text"/>
          <p:cNvSpPr txBox="1"/>
          <p:nvPr/>
        </p:nvSpPr>
        <p:spPr>
          <a:xfrm>
            <a:off x="941832" y="3639312"/>
            <a:ext cx="72603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сделано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Все уровни задания · научный цикл с журналом гипотез · задания словами через языковую модель · своя карта через SLAM · два робота с координацией · память о лаборатории между прогонами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Hack — команда">
  <a:themeElements>
    <a:clrScheme name="DID Hack — команда">
      <a:dk1>
        <a:srgbClr val="182B45"/>
      </a:dk1>
      <a:lt1>
        <a:srgbClr val="F8F9FC"/>
      </a:lt1>
      <a:dk2>
        <a:srgbClr val="40536B"/>
      </a:dk2>
      <a:lt2>
        <a:srgbClr val="FFFFFF"/>
      </a:lt2>
      <a:accent1>
        <a:srgbClr val="DCE8FF"/>
      </a:accent1>
      <a:accent2>
        <a:srgbClr val="E7DFF6"/>
      </a:accent2>
      <a:accent3>
        <a:srgbClr val="D9EEE7"/>
      </a:accent3>
      <a:accent4>
        <a:srgbClr val="3D63DD"/>
      </a:accent4>
      <a:accent5>
        <a:srgbClr val="7C5CD6"/>
      </a:accent5>
      <a:accent6>
        <a:srgbClr val="2E9E73"/>
      </a:accent6>
      <a:hlink>
        <a:srgbClr val="3D63DD"/>
      </a:hlink>
      <a:folHlink>
        <a:srgbClr val="7C5CD6"/>
      </a:folHlink>
    </a:clrScheme>
    <a:fontScheme name="DID Hack — команда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</dc:title>
  <dc:subject>PptxGenJS Presentation</dc:subject>
  <dc:creator>Команда DID Hack</dc:creator>
  <cp:lastModifiedBy>Команда DID Hack</cp:lastModifiedBy>
  <cp:revision>1</cp:revision>
  <dcterms:created xsi:type="dcterms:W3CDTF">2026-10-09T08:16:20Z</dcterms:created>
  <dcterms:modified xsi:type="dcterms:W3CDTF">2026-10-09T08:16:20Z</dcterms:modified>
</cp:coreProperties>
</file>