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embeddedFontLst>
    <p:embeddedFont>
      <p:font typeface="Inter"/>
      <p:regular r:id="rIdFontInter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FontInter" Type="http://schemas.openxmlformats.org/officeDocument/2006/relationships/font" Target="fonts/inter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Собрано образцов</c:v>
                </c:pt>
              </c:strCache>
            </c:strRef>
          </c:tx>
          <c:spPr>
            <a:solidFill>
              <a:srgbClr val="B7C0C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82B45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7C0C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7C0C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D63D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спираль</c:v>
                  </c:pt>
                  <c:pt idx="1">
                    <c:v>подъём по сигналу</c:v>
                  </c:pt>
                  <c:pt idx="2">
                    <c:v>карта вероятностей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67.5</c:v>
                </c:pt>
                <c:pt idx="1">
                  <c:v>82</c:v>
                </c:pt>
                <c:pt idx="2">
                  <c:v>99.5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50" u="none">
                  <a:solidFill>
                    <a:srgbClr val="182B45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82B45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опыта</c:v>
                </c:pt>
              </c:strCache>
            </c:strRef>
          </c:tx>
          <c:spPr>
            <a:solidFill>
              <a:srgbClr val="B7C0C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82B45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грунт стал дороже</c:v>
                  </c:pt>
                  <c:pt idx="1">
                    <c:v>утечка заряда</c:v>
                  </c:pt>
                  <c:pt idx="2">
                    <c:v>дорогие повороты</c:v>
                  </c:pt>
                  <c:pt idx="3">
                    <c:v>другая причина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</c:v>
                </c:pt>
                <c:pt idx="1">
                  <c:v>23</c:v>
                </c:pt>
                <c:pt idx="2">
                  <c:v>11</c:v>
                </c:pt>
                <c:pt idx="3">
                  <c:v>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опыта</c:v>
                </c:pt>
              </c:strCache>
            </c:strRef>
          </c:tx>
          <c:spPr>
            <a:solidFill>
              <a:srgbClr val="3D63D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82B45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грунт стал дороже</c:v>
                  </c:pt>
                  <c:pt idx="1">
                    <c:v>утечка заряда</c:v>
                  </c:pt>
                  <c:pt idx="2">
                    <c:v>дорогие повороты</c:v>
                  </c:pt>
                  <c:pt idx="3">
                    <c:v>другая причина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50" u="none">
                  <a:solidFill>
                    <a:srgbClr val="182B45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82B45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0536B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10 с. Мы сделали робота, который ищет скрытые образцы, сам замечает, что среда изменилась, и возвращается на базу до разрядки.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30 с. Слева — как арена устроена на самом деле: семь образцов, участки дорогого грунта, опасная зона. Справа — всё, что знает робот: стены по лидару и одно число датчика близости. По одному числу можно сказать только, что образец где-то на кольце. Заряда хватает примерно на 24 метра, а среда по ходу прогона меняется без объявления.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30 с. Гипотеза одна и проверяемая: робот, который по ходу прогона сверяет ожидания с данными и перестраивает поиск, наберёт больше очков, чем робот с планом, составленным заранее. Проверяем на одних и тех же сорока сценариях, смотрим разность счёта. Опровержение — если интервал разности целиком ниже нуля; если он включает ноль, выигрыш не показан. Итог в быстром симуляторе: плюс тринадцать очков, интервал от семи до девятнадцати.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35 с. Сверху стенд: генератор сценариев, судья и симулятор — Gazebo с TurtleBot3 или быстрый симулятор с тем же интерфейсом. Агент видит только каналы ROS 2 из условия задачи. Внутри агента — картина мира, научный цикл, планировщик и исполнитель; планировщик может спросить языковую модель с сервера МАИ, скоростями она не управляет. Каждый прогон записывается: запись открывается в лаборатории и идёт в серии опытов, из которых получаются числа с интервалами.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20 с. Робот и симуляция — стандартные: ROS 2 Jazzy, Gazebo Harmonic, TurtleBot3 и SLAM Toolbox. Свой код — на Python с NumPy и SciPy; для серий опытов мы написали быстрый симулятор с тем же судьёй. Языковые модели робота — с сервера МАИ. Разрабатывали с ИИ-агентами: Claude пишет код, GPT независимо проверяет, Gemini читает литературу.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40 с. Датчик образцов сообщает одно число. По нему известно расстояние, но не направление: образец где-то на кольце вокруг робота. Робот делит арену на клетки и для каждой хранит вероятность, что образец там. Каждое новое показание — ещё одно кольцо: вероятность клетки умножается на то, насколько показание с ней согласуется. Где кольца сходятся, вероятность растёт. После трёх показаний остаётся одно место — это и есть цель.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35 с. Перед каждым движением робот считает три вещи. Первое — цель: это максимум карты вероятностей. Простой подъём по сигналу — градиентный подъём, когда робот шагает туда, где показание растёт, — собирает заметно меньше: он теряется, когда образцов несколько. Второе — путь: алгоритм Дейкстры по сетке, где шаг по дорогому грунту стоит дороже, поэтому робот выбирает не самый короткий, а самый дешёвый по заряду путь. Третье — запас: к цели он едет, только если заряда хватит и туда, и домой.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45 с. Это запись прогона в Gazebo. За первые полминуты робот собирает три образца. На тридцать первой секунде судья делает грунт дороже — робот замечает перерасход и ставит опыт. На сорок второй шумит датчик — робот делает вывод «сбой» и ждёт тридцать шесть секунд, потому что стоять дешевле, чем ехать вслепую. Потом собирает ещё четыре образца и возвращается: семь из семи, без штрафов.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25 с. Один и тот же сценарий. Слева робот едет по маршруту, составленному до старта, и берёт только то, что оказалось по пути: четыре образца из семи. Справа — наш робот: он едет туда, где образец вероятнее, и собирает шесть. В среднем по сорока сценариям разница — тринадцать очков.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30 с. Это научный цикл внутри робота. Когда измерение расходится с прогнозом — например, заряд уходит быстрее, чем должен, — робот не гадает. Он выдвигает несколько объяснений с вероятностями и выбирает опыт, который различит их дешевле всего: например, постоять две секунды. По результату вероятности пересчитываются, и робот действует: вносит участок в карту стоимости и меняет запас на возврат. Справа пример из прогона: до опыта объяснений четыре, после — одно.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35 с. Всё это робот записывает в журнал гипотез: что предположил, как проверил и чем кончилось. Это строки из настоящего прогона в Gazebo. Гипотеза «образец здесь» — подъехал, собрал, подтверждена. Расход вырос — три объяснения, опыт «постоять две секунды», вывод: грунт стал дороже. Одна гипотеза осталась открытой, и журнал это показывает. Журнал мы сверили со скрытой правдой: девять из десяти гипотез, которые робот счёл подтверждёнными, действительно верны.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35 с. Языковая модель нужна там, где задание дано словами и заранее его не предусмотришь. Задание составное: собери ровно два образца, не заезжая в правую половину арены, и сразу возвращайся. Слева робот с обычным правилом: текста он не читает, собирает всё подряд и едет через запретную половину. Справа подцели выбирает языковая модель: два образца в разрешённой половине — и домой. Каждое такое условие по отдельности можно запрограммировать, но здесь мы ничего не программировали: поменяли фразу — поменялось поведение. Модель выполняет это задание в 11 прогонах из 12, правило — ни разу.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30 с. У робота три разные памяти. Первая — карта мира внутри прогона: где вероятны образцы, где дорогой грунт, где опасные зоны. Она живёт один прогон. Вторая — законы среды: числа вроде цены метра и длительности сбоя. Они годятся для любой карты, но выигрыша от них мы не показали. Третья — память о лаборатории: места, где робот получил штраф и где пол дорогой. Она годится только для той же арены — и она дала прибавку. Мест образцов и скрытой правды судьи в файле 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30 с. Сводим всё на одну шкалу. Главное подтвердилось: робот с адаптацией против плана заранее — плюс тринадцать. Пережидание сбоя датчика, контроль его исправности, запас на возврат по оценке пути и память о лаборатории между прогонами — тоже в плюсе. А учёт дорогого грунта и реакция на его смену выигрыша не показали: интервалы включают ноль, и мы это говорим прямо. В Gazebo показной сценарий пройден шесть раз из шести засчитанных.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25 с. Дополнительно робот умеет работать без готовой карты: он строит её сам через SLAM Toolbox и по ней же выполняет миссию. Карта совпадает с готовой на девяносто шесть — девяносто девять процентов клеток, все девять столбов на месте, а начало координат совпадает с мировым с точностью около пяти сантиметров. Пять прогонов в Gazebo, столкновений 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35 с. Ещё одно дополнение — два робота: у каждого своя батарея и свой датчик. Общей памяти у них нет, всё идёт сообщениями через один канал ROS 2. Раз в секунду робот передаёт свои показания датчика — напарник вносит их в свою карту вероятностей, как собственные. Перед выездом робот заявляет цель — второй туда не едет, а если выбрали одну и ту же, уступает тот, кому дороже ехать. О сборе и об опасной зоне тоже сообщают, и арену они делят пополам. Против такой же пары без связи прогон короче на двадцать шесть секунд, заряда уходит на четверть меньше, и на базу возвращаются оба во всех восьмидесяти прогонах.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30 с. С агентами мы работали как в лаборатории. Человек задаёт цель, роли и ограничения. Ведущий агент ведёт план и сводит код. Исследователи читают литературу, инженеры пишут код и ставят опыты, а независимая модель проверяет каждую работу. Почти все работы — двадцать одну из двадцати двух — ревью вернуло на доработку, и в этом смысл: качество держится на процессе, а не на вере в один ответ модели.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25 с. Это журнал разработки. Каждая строка — одно исследование, каждый значок — один шаг: обзор исследователя, работа инженера или ревью; зелёная точка — работа принята. Видно, что почти каждую работу ревью возвращало на доработку, и что не всё кончилось выигрышем: отрицательные результаты записаны как результаты. Все логи лежат в репозитории: план, правила, отчёты и история правок.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25 с. Из этой работы выросли три скилла. Три вещи повторялись десятки раз: исследование по источникам, постановка опыта и независимое ревью. Мы оформили их в три скилла. Скилл — это инструкция, которую агент подгружает сам, когда видит подходящую задачу. Теперь новая сессия агента работает по тем же правилам без пересказа: человек пишет одно поручение, а не страницу требований.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15 с. Команда — три человека. Сделаны все уровни задания и дополнительные треки: журнал гипотез, своя карта, два робота, работа с ИИ-агентами и скиллы. Дальше покажем робота вживую.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67512" y="365760"/>
            <a:ext cx="7808976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8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endParaRPr lang="en-US" sz="228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67512" y="868680"/>
            <a:ext cx="7808976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endParaRPr lang="en-US" sz="1150" dirty="0"/>
          </a:p>
        </p:txBody>
      </p:sp>
      <p:sp>
        <p:nvSpPr>
          <p:cNvPr id="4" name="Text 0"/>
          <p:cNvSpPr/>
          <p:nvPr/>
        </p:nvSpPr>
        <p:spPr>
          <a:xfrm>
            <a:off x="667512" y="47731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DID Hack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19288" y="4773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19288" y="4773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1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1.png"/><Relationship Id="rId5" Type="http://schemas.openxmlformats.org/officeDocument/2006/relationships/image" Target="../media/image-18-3.png"/><Relationship Id="rId6" Type="http://schemas.openxmlformats.org/officeDocument/2006/relationships/image" Target="../media/image-18-2.png"/><Relationship Id="rId7" Type="http://schemas.openxmlformats.org/officeDocument/2006/relationships/image" Target="../media/image-18-3.png"/><Relationship Id="rId8" Type="http://schemas.openxmlformats.org/officeDocument/2006/relationships/image" Target="../media/image-18-2.png"/><Relationship Id="rId9" Type="http://schemas.openxmlformats.org/officeDocument/2006/relationships/image" Target="../media/image-18-3.png"/><Relationship Id="rId10" Type="http://schemas.openxmlformats.org/officeDocument/2006/relationships/image" Target="../media/image-18-2.png"/><Relationship Id="rId11" Type="http://schemas.openxmlformats.org/officeDocument/2006/relationships/image" Target="../media/image-18-3.png"/><Relationship Id="rId12" Type="http://schemas.openxmlformats.org/officeDocument/2006/relationships/image" Target="../media/image-18-2.png"/><Relationship Id="rId13" Type="http://schemas.openxmlformats.org/officeDocument/2006/relationships/image" Target="../media/image-18-1.png"/><Relationship Id="rId14" Type="http://schemas.openxmlformats.org/officeDocument/2006/relationships/image" Target="../media/image-18-1.png"/><Relationship Id="rId15" Type="http://schemas.openxmlformats.org/officeDocument/2006/relationships/image" Target="../media/image-18-1.png"/><Relationship Id="rId16" Type="http://schemas.openxmlformats.org/officeDocument/2006/relationships/image" Target="../media/image-18-1.png"/><Relationship Id="rId17" Type="http://schemas.openxmlformats.org/officeDocument/2006/relationships/image" Target="../media/image-18-2.png"/><Relationship Id="rId18" Type="http://schemas.openxmlformats.org/officeDocument/2006/relationships/image" Target="../media/image-18-1.png"/><Relationship Id="rId19" Type="http://schemas.openxmlformats.org/officeDocument/2006/relationships/image" Target="../media/image-18-2.png"/><Relationship Id="rId20" Type="http://schemas.openxmlformats.org/officeDocument/2006/relationships/image" Target="../media/image-18-3.png"/><Relationship Id="rId21" Type="http://schemas.openxmlformats.org/officeDocument/2006/relationships/image" Target="../media/image-18-2.png"/><Relationship Id="rId22" Type="http://schemas.openxmlformats.org/officeDocument/2006/relationships/image" Target="../media/image-18-2.png"/><Relationship Id="rId23" Type="http://schemas.openxmlformats.org/officeDocument/2006/relationships/image" Target="../media/image-18-3.png"/><Relationship Id="rId24" Type="http://schemas.openxmlformats.org/officeDocument/2006/relationships/image" Target="../media/image-18-2.png"/><Relationship Id="rId25" Type="http://schemas.openxmlformats.org/officeDocument/2006/relationships/image" Target="../media/image-18-2.png"/><Relationship Id="rId26" Type="http://schemas.openxmlformats.org/officeDocument/2006/relationships/image" Target="../media/image-18-3.png"/><Relationship Id="rId27" Type="http://schemas.openxmlformats.org/officeDocument/2006/relationships/image" Target="../media/image-18-2.png"/><Relationship Id="rId28" Type="http://schemas.openxmlformats.org/officeDocument/2006/relationships/image" Target="../media/image-18-3.png"/><Relationship Id="rId29" Type="http://schemas.openxmlformats.org/officeDocument/2006/relationships/image" Target="../media/image-18-2.png"/><Relationship Id="rId30" Type="http://schemas.openxmlformats.org/officeDocument/2006/relationships/image" Target="../media/image-18-2.png"/><Relationship Id="rId31" Type="http://schemas.openxmlformats.org/officeDocument/2006/relationships/image" Target="../media/image-18-3.png"/><Relationship Id="rId32" Type="http://schemas.openxmlformats.org/officeDocument/2006/relationships/image" Target="../media/image-18-2.png"/><Relationship Id="rId33" Type="http://schemas.openxmlformats.org/officeDocument/2006/relationships/image" Target="../media/image-18-3.png"/><Relationship Id="rId34" Type="http://schemas.openxmlformats.org/officeDocument/2006/relationships/image" Target="../media/image-18-2.png"/><Relationship Id="rId35" Type="http://schemas.openxmlformats.org/officeDocument/2006/relationships/image" Target="../media/image-18-3.png"/><Relationship Id="rId36" Type="http://schemas.openxmlformats.org/officeDocument/2006/relationships/image" Target="../media/image-18-2.png"/><Relationship Id="rId37" Type="http://schemas.openxmlformats.org/officeDocument/2006/relationships/image" Target="../media/image-18-3.png"/><Relationship Id="rId38" Type="http://schemas.openxmlformats.org/officeDocument/2006/relationships/image" Target="../media/image-18-2.png"/><Relationship Id="rId39" Type="http://schemas.openxmlformats.org/officeDocument/2006/relationships/image" Target="../media/image-18-2.png"/><Relationship Id="rId40" Type="http://schemas.openxmlformats.org/officeDocument/2006/relationships/image" Target="../media/image-18-3.png"/><Relationship Id="rId41" Type="http://schemas.openxmlformats.org/officeDocument/2006/relationships/image" Target="../media/image-18-2.png"/><Relationship Id="rId42" Type="http://schemas.openxmlformats.org/officeDocument/2006/relationships/image" Target="../media/image-18-3.png"/><Relationship Id="rId43" Type="http://schemas.openxmlformats.org/officeDocument/2006/relationships/image" Target="../media/image-18-2.png"/><Relationship Id="rId44" Type="http://schemas.openxmlformats.org/officeDocument/2006/relationships/image" Target="../media/image-18-3.png"/><Relationship Id="rId45" Type="http://schemas.openxmlformats.org/officeDocument/2006/relationships/image" Target="../media/image-18-2.png"/><Relationship Id="rId46" Type="http://schemas.openxmlformats.org/officeDocument/2006/relationships/image" Target="../media/image-18-3.png"/><Relationship Id="rId47" Type="http://schemas.openxmlformats.org/officeDocument/2006/relationships/image" Target="../media/image-18-2.png"/><Relationship Id="rId48" Type="http://schemas.openxmlformats.org/officeDocument/2006/relationships/image" Target="../media/image-18-3.png"/><Relationship Id="rId49" Type="http://schemas.openxmlformats.org/officeDocument/2006/relationships/image" Target="../media/image-18-2.png"/><Relationship Id="rId50" Type="http://schemas.openxmlformats.org/officeDocument/2006/relationships/image" Target="../media/image-18-2.png"/><Relationship Id="rId51" Type="http://schemas.openxmlformats.org/officeDocument/2006/relationships/image" Target="../media/image-18-3.png"/><Relationship Id="rId52" Type="http://schemas.openxmlformats.org/officeDocument/2006/relationships/image" Target="../media/image-18-2.png"/><Relationship Id="rId53" Type="http://schemas.openxmlformats.org/officeDocument/2006/relationships/image" Target="../media/image-18-2.png"/><Relationship Id="rId54" Type="http://schemas.openxmlformats.org/officeDocument/2006/relationships/image" Target="../media/image-18-3.png"/><Relationship Id="rId55" Type="http://schemas.openxmlformats.org/officeDocument/2006/relationships/image" Target="../media/image-18-2.png"/><Relationship Id="rId56" Type="http://schemas.openxmlformats.org/officeDocument/2006/relationships/image" Target="../media/image-18-2.png"/><Relationship Id="rId57" Type="http://schemas.openxmlformats.org/officeDocument/2006/relationships/image" Target="../media/image-18-3.png"/><Relationship Id="rId58" Type="http://schemas.openxmlformats.org/officeDocument/2006/relationships/image" Target="../media/image-18-2.png"/><Relationship Id="rId59" Type="http://schemas.openxmlformats.org/officeDocument/2006/relationships/image" Target="../media/image-18-3.png"/><Relationship Id="rId60" Type="http://schemas.openxmlformats.org/officeDocument/2006/relationships/image" Target="../media/image-18-2.png"/><Relationship Id="rId61" Type="http://schemas.openxmlformats.org/officeDocument/2006/relationships/image" Target="../media/image-18-2.png"/><Relationship Id="rId62" Type="http://schemas.openxmlformats.org/officeDocument/2006/relationships/image" Target="../media/image-18-3.png"/><Relationship Id="rId63" Type="http://schemas.openxmlformats.org/officeDocument/2006/relationships/image" Target="../media/image-18-2.png"/><Relationship Id="rId64" Type="http://schemas.openxmlformats.org/officeDocument/2006/relationships/image" Target="../media/image-18-3.png"/><Relationship Id="rId65" Type="http://schemas.openxmlformats.org/officeDocument/2006/relationships/image" Target="../media/image-18-2.png"/><Relationship Id="rId66" Type="http://schemas.openxmlformats.org/officeDocument/2006/relationships/image" Target="../media/image-18-1.png"/><Relationship Id="rId67" Type="http://schemas.openxmlformats.org/officeDocument/2006/relationships/image" Target="../media/image-18-2.png"/><Relationship Id="rId68" Type="http://schemas.openxmlformats.org/officeDocument/2006/relationships/image" Target="../media/image-18-3.png"/><Relationship Id="rId69" Type="http://schemas.openxmlformats.org/officeDocument/2006/relationships/image" Target="../media/image-18-2.png"/><Relationship Id="rId70" Type="http://schemas.openxmlformats.org/officeDocument/2006/relationships/image" Target="../media/image-18-3.png"/><Relationship Id="rId71" Type="http://schemas.openxmlformats.org/officeDocument/2006/relationships/image" Target="../media/image-18-2.png"/><Relationship Id="rId72" Type="http://schemas.openxmlformats.org/officeDocument/2006/relationships/image" Target="../media/image-18-3.png"/><Relationship Id="rId73" Type="http://schemas.openxmlformats.org/officeDocument/2006/relationships/slideLayout" Target="../slideLayouts/slideLayout3.xml"/><Relationship Id="rId7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-lavender"/>
          <p:cNvSpPr/>
          <p:nvPr/>
        </p:nvSpPr>
        <p:spPr>
          <a:xfrm>
            <a:off x="5230368" y="3657600"/>
            <a:ext cx="1097280" cy="10972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circle-mint"/>
          <p:cNvSpPr/>
          <p:nvPr/>
        </p:nvSpPr>
        <p:spPr>
          <a:xfrm>
            <a:off x="7973568" y="45720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" name="circle-blue"/>
          <p:cNvSpPr/>
          <p:nvPr/>
        </p:nvSpPr>
        <p:spPr>
          <a:xfrm>
            <a:off x="5669280" y="1005840"/>
            <a:ext cx="3017520" cy="3017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title-map" descr="Карта арены с путём робота: семь образцов собраны, робот вернулся на базу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68" y="1527048"/>
            <a:ext cx="2066544" cy="1903984"/>
          </a:xfrm>
          <a:prstGeom prst="rect">
            <a:avLst/>
          </a:prstGeom>
        </p:spPr>
      </p:pic>
      <p:sp>
        <p:nvSpPr>
          <p:cNvPr id="6" name="title"/>
          <p:cNvSpPr txBox="1"/>
          <p:nvPr/>
        </p:nvSpPr>
        <p:spPr>
          <a:xfrm>
            <a:off x="822960" y="10515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Автономный ИИ-исследователь</a:t>
            </a:r>
            <a:endParaRPr lang="en-US" sz="3400" dirty="0"/>
          </a:p>
        </p:txBody>
      </p:sp>
      <p:sp>
        <p:nvSpPr>
          <p:cNvPr id="7" name="subtitle"/>
          <p:cNvSpPr txBox="1"/>
          <p:nvPr/>
        </p:nvSpPr>
        <p:spPr>
          <a:xfrm>
            <a:off x="822960" y="24871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C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Поиск образцов и исследование среды с ограниченным запасом энергии</a:t>
            </a:r>
            <a:endParaRPr lang="en-US" sz="1400" dirty="0"/>
          </a:p>
        </p:txBody>
      </p:sp>
      <p:sp>
        <p:nvSpPr>
          <p:cNvPr id="8" name="team"/>
          <p:cNvSpPr txBox="1"/>
          <p:nvPr/>
        </p:nvSpPr>
        <p:spPr>
          <a:xfrm>
            <a:off x="822960" y="40416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C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Ефремова Анастасия · Путиловский Михаил · Журавлева Полина</a:t>
            </a:r>
            <a:endParaRPr lang="en-US" sz="1050" dirty="0"/>
          </a:p>
        </p:txBody>
      </p:sp>
      <p:sp>
        <p:nvSpPr>
          <p:cNvPr id="9" name="event"/>
          <p:cNvSpPr txBox="1"/>
          <p:nvPr/>
        </p:nvSpPr>
        <p:spPr>
          <a:xfrm>
            <a:off x="822960" y="43708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C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DID Hack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67512" y="365760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8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Задача: найти скрытое и успеть вернуться</a:t>
            </a:r>
            <a:endParaRPr lang="en-US" sz="228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67512" y="868680"/>
            <a:ext cx="7808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Скрытые образцы, неизвестные затраты и ограниченный запас энергии</a:t>
            </a:r>
            <a:endParaRPr lang="en-US" sz="1150" dirty="0"/>
          </a:p>
        </p:txBody>
      </p:sp>
      <p:pic>
        <p:nvPicPr>
          <p:cNvPr id="5" name="truth_vs_robot" descr="Две карты арены: слева скрытая правда с образцами, грунтами и опасной зоной, справа то, что видит робот, — стены и кольцо возможных мест образц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280160"/>
            <a:ext cx="4526280" cy="2057651"/>
          </a:xfrm>
          <a:prstGeom prst="rect">
            <a:avLst/>
          </a:prstGeom>
        </p:spPr>
      </p:pic>
      <p:sp>
        <p:nvSpPr>
          <p:cNvPr id="6" name="cap-truth"/>
          <p:cNvSpPr txBox="1"/>
          <p:nvPr/>
        </p:nvSpPr>
        <p:spPr>
          <a:xfrm>
            <a:off x="667512" y="3392675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на самом деле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образцов, дорогой грунт (×2…×4), опасная зона</a:t>
            </a:r>
            <a:endParaRPr lang="en-US" sz="1100" dirty="0"/>
          </a:p>
        </p:txBody>
      </p:sp>
      <p:sp>
        <p:nvSpPr>
          <p:cNvPr id="7" name="cap-robot"/>
          <p:cNvSpPr txBox="1"/>
          <p:nvPr/>
        </p:nvSpPr>
        <p:spPr>
          <a:xfrm>
            <a:off x="2953512" y="3392675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видит робот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стены по лидару и одно число: z = 0,53 — образец на кольце радиусом 0,95 м</a:t>
            </a:r>
            <a:endParaRPr lang="en-US" sz="1100" dirty="0"/>
          </a:p>
        </p:txBody>
      </p:sp>
      <p:sp>
        <p:nvSpPr>
          <p:cNvPr id="8" name="task-1-pill"/>
          <p:cNvSpPr/>
          <p:nvPr/>
        </p:nvSpPr>
        <p:spPr>
          <a:xfrm>
            <a:off x="5669280" y="1298448"/>
            <a:ext cx="2807208" cy="65836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9" name="task-1-text"/>
          <p:cNvSpPr txBox="1"/>
          <p:nvPr/>
        </p:nvSpPr>
        <p:spPr>
          <a:xfrm>
            <a:off x="5897880" y="1380744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Найти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сигнал близости без координат и направления</a:t>
            </a:r>
            <a:endParaRPr lang="en-US" sz="1100" dirty="0"/>
          </a:p>
        </p:txBody>
      </p:sp>
      <p:sp>
        <p:nvSpPr>
          <p:cNvPr id="10" name="task-2-pill"/>
          <p:cNvSpPr/>
          <p:nvPr/>
        </p:nvSpPr>
        <p:spPr>
          <a:xfrm>
            <a:off x="5669280" y="2066544"/>
            <a:ext cx="2807208" cy="6583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1" name="task-2-text"/>
          <p:cNvSpPr txBox="1"/>
          <p:nvPr/>
        </p:nvSpPr>
        <p:spPr>
          <a:xfrm>
            <a:off x="5897880" y="2148840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Изучить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расход на разных грунтах и опасные зоны</a:t>
            </a:r>
            <a:endParaRPr lang="en-US" sz="1100" dirty="0"/>
          </a:p>
        </p:txBody>
      </p:sp>
      <p:sp>
        <p:nvSpPr>
          <p:cNvPr id="12" name="task-3-pill"/>
          <p:cNvSpPr/>
          <p:nvPr/>
        </p:nvSpPr>
        <p:spPr>
          <a:xfrm>
            <a:off x="5669280" y="2834640"/>
            <a:ext cx="2807208" cy="65836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3" name="task-3-text"/>
          <p:cNvSpPr txBox="1"/>
          <p:nvPr/>
        </p:nvSpPr>
        <p:spPr>
          <a:xfrm>
            <a:off x="5897880" y="2916936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Вернуться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 образцами, пока хватает заряда: 60 единиц ≈ 24 м</a:t>
            </a:r>
            <a:endParaRPr lang="en-US" sz="1100" dirty="0"/>
          </a:p>
        </p:txBody>
      </p:sp>
      <p:sp>
        <p:nvSpPr>
          <p:cNvPr id="14" name="idea-pill"/>
          <p:cNvSpPr/>
          <p:nvPr/>
        </p:nvSpPr>
        <p:spPr>
          <a:xfrm>
            <a:off x="667512" y="4005072"/>
            <a:ext cx="7808976" cy="60350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5" name="idea-text"/>
          <p:cNvSpPr txBox="1"/>
          <p:nvPr/>
        </p:nvSpPr>
        <p:spPr>
          <a:xfrm>
            <a:off x="941832" y="4059936"/>
            <a:ext cx="72603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Наша идея — действовать по проверяемой модели среды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Наблюдение → гипотеза → короткая проверка → новая оценка → новый маршрут. Среда меняется без объявления — робот пересматривает прежние знания.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19288" y="4773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67512" y="365760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8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Исследовательская гипотеза</a:t>
            </a:r>
            <a:endParaRPr lang="en-US" sz="228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67512" y="868680"/>
            <a:ext cx="7808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утверждаем, как проверяем и что считаем опровержением</a:t>
            </a:r>
            <a:endParaRPr lang="en-US" sz="1150" dirty="0"/>
          </a:p>
        </p:txBody>
      </p:sp>
      <p:sp>
        <p:nvSpPr>
          <p:cNvPr id="5" name="hyp-card"/>
          <p:cNvSpPr/>
          <p:nvPr/>
        </p:nvSpPr>
        <p:spPr>
          <a:xfrm>
            <a:off x="667512" y="1280160"/>
            <a:ext cx="7808976" cy="1024128"/>
          </a:xfrm>
          <a:prstGeom prst="roundRect">
            <a:avLst>
              <a:gd name="adj" fmla="val 26786"/>
            </a:avLst>
          </a:prstGeom>
          <a:solidFill>
            <a:schemeClr val="accent1"/>
          </a:solidFill>
          <a:ln/>
        </p:spPr>
      </p:sp>
      <p:sp>
        <p:nvSpPr>
          <p:cNvPr id="6" name="hyp-text"/>
          <p:cNvSpPr txBox="1"/>
          <p:nvPr/>
        </p:nvSpPr>
        <p:spPr>
          <a:xfrm>
            <a:off x="960120" y="1344168"/>
            <a:ext cx="7223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Робот, который по ходу прогона сверяет свои ожидания с показаниями датчика и расходом батареи и по расхождению меняет поиск и запас на возврат, наберёт больше очков, чем робот с планом, составленным заранее.</a:t>
            </a:r>
            <a:endParaRPr lang="en-US" sz="1350" dirty="0"/>
          </a:p>
        </p:txBody>
      </p:sp>
      <p:sp>
        <p:nvSpPr>
          <p:cNvPr id="7" name="check-1-dot"/>
          <p:cNvSpPr/>
          <p:nvPr/>
        </p:nvSpPr>
        <p:spPr>
          <a:xfrm>
            <a:off x="667512" y="254203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check-1-head"/>
          <p:cNvSpPr txBox="1"/>
          <p:nvPr/>
        </p:nvSpPr>
        <p:spPr>
          <a:xfrm>
            <a:off x="1088136" y="2560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проверяем</a:t>
            </a:r>
            <a:endParaRPr lang="en-US" sz="1250" dirty="0"/>
          </a:p>
        </p:txBody>
      </p:sp>
      <p:sp>
        <p:nvSpPr>
          <p:cNvPr id="9" name="check-1-body"/>
          <p:cNvSpPr txBox="1"/>
          <p:nvPr/>
        </p:nvSpPr>
        <p:spPr>
          <a:xfrm>
            <a:off x="667512" y="2953512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Два робота на одних и тех же 40 сценариях трудного уровня: «план заранее» и «с адаптацией». Разность счёта — на каждом сценарии.</a:t>
            </a:r>
            <a:endParaRPr lang="en-US" sz="1050" dirty="0"/>
          </a:p>
        </p:txBody>
      </p:sp>
      <p:sp>
        <p:nvSpPr>
          <p:cNvPr id="10" name="check-2-dot"/>
          <p:cNvSpPr/>
          <p:nvPr/>
        </p:nvSpPr>
        <p:spPr>
          <a:xfrm>
            <a:off x="3319272" y="2542032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check-2-head"/>
          <p:cNvSpPr txBox="1"/>
          <p:nvPr/>
        </p:nvSpPr>
        <p:spPr>
          <a:xfrm>
            <a:off x="3739896" y="2560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измеряем</a:t>
            </a:r>
            <a:endParaRPr lang="en-US" sz="1250" dirty="0"/>
          </a:p>
        </p:txBody>
      </p:sp>
      <p:sp>
        <p:nvSpPr>
          <p:cNvPr id="12" name="check-2-body"/>
          <p:cNvSpPr txBox="1"/>
          <p:nvPr/>
        </p:nvSpPr>
        <p:spPr>
          <a:xfrm>
            <a:off x="3319272" y="2953512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Счёт судьи — главная метрика. Рядом: собранные образцы, возврат на базу, расход батареи.</a:t>
            </a:r>
            <a:endParaRPr lang="en-US" sz="1050" dirty="0"/>
          </a:p>
        </p:txBody>
      </p:sp>
      <p:sp>
        <p:nvSpPr>
          <p:cNvPr id="13" name="check-3-dot"/>
          <p:cNvSpPr/>
          <p:nvPr/>
        </p:nvSpPr>
        <p:spPr>
          <a:xfrm>
            <a:off x="5971032" y="2542032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check-3-head"/>
          <p:cNvSpPr txBox="1"/>
          <p:nvPr/>
        </p:nvSpPr>
        <p:spPr>
          <a:xfrm>
            <a:off x="6391656" y="2560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её опровергнет</a:t>
            </a:r>
            <a:endParaRPr lang="en-US" sz="1250" dirty="0"/>
          </a:p>
        </p:txBody>
      </p:sp>
      <p:sp>
        <p:nvSpPr>
          <p:cNvPr id="15" name="check-3-body"/>
          <p:cNvSpPr txBox="1"/>
          <p:nvPr/>
        </p:nvSpPr>
        <p:spPr>
          <a:xfrm>
            <a:off x="5971032" y="2953512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95% интервал разности целиком ниже нуля. Если он включает ноль — выигрыш не показан.</a:t>
            </a:r>
            <a:endParaRPr lang="en-US" sz="1050" dirty="0"/>
          </a:p>
        </p:txBody>
      </p:sp>
      <p:sp>
        <p:nvSpPr>
          <p:cNvPr id="16" name="result-card"/>
          <p:cNvSpPr/>
          <p:nvPr/>
        </p:nvSpPr>
        <p:spPr>
          <a:xfrm>
            <a:off x="667512" y="3886200"/>
            <a:ext cx="7808976" cy="713232"/>
          </a:xfrm>
          <a:prstGeom prst="roundRect">
            <a:avLst>
              <a:gd name="adj" fmla="val 38462"/>
            </a:avLst>
          </a:prstGeom>
          <a:solidFill>
            <a:schemeClr val="bg2"/>
          </a:solidFill>
          <a:ln/>
        </p:spPr>
      </p:sp>
      <p:sp>
        <p:nvSpPr>
          <p:cNvPr id="17" name="result-text"/>
          <p:cNvSpPr txBox="1"/>
          <p:nvPr/>
        </p:nvSpPr>
        <p:spPr>
          <a:xfrm>
            <a:off x="960120" y="393192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Итог: </a:t>
            </a:r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+13,3 очка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[7,4; 19,0] — подтвердилась</a:t>
            </a:r>
            <a:endParaRPr lang="en-US" sz="1300" dirty="0"/>
          </a:p>
        </p:txBody>
      </p:sp>
      <p:sp>
        <p:nvSpPr>
          <p:cNvPr id="18" name="result-note"/>
          <p:cNvSpPr txBox="1"/>
          <p:nvPr/>
        </p:nvSpPr>
        <p:spPr>
          <a:xfrm>
            <a:off x="960120" y="426110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быстрый симулятор; выше в 29 из 40 сценариев</a:t>
            </a:r>
            <a:endParaRPr lang="en-US" sz="1000" dirty="0"/>
          </a:p>
        </p:txBody>
      </p:sp>
      <p:sp>
        <p:nvSpPr>
          <p:cNvPr id="19" name="hyp-axis-zero"/>
          <p:cNvSpPr/>
          <p:nvPr/>
        </p:nvSpPr>
        <p:spPr>
          <a:xfrm>
            <a:off x="5810596" y="3986784"/>
            <a:ext cx="0" cy="36576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20" name="hyp-axis-tick-0"/>
          <p:cNvSpPr txBox="1"/>
          <p:nvPr/>
        </p:nvSpPr>
        <p:spPr>
          <a:xfrm>
            <a:off x="5536276" y="437997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900" dirty="0"/>
          </a:p>
        </p:txBody>
      </p:sp>
      <p:sp>
        <p:nvSpPr>
          <p:cNvPr id="21" name="hyp-axis-tick-10"/>
          <p:cNvSpPr txBox="1"/>
          <p:nvPr/>
        </p:nvSpPr>
        <p:spPr>
          <a:xfrm>
            <a:off x="6700058" y="437997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</a:t>
            </a:r>
            <a:endParaRPr lang="en-US" sz="900" dirty="0"/>
          </a:p>
        </p:txBody>
      </p:sp>
      <p:sp>
        <p:nvSpPr>
          <p:cNvPr id="22" name="hyp-axis-tick-20"/>
          <p:cNvSpPr txBox="1"/>
          <p:nvPr/>
        </p:nvSpPr>
        <p:spPr>
          <a:xfrm>
            <a:off x="7863840" y="437997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+20</a:t>
            </a:r>
            <a:endParaRPr lang="en-US" sz="900" dirty="0"/>
          </a:p>
        </p:txBody>
      </p:sp>
      <p:sp>
        <p:nvSpPr>
          <p:cNvPr id="23" name="hyp-e1-ci"/>
          <p:cNvSpPr/>
          <p:nvPr/>
        </p:nvSpPr>
        <p:spPr>
          <a:xfrm>
            <a:off x="6671795" y="4169664"/>
            <a:ext cx="1349987" cy="0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</a:ln>
        </p:spPr>
      </p:sp>
      <p:sp>
        <p:nvSpPr>
          <p:cNvPr id="24" name="hyp-e1-dot"/>
          <p:cNvSpPr/>
          <p:nvPr/>
        </p:nvSpPr>
        <p:spPr>
          <a:xfrm>
            <a:off x="7298990" y="4110228"/>
            <a:ext cx="118872" cy="118872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19288" y="4773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67512" y="365760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8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Архитектура: как всё связано</a:t>
            </a:r>
            <a:endParaRPr lang="en-US" sz="228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67512" y="868680"/>
            <a:ext cx="7808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Один агент и один судья на двух симуляторах; каждый прогон записывается и идёт в показ и в опыты</a:t>
            </a:r>
            <a:endParaRPr lang="en-US" sz="1150" dirty="0"/>
          </a:p>
        </p:txBody>
      </p:sp>
      <p:sp>
        <p:nvSpPr>
          <p:cNvPr id="5" name="stand-band"/>
          <p:cNvSpPr/>
          <p:nvPr/>
        </p:nvSpPr>
        <p:spPr>
          <a:xfrm>
            <a:off x="667512" y="1225296"/>
            <a:ext cx="7808976" cy="786384"/>
          </a:xfrm>
          <a:prstGeom prst="roundRect">
            <a:avLst>
              <a:gd name="adj" fmla="val 30233"/>
            </a:avLst>
          </a:prstGeom>
          <a:solidFill>
            <a:schemeClr val="accent1"/>
          </a:solidFill>
          <a:ln/>
        </p:spPr>
      </p:sp>
      <p:sp>
        <p:nvSpPr>
          <p:cNvPr id="6" name="stand-label"/>
          <p:cNvSpPr txBox="1"/>
          <p:nvPr/>
        </p:nvSpPr>
        <p:spPr>
          <a:xfrm>
            <a:off x="868680" y="1225296"/>
            <a:ext cx="731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Стенд</a:t>
            </a:r>
            <a:endParaRPr lang="en-US" sz="1250" dirty="0"/>
          </a:p>
        </p:txBody>
      </p:sp>
      <p:sp>
        <p:nvSpPr>
          <p:cNvPr id="7" name="stand-1-pill"/>
          <p:cNvSpPr/>
          <p:nvPr/>
        </p:nvSpPr>
        <p:spPr>
          <a:xfrm>
            <a:off x="1600200" y="1316736"/>
            <a:ext cx="1627632" cy="603504"/>
          </a:xfrm>
          <a:prstGeom prst="roundRect">
            <a:avLst>
              <a:gd name="adj" fmla="val 27273"/>
            </a:avLst>
          </a:prstGeom>
          <a:solidFill>
            <a:schemeClr val="bg2"/>
          </a:solidFill>
          <a:ln/>
        </p:spPr>
      </p:sp>
      <p:sp>
        <p:nvSpPr>
          <p:cNvPr id="8" name="stand-1-text"/>
          <p:cNvSpPr txBox="1"/>
          <p:nvPr/>
        </p:nvSpPr>
        <p:spPr>
          <a:xfrm>
            <a:off x="1709928" y="1316736"/>
            <a:ext cx="1444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Генератор сценариев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образцы, грунты, зоны, события</a:t>
            </a:r>
            <a:endParaRPr lang="en-US" sz="1100" dirty="0"/>
          </a:p>
        </p:txBody>
      </p:sp>
      <p:sp>
        <p:nvSpPr>
          <p:cNvPr id="9" name="stand-2-pill"/>
          <p:cNvSpPr/>
          <p:nvPr/>
        </p:nvSpPr>
        <p:spPr>
          <a:xfrm>
            <a:off x="3300984" y="1316736"/>
            <a:ext cx="1627632" cy="603504"/>
          </a:xfrm>
          <a:prstGeom prst="roundRect">
            <a:avLst>
              <a:gd name="adj" fmla="val 27273"/>
            </a:avLst>
          </a:prstGeom>
          <a:solidFill>
            <a:schemeClr val="bg2"/>
          </a:solidFill>
          <a:ln/>
        </p:spPr>
      </p:sp>
      <p:sp>
        <p:nvSpPr>
          <p:cNvPr id="10" name="stand-2-text"/>
          <p:cNvSpPr txBox="1"/>
          <p:nvPr/>
        </p:nvSpPr>
        <p:spPr>
          <a:xfrm>
            <a:off x="3410712" y="1316736"/>
            <a:ext cx="1444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Судья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заряд, датчик, штрафы, счёт</a:t>
            </a:r>
            <a:endParaRPr lang="en-US" sz="1100" dirty="0"/>
          </a:p>
        </p:txBody>
      </p:sp>
      <p:sp>
        <p:nvSpPr>
          <p:cNvPr id="11" name="stand-3-pill"/>
          <p:cNvSpPr/>
          <p:nvPr/>
        </p:nvSpPr>
        <p:spPr>
          <a:xfrm>
            <a:off x="5001768" y="1316736"/>
            <a:ext cx="1627632" cy="603504"/>
          </a:xfrm>
          <a:prstGeom prst="roundRect">
            <a:avLst>
              <a:gd name="adj" fmla="val 27273"/>
            </a:avLst>
          </a:prstGeom>
          <a:solidFill>
            <a:schemeClr val="bg2"/>
          </a:solidFill>
          <a:ln/>
        </p:spPr>
      </p:sp>
      <p:sp>
        <p:nvSpPr>
          <p:cNvPr id="12" name="stand-3-text"/>
          <p:cNvSpPr txBox="1"/>
          <p:nvPr/>
        </p:nvSpPr>
        <p:spPr>
          <a:xfrm>
            <a:off x="5111496" y="1316736"/>
            <a:ext cx="1444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Gazebo + TurtleBot3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или быстрый симулятор</a:t>
            </a:r>
            <a:endParaRPr lang="en-US" sz="1100" dirty="0"/>
          </a:p>
        </p:txBody>
      </p:sp>
      <p:sp>
        <p:nvSpPr>
          <p:cNvPr id="13" name="stand-4-pill"/>
          <p:cNvSpPr/>
          <p:nvPr/>
        </p:nvSpPr>
        <p:spPr>
          <a:xfrm>
            <a:off x="6702552" y="1316736"/>
            <a:ext cx="1627632" cy="603504"/>
          </a:xfrm>
          <a:prstGeom prst="roundRect">
            <a:avLst>
              <a:gd name="adj" fmla="val 27273"/>
            </a:avLst>
          </a:prstGeom>
          <a:solidFill>
            <a:schemeClr val="bg2"/>
          </a:solidFill>
          <a:ln/>
        </p:spPr>
      </p:sp>
      <p:sp>
        <p:nvSpPr>
          <p:cNvPr id="14" name="stand-4-text"/>
          <p:cNvSpPr txBox="1"/>
          <p:nvPr/>
        </p:nvSpPr>
        <p:spPr>
          <a:xfrm>
            <a:off x="6812280" y="1316736"/>
            <a:ext cx="1444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SLAM Toolbox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своя карта арены</a:t>
            </a:r>
            <a:endParaRPr lang="en-US" sz="1100" dirty="0"/>
          </a:p>
        </p:txBody>
      </p:sp>
      <p:sp>
        <p:nvSpPr>
          <p:cNvPr id="15" name="bus-strip"/>
          <p:cNvSpPr/>
          <p:nvPr/>
        </p:nvSpPr>
        <p:spPr>
          <a:xfrm>
            <a:off x="667512" y="2103120"/>
            <a:ext cx="5504688" cy="27432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6" name="bus-text"/>
          <p:cNvSpPr txBox="1"/>
          <p:nvPr/>
        </p:nvSpPr>
        <p:spPr>
          <a:xfrm>
            <a:off x="850392" y="21031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ROS 2    </a:t>
            </a:r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 лидар, одометрия, заряд, датчик    ↑ скорости, «собрать», «финиш»</a:t>
            </a:r>
            <a:endParaRPr lang="en-US" sz="900" dirty="0"/>
          </a:p>
        </p:txBody>
      </p:sp>
      <p:sp>
        <p:nvSpPr>
          <p:cNvPr id="17" name="agent-band"/>
          <p:cNvSpPr/>
          <p:nvPr/>
        </p:nvSpPr>
        <p:spPr>
          <a:xfrm>
            <a:off x="667512" y="2450592"/>
            <a:ext cx="5504688" cy="1225296"/>
          </a:xfrm>
          <a:prstGeom prst="roundRect">
            <a:avLst>
              <a:gd name="adj" fmla="val 19403"/>
            </a:avLst>
          </a:prstGeom>
          <a:solidFill>
            <a:schemeClr val="accent3"/>
          </a:solidFill>
          <a:ln/>
        </p:spPr>
      </p:sp>
      <p:sp>
        <p:nvSpPr>
          <p:cNvPr id="18" name="agent-label"/>
          <p:cNvSpPr txBox="1"/>
          <p:nvPr/>
        </p:nvSpPr>
        <p:spPr>
          <a:xfrm>
            <a:off x="868680" y="2450592"/>
            <a:ext cx="731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Агент</a:t>
            </a:r>
            <a:endParaRPr lang="en-US" sz="1250" dirty="0"/>
          </a:p>
        </p:txBody>
      </p:sp>
      <p:sp>
        <p:nvSpPr>
          <p:cNvPr id="19" name="agent-1-pill"/>
          <p:cNvSpPr/>
          <p:nvPr/>
        </p:nvSpPr>
        <p:spPr>
          <a:xfrm>
            <a:off x="1600200" y="2532888"/>
            <a:ext cx="1444752" cy="493776"/>
          </a:xfrm>
          <a:prstGeom prst="roundRect">
            <a:avLst>
              <a:gd name="adj" fmla="val 33333"/>
            </a:avLst>
          </a:prstGeom>
          <a:solidFill>
            <a:schemeClr val="bg2"/>
          </a:solidFill>
          <a:ln/>
        </p:spPr>
      </p:sp>
      <p:sp>
        <p:nvSpPr>
          <p:cNvPr id="20" name="agent-1-text"/>
          <p:cNvSpPr txBox="1"/>
          <p:nvPr/>
        </p:nvSpPr>
        <p:spPr>
          <a:xfrm>
            <a:off x="1709928" y="2532888"/>
            <a:ext cx="1261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Картина мира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образцы, грунт, зоны, поза</a:t>
            </a:r>
            <a:endParaRPr lang="en-US" sz="1100" dirty="0"/>
          </a:p>
        </p:txBody>
      </p:sp>
      <p:sp>
        <p:nvSpPr>
          <p:cNvPr id="21" name="agent-2-pill"/>
          <p:cNvSpPr/>
          <p:nvPr/>
        </p:nvSpPr>
        <p:spPr>
          <a:xfrm>
            <a:off x="3118104" y="2532888"/>
            <a:ext cx="1444752" cy="493776"/>
          </a:xfrm>
          <a:prstGeom prst="roundRect">
            <a:avLst>
              <a:gd name="adj" fmla="val 33333"/>
            </a:avLst>
          </a:prstGeom>
          <a:solidFill>
            <a:schemeClr val="bg2"/>
          </a:solidFill>
          <a:ln/>
        </p:spPr>
      </p:sp>
      <p:sp>
        <p:nvSpPr>
          <p:cNvPr id="22" name="agent-2-text"/>
          <p:cNvSpPr txBox="1"/>
          <p:nvPr/>
        </p:nvSpPr>
        <p:spPr>
          <a:xfrm>
            <a:off x="3227832" y="2532888"/>
            <a:ext cx="1261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Научный цикл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гипотезы → опыт → вывод</a:t>
            </a:r>
            <a:endParaRPr lang="en-US" sz="1100" dirty="0"/>
          </a:p>
        </p:txBody>
      </p:sp>
      <p:sp>
        <p:nvSpPr>
          <p:cNvPr id="23" name="agent-3-pill"/>
          <p:cNvSpPr/>
          <p:nvPr/>
        </p:nvSpPr>
        <p:spPr>
          <a:xfrm>
            <a:off x="4636008" y="2532888"/>
            <a:ext cx="1444752" cy="493776"/>
          </a:xfrm>
          <a:prstGeom prst="roundRect">
            <a:avLst>
              <a:gd name="adj" fmla="val 33333"/>
            </a:avLst>
          </a:prstGeom>
          <a:solidFill>
            <a:schemeClr val="bg2"/>
          </a:solidFill>
          <a:ln/>
        </p:spPr>
      </p:sp>
      <p:sp>
        <p:nvSpPr>
          <p:cNvPr id="24" name="agent-3-text"/>
          <p:cNvSpPr txBox="1"/>
          <p:nvPr/>
        </p:nvSpPr>
        <p:spPr>
          <a:xfrm>
            <a:off x="4745736" y="2532888"/>
            <a:ext cx="1261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Планировщик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правило или LLM → подцели</a:t>
            </a:r>
            <a:endParaRPr lang="en-US" sz="1100" dirty="0"/>
          </a:p>
        </p:txBody>
      </p:sp>
      <p:sp>
        <p:nvSpPr>
          <p:cNvPr id="25" name="agent-4-pill"/>
          <p:cNvSpPr/>
          <p:nvPr/>
        </p:nvSpPr>
        <p:spPr>
          <a:xfrm>
            <a:off x="1600200" y="3099816"/>
            <a:ext cx="1444752" cy="493776"/>
          </a:xfrm>
          <a:prstGeom prst="roundRect">
            <a:avLst>
              <a:gd name="adj" fmla="val 33333"/>
            </a:avLst>
          </a:prstGeom>
          <a:solidFill>
            <a:schemeClr val="bg2"/>
          </a:solidFill>
          <a:ln/>
        </p:spPr>
      </p:sp>
      <p:sp>
        <p:nvSpPr>
          <p:cNvPr id="26" name="agent-4-text"/>
          <p:cNvSpPr txBox="1"/>
          <p:nvPr/>
        </p:nvSpPr>
        <p:spPr>
          <a:xfrm>
            <a:off x="1709928" y="3099816"/>
            <a:ext cx="1261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Исполнитель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Дейкстра → v, ω; сторожа</a:t>
            </a:r>
            <a:endParaRPr lang="en-US" sz="1100" dirty="0"/>
          </a:p>
        </p:txBody>
      </p:sp>
      <p:sp>
        <p:nvSpPr>
          <p:cNvPr id="27" name="agent-5-pill"/>
          <p:cNvSpPr/>
          <p:nvPr/>
        </p:nvSpPr>
        <p:spPr>
          <a:xfrm>
            <a:off x="3118104" y="3099816"/>
            <a:ext cx="1444752" cy="493776"/>
          </a:xfrm>
          <a:prstGeom prst="roundRect">
            <a:avLst>
              <a:gd name="adj" fmla="val 33333"/>
            </a:avLst>
          </a:prstGeom>
          <a:solidFill>
            <a:schemeClr val="bg2"/>
          </a:solidFill>
          <a:ln/>
        </p:spPr>
      </p:sp>
      <p:sp>
        <p:nvSpPr>
          <p:cNvPr id="28" name="agent-5-text"/>
          <p:cNvSpPr txBox="1"/>
          <p:nvPr/>
        </p:nvSpPr>
        <p:spPr>
          <a:xfrm>
            <a:off x="3227832" y="3099816"/>
            <a:ext cx="1261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Память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 лаборатории, между прогонами</a:t>
            </a:r>
            <a:endParaRPr lang="en-US" sz="1100" dirty="0"/>
          </a:p>
        </p:txBody>
      </p:sp>
      <p:sp>
        <p:nvSpPr>
          <p:cNvPr id="29" name="agent-6-pill"/>
          <p:cNvSpPr/>
          <p:nvPr/>
        </p:nvSpPr>
        <p:spPr>
          <a:xfrm>
            <a:off x="4636008" y="3099816"/>
            <a:ext cx="1444752" cy="493776"/>
          </a:xfrm>
          <a:prstGeom prst="roundRect">
            <a:avLst>
              <a:gd name="adj" fmla="val 33333"/>
            </a:avLst>
          </a:prstGeom>
          <a:solidFill>
            <a:schemeClr val="bg2"/>
          </a:solidFill>
          <a:ln/>
        </p:spPr>
      </p:sp>
      <p:sp>
        <p:nvSpPr>
          <p:cNvPr id="30" name="agent-6-text"/>
          <p:cNvSpPr txBox="1"/>
          <p:nvPr/>
        </p:nvSpPr>
        <p:spPr>
          <a:xfrm>
            <a:off x="4745736" y="3099816"/>
            <a:ext cx="1261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Два робота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обмен сообщениями</a:t>
            </a:r>
            <a:endParaRPr lang="en-US" sz="1100" dirty="0"/>
          </a:p>
        </p:txBody>
      </p:sp>
      <p:sp>
        <p:nvSpPr>
          <p:cNvPr id="31" name="llm-card"/>
          <p:cNvSpPr/>
          <p:nvPr/>
        </p:nvSpPr>
        <p:spPr>
          <a:xfrm>
            <a:off x="6464808" y="2103120"/>
            <a:ext cx="2011680" cy="1572768"/>
          </a:xfrm>
          <a:prstGeom prst="roundRect">
            <a:avLst>
              <a:gd name="adj" fmla="val 15116"/>
            </a:avLst>
          </a:prstGeom>
          <a:solidFill>
            <a:schemeClr val="accent2"/>
          </a:solidFill>
          <a:ln/>
        </p:spPr>
      </p:sp>
      <p:sp>
        <p:nvSpPr>
          <p:cNvPr id="32" name="llm-text"/>
          <p:cNvSpPr txBox="1"/>
          <p:nvPr/>
        </p:nvSpPr>
        <p:spPr>
          <a:xfrm>
            <a:off x="6620256" y="2176272"/>
            <a:ext cx="173736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Языковая модель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сервер МАИ: QWEN, DeepSeek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вход: миссия + сводка состояния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выход: подцели в JSON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проверка ответа, запасное правило, кэш</a:t>
            </a:r>
            <a:endParaRPr lang="en-US" sz="1100" dirty="0"/>
          </a:p>
        </p:txBody>
      </p:sp>
      <p:sp>
        <p:nvSpPr>
          <p:cNvPr id="33" name="arrow-planner-llm"/>
          <p:cNvSpPr/>
          <p:nvPr/>
        </p:nvSpPr>
        <p:spPr>
          <a:xfrm>
            <a:off x="6108192" y="2706624"/>
            <a:ext cx="329184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4" name="arrow-llm-planner"/>
          <p:cNvSpPr/>
          <p:nvPr/>
        </p:nvSpPr>
        <p:spPr>
          <a:xfrm>
            <a:off x="6437376" y="2852928"/>
            <a:ext cx="-329184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5" name="flow-1-card"/>
          <p:cNvSpPr/>
          <p:nvPr/>
        </p:nvSpPr>
        <p:spPr>
          <a:xfrm>
            <a:off x="667512" y="3858768"/>
            <a:ext cx="1874520" cy="585216"/>
          </a:xfrm>
          <a:prstGeom prst="roundRect">
            <a:avLst>
              <a:gd name="adj" fmla="val 31250"/>
            </a:avLst>
          </a:prstGeom>
          <a:solidFill>
            <a:schemeClr val="accent2"/>
          </a:solidFill>
          <a:ln/>
        </p:spPr>
      </p:sp>
      <p:sp>
        <p:nvSpPr>
          <p:cNvPr id="36" name="flow-1-text"/>
          <p:cNvSpPr txBox="1"/>
          <p:nvPr/>
        </p:nvSpPr>
        <p:spPr>
          <a:xfrm>
            <a:off x="813816" y="3858768"/>
            <a:ext cx="1636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Лаборатория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страница показа и пульт, проигрыватель</a:t>
            </a:r>
            <a:endParaRPr lang="en-US" sz="1100" dirty="0"/>
          </a:p>
        </p:txBody>
      </p:sp>
      <p:sp>
        <p:nvSpPr>
          <p:cNvPr id="37" name="flow-2-card"/>
          <p:cNvSpPr/>
          <p:nvPr/>
        </p:nvSpPr>
        <p:spPr>
          <a:xfrm>
            <a:off x="2743200" y="3858768"/>
            <a:ext cx="1700784" cy="585216"/>
          </a:xfrm>
          <a:prstGeom prst="roundRect">
            <a:avLst>
              <a:gd name="adj" fmla="val 31250"/>
            </a:avLst>
          </a:prstGeom>
          <a:solidFill>
            <a:schemeClr val="accent1"/>
          </a:solidFill>
          <a:ln/>
        </p:spPr>
      </p:sp>
      <p:sp>
        <p:nvSpPr>
          <p:cNvPr id="38" name="flow-2-text"/>
          <p:cNvSpPr txBox="1"/>
          <p:nvPr/>
        </p:nvSpPr>
        <p:spPr>
          <a:xfrm>
            <a:off x="2889504" y="3858768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Запись прогона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путь, заряд, решения, гипотезы</a:t>
            </a:r>
            <a:endParaRPr lang="en-US" sz="1100" dirty="0"/>
          </a:p>
        </p:txBody>
      </p:sp>
      <p:sp>
        <p:nvSpPr>
          <p:cNvPr id="39" name="flow-3-card"/>
          <p:cNvSpPr/>
          <p:nvPr/>
        </p:nvSpPr>
        <p:spPr>
          <a:xfrm>
            <a:off x="4645152" y="3858768"/>
            <a:ext cx="1920240" cy="585216"/>
          </a:xfrm>
          <a:prstGeom prst="roundRect">
            <a:avLst>
              <a:gd name="adj" fmla="val 31250"/>
            </a:avLst>
          </a:prstGeom>
          <a:solidFill>
            <a:schemeClr val="accent3"/>
          </a:solidFill>
          <a:ln/>
        </p:spPr>
      </p:sp>
      <p:sp>
        <p:nvSpPr>
          <p:cNvPr id="40" name="flow-3-text"/>
          <p:cNvSpPr txBox="1"/>
          <p:nvPr/>
        </p:nvSpPr>
        <p:spPr>
          <a:xfrm>
            <a:off x="4791456" y="3858768"/>
            <a:ext cx="1682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Серии опытов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сценарии × варианты → интервалы</a:t>
            </a:r>
            <a:endParaRPr lang="en-US" sz="1100" dirty="0"/>
          </a:p>
        </p:txBody>
      </p:sp>
      <p:sp>
        <p:nvSpPr>
          <p:cNvPr id="41" name="flow-4-card"/>
          <p:cNvSpPr/>
          <p:nvPr/>
        </p:nvSpPr>
        <p:spPr>
          <a:xfrm>
            <a:off x="6766560" y="3858768"/>
            <a:ext cx="1709928" cy="585216"/>
          </a:xfrm>
          <a:prstGeom prst="roundRect">
            <a:avLst>
              <a:gd name="adj" fmla="val 31250"/>
            </a:avLst>
          </a:prstGeom>
          <a:solidFill>
            <a:schemeClr val="accent1"/>
          </a:solidFill>
          <a:ln/>
        </p:spPr>
      </p:sp>
      <p:sp>
        <p:nvSpPr>
          <p:cNvPr id="42" name="flow-4-text"/>
          <p:cNvSpPr txBox="1"/>
          <p:nvPr/>
        </p:nvSpPr>
        <p:spPr>
          <a:xfrm>
            <a:off x="6912864" y="3858768"/>
            <a:ext cx="1472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Выводы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отчёты, страница-объяснение</a:t>
            </a:r>
            <a:endParaRPr lang="en-US" sz="1100" dirty="0"/>
          </a:p>
        </p:txBody>
      </p:sp>
      <p:sp>
        <p:nvSpPr>
          <p:cNvPr id="43" name="arrow-agent-record"/>
          <p:cNvSpPr/>
          <p:nvPr/>
        </p:nvSpPr>
        <p:spPr>
          <a:xfrm>
            <a:off x="3593592" y="3685032"/>
            <a:ext cx="0" cy="155448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4" name="arrow-record-lab"/>
          <p:cNvSpPr/>
          <p:nvPr/>
        </p:nvSpPr>
        <p:spPr>
          <a:xfrm>
            <a:off x="2724912" y="4151376"/>
            <a:ext cx="-164592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5" name="arrow-record-series"/>
          <p:cNvSpPr/>
          <p:nvPr/>
        </p:nvSpPr>
        <p:spPr>
          <a:xfrm>
            <a:off x="4462272" y="4151376"/>
            <a:ext cx="164592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6" name="arrow-series-reports"/>
          <p:cNvSpPr/>
          <p:nvPr/>
        </p:nvSpPr>
        <p:spPr>
          <a:xfrm>
            <a:off x="6583680" y="4151376"/>
            <a:ext cx="164592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7" name="dev-line"/>
          <p:cNvSpPr txBox="1"/>
          <p:nvPr/>
        </p:nvSpPr>
        <p:spPr>
          <a:xfrm>
            <a:off x="667512" y="4498848"/>
            <a:ext cx="7808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Разработка: человек задаёт цель → ведущий агент → исследователи, инженеры и независимое ревью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19288" y="4773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67512" y="365760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8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Ресурсы и инструменты</a:t>
            </a:r>
            <a:endParaRPr lang="en-US" sz="228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67512" y="868680"/>
            <a:ext cx="7808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использовали в работе и для чего</a:t>
            </a:r>
            <a:endParaRPr lang="en-US" sz="1150" dirty="0"/>
          </a:p>
        </p:txBody>
      </p:sp>
      <p:sp>
        <p:nvSpPr>
          <p:cNvPr id="5" name="res-1-card"/>
          <p:cNvSpPr/>
          <p:nvPr/>
        </p:nvSpPr>
        <p:spPr>
          <a:xfrm>
            <a:off x="667512" y="1325880"/>
            <a:ext cx="1828800" cy="3108960"/>
          </a:xfrm>
          <a:prstGeom prst="roundRect">
            <a:avLst>
              <a:gd name="adj" fmla="val 13000"/>
            </a:avLst>
          </a:prstGeom>
          <a:solidFill>
            <a:schemeClr val="accent1"/>
          </a:solidFill>
          <a:ln/>
        </p:spPr>
      </p:sp>
      <p:sp>
        <p:nvSpPr>
          <p:cNvPr id="6" name="res-1-head"/>
          <p:cNvSpPr txBox="1"/>
          <p:nvPr/>
        </p:nvSpPr>
        <p:spPr>
          <a:xfrm>
            <a:off x="850392" y="1472184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Робот и симуляция</a:t>
            </a:r>
            <a:endParaRPr lang="en-US" sz="1200" dirty="0"/>
          </a:p>
        </p:txBody>
      </p:sp>
      <p:sp>
        <p:nvSpPr>
          <p:cNvPr id="7" name="res-1-row-1"/>
          <p:cNvSpPr txBox="1"/>
          <p:nvPr/>
        </p:nvSpPr>
        <p:spPr>
          <a:xfrm>
            <a:off x="850392" y="20025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ROS 2 Jazzy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датчики и команды</a:t>
            </a:r>
            <a:endParaRPr lang="en-US" sz="1100" dirty="0"/>
          </a:p>
        </p:txBody>
      </p:sp>
      <p:sp>
        <p:nvSpPr>
          <p:cNvPr id="8" name="res-1-row-2"/>
          <p:cNvSpPr txBox="1"/>
          <p:nvPr/>
        </p:nvSpPr>
        <p:spPr>
          <a:xfrm>
            <a:off x="850392" y="258775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Gazebo Harmonic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физика и мир</a:t>
            </a:r>
            <a:endParaRPr lang="en-US" sz="1100" dirty="0"/>
          </a:p>
        </p:txBody>
      </p:sp>
      <p:sp>
        <p:nvSpPr>
          <p:cNvPr id="9" name="res-1-row-3"/>
          <p:cNvSpPr txBox="1"/>
          <p:nvPr/>
        </p:nvSpPr>
        <p:spPr>
          <a:xfrm>
            <a:off x="850392" y="31729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TurtleBot3 Burger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 робота</a:t>
            </a:r>
            <a:endParaRPr lang="en-US" sz="1100" dirty="0"/>
          </a:p>
        </p:txBody>
      </p:sp>
      <p:sp>
        <p:nvSpPr>
          <p:cNvPr id="10" name="res-1-row-4"/>
          <p:cNvSpPr txBox="1"/>
          <p:nvPr/>
        </p:nvSpPr>
        <p:spPr>
          <a:xfrm>
            <a:off x="850392" y="375818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SLAM Toolbox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своя карта арены</a:t>
            </a:r>
            <a:endParaRPr lang="en-US" sz="1100" dirty="0"/>
          </a:p>
        </p:txBody>
      </p:sp>
      <p:sp>
        <p:nvSpPr>
          <p:cNvPr id="11" name="res-2-card"/>
          <p:cNvSpPr/>
          <p:nvPr/>
        </p:nvSpPr>
        <p:spPr>
          <a:xfrm>
            <a:off x="2660904" y="1325880"/>
            <a:ext cx="1828800" cy="3108960"/>
          </a:xfrm>
          <a:prstGeom prst="roundRect">
            <a:avLst>
              <a:gd name="adj" fmla="val 13000"/>
            </a:avLst>
          </a:prstGeom>
          <a:solidFill>
            <a:schemeClr val="accent3"/>
          </a:solidFill>
          <a:ln/>
        </p:spPr>
      </p:sp>
      <p:sp>
        <p:nvSpPr>
          <p:cNvPr id="12" name="res-2-head"/>
          <p:cNvSpPr txBox="1"/>
          <p:nvPr/>
        </p:nvSpPr>
        <p:spPr>
          <a:xfrm>
            <a:off x="2843784" y="1472184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Код и расчёты</a:t>
            </a:r>
            <a:endParaRPr lang="en-US" sz="1200" dirty="0"/>
          </a:p>
        </p:txBody>
      </p:sp>
      <p:sp>
        <p:nvSpPr>
          <p:cNvPr id="13" name="res-2-row-1"/>
          <p:cNvSpPr txBox="1"/>
          <p:nvPr/>
        </p:nvSpPr>
        <p:spPr>
          <a:xfrm>
            <a:off x="2843784" y="20025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Python, NumPy, SciPy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логика агента</a:t>
            </a:r>
            <a:endParaRPr lang="en-US" sz="1100" dirty="0"/>
          </a:p>
        </p:txBody>
      </p:sp>
      <p:sp>
        <p:nvSpPr>
          <p:cNvPr id="14" name="res-2-row-2"/>
          <p:cNvSpPr txBox="1"/>
          <p:nvPr/>
        </p:nvSpPr>
        <p:spPr>
          <a:xfrm>
            <a:off x="2843784" y="258775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Быстрый симулятор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свой: серии опытов</a:t>
            </a:r>
            <a:endParaRPr lang="en-US" sz="1100" dirty="0"/>
          </a:p>
        </p:txBody>
      </p:sp>
      <p:sp>
        <p:nvSpPr>
          <p:cNvPr id="15" name="res-2-row-3"/>
          <p:cNvSpPr txBox="1"/>
          <p:nvPr/>
        </p:nvSpPr>
        <p:spPr>
          <a:xfrm>
            <a:off x="2843784" y="31729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pytest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1000+ проверок</a:t>
            </a:r>
            <a:endParaRPr lang="en-US" sz="1100" dirty="0"/>
          </a:p>
        </p:txBody>
      </p:sp>
      <p:sp>
        <p:nvSpPr>
          <p:cNvPr id="16" name="res-2-row-4"/>
          <p:cNvSpPr txBox="1"/>
          <p:nvPr/>
        </p:nvSpPr>
        <p:spPr>
          <a:xfrm>
            <a:off x="2843784" y="375818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pixi + RoboStack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сборка окружения</a:t>
            </a:r>
            <a:endParaRPr lang="en-US" sz="1100" dirty="0"/>
          </a:p>
        </p:txBody>
      </p:sp>
      <p:sp>
        <p:nvSpPr>
          <p:cNvPr id="17" name="res-3-card"/>
          <p:cNvSpPr/>
          <p:nvPr/>
        </p:nvSpPr>
        <p:spPr>
          <a:xfrm>
            <a:off x="4654296" y="1325880"/>
            <a:ext cx="1828800" cy="3108960"/>
          </a:xfrm>
          <a:prstGeom prst="roundRect">
            <a:avLst>
              <a:gd name="adj" fmla="val 13000"/>
            </a:avLst>
          </a:prstGeom>
          <a:solidFill>
            <a:schemeClr val="accent2"/>
          </a:solidFill>
          <a:ln/>
        </p:spPr>
      </p:sp>
      <p:sp>
        <p:nvSpPr>
          <p:cNvPr id="18" name="res-3-head"/>
          <p:cNvSpPr txBox="1"/>
          <p:nvPr/>
        </p:nvSpPr>
        <p:spPr>
          <a:xfrm>
            <a:off x="4837176" y="1472184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Языковые модели</a:t>
            </a:r>
            <a:endParaRPr lang="en-US" sz="1200" dirty="0"/>
          </a:p>
        </p:txBody>
      </p:sp>
      <p:sp>
        <p:nvSpPr>
          <p:cNvPr id="19" name="res-3-row-1"/>
          <p:cNvSpPr txBox="1"/>
          <p:nvPr/>
        </p:nvSpPr>
        <p:spPr>
          <a:xfrm>
            <a:off x="4837176" y="20025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Сервер МАИ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QWEN, DeepSeek</a:t>
            </a:r>
            <a:endParaRPr lang="en-US" sz="1100" dirty="0"/>
          </a:p>
        </p:txBody>
      </p:sp>
      <p:sp>
        <p:nvSpPr>
          <p:cNvPr id="20" name="res-3-row-2"/>
          <p:cNvSpPr txBox="1"/>
          <p:nvPr/>
        </p:nvSpPr>
        <p:spPr>
          <a:xfrm>
            <a:off x="4837176" y="258775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Ответ в JSON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проверка по схеме</a:t>
            </a:r>
            <a:endParaRPr lang="en-US" sz="1100" dirty="0"/>
          </a:p>
        </p:txBody>
      </p:sp>
      <p:sp>
        <p:nvSpPr>
          <p:cNvPr id="21" name="res-3-row-3"/>
          <p:cNvSpPr txBox="1"/>
          <p:nvPr/>
        </p:nvSpPr>
        <p:spPr>
          <a:xfrm>
            <a:off x="4837176" y="31729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Кэш ответов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повторяемые опыты</a:t>
            </a:r>
            <a:endParaRPr lang="en-US" sz="1100" dirty="0"/>
          </a:p>
        </p:txBody>
      </p:sp>
      <p:sp>
        <p:nvSpPr>
          <p:cNvPr id="22" name="res-3-row-4"/>
          <p:cNvSpPr txBox="1"/>
          <p:nvPr/>
        </p:nvSpPr>
        <p:spPr>
          <a:xfrm>
            <a:off x="4837176" y="375818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Запасное правило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если модель не ответила</a:t>
            </a:r>
            <a:endParaRPr lang="en-US" sz="1100" dirty="0"/>
          </a:p>
        </p:txBody>
      </p:sp>
      <p:sp>
        <p:nvSpPr>
          <p:cNvPr id="23" name="res-4-card"/>
          <p:cNvSpPr/>
          <p:nvPr/>
        </p:nvSpPr>
        <p:spPr>
          <a:xfrm>
            <a:off x="6647688" y="1325880"/>
            <a:ext cx="1828800" cy="3108960"/>
          </a:xfrm>
          <a:prstGeom prst="roundRect">
            <a:avLst>
              <a:gd name="adj" fmla="val 13000"/>
            </a:avLst>
          </a:prstGeom>
          <a:solidFill>
            <a:schemeClr val="accent1"/>
          </a:solidFill>
          <a:ln/>
        </p:spPr>
      </p:sp>
      <p:sp>
        <p:nvSpPr>
          <p:cNvPr id="24" name="res-4-head"/>
          <p:cNvSpPr txBox="1"/>
          <p:nvPr/>
        </p:nvSpPr>
        <p:spPr>
          <a:xfrm>
            <a:off x="6830568" y="1472184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 в разработке</a:t>
            </a:r>
            <a:endParaRPr lang="en-US" sz="1200" dirty="0"/>
          </a:p>
        </p:txBody>
      </p:sp>
      <p:pic>
        <p:nvPicPr>
          <p:cNvPr id="25" name="res-4-logo-1" descr="res-4-logo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0568" y="2020824"/>
            <a:ext cx="182880" cy="182880"/>
          </a:xfrm>
          <a:prstGeom prst="rect">
            <a:avLst/>
          </a:prstGeom>
        </p:spPr>
      </p:pic>
      <p:sp>
        <p:nvSpPr>
          <p:cNvPr id="26" name="res-4-row-1"/>
          <p:cNvSpPr txBox="1"/>
          <p:nvPr/>
        </p:nvSpPr>
        <p:spPr>
          <a:xfrm>
            <a:off x="7086600" y="2002536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Opus: код и опыты</a:t>
            </a:r>
            <a:endParaRPr lang="en-US" sz="1100" dirty="0"/>
          </a:p>
        </p:txBody>
      </p:sp>
      <p:pic>
        <p:nvPicPr>
          <p:cNvPr id="27" name="res-4-logo-2" descr="res-4-logo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2606040"/>
            <a:ext cx="182880" cy="182880"/>
          </a:xfrm>
          <a:prstGeom prst="rect">
            <a:avLst/>
          </a:prstGeom>
        </p:spPr>
      </p:pic>
      <p:sp>
        <p:nvSpPr>
          <p:cNvPr id="28" name="res-4-row-2"/>
          <p:cNvSpPr txBox="1"/>
          <p:nvPr/>
        </p:nvSpPr>
        <p:spPr>
          <a:xfrm>
            <a:off x="7086600" y="2587752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 Sol: ревью</a:t>
            </a:r>
            <a:endParaRPr lang="en-US" sz="1100" dirty="0"/>
          </a:p>
        </p:txBody>
      </p:sp>
      <p:pic>
        <p:nvPicPr>
          <p:cNvPr id="29" name="res-4-logo-3" descr="res-4-logo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568" y="3191256"/>
            <a:ext cx="182880" cy="182880"/>
          </a:xfrm>
          <a:prstGeom prst="rect">
            <a:avLst/>
          </a:prstGeom>
        </p:spPr>
      </p:pic>
      <p:sp>
        <p:nvSpPr>
          <p:cNvPr id="30" name="res-4-row-3"/>
          <p:cNvSpPr txBox="1"/>
          <p:nvPr/>
        </p:nvSpPr>
        <p:spPr>
          <a:xfrm>
            <a:off x="7086600" y="317296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Antigravity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Gemini: литература</a:t>
            </a:r>
            <a:endParaRPr lang="en-US" sz="1100" dirty="0"/>
          </a:p>
        </p:txBody>
      </p:sp>
      <p:sp>
        <p:nvSpPr>
          <p:cNvPr id="31" name="res-4-row-4"/>
          <p:cNvSpPr txBox="1"/>
          <p:nvPr/>
        </p:nvSpPr>
        <p:spPr>
          <a:xfrm>
            <a:off x="6830568" y="375818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и GitHub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и история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19288" y="4773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67512" y="365760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8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Математика: карта вероятностей</a:t>
            </a:r>
            <a:endParaRPr lang="en-US" sz="228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67512" y="868680"/>
            <a:ext cx="7808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Датчик даёт одно число — близость к образцу, без направления. Место находим по правилу Байеса</a:t>
            </a:r>
            <a:endParaRPr lang="en-US" sz="1150" dirty="0"/>
          </a:p>
        </p:txBody>
      </p:sp>
      <p:sp>
        <p:nvSpPr>
          <p:cNvPr id="5" name="law-head"/>
          <p:cNvSpPr txBox="1"/>
          <p:nvPr/>
        </p:nvSpPr>
        <p:spPr>
          <a:xfrm>
            <a:off x="667512" y="122529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Показание → расстояние</a:t>
            </a:r>
            <a:endParaRPr lang="en-US" sz="1150" dirty="0"/>
          </a:p>
        </p:txBody>
      </p:sp>
      <p:pic>
        <p:nvPicPr>
          <p:cNvPr id="6" name="sensor_law" descr="График закона датчика: показание линейно падает с расстоянием до образц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499616"/>
            <a:ext cx="1938528" cy="1401387"/>
          </a:xfrm>
          <a:prstGeom prst="rect">
            <a:avLst/>
          </a:prstGeom>
        </p:spPr>
      </p:pic>
      <p:sp>
        <p:nvSpPr>
          <p:cNvPr id="7" name="law-cap"/>
          <p:cNvSpPr txBox="1"/>
          <p:nvPr/>
        </p:nvSpPr>
        <p:spPr>
          <a:xfrm>
            <a:off x="667512" y="2946723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 = 1 − d/2. Показание 0,48 — образец примерно в метре, а в какой стороне, неизвестно</a:t>
            </a:r>
            <a:endParaRPr lang="en-US" sz="950" dirty="0"/>
          </a:p>
        </p:txBody>
      </p:sp>
      <p:sp>
        <p:nvSpPr>
          <p:cNvPr id="8" name="rings-head"/>
          <p:cNvSpPr txBox="1"/>
          <p:nvPr/>
        </p:nvSpPr>
        <p:spPr>
          <a:xfrm>
            <a:off x="2926080" y="1225296"/>
            <a:ext cx="5550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Каждое показание — кольцо. Где кольца сходятся, там образец</a:t>
            </a:r>
            <a:endParaRPr lang="en-US" sz="1150" dirty="0"/>
          </a:p>
        </p:txBody>
      </p:sp>
      <p:pic>
        <p:nvPicPr>
          <p:cNvPr id="9" name="bayes_steps" descr="Три карты вероятностей: после одного показания — кольцо, после двух — два места, после трёх — одно место у настоящего образц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499616"/>
            <a:ext cx="5550408" cy="1691480"/>
          </a:xfrm>
          <a:prstGeom prst="rect">
            <a:avLst/>
          </a:prstGeom>
        </p:spPr>
      </p:pic>
      <p:sp>
        <p:nvSpPr>
          <p:cNvPr id="10" name="rings-cap-1"/>
          <p:cNvSpPr txBox="1"/>
          <p:nvPr/>
        </p:nvSpPr>
        <p:spPr>
          <a:xfrm>
            <a:off x="2971800" y="3218528"/>
            <a:ext cx="1758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одно показание: кольцо</a:t>
            </a:r>
            <a:endParaRPr lang="en-US" sz="950" dirty="0"/>
          </a:p>
        </p:txBody>
      </p:sp>
      <p:sp>
        <p:nvSpPr>
          <p:cNvPr id="11" name="rings-cap-2"/>
          <p:cNvSpPr txBox="1"/>
          <p:nvPr/>
        </p:nvSpPr>
        <p:spPr>
          <a:xfrm>
            <a:off x="4821936" y="3218528"/>
            <a:ext cx="1758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два: осталось два места</a:t>
            </a:r>
            <a:endParaRPr lang="en-US" sz="950" dirty="0"/>
          </a:p>
        </p:txBody>
      </p:sp>
      <p:sp>
        <p:nvSpPr>
          <p:cNvPr id="12" name="rings-cap-3"/>
          <p:cNvSpPr txBox="1"/>
          <p:nvPr/>
        </p:nvSpPr>
        <p:spPr>
          <a:xfrm>
            <a:off x="6672072" y="3218528"/>
            <a:ext cx="1758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три: одно место, 45%</a:t>
            </a:r>
            <a:endParaRPr lang="en-US" sz="950" dirty="0"/>
          </a:p>
        </p:txBody>
      </p:sp>
      <p:sp>
        <p:nvSpPr>
          <p:cNvPr id="13" name="rings-legend"/>
          <p:cNvSpPr txBox="1"/>
          <p:nvPr/>
        </p:nvSpPr>
        <p:spPr>
          <a:xfrm>
            <a:off x="2926080" y="3419696"/>
            <a:ext cx="5550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Пунктир — кольцо показания, синее — вероятность, зелёный кружок — настоящий образец</a:t>
            </a:r>
            <a:endParaRPr lang="en-US" sz="900" dirty="0"/>
          </a:p>
        </p:txBody>
      </p:sp>
      <p:sp>
        <p:nvSpPr>
          <p:cNvPr id="14" name="bayes-card"/>
          <p:cNvSpPr/>
          <p:nvPr/>
        </p:nvSpPr>
        <p:spPr>
          <a:xfrm>
            <a:off x="667512" y="3675888"/>
            <a:ext cx="7808976" cy="530352"/>
          </a:xfrm>
          <a:prstGeom prst="roundRect">
            <a:avLst>
              <a:gd name="adj" fmla="val 44828"/>
            </a:avLst>
          </a:prstGeom>
          <a:solidFill>
            <a:schemeClr val="accent2"/>
          </a:solidFill>
          <a:ln/>
        </p:spPr>
      </p:sp>
      <p:sp>
        <p:nvSpPr>
          <p:cNvPr id="15" name="bayes-text"/>
          <p:cNvSpPr txBox="1"/>
          <p:nvPr/>
        </p:nvSpPr>
        <p:spPr>
          <a:xfrm>
            <a:off x="923544" y="3675888"/>
            <a:ext cx="7351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Правило Байеса — для каждой клетки карты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новая вероятность  ∝  прежняя вероятность  ×  насколько показание подходит этой клетке</a:t>
            </a:r>
            <a:endParaRPr lang="en-US" sz="1100" dirty="0"/>
          </a:p>
        </p:txBody>
      </p:sp>
      <p:sp>
        <p:nvSpPr>
          <p:cNvPr id="16" name="max-pill"/>
          <p:cNvSpPr/>
          <p:nvPr/>
        </p:nvSpPr>
        <p:spPr>
          <a:xfrm>
            <a:off x="667512" y="4279392"/>
            <a:ext cx="7808976" cy="34747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7" name="max-text"/>
          <p:cNvSpPr txBox="1"/>
          <p:nvPr/>
        </p:nvSpPr>
        <p:spPr>
          <a:xfrm>
            <a:off x="923544" y="4279392"/>
            <a:ext cx="7351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Цель робота — максимум карты: гипотеза «образец здесь» → подъехать → проверить сбором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19288" y="4773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67512" y="365760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8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Математика: куда ехать и как доехать</a:t>
            </a:r>
            <a:endParaRPr lang="en-US" sz="228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67512" y="868680"/>
            <a:ext cx="7808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Три расчёта перед каждым движением: цель, путь и запас заряда</a:t>
            </a:r>
            <a:endParaRPr lang="en-US" sz="1150" dirty="0"/>
          </a:p>
        </p:txBody>
      </p:sp>
      <p:sp>
        <p:nvSpPr>
          <p:cNvPr id="5" name="calc-1-head"/>
          <p:cNvSpPr txBox="1"/>
          <p:nvPr/>
        </p:nvSpPr>
        <p:spPr>
          <a:xfrm>
            <a:off x="667512" y="1316736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 — максимум карты</a:t>
            </a:r>
            <a:endParaRPr lang="en-US" sz="1150" dirty="0"/>
          </a:p>
        </p:txBody>
      </p:sp>
      <p:sp>
        <p:nvSpPr>
          <p:cNvPr id="6" name="calc-2-head"/>
          <p:cNvSpPr txBox="1"/>
          <p:nvPr/>
        </p:nvSpPr>
        <p:spPr>
          <a:xfrm>
            <a:off x="3328416" y="1316736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Путь — Дейкстра по цене грунта</a:t>
            </a:r>
            <a:endParaRPr lang="en-US" sz="1150" dirty="0"/>
          </a:p>
        </p:txBody>
      </p:sp>
      <p:sp>
        <p:nvSpPr>
          <p:cNvPr id="7" name="calc-3-head"/>
          <p:cNvSpPr txBox="1"/>
          <p:nvPr/>
        </p:nvSpPr>
        <p:spPr>
          <a:xfrm>
            <a:off x="5989320" y="1316736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Запас — хватит ли домой</a:t>
            </a:r>
            <a:endParaRPr lang="en-US" sz="1150" dirty="0"/>
          </a:p>
        </p:txBody>
      </p:sp>
      <p:graphicFrame>
        <p:nvGraphicFramePr>
          <p:cNvPr id="8" name="search-chart" descr="Доля собранных образцов: спираль 67,5%, подъём по сигналу 82%, карта вероятностей 99,5%"/>
          <p:cNvGraphicFramePr/>
          <p:nvPr/>
        </p:nvGraphicFramePr>
        <p:xfrm>
          <a:off x="576072" y="1609344"/>
          <a:ext cx="2578608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calc-1-cap"/>
          <p:cNvSpPr txBox="1"/>
          <p:nvPr/>
        </p:nvSpPr>
        <p:spPr>
          <a:xfrm>
            <a:off x="667512" y="3456432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Доля собранных образцов. Подъём по сигналу (градиентный подъём) теряется, когда образцов несколько</a:t>
            </a:r>
            <a:endParaRPr lang="en-US" sz="950" dirty="0"/>
          </a:p>
        </p:txBody>
      </p:sp>
      <p:pic>
        <p:nvPicPr>
          <p:cNvPr id="10" name="dijkstra" descr="Арена с участком дорогого грунта и двумя путями: короткий через дорогой грунт и путь Дейкстры в обхо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416" y="1627632"/>
            <a:ext cx="2487168" cy="1829051"/>
          </a:xfrm>
          <a:prstGeom prst="rect">
            <a:avLst/>
          </a:prstGeom>
        </p:spPr>
      </p:pic>
      <p:sp>
        <p:nvSpPr>
          <p:cNvPr id="11" name="calc-2-cap"/>
          <p:cNvSpPr txBox="1"/>
          <p:nvPr/>
        </p:nvSpPr>
        <p:spPr>
          <a:xfrm>
            <a:off x="3328416" y="3456432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Вес шага = длина × цена грунта. Пунктир короче, но стоит 10,5 ед. заряда; синий путь — 7,2</a:t>
            </a:r>
            <a:endParaRPr lang="en-US" sz="950" dirty="0"/>
          </a:p>
        </p:txBody>
      </p:sp>
      <p:sp>
        <p:nvSpPr>
          <p:cNvPr id="12" name="reserve-top"/>
          <p:cNvSpPr txBox="1"/>
          <p:nvPr/>
        </p:nvSpPr>
        <p:spPr>
          <a:xfrm>
            <a:off x="5989320" y="1737360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заряд батареи</a:t>
            </a:r>
            <a:endParaRPr lang="en-US" sz="950" dirty="0"/>
          </a:p>
        </p:txBody>
      </p:sp>
      <p:sp>
        <p:nvSpPr>
          <p:cNvPr id="13" name="reserve-part-1"/>
          <p:cNvSpPr/>
          <p:nvPr/>
        </p:nvSpPr>
        <p:spPr>
          <a:xfrm>
            <a:off x="5989320" y="1975104"/>
            <a:ext cx="749808" cy="402336"/>
          </a:xfrm>
          <a:prstGeom prst="rect">
            <a:avLst/>
          </a:prstGeom>
          <a:solidFill>
            <a:srgbClr val="3D63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reserve-label-1"/>
          <p:cNvSpPr txBox="1"/>
          <p:nvPr/>
        </p:nvSpPr>
        <p:spPr>
          <a:xfrm>
            <a:off x="5989320" y="1975104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 цели</a:t>
            </a:r>
            <a:endParaRPr lang="en-US" sz="900" dirty="0"/>
          </a:p>
        </p:txBody>
      </p:sp>
      <p:sp>
        <p:nvSpPr>
          <p:cNvPr id="15" name="reserve-part-2"/>
          <p:cNvSpPr/>
          <p:nvPr/>
        </p:nvSpPr>
        <p:spPr>
          <a:xfrm>
            <a:off x="6739128" y="1975104"/>
            <a:ext cx="896112" cy="402336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reserve-label-2"/>
          <p:cNvSpPr txBox="1"/>
          <p:nvPr/>
        </p:nvSpPr>
        <p:spPr>
          <a:xfrm>
            <a:off x="6739128" y="1975104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8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домой × 1,1</a:t>
            </a:r>
            <a:endParaRPr lang="en-US" sz="900" dirty="0"/>
          </a:p>
        </p:txBody>
      </p:sp>
      <p:sp>
        <p:nvSpPr>
          <p:cNvPr id="17" name="reserve-part-3"/>
          <p:cNvSpPr/>
          <p:nvPr/>
        </p:nvSpPr>
        <p:spPr>
          <a:xfrm>
            <a:off x="7635240" y="1975104"/>
            <a:ext cx="384048" cy="402336"/>
          </a:xfrm>
          <a:prstGeom prst="rect">
            <a:avLst/>
          </a:prstGeom>
          <a:solidFill>
            <a:schemeClr val="accent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reserve-label-3"/>
          <p:cNvSpPr txBox="1"/>
          <p:nvPr/>
        </p:nvSpPr>
        <p:spPr>
          <a:xfrm>
            <a:off x="7635240" y="1975104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8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запас</a:t>
            </a:r>
            <a:endParaRPr lang="en-US" sz="900" dirty="0"/>
          </a:p>
        </p:txBody>
      </p:sp>
      <p:sp>
        <p:nvSpPr>
          <p:cNvPr id="19" name="reserve-part-4"/>
          <p:cNvSpPr/>
          <p:nvPr/>
        </p:nvSpPr>
        <p:spPr>
          <a:xfrm>
            <a:off x="8019288" y="1975104"/>
            <a:ext cx="457200" cy="402336"/>
          </a:xfrm>
          <a:prstGeom prst="rect">
            <a:avLst/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reserve-text"/>
          <p:cNvSpPr txBox="1"/>
          <p:nvPr/>
        </p:nvSpPr>
        <p:spPr>
          <a:xfrm>
            <a:off x="5989320" y="2523744"/>
            <a:ext cx="24871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 цели робот едет, только если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заряд − путь до цели − 1,1 × путь домой − 4 ≥ 0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Иначе — сразу на базу</a:t>
            </a:r>
            <a:endParaRPr lang="en-US" sz="1100" dirty="0"/>
          </a:p>
        </p:txBody>
      </p:sp>
      <p:sp>
        <p:nvSpPr>
          <p:cNvPr id="21" name="goal-pill"/>
          <p:cNvSpPr/>
          <p:nvPr/>
        </p:nvSpPr>
        <p:spPr>
          <a:xfrm>
            <a:off x="667512" y="4169664"/>
            <a:ext cx="7808976" cy="43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2" name="goal-text"/>
          <p:cNvSpPr txBox="1"/>
          <p:nvPr/>
        </p:nvSpPr>
        <p:spPr>
          <a:xfrm>
            <a:off x="923544" y="4169664"/>
            <a:ext cx="7351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 всех расчётов — счёт судьи: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 = 10·образцы + 20·возврат + 0,1·остаток заряда − штрафы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19288" y="4773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67512" y="365760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8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Сценарий на карте: один прогон в Gazebo</a:t>
            </a:r>
            <a:endParaRPr lang="en-US" sz="228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67512" y="868680"/>
            <a:ext cx="7808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Трудный уровень, сценарий 2 — его же показываем вживую. Скрытое нарисовано для зрителя</a:t>
            </a:r>
            <a:endParaRPr lang="en-US" sz="1150" dirty="0"/>
          </a:p>
        </p:txBody>
      </p:sp>
      <p:pic>
        <p:nvPicPr>
          <p:cNvPr id="5" name="scenario" descr="Карта арены с путём робота и пятью отмеченными событиями прогон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243584"/>
            <a:ext cx="3639312" cy="3354837"/>
          </a:xfrm>
          <a:prstGeom prst="rect">
            <a:avLst/>
          </a:prstGeom>
        </p:spPr>
      </p:pic>
      <p:sp>
        <p:nvSpPr>
          <p:cNvPr id="6" name="event-1-badge"/>
          <p:cNvSpPr txBox="1"/>
          <p:nvPr/>
        </p:nvSpPr>
        <p:spPr>
          <a:xfrm>
            <a:off x="4572000" y="1298448"/>
            <a:ext cx="256032" cy="256032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event-1-text"/>
          <p:cNvSpPr txBox="1"/>
          <p:nvPr/>
        </p:nvSpPr>
        <p:spPr>
          <a:xfrm>
            <a:off x="4956048" y="128016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0–30 с · три образца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гипотеза «образец здесь» → подъехал → собрал</a:t>
            </a:r>
            <a:endParaRPr lang="en-US" sz="1100" dirty="0"/>
          </a:p>
        </p:txBody>
      </p:sp>
      <p:sp>
        <p:nvSpPr>
          <p:cNvPr id="8" name="event-2-badge"/>
          <p:cNvSpPr txBox="1"/>
          <p:nvPr/>
        </p:nvSpPr>
        <p:spPr>
          <a:xfrm>
            <a:off x="4572000" y="1901952"/>
            <a:ext cx="256032" cy="256032"/>
          </a:xfrm>
          <a:prstGeom prst="ellipse">
            <a:avLst/>
          </a:prstGeom>
          <a:solidFill>
            <a:srgbClr val="C98A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event-2-text"/>
          <p:cNvSpPr txBox="1"/>
          <p:nvPr/>
        </p:nvSpPr>
        <p:spPr>
          <a:xfrm>
            <a:off x="4956048" y="1883664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 с · грунт стал дороже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заметил перерасход, поставил опыт, внёс участок в карту стоимости</a:t>
            </a:r>
            <a:endParaRPr lang="en-US" sz="1100" dirty="0"/>
          </a:p>
        </p:txBody>
      </p:sp>
      <p:sp>
        <p:nvSpPr>
          <p:cNvPr id="10" name="event-3-badge"/>
          <p:cNvSpPr txBox="1"/>
          <p:nvPr/>
        </p:nvSpPr>
        <p:spPr>
          <a:xfrm>
            <a:off x="4572000" y="2505456"/>
            <a:ext cx="256032" cy="256032"/>
          </a:xfrm>
          <a:prstGeom prst="ellipse">
            <a:avLst/>
          </a:prstGeom>
          <a:solidFill>
            <a:srgbClr val="E8590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11" name="event-3-text"/>
          <p:cNvSpPr txBox="1"/>
          <p:nvPr/>
        </p:nvSpPr>
        <p:spPr>
          <a:xfrm>
            <a:off x="4956048" y="248716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 с · датчик шумит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распознал сбой и переждал 36 секунд</a:t>
            </a:r>
            <a:endParaRPr lang="en-US" sz="1100" dirty="0"/>
          </a:p>
        </p:txBody>
      </p:sp>
      <p:sp>
        <p:nvSpPr>
          <p:cNvPr id="12" name="event-4-badge"/>
          <p:cNvSpPr txBox="1"/>
          <p:nvPr/>
        </p:nvSpPr>
        <p:spPr>
          <a:xfrm>
            <a:off x="4572000" y="3108960"/>
            <a:ext cx="256032" cy="256032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  <p:sp>
        <p:nvSpPr>
          <p:cNvPr id="13" name="event-4-text"/>
          <p:cNvSpPr txBox="1"/>
          <p:nvPr/>
        </p:nvSpPr>
        <p:spPr>
          <a:xfrm>
            <a:off x="4956048" y="309067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82–134 с · ещё четыре образца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шум спал — поиск продолжается</a:t>
            </a:r>
            <a:endParaRPr lang="en-US" sz="1100" dirty="0"/>
          </a:p>
        </p:txBody>
      </p:sp>
      <p:sp>
        <p:nvSpPr>
          <p:cNvPr id="14" name="event-5-badge"/>
          <p:cNvSpPr txBox="1"/>
          <p:nvPr/>
        </p:nvSpPr>
        <p:spPr>
          <a:xfrm>
            <a:off x="4572000" y="3712464"/>
            <a:ext cx="256032" cy="256032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  <p:sp>
        <p:nvSpPr>
          <p:cNvPr id="15" name="event-5-text"/>
          <p:cNvSpPr txBox="1"/>
          <p:nvPr/>
        </p:nvSpPr>
        <p:spPr>
          <a:xfrm>
            <a:off x="4956048" y="3694176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142 с · на базе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из 7 образцов, счёт судьи 91,8, без штрафов</a:t>
            </a:r>
            <a:endParaRPr lang="en-US" sz="1100" dirty="0"/>
          </a:p>
        </p:txBody>
      </p:sp>
      <p:sp>
        <p:nvSpPr>
          <p:cNvPr id="16" name="legend"/>
          <p:cNvSpPr txBox="1"/>
          <p:nvPr/>
        </p:nvSpPr>
        <p:spPr>
          <a:xfrm>
            <a:off x="4572000" y="4334256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Зелёные точки — образцы, жёлтое — дорогой грунт (×N), красное — опасные зоны, синяя линия — путь робота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19288" y="4773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67512" y="365760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8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Пример: план заранее против робота с адаптацией</a:t>
            </a:r>
            <a:endParaRPr lang="en-US" sz="228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67512" y="868680"/>
            <a:ext cx="7808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Один сценарий (№1026): слева маршрут составлен заранее, справа — поиск по карте вероятностей</a:t>
            </a:r>
            <a:endParaRPr lang="en-US" sz="1150" dirty="0"/>
          </a:p>
        </p:txBody>
      </p:sp>
      <p:pic>
        <p:nvPicPr>
          <p:cNvPr id="5" name="pair_fixed_adaptive" descr="Две карты одного сценария: путь робота с планом заранее и путь робота-исследовател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280160"/>
            <a:ext cx="5074920" cy="2307063"/>
          </a:xfrm>
          <a:prstGeom prst="rect">
            <a:avLst/>
          </a:prstGeom>
        </p:spPr>
      </p:pic>
      <p:sp>
        <p:nvSpPr>
          <p:cNvPr id="6" name="cap-left"/>
          <p:cNvSpPr txBox="1"/>
          <p:nvPr/>
        </p:nvSpPr>
        <p:spPr>
          <a:xfrm>
            <a:off x="713232" y="3651231"/>
            <a:ext cx="23545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заранее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из 7 образцов · счёт 61,1</a:t>
            </a:r>
            <a:endParaRPr lang="en-US" sz="1100" dirty="0"/>
          </a:p>
        </p:txBody>
      </p:sp>
      <p:sp>
        <p:nvSpPr>
          <p:cNvPr id="7" name="cap-right"/>
          <p:cNvSpPr txBox="1"/>
          <p:nvPr/>
        </p:nvSpPr>
        <p:spPr>
          <a:xfrm>
            <a:off x="3296412" y="3651231"/>
            <a:ext cx="23545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 адаптацией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из 7 образцов · счёт 75,1</a:t>
            </a:r>
            <a:endParaRPr lang="en-US" sz="1100" dirty="0"/>
          </a:p>
        </p:txBody>
      </p:sp>
      <p:sp>
        <p:nvSpPr>
          <p:cNvPr id="8" name="stat-circle"/>
          <p:cNvSpPr/>
          <p:nvPr/>
        </p:nvSpPr>
        <p:spPr>
          <a:xfrm>
            <a:off x="6053328" y="1353312"/>
            <a:ext cx="2286000" cy="22860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tat-value"/>
          <p:cNvSpPr txBox="1"/>
          <p:nvPr/>
        </p:nvSpPr>
        <p:spPr>
          <a:xfrm>
            <a:off x="6053328" y="18288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+13,3</a:t>
            </a:r>
            <a:endParaRPr lang="en-US" sz="3400" dirty="0"/>
          </a:p>
        </p:txBody>
      </p:sp>
      <p:sp>
        <p:nvSpPr>
          <p:cNvPr id="10" name="stat-lines"/>
          <p:cNvSpPr txBox="1"/>
          <p:nvPr/>
        </p:nvSpPr>
        <p:spPr>
          <a:xfrm>
            <a:off x="6190488" y="2414016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очка в среднем</a:t>
            </a:r>
            <a:endParaRPr lang="en-US" sz="1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95% интервал [7,4; 19,0]</a:t>
            </a:r>
            <a:endParaRPr lang="en-US" sz="1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 трудных сценариев,</a:t>
            </a:r>
            <a:endParaRPr lang="en-US" sz="1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быстрый симулятор</a:t>
            </a:r>
            <a:endParaRPr lang="en-US" sz="1000" dirty="0"/>
          </a:p>
        </p:txBody>
      </p:sp>
      <p:sp>
        <p:nvSpPr>
          <p:cNvPr id="11" name="takeaway-pill"/>
          <p:cNvSpPr/>
          <p:nvPr/>
        </p:nvSpPr>
        <p:spPr>
          <a:xfrm>
            <a:off x="667512" y="4206240"/>
            <a:ext cx="7808976" cy="40233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2" name="takeaway-text"/>
          <p:cNvSpPr txBox="1"/>
          <p:nvPr/>
        </p:nvSpPr>
        <p:spPr>
          <a:xfrm>
            <a:off x="941832" y="4206240"/>
            <a:ext cx="7260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Тот же заряд, та же арена — больше образцов: выше в 29 из 40 сценариев. По возврату на базу различие не показано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19288" y="4773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67512" y="365760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8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Научный подход: робот сам ставит опыт</a:t>
            </a:r>
            <a:endParaRPr lang="en-US" sz="228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67512" y="868680"/>
            <a:ext cx="7808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Если измерение расходится с прогнозом, робот выдвигает объяснения и проверяет их действием</a:t>
            </a:r>
            <a:endParaRPr lang="en-US" sz="1150" dirty="0"/>
          </a:p>
        </p:txBody>
      </p:sp>
      <p:sp>
        <p:nvSpPr>
          <p:cNvPr id="5" name="step-1-dot"/>
          <p:cNvSpPr/>
          <p:nvPr/>
        </p:nvSpPr>
        <p:spPr>
          <a:xfrm>
            <a:off x="667512" y="129844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step-1-n"/>
          <p:cNvSpPr txBox="1"/>
          <p:nvPr/>
        </p:nvSpPr>
        <p:spPr>
          <a:xfrm>
            <a:off x="667512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tep-1-text"/>
          <p:cNvSpPr txBox="1"/>
          <p:nvPr/>
        </p:nvSpPr>
        <p:spPr>
          <a:xfrm>
            <a:off x="1216152" y="1261872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Расхождение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измерение не сходится с прогнозом</a:t>
            </a:r>
            <a:endParaRPr lang="en-US" sz="1100" dirty="0"/>
          </a:p>
        </p:txBody>
      </p:sp>
      <p:sp>
        <p:nvSpPr>
          <p:cNvPr id="8" name="step-1-arrow"/>
          <p:cNvSpPr/>
          <p:nvPr/>
        </p:nvSpPr>
        <p:spPr>
          <a:xfrm>
            <a:off x="868680" y="1728216"/>
            <a:ext cx="0" cy="146304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step-2-dot"/>
          <p:cNvSpPr/>
          <p:nvPr/>
        </p:nvSpPr>
        <p:spPr>
          <a:xfrm>
            <a:off x="667512" y="1901952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step-2-n"/>
          <p:cNvSpPr txBox="1"/>
          <p:nvPr/>
        </p:nvSpPr>
        <p:spPr>
          <a:xfrm>
            <a:off x="667512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tep-2-text"/>
          <p:cNvSpPr txBox="1"/>
          <p:nvPr/>
        </p:nvSpPr>
        <p:spPr>
          <a:xfrm>
            <a:off x="1216152" y="1865376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Гипотезы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несколько объяснений с вероятностями</a:t>
            </a:r>
            <a:endParaRPr lang="en-US" sz="1100" dirty="0"/>
          </a:p>
        </p:txBody>
      </p:sp>
      <p:sp>
        <p:nvSpPr>
          <p:cNvPr id="12" name="step-2-arrow"/>
          <p:cNvSpPr/>
          <p:nvPr/>
        </p:nvSpPr>
        <p:spPr>
          <a:xfrm>
            <a:off x="868680" y="2331720"/>
            <a:ext cx="0" cy="146304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step-3-dot"/>
          <p:cNvSpPr/>
          <p:nvPr/>
        </p:nvSpPr>
        <p:spPr>
          <a:xfrm>
            <a:off x="667512" y="2505456"/>
            <a:ext cx="402336" cy="40233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step-3-n"/>
          <p:cNvSpPr txBox="1"/>
          <p:nvPr/>
        </p:nvSpPr>
        <p:spPr>
          <a:xfrm>
            <a:off x="667512" y="2505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tep-3-text"/>
          <p:cNvSpPr txBox="1"/>
          <p:nvPr/>
        </p:nvSpPr>
        <p:spPr>
          <a:xfrm>
            <a:off x="1216152" y="246888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Опыт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тот, что различит объяснения дешевле всего</a:t>
            </a:r>
            <a:endParaRPr lang="en-US" sz="1100" dirty="0"/>
          </a:p>
        </p:txBody>
      </p:sp>
      <p:sp>
        <p:nvSpPr>
          <p:cNvPr id="16" name="step-3-arrow"/>
          <p:cNvSpPr/>
          <p:nvPr/>
        </p:nvSpPr>
        <p:spPr>
          <a:xfrm>
            <a:off x="868680" y="2935224"/>
            <a:ext cx="0" cy="146304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7" name="step-4-dot"/>
          <p:cNvSpPr/>
          <p:nvPr/>
        </p:nvSpPr>
        <p:spPr>
          <a:xfrm>
            <a:off x="667512" y="310896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step-4-n"/>
          <p:cNvSpPr txBox="1"/>
          <p:nvPr/>
        </p:nvSpPr>
        <p:spPr>
          <a:xfrm>
            <a:off x="667512" y="3108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step-4-text"/>
          <p:cNvSpPr txBox="1"/>
          <p:nvPr/>
        </p:nvSpPr>
        <p:spPr>
          <a:xfrm>
            <a:off x="1216152" y="3072384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Вывод и действие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обновляет карту, маршрут и запас на возврат</a:t>
            </a:r>
            <a:endParaRPr lang="en-US" sz="1100" dirty="0"/>
          </a:p>
        </p:txBody>
      </p:sp>
      <p:sp>
        <p:nvSpPr>
          <p:cNvPr id="20" name="chart-title"/>
          <p:cNvSpPr txBox="1"/>
          <p:nvPr/>
        </p:nvSpPr>
        <p:spPr>
          <a:xfrm>
            <a:off x="4526280" y="1243584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Расход заряда вырос: вероятности объяснений</a:t>
            </a:r>
            <a:endParaRPr lang="en-US" sz="1050" dirty="0"/>
          </a:p>
        </p:txBody>
      </p:sp>
      <p:graphicFrame>
        <p:nvGraphicFramePr>
          <p:cNvPr id="21" name="inquiry-chart" descr="Вероятности четырёх объяснений до и после опыта: «грунт стал дороже» — с 47 до 100 процентов"/>
          <p:cNvGraphicFramePr/>
          <p:nvPr/>
        </p:nvGraphicFramePr>
        <p:xfrm>
          <a:off x="4434840" y="1463040"/>
          <a:ext cx="4041648" cy="22128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metric-1"/>
          <p:cNvSpPr/>
          <p:nvPr/>
        </p:nvSpPr>
        <p:spPr>
          <a:xfrm>
            <a:off x="667512" y="3877056"/>
            <a:ext cx="3822192" cy="713232"/>
          </a:xfrm>
          <a:prstGeom prst="roundRect">
            <a:avLst>
              <a:gd name="adj" fmla="val 38462"/>
            </a:avLst>
          </a:prstGeom>
          <a:solidFill>
            <a:schemeClr val="accent3"/>
          </a:solidFill>
          <a:ln/>
        </p:spPr>
      </p:sp>
      <p:sp>
        <p:nvSpPr>
          <p:cNvPr id="23" name="metric-1-value"/>
          <p:cNvSpPr txBox="1"/>
          <p:nvPr/>
        </p:nvSpPr>
        <p:spPr>
          <a:xfrm>
            <a:off x="923544" y="3877056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из 10</a:t>
            </a:r>
            <a:endParaRPr lang="en-US" sz="1700" dirty="0"/>
          </a:p>
        </p:txBody>
      </p:sp>
      <p:sp>
        <p:nvSpPr>
          <p:cNvPr id="24" name="metric-1-label"/>
          <p:cNvSpPr txBox="1"/>
          <p:nvPr/>
        </p:nvSpPr>
        <p:spPr>
          <a:xfrm>
            <a:off x="2148840" y="3877056"/>
            <a:ext cx="22128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гипотез, которые робот счёл подтверждёнными, верны по скрытой правде</a:t>
            </a:r>
            <a:endParaRPr lang="en-US" sz="950" dirty="0"/>
          </a:p>
        </p:txBody>
      </p:sp>
      <p:sp>
        <p:nvSpPr>
          <p:cNvPr id="25" name="metric-2"/>
          <p:cNvSpPr/>
          <p:nvPr/>
        </p:nvSpPr>
        <p:spPr>
          <a:xfrm>
            <a:off x="4654296" y="3877056"/>
            <a:ext cx="3822192" cy="713232"/>
          </a:xfrm>
          <a:prstGeom prst="roundRect">
            <a:avLst>
              <a:gd name="adj" fmla="val 38462"/>
            </a:avLst>
          </a:prstGeom>
          <a:solidFill>
            <a:schemeClr val="accent1"/>
          </a:solidFill>
          <a:ln/>
        </p:spPr>
      </p:sp>
      <p:sp>
        <p:nvSpPr>
          <p:cNvPr id="26" name="metric-2-value"/>
          <p:cNvSpPr txBox="1"/>
          <p:nvPr/>
        </p:nvSpPr>
        <p:spPr>
          <a:xfrm>
            <a:off x="4910328" y="3877056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6–7 раз</a:t>
            </a:r>
            <a:endParaRPr lang="en-US" sz="1700" dirty="0"/>
          </a:p>
        </p:txBody>
      </p:sp>
      <p:sp>
        <p:nvSpPr>
          <p:cNvPr id="27" name="metric-2-label"/>
          <p:cNvSpPr txBox="1"/>
          <p:nvPr/>
        </p:nvSpPr>
        <p:spPr>
          <a:xfrm>
            <a:off x="6135624" y="3877056"/>
            <a:ext cx="22128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меньше заряда на опыт, чем при случайном выборе опыта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19288" y="4773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67512" y="365760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8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Журнал гипотез: один прогон в Gazebo</a:t>
            </a:r>
            <a:endParaRPr lang="en-US" sz="228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67512" y="868680"/>
            <a:ext cx="7808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робот предположил, как проверил и чем закончилось — строки из журнала прогона показа</a:t>
            </a:r>
            <a:endParaRPr lang="en-US" sz="1150" dirty="0"/>
          </a:p>
        </p:txBody>
      </p:sp>
      <p:sp>
        <p:nvSpPr>
          <p:cNvPr id="5" name="track-tag"/>
          <p:cNvSpPr txBox="1"/>
          <p:nvPr/>
        </p:nvSpPr>
        <p:spPr>
          <a:xfrm>
            <a:off x="6656832" y="155448"/>
            <a:ext cx="1819656" cy="23774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Доп. трек · научный агент</a:t>
            </a:r>
            <a:endParaRPr lang="en-US" sz="900" dirty="0"/>
          </a:p>
        </p:txBody>
      </p:sp>
      <p:sp>
        <p:nvSpPr>
          <p:cNvPr id="6" name="journal-head-1"/>
          <p:cNvSpPr txBox="1"/>
          <p:nvPr/>
        </p:nvSpPr>
        <p:spPr>
          <a:xfrm>
            <a:off x="667512" y="124358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Время</a:t>
            </a:r>
            <a:endParaRPr lang="en-US" sz="950" dirty="0"/>
          </a:p>
        </p:txBody>
      </p:sp>
      <p:sp>
        <p:nvSpPr>
          <p:cNvPr id="7" name="journal-head-2"/>
          <p:cNvSpPr txBox="1"/>
          <p:nvPr/>
        </p:nvSpPr>
        <p:spPr>
          <a:xfrm>
            <a:off x="1298448" y="1243584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Гипотеза робота</a:t>
            </a:r>
            <a:endParaRPr lang="en-US" sz="950" dirty="0"/>
          </a:p>
        </p:txBody>
      </p:sp>
      <p:sp>
        <p:nvSpPr>
          <p:cNvPr id="8" name="journal-head-3"/>
          <p:cNvSpPr txBox="1"/>
          <p:nvPr/>
        </p:nvSpPr>
        <p:spPr>
          <a:xfrm>
            <a:off x="4206240" y="12435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проверил</a:t>
            </a:r>
            <a:endParaRPr lang="en-US" sz="950" dirty="0"/>
          </a:p>
        </p:txBody>
      </p:sp>
      <p:sp>
        <p:nvSpPr>
          <p:cNvPr id="9" name="journal-head-4"/>
          <p:cNvSpPr txBox="1"/>
          <p:nvPr/>
        </p:nvSpPr>
        <p:spPr>
          <a:xfrm>
            <a:off x="6583680" y="1243584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</a:t>
            </a:r>
            <a:endParaRPr lang="en-US" sz="950" dirty="0"/>
          </a:p>
        </p:txBody>
      </p:sp>
      <p:sp>
        <p:nvSpPr>
          <p:cNvPr id="10" name="journal-1-rule"/>
          <p:cNvSpPr/>
          <p:nvPr/>
        </p:nvSpPr>
        <p:spPr>
          <a:xfrm>
            <a:off x="667512" y="1499616"/>
            <a:ext cx="7808976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11" name="journal-1-t"/>
          <p:cNvSpPr txBox="1"/>
          <p:nvPr/>
        </p:nvSpPr>
        <p:spPr>
          <a:xfrm>
            <a:off x="667512" y="1499616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с</a:t>
            </a:r>
            <a:endParaRPr lang="en-US" sz="1050" dirty="0"/>
          </a:p>
        </p:txBody>
      </p:sp>
      <p:sp>
        <p:nvSpPr>
          <p:cNvPr id="12" name="journal-1-hyp"/>
          <p:cNvSpPr txBox="1"/>
          <p:nvPr/>
        </p:nvSpPr>
        <p:spPr>
          <a:xfrm>
            <a:off x="1298448" y="149961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образец лежит около (−2,4; 0,5)</a:t>
            </a:r>
            <a:endParaRPr lang="en-US" sz="1000" dirty="0"/>
          </a:p>
        </p:txBody>
      </p:sp>
      <p:sp>
        <p:nvSpPr>
          <p:cNvPr id="13" name="journal-1-test"/>
          <p:cNvSpPr txBox="1"/>
          <p:nvPr/>
        </p:nvSpPr>
        <p:spPr>
          <a:xfrm>
            <a:off x="4206240" y="14996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подъехать вплотную и попробовать собрать</a:t>
            </a:r>
            <a:endParaRPr lang="en-US" sz="1000" dirty="0"/>
          </a:p>
        </p:txBody>
      </p:sp>
      <p:sp>
        <p:nvSpPr>
          <p:cNvPr id="14" name="journal-1-dot"/>
          <p:cNvSpPr/>
          <p:nvPr/>
        </p:nvSpPr>
        <p:spPr>
          <a:xfrm>
            <a:off x="6583680" y="1664208"/>
            <a:ext cx="128016" cy="128016"/>
          </a:xfrm>
          <a:prstGeom prst="ellipse">
            <a:avLst/>
          </a:prstGeom>
          <a:solidFill>
            <a:srgbClr val="2E9E73"/>
          </a:solidFill>
          <a:ln/>
        </p:spPr>
      </p:sp>
      <p:sp>
        <p:nvSpPr>
          <p:cNvPr id="15" name="journal-1-verdict"/>
          <p:cNvSpPr txBox="1"/>
          <p:nvPr/>
        </p:nvSpPr>
        <p:spPr>
          <a:xfrm>
            <a:off x="6784848" y="149961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подтверждена: образец собран</a:t>
            </a:r>
            <a:endParaRPr lang="en-US" sz="1000" dirty="0"/>
          </a:p>
        </p:txBody>
      </p:sp>
      <p:sp>
        <p:nvSpPr>
          <p:cNvPr id="16" name="journal-2-rule"/>
          <p:cNvSpPr/>
          <p:nvPr/>
        </p:nvSpPr>
        <p:spPr>
          <a:xfrm>
            <a:off x="667512" y="1956816"/>
            <a:ext cx="7808976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17" name="journal-2-t"/>
          <p:cNvSpPr txBox="1"/>
          <p:nvPr/>
        </p:nvSpPr>
        <p:spPr>
          <a:xfrm>
            <a:off x="667512" y="1956816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 с</a:t>
            </a:r>
            <a:endParaRPr lang="en-US" sz="1050" dirty="0"/>
          </a:p>
        </p:txBody>
      </p:sp>
      <p:sp>
        <p:nvSpPr>
          <p:cNvPr id="18" name="journal-2-hyp"/>
          <p:cNvSpPr txBox="1"/>
          <p:nvPr/>
        </p:nvSpPr>
        <p:spPr>
          <a:xfrm>
            <a:off x="1298448" y="195681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расход вырос: грунт стал дороже, утечка заряда или дорогие повороты?</a:t>
            </a:r>
            <a:endParaRPr lang="en-US" sz="1000" dirty="0"/>
          </a:p>
        </p:txBody>
      </p:sp>
      <p:sp>
        <p:nvSpPr>
          <p:cNvPr id="19" name="journal-2-test"/>
          <p:cNvSpPr txBox="1"/>
          <p:nvPr/>
        </p:nvSpPr>
        <p:spPr>
          <a:xfrm>
            <a:off x="4206240" y="19568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опыт: постоять 2 с и измерить расход</a:t>
            </a:r>
            <a:endParaRPr lang="en-US" sz="1000" dirty="0"/>
          </a:p>
        </p:txBody>
      </p:sp>
      <p:sp>
        <p:nvSpPr>
          <p:cNvPr id="20" name="journal-2-dot"/>
          <p:cNvSpPr/>
          <p:nvPr/>
        </p:nvSpPr>
        <p:spPr>
          <a:xfrm>
            <a:off x="6583680" y="2121408"/>
            <a:ext cx="128016" cy="128016"/>
          </a:xfrm>
          <a:prstGeom prst="ellipse">
            <a:avLst/>
          </a:prstGeom>
          <a:solidFill>
            <a:srgbClr val="2E9E73"/>
          </a:solidFill>
          <a:ln/>
        </p:spPr>
      </p:sp>
      <p:sp>
        <p:nvSpPr>
          <p:cNvPr id="21" name="journal-2-verdict"/>
          <p:cNvSpPr txBox="1"/>
          <p:nvPr/>
        </p:nvSpPr>
        <p:spPr>
          <a:xfrm>
            <a:off x="6784848" y="195681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грунт стал дороже — 99,8%</a:t>
            </a:r>
            <a:endParaRPr lang="en-US" sz="1000" dirty="0"/>
          </a:p>
        </p:txBody>
      </p:sp>
      <p:sp>
        <p:nvSpPr>
          <p:cNvPr id="22" name="journal-3-rule"/>
          <p:cNvSpPr/>
          <p:nvPr/>
        </p:nvSpPr>
        <p:spPr>
          <a:xfrm>
            <a:off x="667512" y="2414016"/>
            <a:ext cx="7808976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23" name="journal-3-t"/>
          <p:cNvSpPr txBox="1"/>
          <p:nvPr/>
        </p:nvSpPr>
        <p:spPr>
          <a:xfrm>
            <a:off x="667512" y="2414016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 с</a:t>
            </a:r>
            <a:endParaRPr lang="en-US" sz="1050" dirty="0"/>
          </a:p>
        </p:txBody>
      </p:sp>
      <p:sp>
        <p:nvSpPr>
          <p:cNvPr id="24" name="journal-3-hyp"/>
          <p:cNvSpPr txBox="1"/>
          <p:nvPr/>
        </p:nvSpPr>
        <p:spPr>
          <a:xfrm>
            <a:off x="1298448" y="241401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около (0,5; 1,3) грунт дороже обычного в 2,6 раза</a:t>
            </a:r>
            <a:endParaRPr lang="en-US" sz="1000" dirty="0"/>
          </a:p>
        </p:txBody>
      </p:sp>
      <p:sp>
        <p:nvSpPr>
          <p:cNvPr id="25" name="journal-3-test"/>
          <p:cNvSpPr txBox="1"/>
          <p:nvPr/>
        </p:nvSpPr>
        <p:spPr>
          <a:xfrm>
            <a:off x="4206240" y="24140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сравнить расход на следующих 0,3 м</a:t>
            </a:r>
            <a:endParaRPr lang="en-US" sz="1000" dirty="0"/>
          </a:p>
        </p:txBody>
      </p:sp>
      <p:sp>
        <p:nvSpPr>
          <p:cNvPr id="26" name="journal-3-dot"/>
          <p:cNvSpPr/>
          <p:nvPr/>
        </p:nvSpPr>
        <p:spPr>
          <a:xfrm>
            <a:off x="6583680" y="2578608"/>
            <a:ext cx="128016" cy="128016"/>
          </a:xfrm>
          <a:prstGeom prst="ellipse">
            <a:avLst/>
          </a:prstGeom>
          <a:solidFill>
            <a:srgbClr val="8A94A6"/>
          </a:solidFill>
          <a:ln/>
        </p:spPr>
      </p:sp>
      <p:sp>
        <p:nvSpPr>
          <p:cNvPr id="27" name="journal-3-verdict"/>
          <p:cNvSpPr txBox="1"/>
          <p:nvPr/>
        </p:nvSpPr>
        <p:spPr>
          <a:xfrm>
            <a:off x="6784848" y="241401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осталась открытой</a:t>
            </a:r>
            <a:endParaRPr lang="en-US" sz="1000" dirty="0"/>
          </a:p>
        </p:txBody>
      </p:sp>
      <p:sp>
        <p:nvSpPr>
          <p:cNvPr id="28" name="journal-4-rule"/>
          <p:cNvSpPr/>
          <p:nvPr/>
        </p:nvSpPr>
        <p:spPr>
          <a:xfrm>
            <a:off x="667512" y="2871216"/>
            <a:ext cx="7808976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29" name="journal-4-t"/>
          <p:cNvSpPr txBox="1"/>
          <p:nvPr/>
        </p:nvSpPr>
        <p:spPr>
          <a:xfrm>
            <a:off x="667512" y="2871216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 с</a:t>
            </a:r>
            <a:endParaRPr lang="en-US" sz="1050" dirty="0"/>
          </a:p>
        </p:txBody>
      </p:sp>
      <p:sp>
        <p:nvSpPr>
          <p:cNvPr id="30" name="journal-4-hyp"/>
          <p:cNvSpPr txBox="1"/>
          <p:nvPr/>
        </p:nvSpPr>
        <p:spPr>
          <a:xfrm>
            <a:off x="1298448" y="287121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разброс датчика вырос: шум, залипание или смещение?</a:t>
            </a:r>
            <a:endParaRPr lang="en-US" sz="1000" dirty="0"/>
          </a:p>
        </p:txBody>
      </p:sp>
      <p:sp>
        <p:nvSpPr>
          <p:cNvPr id="31" name="journal-4-test"/>
          <p:cNvSpPr txBox="1"/>
          <p:nvPr/>
        </p:nvSpPr>
        <p:spPr>
          <a:xfrm>
            <a:off x="4206240" y="28712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опыт: постоять 2 с и измерить разброс</a:t>
            </a:r>
            <a:endParaRPr lang="en-US" sz="1000" dirty="0"/>
          </a:p>
        </p:txBody>
      </p:sp>
      <p:sp>
        <p:nvSpPr>
          <p:cNvPr id="32" name="journal-4-dot"/>
          <p:cNvSpPr/>
          <p:nvPr/>
        </p:nvSpPr>
        <p:spPr>
          <a:xfrm>
            <a:off x="6583680" y="3035808"/>
            <a:ext cx="128016" cy="128016"/>
          </a:xfrm>
          <a:prstGeom prst="ellipse">
            <a:avLst/>
          </a:prstGeom>
          <a:solidFill>
            <a:srgbClr val="2E9E73"/>
          </a:solidFill>
          <a:ln/>
        </p:spPr>
      </p:sp>
      <p:sp>
        <p:nvSpPr>
          <p:cNvPr id="33" name="journal-4-verdict"/>
          <p:cNvSpPr txBox="1"/>
          <p:nvPr/>
        </p:nvSpPr>
        <p:spPr>
          <a:xfrm>
            <a:off x="6784848" y="287121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шум датчика — 96%</a:t>
            </a:r>
            <a:endParaRPr lang="en-US" sz="1000" dirty="0"/>
          </a:p>
        </p:txBody>
      </p:sp>
      <p:sp>
        <p:nvSpPr>
          <p:cNvPr id="34" name="journal-5-rule"/>
          <p:cNvSpPr/>
          <p:nvPr/>
        </p:nvSpPr>
        <p:spPr>
          <a:xfrm>
            <a:off x="667512" y="3328416"/>
            <a:ext cx="7808976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35" name="journal-5-t"/>
          <p:cNvSpPr txBox="1"/>
          <p:nvPr/>
        </p:nvSpPr>
        <p:spPr>
          <a:xfrm>
            <a:off x="667512" y="3328416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106 с</a:t>
            </a:r>
            <a:endParaRPr lang="en-US" sz="1050" dirty="0"/>
          </a:p>
        </p:txBody>
      </p:sp>
      <p:sp>
        <p:nvSpPr>
          <p:cNvPr id="36" name="journal-5-hyp"/>
          <p:cNvSpPr txBox="1"/>
          <p:nvPr/>
        </p:nvSpPr>
        <p:spPr>
          <a:xfrm>
            <a:off x="1298448" y="332841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около (0,9; −1,8) грунт дороже обычного в 2,8 раза</a:t>
            </a:r>
            <a:endParaRPr lang="en-US" sz="1000" dirty="0"/>
          </a:p>
        </p:txBody>
      </p:sp>
      <p:sp>
        <p:nvSpPr>
          <p:cNvPr id="37" name="journal-5-test"/>
          <p:cNvSpPr txBox="1"/>
          <p:nvPr/>
        </p:nvSpPr>
        <p:spPr>
          <a:xfrm>
            <a:off x="4206240" y="33284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сравнить расход на следующих 0,3 м</a:t>
            </a:r>
            <a:endParaRPr lang="en-US" sz="1000" dirty="0"/>
          </a:p>
        </p:txBody>
      </p:sp>
      <p:sp>
        <p:nvSpPr>
          <p:cNvPr id="38" name="journal-5-dot"/>
          <p:cNvSpPr/>
          <p:nvPr/>
        </p:nvSpPr>
        <p:spPr>
          <a:xfrm>
            <a:off x="6583680" y="3493008"/>
            <a:ext cx="128016" cy="128016"/>
          </a:xfrm>
          <a:prstGeom prst="ellipse">
            <a:avLst/>
          </a:prstGeom>
          <a:solidFill>
            <a:srgbClr val="2E9E73"/>
          </a:solidFill>
          <a:ln/>
        </p:spPr>
      </p:sp>
      <p:sp>
        <p:nvSpPr>
          <p:cNvPr id="39" name="journal-5-verdict"/>
          <p:cNvSpPr txBox="1"/>
          <p:nvPr/>
        </p:nvSpPr>
        <p:spPr>
          <a:xfrm>
            <a:off x="6784848" y="332841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подтверждена: расход ×3,5</a:t>
            </a:r>
            <a:endParaRPr lang="en-US" sz="1000" dirty="0"/>
          </a:p>
        </p:txBody>
      </p:sp>
      <p:sp>
        <p:nvSpPr>
          <p:cNvPr id="40" name="journal-tile-1"/>
          <p:cNvSpPr/>
          <p:nvPr/>
        </p:nvSpPr>
        <p:spPr>
          <a:xfrm>
            <a:off x="667512" y="3913632"/>
            <a:ext cx="2505456" cy="694944"/>
          </a:xfrm>
          <a:prstGeom prst="roundRect">
            <a:avLst>
              <a:gd name="adj" fmla="val 39474"/>
            </a:avLst>
          </a:prstGeom>
          <a:solidFill>
            <a:schemeClr val="accent1"/>
          </a:solidFill>
          <a:ln/>
        </p:spPr>
      </p:sp>
      <p:sp>
        <p:nvSpPr>
          <p:cNvPr id="41" name="journal-tile-1-value"/>
          <p:cNvSpPr txBox="1"/>
          <p:nvPr/>
        </p:nvSpPr>
        <p:spPr>
          <a:xfrm>
            <a:off x="896112" y="39410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гипотез за прогон</a:t>
            </a:r>
            <a:endParaRPr lang="en-US" sz="1400" dirty="0"/>
          </a:p>
        </p:txBody>
      </p:sp>
      <p:sp>
        <p:nvSpPr>
          <p:cNvPr id="42" name="journal-tile-1-label"/>
          <p:cNvSpPr txBox="1"/>
          <p:nvPr/>
        </p:nvSpPr>
        <p:spPr>
          <a:xfrm>
            <a:off x="896112" y="42062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подтверждены, 3 остались открытыми</a:t>
            </a:r>
            <a:endParaRPr lang="en-US" sz="900" dirty="0"/>
          </a:p>
        </p:txBody>
      </p:sp>
      <p:sp>
        <p:nvSpPr>
          <p:cNvPr id="43" name="journal-tile-2"/>
          <p:cNvSpPr/>
          <p:nvPr/>
        </p:nvSpPr>
        <p:spPr>
          <a:xfrm>
            <a:off x="3319272" y="3913632"/>
            <a:ext cx="2505456" cy="694944"/>
          </a:xfrm>
          <a:prstGeom prst="roundRect">
            <a:avLst>
              <a:gd name="adj" fmla="val 39474"/>
            </a:avLst>
          </a:prstGeom>
          <a:solidFill>
            <a:schemeClr val="accent2"/>
          </a:solidFill>
          <a:ln/>
        </p:spPr>
      </p:sp>
      <p:sp>
        <p:nvSpPr>
          <p:cNvPr id="44" name="journal-tile-2-value"/>
          <p:cNvSpPr txBox="1"/>
          <p:nvPr/>
        </p:nvSpPr>
        <p:spPr>
          <a:xfrm>
            <a:off x="3547872" y="39410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расследования</a:t>
            </a:r>
            <a:endParaRPr lang="en-US" sz="1400" dirty="0"/>
          </a:p>
        </p:txBody>
      </p:sp>
      <p:sp>
        <p:nvSpPr>
          <p:cNvPr id="45" name="journal-tile-2-label"/>
          <p:cNvSpPr txBox="1"/>
          <p:nvPr/>
        </p:nvSpPr>
        <p:spPr>
          <a:xfrm>
            <a:off x="3547872" y="42062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опыт выбран по информации на единицу заряда</a:t>
            </a:r>
            <a:endParaRPr lang="en-US" sz="900" dirty="0"/>
          </a:p>
        </p:txBody>
      </p:sp>
      <p:sp>
        <p:nvSpPr>
          <p:cNvPr id="46" name="journal-tile-3"/>
          <p:cNvSpPr/>
          <p:nvPr/>
        </p:nvSpPr>
        <p:spPr>
          <a:xfrm>
            <a:off x="5971032" y="3913632"/>
            <a:ext cx="2505456" cy="694944"/>
          </a:xfrm>
          <a:prstGeom prst="roundRect">
            <a:avLst>
              <a:gd name="adj" fmla="val 39474"/>
            </a:avLst>
          </a:prstGeom>
          <a:solidFill>
            <a:schemeClr val="accent3"/>
          </a:solidFill>
          <a:ln/>
        </p:spPr>
      </p:sp>
      <p:sp>
        <p:nvSpPr>
          <p:cNvPr id="47" name="journal-tile-3-value"/>
          <p:cNvSpPr txBox="1"/>
          <p:nvPr/>
        </p:nvSpPr>
        <p:spPr>
          <a:xfrm>
            <a:off x="6199632" y="39410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из 10</a:t>
            </a:r>
            <a:endParaRPr lang="en-US" sz="1400" dirty="0"/>
          </a:p>
        </p:txBody>
      </p:sp>
      <p:sp>
        <p:nvSpPr>
          <p:cNvPr id="48" name="journal-tile-3-label"/>
          <p:cNvSpPr txBox="1"/>
          <p:nvPr/>
        </p:nvSpPr>
        <p:spPr>
          <a:xfrm>
            <a:off x="6199632" y="42062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подтверждённых гипотез верны по скрытой правде (серии прогонов)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19288" y="4773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67512" y="365760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8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Языковая модель: задание словами</a:t>
            </a:r>
            <a:endParaRPr lang="en-US" sz="228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67512" y="868680"/>
            <a:ext cx="7808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Задание меняется фразой — код робота остаётся тем же</a:t>
            </a:r>
            <a:endParaRPr lang="en-US" sz="1150" dirty="0"/>
          </a:p>
        </p:txBody>
      </p:sp>
      <p:sp>
        <p:nvSpPr>
          <p:cNvPr id="5" name="mission-pill"/>
          <p:cNvSpPr/>
          <p:nvPr/>
        </p:nvSpPr>
        <p:spPr>
          <a:xfrm>
            <a:off x="667512" y="1225296"/>
            <a:ext cx="7808976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6" name="mission-text"/>
          <p:cNvSpPr txBox="1"/>
          <p:nvPr/>
        </p:nvSpPr>
        <p:spPr>
          <a:xfrm>
            <a:off x="923544" y="1225296"/>
            <a:ext cx="7351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«Собери ровно два образца, не заезжая в правую половину арены, и сразу возвращайся на базу»</a:t>
            </a:r>
            <a:endParaRPr lang="en-US" sz="1100" dirty="0"/>
          </a:p>
        </p:txBody>
      </p:sp>
      <p:pic>
        <p:nvPicPr>
          <p:cNvPr id="7" name="pair_llm_combo" descr="Две карты одной арены с запретной правой половиной: робот с правилом собирает все образцы и заезжает в неё, робот с языковой моделью собирает два образца в левой половине и возвращаетс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682496"/>
            <a:ext cx="4206240" cy="1912160"/>
          </a:xfrm>
          <a:prstGeom prst="rect">
            <a:avLst/>
          </a:prstGeom>
        </p:spPr>
      </p:pic>
      <p:sp>
        <p:nvSpPr>
          <p:cNvPr id="8" name="cap-left"/>
          <p:cNvSpPr txBox="1"/>
          <p:nvPr/>
        </p:nvSpPr>
        <p:spPr>
          <a:xfrm>
            <a:off x="896112" y="363123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Правило: текст не читает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собрал все 5 и заехал в запретную половину</a:t>
            </a:r>
            <a:endParaRPr lang="en-US" sz="1100" dirty="0"/>
          </a:p>
        </p:txBody>
      </p:sp>
      <p:sp>
        <p:nvSpPr>
          <p:cNvPr id="9" name="cap-right"/>
          <p:cNvSpPr txBox="1"/>
          <p:nvPr/>
        </p:nvSpPr>
        <p:spPr>
          <a:xfrm>
            <a:off x="3044952" y="363123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 языковой моделью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образца в разрешённой половине — и на базу</a:t>
            </a:r>
            <a:endParaRPr lang="en-US" sz="1100" dirty="0"/>
          </a:p>
        </p:txBody>
      </p:sp>
      <p:sp>
        <p:nvSpPr>
          <p:cNvPr id="10" name="stat-circle"/>
          <p:cNvSpPr/>
          <p:nvPr/>
        </p:nvSpPr>
        <p:spPr>
          <a:xfrm>
            <a:off x="6144768" y="1682496"/>
            <a:ext cx="2103120" cy="21031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stat-value"/>
          <p:cNvSpPr txBox="1"/>
          <p:nvPr/>
        </p:nvSpPr>
        <p:spPr>
          <a:xfrm>
            <a:off x="6144768" y="210312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C5C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из 12</a:t>
            </a:r>
            <a:endParaRPr lang="en-US" sz="2800" dirty="0"/>
          </a:p>
        </p:txBody>
      </p:sp>
      <p:sp>
        <p:nvSpPr>
          <p:cNvPr id="12" name="stat-lines"/>
          <p:cNvSpPr txBox="1"/>
          <p:nvPr/>
        </p:nvSpPr>
        <p:spPr>
          <a:xfrm>
            <a:off x="6236208" y="263347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прогонов с этим заданием</a:t>
            </a:r>
            <a:endParaRPr 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выполняет модель;</a:t>
            </a:r>
            <a:endParaRPr 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правило — 0 из 12</a:t>
            </a:r>
            <a:endParaRPr lang="en-US" sz="950" dirty="0"/>
          </a:p>
        </p:txBody>
      </p:sp>
      <p:sp>
        <p:nvSpPr>
          <p:cNvPr id="13" name="llm-note"/>
          <p:cNvSpPr txBox="1"/>
          <p:nvPr/>
        </p:nvSpPr>
        <p:spPr>
          <a:xfrm>
            <a:off x="5897880" y="3840480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Быстрый симулятор; время ответа модели не учитывается</a:t>
            </a:r>
            <a:endParaRPr lang="en-US" sz="850" dirty="0"/>
          </a:p>
        </p:txBody>
      </p:sp>
      <p:sp>
        <p:nvSpPr>
          <p:cNvPr id="14" name="other-pill"/>
          <p:cNvSpPr/>
          <p:nvPr/>
        </p:nvSpPr>
        <p:spPr>
          <a:xfrm>
            <a:off x="667512" y="4224528"/>
            <a:ext cx="7808976" cy="38404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5" name="other-text"/>
          <p:cNvSpPr txBox="1"/>
          <p:nvPr/>
        </p:nvSpPr>
        <p:spPr>
          <a:xfrm>
            <a:off x="923544" y="4224528"/>
            <a:ext cx="7351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Ещё четыре задания другими фразами,  </a:t>
            </a:r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например «сохрани 30 единиц заряда»: 45–46 из 48 прогонов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19288" y="4773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67512" y="365760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8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робот помнит: три памяти</a:t>
            </a:r>
            <a:endParaRPr lang="en-US" sz="228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67512" y="868680"/>
            <a:ext cx="7808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Карта живёт один прогон; в файл между прогонами идёт только то, что робот узнал сам</a:t>
            </a:r>
            <a:endParaRPr lang="en-US" sz="1150" dirty="0"/>
          </a:p>
        </p:txBody>
      </p:sp>
      <p:sp>
        <p:nvSpPr>
          <p:cNvPr id="5" name="level-tag"/>
          <p:cNvSpPr txBox="1"/>
          <p:nvPr/>
        </p:nvSpPr>
        <p:spPr>
          <a:xfrm>
            <a:off x="6898234" y="155448"/>
            <a:ext cx="1578254" cy="23774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Уровень 4 · адаптация</a:t>
            </a:r>
            <a:endParaRPr lang="en-US" sz="900" dirty="0"/>
          </a:p>
        </p:txBody>
      </p:sp>
      <p:sp>
        <p:nvSpPr>
          <p:cNvPr id="6" name="memory-1-card"/>
          <p:cNvSpPr/>
          <p:nvPr/>
        </p:nvSpPr>
        <p:spPr>
          <a:xfrm>
            <a:off x="667512" y="1298448"/>
            <a:ext cx="2487168" cy="2487168"/>
          </a:xfrm>
          <a:prstGeom prst="roundRect">
            <a:avLst>
              <a:gd name="adj" fmla="val 9559"/>
            </a:avLst>
          </a:prstGeom>
          <a:solidFill>
            <a:schemeClr val="accent1"/>
          </a:solidFill>
          <a:ln/>
        </p:spPr>
      </p:sp>
      <p:sp>
        <p:nvSpPr>
          <p:cNvPr id="7" name="memory-1-head"/>
          <p:cNvSpPr txBox="1"/>
          <p:nvPr/>
        </p:nvSpPr>
        <p:spPr>
          <a:xfrm>
            <a:off x="868680" y="1426464"/>
            <a:ext cx="2121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Карта мира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внутри одного прогона</a:t>
            </a:r>
            <a:endParaRPr lang="en-US" sz="1100" dirty="0"/>
          </a:p>
        </p:txBody>
      </p:sp>
      <p:sp>
        <p:nvSpPr>
          <p:cNvPr id="8" name="memory-1-row-1"/>
          <p:cNvSpPr txBox="1"/>
          <p:nvPr/>
        </p:nvSpPr>
        <p:spPr>
          <a:xfrm>
            <a:off x="868680" y="202996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хранит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вероятные места образцов, цена грунта, опасные зоны</a:t>
            </a:r>
            <a:endParaRPr lang="en-US" sz="1100" dirty="0"/>
          </a:p>
        </p:txBody>
      </p:sp>
      <p:sp>
        <p:nvSpPr>
          <p:cNvPr id="9" name="memory-1-row-2"/>
          <p:cNvSpPr txBox="1"/>
          <p:nvPr/>
        </p:nvSpPr>
        <p:spPr>
          <a:xfrm>
            <a:off x="868680" y="274320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Сколько живёт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один прогон, потом пусто</a:t>
            </a:r>
            <a:endParaRPr lang="en-US" sz="1100" dirty="0"/>
          </a:p>
        </p:txBody>
      </p:sp>
      <p:sp>
        <p:nvSpPr>
          <p:cNvPr id="10" name="memory-1-row-3"/>
          <p:cNvSpPr txBox="1"/>
          <p:nvPr/>
        </p:nvSpPr>
        <p:spPr>
          <a:xfrm>
            <a:off x="868680" y="3255264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дала по измерениям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основа всех решений робота</a:t>
            </a:r>
            <a:endParaRPr lang="en-US" sz="1100" dirty="0"/>
          </a:p>
        </p:txBody>
      </p:sp>
      <p:sp>
        <p:nvSpPr>
          <p:cNvPr id="11" name="memory-2-card"/>
          <p:cNvSpPr/>
          <p:nvPr/>
        </p:nvSpPr>
        <p:spPr>
          <a:xfrm>
            <a:off x="3328416" y="1298448"/>
            <a:ext cx="2487168" cy="2487168"/>
          </a:xfrm>
          <a:prstGeom prst="roundRect">
            <a:avLst>
              <a:gd name="adj" fmla="val 9559"/>
            </a:avLst>
          </a:prstGeom>
          <a:solidFill>
            <a:schemeClr val="accent3"/>
          </a:solidFill>
          <a:ln/>
        </p:spPr>
      </p:sp>
      <p:sp>
        <p:nvSpPr>
          <p:cNvPr id="12" name="memory-2-head"/>
          <p:cNvSpPr txBox="1"/>
          <p:nvPr/>
        </p:nvSpPr>
        <p:spPr>
          <a:xfrm>
            <a:off x="3529584" y="1426464"/>
            <a:ext cx="2121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Законы среды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между прогонами · любая карта</a:t>
            </a:r>
            <a:endParaRPr lang="en-US" sz="1100" dirty="0"/>
          </a:p>
        </p:txBody>
      </p:sp>
      <p:sp>
        <p:nvSpPr>
          <p:cNvPr id="13" name="memory-2-row-1"/>
          <p:cNvSpPr txBox="1"/>
          <p:nvPr/>
        </p:nvSpPr>
        <p:spPr>
          <a:xfrm>
            <a:off x="3529584" y="202996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хранит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числа: цена метра, поворота и простоя, длительность сбоя, утечка заряда</a:t>
            </a:r>
            <a:endParaRPr lang="en-US" sz="1100" dirty="0"/>
          </a:p>
        </p:txBody>
      </p:sp>
      <p:sp>
        <p:nvSpPr>
          <p:cNvPr id="14" name="memory-2-row-2"/>
          <p:cNvSpPr txBox="1"/>
          <p:nvPr/>
        </p:nvSpPr>
        <p:spPr>
          <a:xfrm>
            <a:off x="3529584" y="274320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Сколько живёт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файл, копится от прогона к прогону</a:t>
            </a:r>
            <a:endParaRPr lang="en-US" sz="1100" dirty="0"/>
          </a:p>
        </p:txBody>
      </p:sp>
      <p:sp>
        <p:nvSpPr>
          <p:cNvPr id="15" name="memory-2-row-3"/>
          <p:cNvSpPr txBox="1"/>
          <p:nvPr/>
        </p:nvSpPr>
        <p:spPr>
          <a:xfrm>
            <a:off x="3529584" y="3255264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дала по измерениям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выигрыш не показан (опыт E11)</a:t>
            </a:r>
            <a:endParaRPr lang="en-US" sz="1100" dirty="0"/>
          </a:p>
        </p:txBody>
      </p:sp>
      <p:sp>
        <p:nvSpPr>
          <p:cNvPr id="16" name="memory-3-card"/>
          <p:cNvSpPr/>
          <p:nvPr/>
        </p:nvSpPr>
        <p:spPr>
          <a:xfrm>
            <a:off x="5989320" y="1298448"/>
            <a:ext cx="2487168" cy="2487168"/>
          </a:xfrm>
          <a:prstGeom prst="roundRect">
            <a:avLst>
              <a:gd name="adj" fmla="val 9559"/>
            </a:avLst>
          </a:prstGeom>
          <a:solidFill>
            <a:schemeClr val="accent2"/>
          </a:solidFill>
          <a:ln/>
        </p:spPr>
      </p:sp>
      <p:sp>
        <p:nvSpPr>
          <p:cNvPr id="17" name="memory-3-head"/>
          <p:cNvSpPr txBox="1"/>
          <p:nvPr/>
        </p:nvSpPr>
        <p:spPr>
          <a:xfrm>
            <a:off x="6190488" y="1426464"/>
            <a:ext cx="2121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Память о лаборатории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между прогонами · та же арена</a:t>
            </a:r>
            <a:endParaRPr lang="en-US" sz="1100" dirty="0"/>
          </a:p>
        </p:txBody>
      </p:sp>
      <p:sp>
        <p:nvSpPr>
          <p:cNvPr id="18" name="memory-3-row-1"/>
          <p:cNvSpPr txBox="1"/>
          <p:nvPr/>
        </p:nvSpPr>
        <p:spPr>
          <a:xfrm>
            <a:off x="6190488" y="202996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хранит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места: где пришёл штраф за зону и где пол дорогой; мест образцов нет</a:t>
            </a:r>
            <a:endParaRPr lang="en-US" sz="1100" dirty="0"/>
          </a:p>
        </p:txBody>
      </p:sp>
      <p:sp>
        <p:nvSpPr>
          <p:cNvPr id="19" name="memory-3-row-2"/>
          <p:cNvSpPr txBox="1"/>
          <p:nvPr/>
        </p:nvSpPr>
        <p:spPr>
          <a:xfrm>
            <a:off x="6190488" y="274320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Сколько живёт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файл; арену переставили — стереть</a:t>
            </a:r>
            <a:endParaRPr lang="en-US" sz="1100" dirty="0"/>
          </a:p>
        </p:txBody>
      </p:sp>
      <p:sp>
        <p:nvSpPr>
          <p:cNvPr id="20" name="memory-3-row-3"/>
          <p:cNvSpPr txBox="1"/>
          <p:nvPr/>
        </p:nvSpPr>
        <p:spPr>
          <a:xfrm>
            <a:off x="6190488" y="3255264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дала по измерениям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+4,3 очка [2,4; 6,3] во втором прогоне</a:t>
            </a:r>
            <a:endParaRPr lang="en-US" sz="1100" dirty="0"/>
          </a:p>
        </p:txBody>
      </p:sp>
      <p:sp>
        <p:nvSpPr>
          <p:cNvPr id="21" name="flow-run-1"/>
          <p:cNvSpPr txBox="1"/>
          <p:nvPr/>
        </p:nvSpPr>
        <p:spPr>
          <a:xfrm>
            <a:off x="667512" y="3968496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3D63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Прогон 1</a:t>
            </a:r>
            <a:endParaRPr lang="en-US" sz="1050" dirty="0"/>
          </a:p>
        </p:txBody>
      </p:sp>
      <p:sp>
        <p:nvSpPr>
          <p:cNvPr id="22" name="flow-arrow-1"/>
          <p:cNvSpPr/>
          <p:nvPr/>
        </p:nvSpPr>
        <p:spPr>
          <a:xfrm>
            <a:off x="1883664" y="4151376"/>
            <a:ext cx="310896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3" name="flow-file"/>
          <p:cNvSpPr txBox="1"/>
          <p:nvPr/>
        </p:nvSpPr>
        <p:spPr>
          <a:xfrm>
            <a:off x="2267712" y="3968496"/>
            <a:ext cx="384048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файлы памяти: законы среды · места в лаборатории</a:t>
            </a:r>
            <a:endParaRPr lang="en-US" sz="1050" dirty="0"/>
          </a:p>
        </p:txBody>
      </p:sp>
      <p:sp>
        <p:nvSpPr>
          <p:cNvPr id="24" name="flow-arrow-2"/>
          <p:cNvSpPr/>
          <p:nvPr/>
        </p:nvSpPr>
        <p:spPr>
          <a:xfrm>
            <a:off x="6181344" y="4151376"/>
            <a:ext cx="310896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5" name="flow-run-2"/>
          <p:cNvSpPr txBox="1"/>
          <p:nvPr/>
        </p:nvSpPr>
        <p:spPr>
          <a:xfrm>
            <a:off x="6565392" y="3968496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3D63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Прогон 2</a:t>
            </a:r>
            <a:endParaRPr lang="en-US" sz="1050" dirty="0"/>
          </a:p>
        </p:txBody>
      </p:sp>
      <p:sp>
        <p:nvSpPr>
          <p:cNvPr id="26" name="flow-note"/>
          <p:cNvSpPr txBox="1"/>
          <p:nvPr/>
        </p:nvSpPr>
        <p:spPr>
          <a:xfrm>
            <a:off x="667512" y="4407408"/>
            <a:ext cx="7808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Память — предположение: проехал запомненное место без штрафа — зона снята. Правды судьи в файлах нет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19288" y="4773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67512" y="365760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8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Итоги: что подтвердилось, а что нет</a:t>
            </a:r>
            <a:endParaRPr lang="en-US" sz="228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67512" y="868680"/>
            <a:ext cx="7808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Разность счёта на одних и тех же трудных сценариях, быстрый симулятор; отрезок — 95% интервал</a:t>
            </a:r>
            <a:endParaRPr lang="en-US" sz="1150" dirty="0"/>
          </a:p>
        </p:txBody>
      </p:sp>
      <p:sp>
        <p:nvSpPr>
          <p:cNvPr id="5" name="res-axis-zero"/>
          <p:cNvSpPr/>
          <p:nvPr/>
        </p:nvSpPr>
        <p:spPr>
          <a:xfrm>
            <a:off x="6199632" y="1280160"/>
            <a:ext cx="0" cy="237744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6" name="res-axis-tick--5"/>
          <p:cNvSpPr txBox="1"/>
          <p:nvPr/>
        </p:nvSpPr>
        <p:spPr>
          <a:xfrm>
            <a:off x="5394960" y="368503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−5</a:t>
            </a:r>
            <a:endParaRPr lang="en-US" sz="900" dirty="0"/>
          </a:p>
        </p:txBody>
      </p:sp>
      <p:sp>
        <p:nvSpPr>
          <p:cNvPr id="7" name="res-axis-tick-0"/>
          <p:cNvSpPr txBox="1"/>
          <p:nvPr/>
        </p:nvSpPr>
        <p:spPr>
          <a:xfrm>
            <a:off x="5925312" y="368503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900" dirty="0"/>
          </a:p>
        </p:txBody>
      </p:sp>
      <p:sp>
        <p:nvSpPr>
          <p:cNvPr id="8" name="res-axis-tick-5"/>
          <p:cNvSpPr txBox="1"/>
          <p:nvPr/>
        </p:nvSpPr>
        <p:spPr>
          <a:xfrm>
            <a:off x="6455664" y="368503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</a:t>
            </a:r>
            <a:endParaRPr lang="en-US" sz="900" dirty="0"/>
          </a:p>
        </p:txBody>
      </p:sp>
      <p:sp>
        <p:nvSpPr>
          <p:cNvPr id="9" name="res-axis-tick-10"/>
          <p:cNvSpPr txBox="1"/>
          <p:nvPr/>
        </p:nvSpPr>
        <p:spPr>
          <a:xfrm>
            <a:off x="6986016" y="368503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</a:t>
            </a:r>
            <a:endParaRPr lang="en-US" sz="900" dirty="0"/>
          </a:p>
        </p:txBody>
      </p:sp>
      <p:sp>
        <p:nvSpPr>
          <p:cNvPr id="10" name="res-axis-tick-15"/>
          <p:cNvSpPr txBox="1"/>
          <p:nvPr/>
        </p:nvSpPr>
        <p:spPr>
          <a:xfrm>
            <a:off x="7516368" y="368503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</a:t>
            </a:r>
            <a:endParaRPr lang="en-US" sz="900" dirty="0"/>
          </a:p>
        </p:txBody>
      </p:sp>
      <p:sp>
        <p:nvSpPr>
          <p:cNvPr id="11" name="res-axis-tick-20"/>
          <p:cNvSpPr txBox="1"/>
          <p:nvPr/>
        </p:nvSpPr>
        <p:spPr>
          <a:xfrm>
            <a:off x="8046720" y="368503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+20</a:t>
            </a:r>
            <a:endParaRPr lang="en-US" sz="900" dirty="0"/>
          </a:p>
        </p:txBody>
      </p:sp>
      <p:sp>
        <p:nvSpPr>
          <p:cNvPr id="12" name="res-1-label"/>
          <p:cNvSpPr txBox="1"/>
          <p:nvPr/>
        </p:nvSpPr>
        <p:spPr>
          <a:xfrm>
            <a:off x="667512" y="1280160"/>
            <a:ext cx="2926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 адаптацией против плана заранее</a:t>
            </a:r>
            <a:endParaRPr lang="en-US" sz="1100" dirty="0"/>
          </a:p>
        </p:txBody>
      </p:sp>
      <p:sp>
        <p:nvSpPr>
          <p:cNvPr id="13" name="res-1-value"/>
          <p:cNvSpPr txBox="1"/>
          <p:nvPr/>
        </p:nvSpPr>
        <p:spPr>
          <a:xfrm>
            <a:off x="3611880" y="1280160"/>
            <a:ext cx="14173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+13,3 [+7,4; +19,0]</a:t>
            </a:r>
            <a:endParaRPr lang="en-US" sz="1000" dirty="0"/>
          </a:p>
        </p:txBody>
      </p:sp>
      <p:sp>
        <p:nvSpPr>
          <p:cNvPr id="14" name="res-1-mark"/>
          <p:cNvSpPr txBox="1"/>
          <p:nvPr/>
        </p:nvSpPr>
        <p:spPr>
          <a:xfrm>
            <a:off x="5029200" y="1280160"/>
            <a:ext cx="685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5" name="res-1-ci"/>
          <p:cNvSpPr/>
          <p:nvPr/>
        </p:nvSpPr>
        <p:spPr>
          <a:xfrm>
            <a:off x="6984553" y="1428750"/>
            <a:ext cx="1230417" cy="0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</a:ln>
        </p:spPr>
      </p:sp>
      <p:sp>
        <p:nvSpPr>
          <p:cNvPr id="16" name="res-1-dot"/>
          <p:cNvSpPr/>
          <p:nvPr/>
        </p:nvSpPr>
        <p:spPr>
          <a:xfrm>
            <a:off x="7550932" y="1369314"/>
            <a:ext cx="118872" cy="118872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res-2-label"/>
          <p:cNvSpPr txBox="1"/>
          <p:nvPr/>
        </p:nvSpPr>
        <p:spPr>
          <a:xfrm>
            <a:off x="667512" y="1577340"/>
            <a:ext cx="2926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Пережидает сбой датчика</a:t>
            </a:r>
            <a:endParaRPr lang="en-US" sz="1100" dirty="0"/>
          </a:p>
        </p:txBody>
      </p:sp>
      <p:sp>
        <p:nvSpPr>
          <p:cNvPr id="18" name="res-2-value"/>
          <p:cNvSpPr txBox="1"/>
          <p:nvPr/>
        </p:nvSpPr>
        <p:spPr>
          <a:xfrm>
            <a:off x="3611880" y="1577340"/>
            <a:ext cx="14173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+6,4 [+2,9; +9,8]</a:t>
            </a:r>
            <a:endParaRPr lang="en-US" sz="1000" dirty="0"/>
          </a:p>
        </p:txBody>
      </p:sp>
      <p:sp>
        <p:nvSpPr>
          <p:cNvPr id="19" name="res-2-mark"/>
          <p:cNvSpPr txBox="1"/>
          <p:nvPr/>
        </p:nvSpPr>
        <p:spPr>
          <a:xfrm>
            <a:off x="5029200" y="1577340"/>
            <a:ext cx="685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0" name="res-2-ci"/>
          <p:cNvSpPr/>
          <p:nvPr/>
        </p:nvSpPr>
        <p:spPr>
          <a:xfrm>
            <a:off x="6507236" y="1725930"/>
            <a:ext cx="731886" cy="0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</a:ln>
        </p:spPr>
      </p:sp>
      <p:sp>
        <p:nvSpPr>
          <p:cNvPr id="21" name="res-2-dot"/>
          <p:cNvSpPr/>
          <p:nvPr/>
        </p:nvSpPr>
        <p:spPr>
          <a:xfrm>
            <a:off x="6819047" y="1666494"/>
            <a:ext cx="118872" cy="118872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res-3-label"/>
          <p:cNvSpPr txBox="1"/>
          <p:nvPr/>
        </p:nvSpPr>
        <p:spPr>
          <a:xfrm>
            <a:off x="667512" y="1874520"/>
            <a:ext cx="2926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Следит за исправностью датчика</a:t>
            </a:r>
            <a:endParaRPr lang="en-US" sz="1100" dirty="0"/>
          </a:p>
        </p:txBody>
      </p:sp>
      <p:sp>
        <p:nvSpPr>
          <p:cNvPr id="23" name="res-3-value"/>
          <p:cNvSpPr txBox="1"/>
          <p:nvPr/>
        </p:nvSpPr>
        <p:spPr>
          <a:xfrm>
            <a:off x="3611880" y="1874520"/>
            <a:ext cx="14173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+4,9 [+1,7; +8,2]</a:t>
            </a:r>
            <a:endParaRPr lang="en-US" sz="1000" dirty="0"/>
          </a:p>
        </p:txBody>
      </p:sp>
      <p:sp>
        <p:nvSpPr>
          <p:cNvPr id="24" name="res-3-mark"/>
          <p:cNvSpPr txBox="1"/>
          <p:nvPr/>
        </p:nvSpPr>
        <p:spPr>
          <a:xfrm>
            <a:off x="5029200" y="1874520"/>
            <a:ext cx="685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res-3-ci"/>
          <p:cNvSpPr/>
          <p:nvPr/>
        </p:nvSpPr>
        <p:spPr>
          <a:xfrm>
            <a:off x="6379952" y="2023110"/>
            <a:ext cx="689458" cy="0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</a:ln>
        </p:spPr>
      </p:sp>
      <p:sp>
        <p:nvSpPr>
          <p:cNvPr id="26" name="res-3-dot"/>
          <p:cNvSpPr/>
          <p:nvPr/>
        </p:nvSpPr>
        <p:spPr>
          <a:xfrm>
            <a:off x="6659941" y="1963674"/>
            <a:ext cx="118872" cy="118872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res-4-label"/>
          <p:cNvSpPr txBox="1"/>
          <p:nvPr/>
        </p:nvSpPr>
        <p:spPr>
          <a:xfrm>
            <a:off x="667512" y="2171700"/>
            <a:ext cx="2926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Запас на возврат по оценке пути домой</a:t>
            </a:r>
            <a:endParaRPr lang="en-US" sz="1100" dirty="0"/>
          </a:p>
        </p:txBody>
      </p:sp>
      <p:sp>
        <p:nvSpPr>
          <p:cNvPr id="28" name="res-4-value"/>
          <p:cNvSpPr txBox="1"/>
          <p:nvPr/>
        </p:nvSpPr>
        <p:spPr>
          <a:xfrm>
            <a:off x="3611880" y="2171700"/>
            <a:ext cx="14173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+3,6 [+1,6; +5,6]</a:t>
            </a:r>
            <a:endParaRPr lang="en-US" sz="1000" dirty="0"/>
          </a:p>
        </p:txBody>
      </p:sp>
      <p:sp>
        <p:nvSpPr>
          <p:cNvPr id="29" name="res-4-mark"/>
          <p:cNvSpPr txBox="1"/>
          <p:nvPr/>
        </p:nvSpPr>
        <p:spPr>
          <a:xfrm>
            <a:off x="5029200" y="2171700"/>
            <a:ext cx="685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0" name="res-4-ci"/>
          <p:cNvSpPr/>
          <p:nvPr/>
        </p:nvSpPr>
        <p:spPr>
          <a:xfrm>
            <a:off x="6369345" y="2320290"/>
            <a:ext cx="424282" cy="0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</a:ln>
        </p:spPr>
      </p:sp>
      <p:sp>
        <p:nvSpPr>
          <p:cNvPr id="31" name="res-4-dot"/>
          <p:cNvSpPr/>
          <p:nvPr/>
        </p:nvSpPr>
        <p:spPr>
          <a:xfrm>
            <a:off x="6522049" y="2260854"/>
            <a:ext cx="118872" cy="118872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res-5-label"/>
          <p:cNvSpPr txBox="1"/>
          <p:nvPr/>
        </p:nvSpPr>
        <p:spPr>
          <a:xfrm>
            <a:off x="667512" y="2468880"/>
            <a:ext cx="2926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Помнит лабораторию: второй прогон</a:t>
            </a:r>
            <a:endParaRPr lang="en-US" sz="1100" dirty="0"/>
          </a:p>
        </p:txBody>
      </p:sp>
      <p:sp>
        <p:nvSpPr>
          <p:cNvPr id="33" name="res-5-value"/>
          <p:cNvSpPr txBox="1"/>
          <p:nvPr/>
        </p:nvSpPr>
        <p:spPr>
          <a:xfrm>
            <a:off x="3611880" y="2468880"/>
            <a:ext cx="14173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+4,3 [+2,4; +6,3]</a:t>
            </a:r>
            <a:endParaRPr lang="en-US" sz="1000" dirty="0"/>
          </a:p>
        </p:txBody>
      </p:sp>
      <p:sp>
        <p:nvSpPr>
          <p:cNvPr id="34" name="res-5-mark"/>
          <p:cNvSpPr txBox="1"/>
          <p:nvPr/>
        </p:nvSpPr>
        <p:spPr>
          <a:xfrm>
            <a:off x="5029200" y="2468880"/>
            <a:ext cx="685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5" name="res-5-ci"/>
          <p:cNvSpPr/>
          <p:nvPr/>
        </p:nvSpPr>
        <p:spPr>
          <a:xfrm>
            <a:off x="6454201" y="2617470"/>
            <a:ext cx="413675" cy="0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</a:ln>
        </p:spPr>
      </p:sp>
      <p:sp>
        <p:nvSpPr>
          <p:cNvPr id="36" name="res-5-dot"/>
          <p:cNvSpPr/>
          <p:nvPr/>
        </p:nvSpPr>
        <p:spPr>
          <a:xfrm>
            <a:off x="6596299" y="2558034"/>
            <a:ext cx="118872" cy="118872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res-6-label"/>
          <p:cNvSpPr txBox="1"/>
          <p:nvPr/>
        </p:nvSpPr>
        <p:spPr>
          <a:xfrm>
            <a:off x="667512" y="2766060"/>
            <a:ext cx="2926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Учитывает дорогой грунт</a:t>
            </a:r>
            <a:endParaRPr lang="en-US" sz="1100" dirty="0"/>
          </a:p>
        </p:txBody>
      </p:sp>
      <p:sp>
        <p:nvSpPr>
          <p:cNvPr id="38" name="res-6-value"/>
          <p:cNvSpPr txBox="1"/>
          <p:nvPr/>
        </p:nvSpPr>
        <p:spPr>
          <a:xfrm>
            <a:off x="3611880" y="2766060"/>
            <a:ext cx="14173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+1,0 [−3,6; +5,4]</a:t>
            </a:r>
            <a:endParaRPr lang="en-US" sz="1000" dirty="0"/>
          </a:p>
        </p:txBody>
      </p:sp>
      <p:sp>
        <p:nvSpPr>
          <p:cNvPr id="39" name="res-6-mark"/>
          <p:cNvSpPr txBox="1"/>
          <p:nvPr/>
        </p:nvSpPr>
        <p:spPr>
          <a:xfrm>
            <a:off x="5029200" y="2766060"/>
            <a:ext cx="685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показано</a:t>
            </a:r>
            <a:endParaRPr lang="en-US" sz="900" dirty="0"/>
          </a:p>
        </p:txBody>
      </p:sp>
      <p:sp>
        <p:nvSpPr>
          <p:cNvPr id="40" name="res-6-ci"/>
          <p:cNvSpPr/>
          <p:nvPr/>
        </p:nvSpPr>
        <p:spPr>
          <a:xfrm>
            <a:off x="5817779" y="2914650"/>
            <a:ext cx="954634" cy="0"/>
          </a:xfrm>
          <a:prstGeom prst="line">
            <a:avLst/>
          </a:prstGeom>
          <a:noFill/>
          <a:ln w="38100">
            <a:solidFill>
              <a:srgbClr val="8A94A6"/>
            </a:solidFill>
            <a:prstDash val="solid"/>
          </a:ln>
        </p:spPr>
      </p:sp>
      <p:sp>
        <p:nvSpPr>
          <p:cNvPr id="41" name="res-6-dot"/>
          <p:cNvSpPr/>
          <p:nvPr/>
        </p:nvSpPr>
        <p:spPr>
          <a:xfrm>
            <a:off x="6246266" y="2855214"/>
            <a:ext cx="118872" cy="118872"/>
          </a:xfrm>
          <a:prstGeom prst="ellipse">
            <a:avLst/>
          </a:prstGeom>
          <a:solidFill>
            <a:srgbClr val="8A94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res-7-label"/>
          <p:cNvSpPr txBox="1"/>
          <p:nvPr/>
        </p:nvSpPr>
        <p:spPr>
          <a:xfrm>
            <a:off x="667512" y="3063240"/>
            <a:ext cx="2926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Замечает смену грунта на пути</a:t>
            </a:r>
            <a:endParaRPr lang="en-US" sz="1100" dirty="0"/>
          </a:p>
        </p:txBody>
      </p:sp>
      <p:sp>
        <p:nvSpPr>
          <p:cNvPr id="43" name="res-7-value"/>
          <p:cNvSpPr txBox="1"/>
          <p:nvPr/>
        </p:nvSpPr>
        <p:spPr>
          <a:xfrm>
            <a:off x="3611880" y="3063240"/>
            <a:ext cx="14173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+0,02 [−0,03; +0,07]</a:t>
            </a:r>
            <a:endParaRPr lang="en-US" sz="1000" dirty="0"/>
          </a:p>
        </p:txBody>
      </p:sp>
      <p:sp>
        <p:nvSpPr>
          <p:cNvPr id="44" name="res-7-mark"/>
          <p:cNvSpPr txBox="1"/>
          <p:nvPr/>
        </p:nvSpPr>
        <p:spPr>
          <a:xfrm>
            <a:off x="5029200" y="3063240"/>
            <a:ext cx="685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показано</a:t>
            </a:r>
            <a:endParaRPr lang="en-US" sz="900" dirty="0"/>
          </a:p>
        </p:txBody>
      </p:sp>
      <p:sp>
        <p:nvSpPr>
          <p:cNvPr id="45" name="res-7-dot"/>
          <p:cNvSpPr/>
          <p:nvPr/>
        </p:nvSpPr>
        <p:spPr>
          <a:xfrm>
            <a:off x="6142317" y="3152394"/>
            <a:ext cx="118872" cy="118872"/>
          </a:xfrm>
          <a:prstGeom prst="ellipse">
            <a:avLst/>
          </a:prstGeom>
          <a:solidFill>
            <a:srgbClr val="8A94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res-8-label"/>
          <p:cNvSpPr txBox="1"/>
          <p:nvPr/>
        </p:nvSpPr>
        <p:spPr>
          <a:xfrm>
            <a:off x="667512" y="3360420"/>
            <a:ext cx="2926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Новые схемы планирования</a:t>
            </a:r>
            <a:endParaRPr lang="en-US" sz="1100" dirty="0"/>
          </a:p>
        </p:txBody>
      </p:sp>
      <p:sp>
        <p:nvSpPr>
          <p:cNvPr id="47" name="res-8-value"/>
          <p:cNvSpPr txBox="1"/>
          <p:nvPr/>
        </p:nvSpPr>
        <p:spPr>
          <a:xfrm>
            <a:off x="3611880" y="3360420"/>
            <a:ext cx="14173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−0,4 [−2,7; +1,9]</a:t>
            </a:r>
            <a:endParaRPr lang="en-US" sz="1000" dirty="0"/>
          </a:p>
        </p:txBody>
      </p:sp>
      <p:sp>
        <p:nvSpPr>
          <p:cNvPr id="48" name="res-8-mark"/>
          <p:cNvSpPr txBox="1"/>
          <p:nvPr/>
        </p:nvSpPr>
        <p:spPr>
          <a:xfrm>
            <a:off x="5029200" y="3360420"/>
            <a:ext cx="685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показано</a:t>
            </a:r>
            <a:endParaRPr lang="en-US" sz="900" dirty="0"/>
          </a:p>
        </p:txBody>
      </p:sp>
      <p:sp>
        <p:nvSpPr>
          <p:cNvPr id="49" name="res-8-ci"/>
          <p:cNvSpPr/>
          <p:nvPr/>
        </p:nvSpPr>
        <p:spPr>
          <a:xfrm>
            <a:off x="5913242" y="3509010"/>
            <a:ext cx="487924" cy="0"/>
          </a:xfrm>
          <a:prstGeom prst="line">
            <a:avLst/>
          </a:prstGeom>
          <a:noFill/>
          <a:ln w="38100">
            <a:solidFill>
              <a:srgbClr val="8A94A6"/>
            </a:solidFill>
            <a:prstDash val="solid"/>
          </a:ln>
        </p:spPr>
      </p:sp>
      <p:sp>
        <p:nvSpPr>
          <p:cNvPr id="50" name="res-8-dot"/>
          <p:cNvSpPr/>
          <p:nvPr/>
        </p:nvSpPr>
        <p:spPr>
          <a:xfrm>
            <a:off x="6097768" y="3449574"/>
            <a:ext cx="118872" cy="118872"/>
          </a:xfrm>
          <a:prstGeom prst="ellipse">
            <a:avLst/>
          </a:prstGeom>
          <a:solidFill>
            <a:srgbClr val="8A94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res-note"/>
          <p:cNvSpPr txBox="1"/>
          <p:nvPr/>
        </p:nvSpPr>
        <p:spPr>
          <a:xfrm>
            <a:off x="667512" y="368503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Опыты разные: числа не складывать. Смена грунта — разность разностей</a:t>
            </a:r>
            <a:endParaRPr lang="en-US" sz="950" dirty="0"/>
          </a:p>
        </p:txBody>
      </p:sp>
      <p:sp>
        <p:nvSpPr>
          <p:cNvPr id="52" name="tile-1"/>
          <p:cNvSpPr/>
          <p:nvPr/>
        </p:nvSpPr>
        <p:spPr>
          <a:xfrm>
            <a:off x="667512" y="3931920"/>
            <a:ext cx="2505456" cy="685800"/>
          </a:xfrm>
          <a:prstGeom prst="roundRect">
            <a:avLst>
              <a:gd name="adj" fmla="val 40000"/>
            </a:avLst>
          </a:prstGeom>
          <a:solidFill>
            <a:schemeClr val="accent1"/>
          </a:solidFill>
          <a:ln/>
        </p:spPr>
      </p:sp>
      <p:sp>
        <p:nvSpPr>
          <p:cNvPr id="53" name="tile-1-value"/>
          <p:cNvSpPr txBox="1"/>
          <p:nvPr/>
        </p:nvSpPr>
        <p:spPr>
          <a:xfrm>
            <a:off x="896112" y="39593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из 6 · Gazebo</a:t>
            </a:r>
            <a:endParaRPr lang="en-US" sz="1400" dirty="0"/>
          </a:p>
        </p:txBody>
      </p:sp>
      <p:sp>
        <p:nvSpPr>
          <p:cNvPr id="54" name="tile-1-label"/>
          <p:cNvSpPr txBox="1"/>
          <p:nvPr/>
        </p:nvSpPr>
        <p:spPr>
          <a:xfrm>
            <a:off x="896112" y="42245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засчитанных прогонов показа: 7 из 7 образцов, без штрафов</a:t>
            </a:r>
            <a:endParaRPr lang="en-US" sz="900" dirty="0"/>
          </a:p>
        </p:txBody>
      </p:sp>
      <p:sp>
        <p:nvSpPr>
          <p:cNvPr id="55" name="tile-2"/>
          <p:cNvSpPr/>
          <p:nvPr/>
        </p:nvSpPr>
        <p:spPr>
          <a:xfrm>
            <a:off x="3319272" y="3931920"/>
            <a:ext cx="2505456" cy="68580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/>
        </p:spPr>
      </p:sp>
      <p:sp>
        <p:nvSpPr>
          <p:cNvPr id="56" name="tile-2-value"/>
          <p:cNvSpPr txBox="1"/>
          <p:nvPr/>
        </p:nvSpPr>
        <p:spPr>
          <a:xfrm>
            <a:off x="3547872" y="39593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45–46 из 48</a:t>
            </a:r>
            <a:endParaRPr lang="en-US" sz="1400" dirty="0"/>
          </a:p>
        </p:txBody>
      </p:sp>
      <p:sp>
        <p:nvSpPr>
          <p:cNvPr id="57" name="tile-2-label"/>
          <p:cNvSpPr txBox="1"/>
          <p:nvPr/>
        </p:nvSpPr>
        <p:spPr>
          <a:xfrm>
            <a:off x="3547872" y="42245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миссий словами выполняет LLM; правило — ни одной</a:t>
            </a:r>
            <a:endParaRPr lang="en-US" sz="900" dirty="0"/>
          </a:p>
        </p:txBody>
      </p:sp>
      <p:sp>
        <p:nvSpPr>
          <p:cNvPr id="58" name="tile-3"/>
          <p:cNvSpPr/>
          <p:nvPr/>
        </p:nvSpPr>
        <p:spPr>
          <a:xfrm>
            <a:off x="5971032" y="3931920"/>
            <a:ext cx="2505456" cy="685800"/>
          </a:xfrm>
          <a:prstGeom prst="roundRect">
            <a:avLst>
              <a:gd name="adj" fmla="val 40000"/>
            </a:avLst>
          </a:prstGeom>
          <a:solidFill>
            <a:schemeClr val="accent3"/>
          </a:solidFill>
          <a:ln/>
        </p:spPr>
      </p:sp>
      <p:sp>
        <p:nvSpPr>
          <p:cNvPr id="59" name="tile-3-value"/>
          <p:cNvSpPr txBox="1"/>
          <p:nvPr/>
        </p:nvSpPr>
        <p:spPr>
          <a:xfrm>
            <a:off x="6199632" y="39593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из 10</a:t>
            </a:r>
            <a:endParaRPr lang="en-US" sz="1400" dirty="0"/>
          </a:p>
        </p:txBody>
      </p:sp>
      <p:sp>
        <p:nvSpPr>
          <p:cNvPr id="60" name="tile-3-label"/>
          <p:cNvSpPr txBox="1"/>
          <p:nvPr/>
        </p:nvSpPr>
        <p:spPr>
          <a:xfrm>
            <a:off x="6199632" y="42245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подтверждённых роботом гипотез верны (базовые правила)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19288" y="4773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67512" y="365760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8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SLAM вместо готовой карты</a:t>
            </a:r>
            <a:endParaRPr lang="en-US" sz="228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67512" y="868680"/>
            <a:ext cx="7808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Готовая карта роботу не даётся: он строит её через SLAM Toolbox, едет по ней и выполняет миссию</a:t>
            </a:r>
            <a:endParaRPr lang="en-US" sz="1150" dirty="0"/>
          </a:p>
        </p:txBody>
      </p:sp>
      <p:sp>
        <p:nvSpPr>
          <p:cNvPr id="5" name="track-tag"/>
          <p:cNvSpPr txBox="1"/>
          <p:nvPr/>
        </p:nvSpPr>
        <p:spPr>
          <a:xfrm>
            <a:off x="7199986" y="155448"/>
            <a:ext cx="1276502" cy="23774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Доп. трек · SLAM</a:t>
            </a:r>
            <a:endParaRPr lang="en-US" sz="900" dirty="0"/>
          </a:p>
        </p:txBody>
      </p:sp>
      <p:pic>
        <p:nvPicPr>
          <p:cNvPr id="6" name="slam-map" descr="Карта арены, построенная роботом через SLAM Toolbox, и места девяти столбов мир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280160"/>
            <a:ext cx="2743200" cy="2550496"/>
          </a:xfrm>
          <a:prstGeom prst="rect">
            <a:avLst/>
          </a:prstGeom>
        </p:spPr>
      </p:pic>
      <p:sp>
        <p:nvSpPr>
          <p:cNvPr id="7" name="slam-cap"/>
          <p:cNvSpPr txBox="1"/>
          <p:nvPr/>
        </p:nvSpPr>
        <p:spPr>
          <a:xfrm>
            <a:off x="667512" y="3885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Карта, которую построил робот; кружки — места девяти столбов мира</a:t>
            </a:r>
            <a:endParaRPr lang="en-US" sz="950" dirty="0"/>
          </a:p>
        </p:txBody>
      </p:sp>
      <p:sp>
        <p:nvSpPr>
          <p:cNvPr id="8" name="slam-stat-1"/>
          <p:cNvSpPr/>
          <p:nvPr/>
        </p:nvSpPr>
        <p:spPr>
          <a:xfrm>
            <a:off x="3886200" y="1298448"/>
            <a:ext cx="4590288" cy="676656"/>
          </a:xfrm>
          <a:prstGeom prst="roundRect">
            <a:avLst>
              <a:gd name="adj" fmla="val 40541"/>
            </a:avLst>
          </a:prstGeom>
          <a:solidFill>
            <a:schemeClr val="bg2"/>
          </a:solidFill>
          <a:ln/>
        </p:spPr>
      </p:sp>
      <p:sp>
        <p:nvSpPr>
          <p:cNvPr id="9" name="slam-stat-1-value"/>
          <p:cNvSpPr txBox="1"/>
          <p:nvPr/>
        </p:nvSpPr>
        <p:spPr>
          <a:xfrm>
            <a:off x="4114800" y="1298448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95,8–98,7%</a:t>
            </a:r>
            <a:endParaRPr lang="en-US" sz="1700" dirty="0"/>
          </a:p>
        </p:txBody>
      </p:sp>
      <p:sp>
        <p:nvSpPr>
          <p:cNvPr id="10" name="slam-stat-1-label"/>
          <p:cNvSpPr txBox="1"/>
          <p:nvPr/>
        </p:nvSpPr>
        <p:spPr>
          <a:xfrm>
            <a:off x="5760720" y="1298448"/>
            <a:ext cx="2560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клеток карты совпало с готовой</a:t>
            </a:r>
            <a:endParaRPr lang="en-US" sz="1000" dirty="0"/>
          </a:p>
        </p:txBody>
      </p:sp>
      <p:sp>
        <p:nvSpPr>
          <p:cNvPr id="11" name="slam-stat-2"/>
          <p:cNvSpPr/>
          <p:nvPr/>
        </p:nvSpPr>
        <p:spPr>
          <a:xfrm>
            <a:off x="3886200" y="2084832"/>
            <a:ext cx="4590288" cy="676656"/>
          </a:xfrm>
          <a:prstGeom prst="roundRect">
            <a:avLst>
              <a:gd name="adj" fmla="val 40541"/>
            </a:avLst>
          </a:prstGeom>
          <a:solidFill>
            <a:schemeClr val="bg2"/>
          </a:solidFill>
          <a:ln/>
        </p:spPr>
      </p:sp>
      <p:sp>
        <p:nvSpPr>
          <p:cNvPr id="12" name="slam-stat-2-value"/>
          <p:cNvSpPr txBox="1"/>
          <p:nvPr/>
        </p:nvSpPr>
        <p:spPr>
          <a:xfrm>
            <a:off x="4114800" y="2084832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из 9</a:t>
            </a:r>
            <a:endParaRPr lang="en-US" sz="1700" dirty="0"/>
          </a:p>
        </p:txBody>
      </p:sp>
      <p:sp>
        <p:nvSpPr>
          <p:cNvPr id="13" name="slam-stat-2-label"/>
          <p:cNvSpPr txBox="1"/>
          <p:nvPr/>
        </p:nvSpPr>
        <p:spPr>
          <a:xfrm>
            <a:off x="5760720" y="2084832"/>
            <a:ext cx="2560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столбов найдено; ошибка места в среднем 1,5–5,7 см</a:t>
            </a:r>
            <a:endParaRPr lang="en-US" sz="1000" dirty="0"/>
          </a:p>
        </p:txBody>
      </p:sp>
      <p:sp>
        <p:nvSpPr>
          <p:cNvPr id="14" name="slam-stat-3"/>
          <p:cNvSpPr/>
          <p:nvPr/>
        </p:nvSpPr>
        <p:spPr>
          <a:xfrm>
            <a:off x="3886200" y="2871216"/>
            <a:ext cx="4590288" cy="676656"/>
          </a:xfrm>
          <a:prstGeom prst="roundRect">
            <a:avLst>
              <a:gd name="adj" fmla="val 40541"/>
            </a:avLst>
          </a:prstGeom>
          <a:solidFill>
            <a:schemeClr val="accent3"/>
          </a:solidFill>
          <a:ln/>
        </p:spPr>
      </p:sp>
      <p:sp>
        <p:nvSpPr>
          <p:cNvPr id="15" name="slam-stat-3-value"/>
          <p:cNvSpPr txBox="1"/>
          <p:nvPr/>
        </p:nvSpPr>
        <p:spPr>
          <a:xfrm>
            <a:off x="4114800" y="2871216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1,5–5,2 см</a:t>
            </a:r>
            <a:endParaRPr lang="en-US" sz="1700" dirty="0"/>
          </a:p>
        </p:txBody>
      </p:sp>
      <p:sp>
        <p:nvSpPr>
          <p:cNvPr id="16" name="slam-stat-3-label"/>
          <p:cNvSpPr txBox="1"/>
          <p:nvPr/>
        </p:nvSpPr>
        <p:spPr>
          <a:xfrm>
            <a:off x="5760720" y="2871216"/>
            <a:ext cx="2560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сдвиг начала координат относительно мирового; поворот до 1,3°</a:t>
            </a:r>
            <a:endParaRPr lang="en-US" sz="1000" dirty="0"/>
          </a:p>
        </p:txBody>
      </p:sp>
      <p:sp>
        <p:nvSpPr>
          <p:cNvPr id="17" name="slam-note"/>
          <p:cNvSpPr txBox="1"/>
          <p:nvPr/>
        </p:nvSpPr>
        <p:spPr>
          <a:xfrm>
            <a:off x="3886200" y="3712464"/>
            <a:ext cx="4590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Пять прогонов в Gazebo, столкновений нет. Если SLAM замолчал или прислал негодную карту, робот останавливается и пишет причину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Запуск: pixi run demo --slam-map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19288" y="4773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67512" y="365760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8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Два робота с координацией</a:t>
            </a:r>
            <a:endParaRPr lang="en-US" sz="228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67512" y="868680"/>
            <a:ext cx="7808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Общей памяти нет: всё, что робот знает о напарнике, пришло сообщением</a:t>
            </a:r>
            <a:endParaRPr lang="en-US" sz="1150" dirty="0"/>
          </a:p>
        </p:txBody>
      </p:sp>
      <p:sp>
        <p:nvSpPr>
          <p:cNvPr id="5" name="track-tag"/>
          <p:cNvSpPr txBox="1"/>
          <p:nvPr/>
        </p:nvSpPr>
        <p:spPr>
          <a:xfrm>
            <a:off x="6596482" y="155448"/>
            <a:ext cx="1880006" cy="23774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Доп. трек · мультиагентный</a:t>
            </a:r>
            <a:endParaRPr lang="en-US" sz="900" dirty="0"/>
          </a:p>
        </p:txBody>
      </p:sp>
      <p:pic>
        <p:nvPicPr>
          <p:cNvPr id="6" name="two_robots" descr="Пути двух роботов на одной арене: все пять образцов собран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280160"/>
            <a:ext cx="2514600" cy="2319528"/>
          </a:xfrm>
          <a:prstGeom prst="rect">
            <a:avLst/>
          </a:prstGeom>
        </p:spPr>
      </p:pic>
      <p:sp>
        <p:nvSpPr>
          <p:cNvPr id="7" name="team-cap"/>
          <p:cNvSpPr txBox="1"/>
          <p:nvPr/>
        </p:nvSpPr>
        <p:spPr>
          <a:xfrm>
            <a:off x="667512" y="364540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Запись из Gazebo: 5 из 5 образцов, оба вернулись, 187 сообщений</a:t>
            </a:r>
            <a:endParaRPr lang="en-US" sz="950" dirty="0"/>
          </a:p>
        </p:txBody>
      </p:sp>
      <p:sp>
        <p:nvSpPr>
          <p:cNvPr id="8" name="robot-1"/>
          <p:cNvSpPr txBox="1"/>
          <p:nvPr/>
        </p:nvSpPr>
        <p:spPr>
          <a:xfrm>
            <a:off x="3429000" y="129844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3D63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Робот 1</a:t>
            </a:r>
            <a:endParaRPr lang="en-US" sz="1050" dirty="0"/>
          </a:p>
        </p:txBody>
      </p:sp>
      <p:sp>
        <p:nvSpPr>
          <p:cNvPr id="9" name="channel"/>
          <p:cNvSpPr txBox="1"/>
          <p:nvPr/>
        </p:nvSpPr>
        <p:spPr>
          <a:xfrm>
            <a:off x="4645152" y="1298448"/>
            <a:ext cx="2615184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канал ROS 2 · /did/team · строка JSON</a:t>
            </a:r>
            <a:endParaRPr lang="en-US" sz="1050" dirty="0"/>
          </a:p>
        </p:txBody>
      </p:sp>
      <p:sp>
        <p:nvSpPr>
          <p:cNvPr id="10" name="robot-2"/>
          <p:cNvSpPr txBox="1"/>
          <p:nvPr/>
        </p:nvSpPr>
        <p:spPr>
          <a:xfrm>
            <a:off x="7516368" y="129844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7C5C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Робот 2</a:t>
            </a:r>
            <a:endParaRPr lang="en-US" sz="1050" dirty="0"/>
          </a:p>
        </p:txBody>
      </p:sp>
      <p:sp>
        <p:nvSpPr>
          <p:cNvPr id="11" name="channel-arrow-1"/>
          <p:cNvSpPr/>
          <p:nvPr/>
        </p:nvSpPr>
        <p:spPr>
          <a:xfrm>
            <a:off x="4407408" y="1463040"/>
            <a:ext cx="219456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headEnd type="triangle"/>
            <a:tailEnd type="triangle"/>
          </a:ln>
        </p:spPr>
      </p:sp>
      <p:sp>
        <p:nvSpPr>
          <p:cNvPr id="12" name="channel-arrow-2"/>
          <p:cNvSpPr/>
          <p:nvPr/>
        </p:nvSpPr>
        <p:spPr>
          <a:xfrm>
            <a:off x="7278624" y="1463040"/>
            <a:ext cx="219456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headEnd type="triangle"/>
            <a:tailEnd type="triangle"/>
          </a:ln>
        </p:spPr>
      </p:sp>
      <p:sp>
        <p:nvSpPr>
          <p:cNvPr id="13" name="msg-head-1"/>
          <p:cNvSpPr txBox="1"/>
          <p:nvPr/>
        </p:nvSpPr>
        <p:spPr>
          <a:xfrm>
            <a:off x="3429000" y="18288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робот сообщает</a:t>
            </a:r>
            <a:endParaRPr lang="en-US" sz="950" dirty="0"/>
          </a:p>
        </p:txBody>
      </p:sp>
      <p:sp>
        <p:nvSpPr>
          <p:cNvPr id="14" name="msg-head-2"/>
          <p:cNvSpPr txBox="1"/>
          <p:nvPr/>
        </p:nvSpPr>
        <p:spPr>
          <a:xfrm>
            <a:off x="5440680" y="182880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делает напарник</a:t>
            </a:r>
            <a:endParaRPr lang="en-US" sz="950" dirty="0"/>
          </a:p>
        </p:txBody>
      </p:sp>
      <p:sp>
        <p:nvSpPr>
          <p:cNvPr id="15" name="msg-1"/>
          <p:cNvSpPr txBox="1"/>
          <p:nvPr/>
        </p:nvSpPr>
        <p:spPr>
          <a:xfrm>
            <a:off x="3429000" y="2103120"/>
            <a:ext cx="1755648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показания датчика</a:t>
            </a:r>
            <a:endParaRPr lang="en-US" sz="900" dirty="0"/>
          </a:p>
        </p:txBody>
      </p:sp>
      <p:sp>
        <p:nvSpPr>
          <p:cNvPr id="16" name="msg-1-arrow"/>
          <p:cNvSpPr/>
          <p:nvPr/>
        </p:nvSpPr>
        <p:spPr>
          <a:xfrm>
            <a:off x="5230368" y="2249424"/>
            <a:ext cx="164592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7" name="msg-1-act"/>
          <p:cNvSpPr txBox="1"/>
          <p:nvPr/>
        </p:nvSpPr>
        <p:spPr>
          <a:xfrm>
            <a:off x="5440680" y="2103120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вносит их в свою карту вероятностей</a:t>
            </a:r>
            <a:endParaRPr lang="en-US" sz="1000" dirty="0"/>
          </a:p>
        </p:txBody>
      </p:sp>
      <p:sp>
        <p:nvSpPr>
          <p:cNvPr id="18" name="msg-2"/>
          <p:cNvSpPr txBox="1"/>
          <p:nvPr/>
        </p:nvSpPr>
        <p:spPr>
          <a:xfrm>
            <a:off x="3429000" y="2468880"/>
            <a:ext cx="1755648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«эту цель беру я»</a:t>
            </a:r>
            <a:endParaRPr lang="en-US" sz="900" dirty="0"/>
          </a:p>
        </p:txBody>
      </p:sp>
      <p:sp>
        <p:nvSpPr>
          <p:cNvPr id="19" name="msg-2-arrow"/>
          <p:cNvSpPr/>
          <p:nvPr/>
        </p:nvSpPr>
        <p:spPr>
          <a:xfrm>
            <a:off x="5230368" y="2615184"/>
            <a:ext cx="164592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0" name="msg-2-act"/>
          <p:cNvSpPr txBox="1"/>
          <p:nvPr/>
        </p:nvSpPr>
        <p:spPr>
          <a:xfrm>
            <a:off x="5440680" y="2468880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туда не едет; спор решает цена пути</a:t>
            </a:r>
            <a:endParaRPr lang="en-US" sz="1000" dirty="0"/>
          </a:p>
        </p:txBody>
      </p:sp>
      <p:sp>
        <p:nvSpPr>
          <p:cNvPr id="21" name="msg-3"/>
          <p:cNvSpPr txBox="1"/>
          <p:nvPr/>
        </p:nvSpPr>
        <p:spPr>
          <a:xfrm>
            <a:off x="3429000" y="2834640"/>
            <a:ext cx="1755648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«образец собран»</a:t>
            </a:r>
            <a:endParaRPr lang="en-US" sz="900" dirty="0"/>
          </a:p>
        </p:txBody>
      </p:sp>
      <p:sp>
        <p:nvSpPr>
          <p:cNvPr id="22" name="msg-3-arrow"/>
          <p:cNvSpPr/>
          <p:nvPr/>
        </p:nvSpPr>
        <p:spPr>
          <a:xfrm>
            <a:off x="5230368" y="2980944"/>
            <a:ext cx="164592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3" name="msg-3-act"/>
          <p:cNvSpPr txBox="1"/>
          <p:nvPr/>
        </p:nvSpPr>
        <p:spPr>
          <a:xfrm>
            <a:off x="5440680" y="2834640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пересчитывает карту и строит новый план</a:t>
            </a:r>
            <a:endParaRPr lang="en-US" sz="1000" dirty="0"/>
          </a:p>
        </p:txBody>
      </p:sp>
      <p:sp>
        <p:nvSpPr>
          <p:cNvPr id="24" name="msg-4"/>
          <p:cNvSpPr txBox="1"/>
          <p:nvPr/>
        </p:nvSpPr>
        <p:spPr>
          <a:xfrm>
            <a:off x="3429000" y="3200400"/>
            <a:ext cx="1755648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«здесь опасная зона»</a:t>
            </a:r>
            <a:endParaRPr lang="en-US" sz="900" dirty="0"/>
          </a:p>
        </p:txBody>
      </p:sp>
      <p:sp>
        <p:nvSpPr>
          <p:cNvPr id="25" name="msg-4-arrow"/>
          <p:cNvSpPr/>
          <p:nvPr/>
        </p:nvSpPr>
        <p:spPr>
          <a:xfrm>
            <a:off x="5230368" y="3346704"/>
            <a:ext cx="164592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6" name="msg-4-act"/>
          <p:cNvSpPr txBox="1"/>
          <p:nvPr/>
        </p:nvSpPr>
        <p:spPr>
          <a:xfrm>
            <a:off x="5440680" y="3200400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объезжает её, не получив штрафа сам</a:t>
            </a:r>
            <a:endParaRPr lang="en-US" sz="1000" dirty="0"/>
          </a:p>
        </p:txBody>
      </p:sp>
      <p:sp>
        <p:nvSpPr>
          <p:cNvPr id="27" name="msg-5"/>
          <p:cNvSpPr txBox="1"/>
          <p:nvPr/>
        </p:nvSpPr>
        <p:spPr>
          <a:xfrm>
            <a:off x="3429000" y="3566160"/>
            <a:ext cx="1755648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«делим арену»</a:t>
            </a:r>
            <a:endParaRPr lang="en-US" sz="900" dirty="0"/>
          </a:p>
        </p:txBody>
      </p:sp>
      <p:sp>
        <p:nvSpPr>
          <p:cNvPr id="28" name="msg-5-arrow"/>
          <p:cNvSpPr/>
          <p:nvPr/>
        </p:nvSpPr>
        <p:spPr>
          <a:xfrm>
            <a:off x="5230368" y="3712464"/>
            <a:ext cx="164592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9" name="msg-5-act"/>
          <p:cNvSpPr txBox="1"/>
          <p:nvPr/>
        </p:nvSpPr>
        <p:spPr>
          <a:xfrm>
            <a:off x="5440680" y="3566160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ищет на своей половине; деление меняется</a:t>
            </a:r>
            <a:endParaRPr lang="en-US" sz="1000" dirty="0"/>
          </a:p>
        </p:txBody>
      </p:sp>
      <p:sp>
        <p:nvSpPr>
          <p:cNvPr id="30" name="team-stats"/>
          <p:cNvSpPr/>
          <p:nvPr/>
        </p:nvSpPr>
        <p:spPr>
          <a:xfrm>
            <a:off x="667512" y="4023360"/>
            <a:ext cx="7808976" cy="585216"/>
          </a:xfrm>
          <a:prstGeom prst="roundRect">
            <a:avLst>
              <a:gd name="adj" fmla="val 46875"/>
            </a:avLst>
          </a:prstGeom>
          <a:solidFill>
            <a:schemeClr val="bg2"/>
          </a:solidFill>
          <a:ln/>
        </p:spPr>
      </p:sp>
      <p:sp>
        <p:nvSpPr>
          <p:cNvPr id="31" name="team-stat-1-value"/>
          <p:cNvSpPr txBox="1"/>
          <p:nvPr/>
        </p:nvSpPr>
        <p:spPr>
          <a:xfrm>
            <a:off x="850392" y="4023360"/>
            <a:ext cx="91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−26 с</a:t>
            </a:r>
            <a:endParaRPr lang="en-US" sz="1500" dirty="0"/>
          </a:p>
        </p:txBody>
      </p:sp>
      <p:sp>
        <p:nvSpPr>
          <p:cNvPr id="32" name="team-stat-1-label"/>
          <p:cNvSpPr txBox="1"/>
          <p:nvPr/>
        </p:nvSpPr>
        <p:spPr>
          <a:xfrm>
            <a:off x="1856232" y="4023360"/>
            <a:ext cx="91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прогон короче: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103,7 → 77,8 с</a:t>
            </a:r>
            <a:endParaRPr lang="en-US" sz="900" dirty="0"/>
          </a:p>
        </p:txBody>
      </p:sp>
      <p:sp>
        <p:nvSpPr>
          <p:cNvPr id="33" name="team-stat-2-value"/>
          <p:cNvSpPr txBox="1"/>
          <p:nvPr/>
        </p:nvSpPr>
        <p:spPr>
          <a:xfrm>
            <a:off x="2770632" y="4023360"/>
            <a:ext cx="91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−26%</a:t>
            </a:r>
            <a:endParaRPr lang="en-US" sz="1500" dirty="0"/>
          </a:p>
        </p:txBody>
      </p:sp>
      <p:sp>
        <p:nvSpPr>
          <p:cNvPr id="34" name="team-stat-2-label"/>
          <p:cNvSpPr txBox="1"/>
          <p:nvPr/>
        </p:nvSpPr>
        <p:spPr>
          <a:xfrm>
            <a:off x="3776472" y="4023360"/>
            <a:ext cx="91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заряда: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100,4 → 74,1</a:t>
            </a:r>
            <a:endParaRPr lang="en-US" sz="900" dirty="0"/>
          </a:p>
        </p:txBody>
      </p:sp>
      <p:sp>
        <p:nvSpPr>
          <p:cNvPr id="35" name="team-stat-3-value"/>
          <p:cNvSpPr txBox="1"/>
          <p:nvPr/>
        </p:nvSpPr>
        <p:spPr>
          <a:xfrm>
            <a:off x="4690872" y="4023360"/>
            <a:ext cx="91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 из 80</a:t>
            </a:r>
            <a:endParaRPr lang="en-US" sz="1500" dirty="0"/>
          </a:p>
        </p:txBody>
      </p:sp>
      <p:sp>
        <p:nvSpPr>
          <p:cNvPr id="36" name="team-stat-3-label"/>
          <p:cNvSpPr txBox="1"/>
          <p:nvPr/>
        </p:nvSpPr>
        <p:spPr>
          <a:xfrm>
            <a:off x="5696712" y="4023360"/>
            <a:ext cx="91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оба вернулись;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 связи — 75</a:t>
            </a:r>
            <a:endParaRPr lang="en-US" sz="900" dirty="0"/>
          </a:p>
        </p:txBody>
      </p:sp>
      <p:sp>
        <p:nvSpPr>
          <p:cNvPr id="37" name="team-note"/>
          <p:cNvSpPr txBox="1"/>
          <p:nvPr/>
        </p:nvSpPr>
        <p:spPr>
          <a:xfrm>
            <a:off x="6675120" y="4023360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против пары без связи: 80 сценариев, быстрый симулятор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19288" y="4773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67512" y="365760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8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работали с ИИ-агентами</a:t>
            </a:r>
            <a:endParaRPr lang="en-US" sz="228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67512" y="868680"/>
            <a:ext cx="7808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Человек задавал направление; агенты исследовали, писали код и проверяли друг друга</a:t>
            </a:r>
            <a:endParaRPr lang="en-US" sz="1150" dirty="0"/>
          </a:p>
        </p:txBody>
      </p:sp>
      <p:sp>
        <p:nvSpPr>
          <p:cNvPr id="5" name="track-tag"/>
          <p:cNvSpPr txBox="1"/>
          <p:nvPr/>
        </p:nvSpPr>
        <p:spPr>
          <a:xfrm>
            <a:off x="6717182" y="155448"/>
            <a:ext cx="1759306" cy="23774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Доп. трек · команда с AI</a:t>
            </a:r>
            <a:endParaRPr lang="en-US" sz="900" dirty="0"/>
          </a:p>
        </p:txBody>
      </p:sp>
      <p:sp>
        <p:nvSpPr>
          <p:cNvPr id="6" name="role-1-circle"/>
          <p:cNvSpPr/>
          <p:nvPr/>
        </p:nvSpPr>
        <p:spPr>
          <a:xfrm>
            <a:off x="667512" y="1207008"/>
            <a:ext cx="1481328" cy="14813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role-1-text"/>
          <p:cNvSpPr txBox="1"/>
          <p:nvPr/>
        </p:nvSpPr>
        <p:spPr>
          <a:xfrm>
            <a:off x="758952" y="1426464"/>
            <a:ext cx="12984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Человек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цель, роли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ограничения</a:t>
            </a:r>
            <a:endParaRPr lang="en-US" sz="1100" dirty="0"/>
          </a:p>
        </p:txBody>
      </p:sp>
      <p:sp>
        <p:nvSpPr>
          <p:cNvPr id="8" name="role-1-arrow"/>
          <p:cNvSpPr/>
          <p:nvPr/>
        </p:nvSpPr>
        <p:spPr>
          <a:xfrm>
            <a:off x="2258568" y="1947672"/>
            <a:ext cx="408432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role-2-circle"/>
          <p:cNvSpPr/>
          <p:nvPr/>
        </p:nvSpPr>
        <p:spPr>
          <a:xfrm>
            <a:off x="2776728" y="1207008"/>
            <a:ext cx="1481328" cy="148132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role-2-text"/>
          <p:cNvSpPr txBox="1"/>
          <p:nvPr/>
        </p:nvSpPr>
        <p:spPr>
          <a:xfrm>
            <a:off x="2868168" y="1426464"/>
            <a:ext cx="12984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Ведущий агент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план, задания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сведение кода</a:t>
            </a:r>
            <a:endParaRPr lang="en-US" sz="1100" dirty="0"/>
          </a:p>
        </p:txBody>
      </p:sp>
      <p:pic>
        <p:nvPicPr>
          <p:cNvPr id="11" name="role-2-logo-Claude Opus" descr="role-2-logo-Claude Op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5952" y="2350008"/>
            <a:ext cx="182880" cy="182880"/>
          </a:xfrm>
          <a:prstGeom prst="rect">
            <a:avLst/>
          </a:prstGeom>
        </p:spPr>
      </p:pic>
      <p:sp>
        <p:nvSpPr>
          <p:cNvPr id="12" name="role-2-arrow"/>
          <p:cNvSpPr/>
          <p:nvPr/>
        </p:nvSpPr>
        <p:spPr>
          <a:xfrm>
            <a:off x="4367784" y="1947672"/>
            <a:ext cx="408432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role-3-circle"/>
          <p:cNvSpPr/>
          <p:nvPr/>
        </p:nvSpPr>
        <p:spPr>
          <a:xfrm>
            <a:off x="4885944" y="1207008"/>
            <a:ext cx="1481328" cy="14813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role-3-text"/>
          <p:cNvSpPr txBox="1"/>
          <p:nvPr/>
        </p:nvSpPr>
        <p:spPr>
          <a:xfrm>
            <a:off x="4977384" y="1426464"/>
            <a:ext cx="12984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Исследователи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инженеры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литература;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код и опыты</a:t>
            </a:r>
            <a:endParaRPr lang="en-US" sz="1100" dirty="0"/>
          </a:p>
        </p:txBody>
      </p:sp>
      <p:pic>
        <p:nvPicPr>
          <p:cNvPr id="15" name="role-3-logo-Gemini" descr="role-3-logo-Gemin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6296" y="2350008"/>
            <a:ext cx="182880" cy="182880"/>
          </a:xfrm>
          <a:prstGeom prst="rect">
            <a:avLst/>
          </a:prstGeom>
        </p:spPr>
      </p:pic>
      <p:pic>
        <p:nvPicPr>
          <p:cNvPr id="16" name="role-3-logo-Claude" descr="role-3-logo-Claud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4040" y="2350008"/>
            <a:ext cx="182880" cy="182880"/>
          </a:xfrm>
          <a:prstGeom prst="rect">
            <a:avLst/>
          </a:prstGeom>
        </p:spPr>
      </p:pic>
      <p:sp>
        <p:nvSpPr>
          <p:cNvPr id="17" name="role-3-arrow"/>
          <p:cNvSpPr/>
          <p:nvPr/>
        </p:nvSpPr>
        <p:spPr>
          <a:xfrm>
            <a:off x="6477000" y="1947672"/>
            <a:ext cx="408432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8" name="role-4-circle"/>
          <p:cNvSpPr/>
          <p:nvPr/>
        </p:nvSpPr>
        <p:spPr>
          <a:xfrm>
            <a:off x="6995160" y="1207008"/>
            <a:ext cx="1481328" cy="14813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role-4-text"/>
          <p:cNvSpPr txBox="1"/>
          <p:nvPr/>
        </p:nvSpPr>
        <p:spPr>
          <a:xfrm>
            <a:off x="7086600" y="1426464"/>
            <a:ext cx="12984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Независимое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ревью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ошибки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исправления</a:t>
            </a:r>
            <a:endParaRPr lang="en-US" sz="1100" dirty="0"/>
          </a:p>
        </p:txBody>
      </p:sp>
      <p:pic>
        <p:nvPicPr>
          <p:cNvPr id="20" name="role-4-logo-GPT Sol" descr="role-4-logo-GPT So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4384" y="2350008"/>
            <a:ext cx="182880" cy="182880"/>
          </a:xfrm>
          <a:prstGeom prst="rect">
            <a:avLst/>
          </a:prstGeom>
        </p:spPr>
      </p:pic>
      <p:sp>
        <p:nvSpPr>
          <p:cNvPr id="21" name="cycle-pill"/>
          <p:cNvSpPr/>
          <p:nvPr/>
        </p:nvSpPr>
        <p:spPr>
          <a:xfrm>
            <a:off x="667512" y="2798064"/>
            <a:ext cx="7808976" cy="38404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2" name="cycle-text"/>
          <p:cNvSpPr txBox="1"/>
          <p:nvPr/>
        </p:nvSpPr>
        <p:spPr>
          <a:xfrm>
            <a:off x="667512" y="2798064"/>
            <a:ext cx="7808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Гипотеза → код и опыт → ревью → исправления → принятие</a:t>
            </a:r>
            <a:endParaRPr lang="en-US" sz="1150" dirty="0"/>
          </a:p>
        </p:txBody>
      </p:sp>
      <p:sp>
        <p:nvSpPr>
          <p:cNvPr id="23" name="num-1-value"/>
          <p:cNvSpPr txBox="1"/>
          <p:nvPr/>
        </p:nvSpPr>
        <p:spPr>
          <a:xfrm>
            <a:off x="667512" y="32918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341</a:t>
            </a:r>
            <a:endParaRPr lang="en-US" sz="2400" dirty="0"/>
          </a:p>
        </p:txBody>
      </p:sp>
      <p:sp>
        <p:nvSpPr>
          <p:cNvPr id="24" name="num-1-label"/>
          <p:cNvSpPr txBox="1"/>
          <p:nvPr/>
        </p:nvSpPr>
        <p:spPr>
          <a:xfrm>
            <a:off x="667512" y="38221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правок в Git</a:t>
            </a:r>
            <a:endParaRPr lang="en-US" sz="1100" dirty="0"/>
          </a:p>
        </p:txBody>
      </p:sp>
      <p:sp>
        <p:nvSpPr>
          <p:cNvPr id="25" name="num-2-value"/>
          <p:cNvSpPr txBox="1"/>
          <p:nvPr/>
        </p:nvSpPr>
        <p:spPr>
          <a:xfrm>
            <a:off x="2679192" y="32918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1000+</a:t>
            </a:r>
            <a:endParaRPr lang="en-US" sz="2400" dirty="0"/>
          </a:p>
        </p:txBody>
      </p:sp>
      <p:sp>
        <p:nvSpPr>
          <p:cNvPr id="26" name="num-2-label"/>
          <p:cNvSpPr txBox="1"/>
          <p:nvPr/>
        </p:nvSpPr>
        <p:spPr>
          <a:xfrm>
            <a:off x="2679192" y="38221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автоматических проверок</a:t>
            </a:r>
            <a:endParaRPr lang="en-US" sz="1100" dirty="0"/>
          </a:p>
        </p:txBody>
      </p:sp>
      <p:sp>
        <p:nvSpPr>
          <p:cNvPr id="27" name="num-3-value"/>
          <p:cNvSpPr txBox="1"/>
          <p:nvPr/>
        </p:nvSpPr>
        <p:spPr>
          <a:xfrm>
            <a:off x="4690872" y="32918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30 000+</a:t>
            </a:r>
            <a:endParaRPr lang="en-US" sz="2400" dirty="0"/>
          </a:p>
        </p:txBody>
      </p:sp>
      <p:sp>
        <p:nvSpPr>
          <p:cNvPr id="28" name="num-3-label"/>
          <p:cNvSpPr txBox="1"/>
          <p:nvPr/>
        </p:nvSpPr>
        <p:spPr>
          <a:xfrm>
            <a:off x="4690872" y="38221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записанных прогонов</a:t>
            </a:r>
            <a:endParaRPr lang="en-US" sz="1100" dirty="0"/>
          </a:p>
        </p:txBody>
      </p:sp>
      <p:sp>
        <p:nvSpPr>
          <p:cNvPr id="29" name="num-4-value"/>
          <p:cNvSpPr txBox="1"/>
          <p:nvPr/>
        </p:nvSpPr>
        <p:spPr>
          <a:xfrm>
            <a:off x="6702552" y="32918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из 22</a:t>
            </a:r>
            <a:endParaRPr lang="en-US" sz="2400" dirty="0"/>
          </a:p>
        </p:txBody>
      </p:sp>
      <p:sp>
        <p:nvSpPr>
          <p:cNvPr id="30" name="num-4-label"/>
          <p:cNvSpPr txBox="1"/>
          <p:nvPr/>
        </p:nvSpPr>
        <p:spPr>
          <a:xfrm>
            <a:off x="6702552" y="382219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работ ревью вернуло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 доработку</a:t>
            </a:r>
            <a:endParaRPr lang="en-US" sz="1100" dirty="0"/>
          </a:p>
        </p:txBody>
      </p:sp>
      <p:sp>
        <p:nvSpPr>
          <p:cNvPr id="31" name="ai-note"/>
          <p:cNvSpPr txBox="1"/>
          <p:nvPr/>
        </p:nvSpPr>
        <p:spPr>
          <a:xfrm>
            <a:off x="667512" y="4279392"/>
            <a:ext cx="7808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Ревью нашло 7 ошибок в первых исследованиях: исправлены 2 вывода, отклонены 2 выдуманные ссылки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19288" y="4773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67512" y="365760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8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Логи разработки с ИИ-агентами</a:t>
            </a:r>
            <a:endParaRPr lang="en-US" sz="228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67512" y="868680"/>
            <a:ext cx="7808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Каждая строка — одно исследование, каждый значок — шаг: какая модель работала и чем закончилось</a:t>
            </a:r>
            <a:endParaRPr lang="en-US" sz="1150" dirty="0"/>
          </a:p>
        </p:txBody>
      </p:sp>
      <p:sp>
        <p:nvSpPr>
          <p:cNvPr id="5" name="track-tag"/>
          <p:cNvSpPr txBox="1"/>
          <p:nvPr/>
        </p:nvSpPr>
        <p:spPr>
          <a:xfrm>
            <a:off x="6717182" y="155448"/>
            <a:ext cx="1759306" cy="23774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Доп. трек · команда с AI</a:t>
            </a:r>
            <a:endParaRPr lang="en-US" sz="900" dirty="0"/>
          </a:p>
        </p:txBody>
      </p:sp>
      <p:pic>
        <p:nvPicPr>
          <p:cNvPr id="6" name="legend-1-chip" descr="legend-1-chi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252728"/>
            <a:ext cx="155448" cy="155448"/>
          </a:xfrm>
          <a:prstGeom prst="rect">
            <a:avLst/>
          </a:prstGeom>
        </p:spPr>
      </p:pic>
      <p:sp>
        <p:nvSpPr>
          <p:cNvPr id="7" name="legend-1-word"/>
          <p:cNvSpPr txBox="1"/>
          <p:nvPr/>
        </p:nvSpPr>
        <p:spPr>
          <a:xfrm>
            <a:off x="886968" y="1225296"/>
            <a:ext cx="1600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 — исследователь</a:t>
            </a:r>
            <a:endParaRPr lang="en-US" sz="950" dirty="0"/>
          </a:p>
        </p:txBody>
      </p:sp>
      <p:pic>
        <p:nvPicPr>
          <p:cNvPr id="8" name="legend-2-chip" descr="legend-2-chi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168" y="1252728"/>
            <a:ext cx="155448" cy="155448"/>
          </a:xfrm>
          <a:prstGeom prst="rect">
            <a:avLst/>
          </a:prstGeom>
        </p:spPr>
      </p:pic>
      <p:sp>
        <p:nvSpPr>
          <p:cNvPr id="9" name="legend-2-word"/>
          <p:cNvSpPr txBox="1"/>
          <p:nvPr/>
        </p:nvSpPr>
        <p:spPr>
          <a:xfrm>
            <a:off x="2706624" y="1225296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— инженер</a:t>
            </a:r>
            <a:endParaRPr lang="en-US" sz="950" dirty="0"/>
          </a:p>
        </p:txBody>
      </p:sp>
      <p:pic>
        <p:nvPicPr>
          <p:cNvPr id="10" name="legend-3-chip" descr="legend-3-chi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784" y="1252728"/>
            <a:ext cx="155448" cy="155448"/>
          </a:xfrm>
          <a:prstGeom prst="rect">
            <a:avLst/>
          </a:prstGeom>
        </p:spPr>
      </p:pic>
      <p:sp>
        <p:nvSpPr>
          <p:cNvPr id="11" name="legend-3-word"/>
          <p:cNvSpPr txBox="1"/>
          <p:nvPr/>
        </p:nvSpPr>
        <p:spPr>
          <a:xfrm>
            <a:off x="4206240" y="1225296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 — ревьюер</a:t>
            </a:r>
            <a:endParaRPr lang="en-US" sz="950" dirty="0"/>
          </a:p>
        </p:txBody>
      </p:sp>
      <p:sp>
        <p:nvSpPr>
          <p:cNvPr id="12" name="legend-4-chip"/>
          <p:cNvSpPr/>
          <p:nvPr/>
        </p:nvSpPr>
        <p:spPr>
          <a:xfrm>
            <a:off x="5367528" y="1271016"/>
            <a:ext cx="118872" cy="118872"/>
          </a:xfrm>
          <a:prstGeom prst="ellipse">
            <a:avLst/>
          </a:prstGeom>
          <a:solidFill>
            <a:srgbClr val="2E9E73"/>
          </a:solidFill>
          <a:ln/>
        </p:spPr>
      </p:sp>
      <p:sp>
        <p:nvSpPr>
          <p:cNvPr id="13" name="legend-4-word"/>
          <p:cNvSpPr txBox="1"/>
          <p:nvPr/>
        </p:nvSpPr>
        <p:spPr>
          <a:xfrm>
            <a:off x="5568696" y="1225296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работа принята</a:t>
            </a:r>
            <a:endParaRPr lang="en-US" sz="950" dirty="0"/>
          </a:p>
        </p:txBody>
      </p:sp>
      <p:sp>
        <p:nvSpPr>
          <p:cNvPr id="14" name="lane-1-rule"/>
          <p:cNvSpPr/>
          <p:nvPr/>
        </p:nvSpPr>
        <p:spPr>
          <a:xfrm>
            <a:off x="667512" y="1517904"/>
            <a:ext cx="7808976" cy="0"/>
          </a:xfrm>
          <a:prstGeom prst="line">
            <a:avLst/>
          </a:prstGeom>
          <a:noFill/>
          <a:ln w="6350">
            <a:solidFill>
              <a:schemeClr val="accent1"/>
            </a:solidFill>
            <a:prstDash val="solid"/>
          </a:ln>
        </p:spPr>
      </p:sp>
      <p:sp>
        <p:nvSpPr>
          <p:cNvPr id="15" name="lane-1-name"/>
          <p:cNvSpPr txBox="1"/>
          <p:nvPr/>
        </p:nvSpPr>
        <p:spPr>
          <a:xfrm>
            <a:off x="667512" y="1517904"/>
            <a:ext cx="246888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R1, R4. Среда и гипотезы</a:t>
            </a:r>
            <a:endParaRPr lang="en-US" sz="950" dirty="0"/>
          </a:p>
        </p:txBody>
      </p:sp>
      <p:pic>
        <p:nvPicPr>
          <p:cNvPr id="16" name="lane-1-step-1" descr="lane-1-step-1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552651"/>
            <a:ext cx="155448" cy="155448"/>
          </a:xfrm>
          <a:prstGeom prst="rect">
            <a:avLst/>
          </a:prstGeom>
        </p:spPr>
      </p:pic>
      <p:pic>
        <p:nvPicPr>
          <p:cNvPr id="17" name="lane-1-step-2" descr="lane-1-step-2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6996" y="1552651"/>
            <a:ext cx="155448" cy="155448"/>
          </a:xfrm>
          <a:prstGeom prst="rect">
            <a:avLst/>
          </a:prstGeom>
        </p:spPr>
      </p:pic>
      <p:pic>
        <p:nvPicPr>
          <p:cNvPr id="18" name="lane-1-step-3" descr="lane-1-step-3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3592" y="1552651"/>
            <a:ext cx="155448" cy="155448"/>
          </a:xfrm>
          <a:prstGeom prst="rect">
            <a:avLst/>
          </a:prstGeom>
        </p:spPr>
      </p:pic>
      <p:pic>
        <p:nvPicPr>
          <p:cNvPr id="19" name="lane-1-step-4" descr="lane-1-step-4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0188" y="1552651"/>
            <a:ext cx="155448" cy="155448"/>
          </a:xfrm>
          <a:prstGeom prst="rect">
            <a:avLst/>
          </a:prstGeom>
        </p:spPr>
      </p:pic>
      <p:pic>
        <p:nvPicPr>
          <p:cNvPr id="20" name="lane-1-step-5" descr="lane-1-step-5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86784" y="1552651"/>
            <a:ext cx="155448" cy="155448"/>
          </a:xfrm>
          <a:prstGeom prst="rect">
            <a:avLst/>
          </a:prstGeom>
        </p:spPr>
      </p:pic>
      <p:pic>
        <p:nvPicPr>
          <p:cNvPr id="21" name="lane-1-step-6" descr="lane-1-step-6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83380" y="1552651"/>
            <a:ext cx="155448" cy="155448"/>
          </a:xfrm>
          <a:prstGeom prst="rect">
            <a:avLst/>
          </a:prstGeom>
        </p:spPr>
      </p:pic>
      <p:pic>
        <p:nvPicPr>
          <p:cNvPr id="22" name="lane-1-step-7" descr="lane-1-step-7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79976" y="1552651"/>
            <a:ext cx="155448" cy="155448"/>
          </a:xfrm>
          <a:prstGeom prst="rect">
            <a:avLst/>
          </a:prstGeom>
        </p:spPr>
      </p:pic>
      <p:pic>
        <p:nvPicPr>
          <p:cNvPr id="23" name="lane-1-step-8" descr="lane-1-step-8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6572" y="1552651"/>
            <a:ext cx="155448" cy="155448"/>
          </a:xfrm>
          <a:prstGeom prst="rect">
            <a:avLst/>
          </a:prstGeom>
        </p:spPr>
      </p:pic>
      <p:pic>
        <p:nvPicPr>
          <p:cNvPr id="24" name="lane-1-step-9" descr="lane-1-step-9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73168" y="1552651"/>
            <a:ext cx="155448" cy="155448"/>
          </a:xfrm>
          <a:prstGeom prst="rect">
            <a:avLst/>
          </a:prstGeom>
        </p:spPr>
      </p:pic>
      <p:sp>
        <p:nvSpPr>
          <p:cNvPr id="25" name="lane-1-step-10"/>
          <p:cNvSpPr/>
          <p:nvPr/>
        </p:nvSpPr>
        <p:spPr>
          <a:xfrm>
            <a:off x="4988052" y="1570939"/>
            <a:ext cx="118872" cy="118872"/>
          </a:xfrm>
          <a:prstGeom prst="ellipse">
            <a:avLst/>
          </a:prstGeom>
          <a:solidFill>
            <a:srgbClr val="2E9E73"/>
          </a:solidFill>
          <a:ln/>
        </p:spPr>
      </p:sp>
      <p:sp>
        <p:nvSpPr>
          <p:cNvPr id="26" name="lane-1-result"/>
          <p:cNvSpPr txBox="1"/>
          <p:nvPr/>
        </p:nvSpPr>
        <p:spPr>
          <a:xfrm>
            <a:off x="5532120" y="1517904"/>
            <a:ext cx="2944368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ошибок найдено, два вывода перевёрнуты</a:t>
            </a:r>
            <a:endParaRPr lang="en-US" sz="950" dirty="0"/>
          </a:p>
        </p:txBody>
      </p:sp>
      <p:sp>
        <p:nvSpPr>
          <p:cNvPr id="27" name="lane-2-rule"/>
          <p:cNvSpPr/>
          <p:nvPr/>
        </p:nvSpPr>
        <p:spPr>
          <a:xfrm>
            <a:off x="667512" y="1742846"/>
            <a:ext cx="7808976" cy="0"/>
          </a:xfrm>
          <a:prstGeom prst="line">
            <a:avLst/>
          </a:prstGeom>
          <a:noFill/>
          <a:ln w="6350">
            <a:solidFill>
              <a:schemeClr val="accent1"/>
            </a:solidFill>
            <a:prstDash val="solid"/>
          </a:ln>
        </p:spPr>
      </p:sp>
      <p:sp>
        <p:nvSpPr>
          <p:cNvPr id="28" name="lane-2-name"/>
          <p:cNvSpPr txBox="1"/>
          <p:nvPr/>
        </p:nvSpPr>
        <p:spPr>
          <a:xfrm>
            <a:off x="667512" y="1742846"/>
            <a:ext cx="246888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K1–K4. Обзоры литературы</a:t>
            </a:r>
            <a:endParaRPr lang="en-US" sz="950" dirty="0"/>
          </a:p>
        </p:txBody>
      </p:sp>
      <p:pic>
        <p:nvPicPr>
          <p:cNvPr id="29" name="lane-2-step-1" descr="lane-2-step-1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00400" y="1777594"/>
            <a:ext cx="155448" cy="155448"/>
          </a:xfrm>
          <a:prstGeom prst="rect">
            <a:avLst/>
          </a:prstGeom>
        </p:spPr>
      </p:pic>
      <p:pic>
        <p:nvPicPr>
          <p:cNvPr id="30" name="lane-2-step-2" descr="lane-2-step-2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96996" y="1777594"/>
            <a:ext cx="155448" cy="155448"/>
          </a:xfrm>
          <a:prstGeom prst="rect">
            <a:avLst/>
          </a:prstGeom>
        </p:spPr>
      </p:pic>
      <p:pic>
        <p:nvPicPr>
          <p:cNvPr id="31" name="lane-2-step-3" descr="lane-2-step-3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93592" y="1777594"/>
            <a:ext cx="155448" cy="155448"/>
          </a:xfrm>
          <a:prstGeom prst="rect">
            <a:avLst/>
          </a:prstGeom>
        </p:spPr>
      </p:pic>
      <p:pic>
        <p:nvPicPr>
          <p:cNvPr id="32" name="lane-2-step-4" descr="lane-2-step-4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790188" y="1777594"/>
            <a:ext cx="155448" cy="155448"/>
          </a:xfrm>
          <a:prstGeom prst="rect">
            <a:avLst/>
          </a:prstGeom>
        </p:spPr>
      </p:pic>
      <p:pic>
        <p:nvPicPr>
          <p:cNvPr id="33" name="lane-2-step-5" descr="lane-2-step-5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86784" y="1777594"/>
            <a:ext cx="155448" cy="155448"/>
          </a:xfrm>
          <a:prstGeom prst="rect">
            <a:avLst/>
          </a:prstGeom>
        </p:spPr>
      </p:pic>
      <p:sp>
        <p:nvSpPr>
          <p:cNvPr id="34" name="lane-2-step-6"/>
          <p:cNvSpPr/>
          <p:nvPr/>
        </p:nvSpPr>
        <p:spPr>
          <a:xfrm>
            <a:off x="4201668" y="1795882"/>
            <a:ext cx="118872" cy="118872"/>
          </a:xfrm>
          <a:prstGeom prst="ellipse">
            <a:avLst/>
          </a:prstGeom>
          <a:solidFill>
            <a:srgbClr val="2E9E73"/>
          </a:solidFill>
          <a:ln/>
        </p:spPr>
      </p:sp>
      <p:sp>
        <p:nvSpPr>
          <p:cNvPr id="35" name="lane-2-result"/>
          <p:cNvSpPr txBox="1"/>
          <p:nvPr/>
        </p:nvSpPr>
        <p:spPr>
          <a:xfrm>
            <a:off x="5532120" y="1742846"/>
            <a:ext cx="2944368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проверка нашла две выдуманные ссылки</a:t>
            </a:r>
            <a:endParaRPr lang="en-US" sz="950" dirty="0"/>
          </a:p>
        </p:txBody>
      </p:sp>
      <p:sp>
        <p:nvSpPr>
          <p:cNvPr id="36" name="lane-3-rule"/>
          <p:cNvSpPr/>
          <p:nvPr/>
        </p:nvSpPr>
        <p:spPr>
          <a:xfrm>
            <a:off x="667512" y="1967789"/>
            <a:ext cx="7808976" cy="0"/>
          </a:xfrm>
          <a:prstGeom prst="line">
            <a:avLst/>
          </a:prstGeom>
          <a:noFill/>
          <a:ln w="6350">
            <a:solidFill>
              <a:schemeClr val="accent1"/>
            </a:solidFill>
            <a:prstDash val="solid"/>
          </a:ln>
        </p:spPr>
      </p:sp>
      <p:sp>
        <p:nvSpPr>
          <p:cNvPr id="37" name="lane-3-name"/>
          <p:cNvSpPr txBox="1"/>
          <p:nvPr/>
        </p:nvSpPr>
        <p:spPr>
          <a:xfrm>
            <a:off x="667512" y="1967789"/>
            <a:ext cx="246888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R13 → L3. Миссия словами</a:t>
            </a:r>
            <a:endParaRPr lang="en-US" sz="950" dirty="0"/>
          </a:p>
        </p:txBody>
      </p:sp>
      <p:pic>
        <p:nvPicPr>
          <p:cNvPr id="38" name="lane-3-step-1" descr="lane-3-step-1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00400" y="2002536"/>
            <a:ext cx="155448" cy="155448"/>
          </a:xfrm>
          <a:prstGeom prst="rect">
            <a:avLst/>
          </a:prstGeom>
        </p:spPr>
      </p:pic>
      <p:pic>
        <p:nvPicPr>
          <p:cNvPr id="39" name="lane-3-step-2" descr="lane-3-step-2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396996" y="2002536"/>
            <a:ext cx="155448" cy="155448"/>
          </a:xfrm>
          <a:prstGeom prst="rect">
            <a:avLst/>
          </a:prstGeom>
        </p:spPr>
      </p:pic>
      <p:pic>
        <p:nvPicPr>
          <p:cNvPr id="40" name="lane-3-step-3" descr="lane-3-step-3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593592" y="2002536"/>
            <a:ext cx="155448" cy="155448"/>
          </a:xfrm>
          <a:prstGeom prst="rect">
            <a:avLst/>
          </a:prstGeom>
        </p:spPr>
      </p:pic>
      <p:pic>
        <p:nvPicPr>
          <p:cNvPr id="41" name="lane-3-step-4" descr="lane-3-step-4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790188" y="2002536"/>
            <a:ext cx="155448" cy="155448"/>
          </a:xfrm>
          <a:prstGeom prst="rect">
            <a:avLst/>
          </a:prstGeom>
        </p:spPr>
      </p:pic>
      <p:sp>
        <p:nvSpPr>
          <p:cNvPr id="42" name="lane-3-step-5"/>
          <p:cNvSpPr/>
          <p:nvPr/>
        </p:nvSpPr>
        <p:spPr>
          <a:xfrm>
            <a:off x="4005072" y="2020824"/>
            <a:ext cx="118872" cy="118872"/>
          </a:xfrm>
          <a:prstGeom prst="ellipse">
            <a:avLst/>
          </a:prstGeom>
          <a:solidFill>
            <a:srgbClr val="2E9E73"/>
          </a:solidFill>
          <a:ln/>
        </p:spPr>
      </p:sp>
      <p:sp>
        <p:nvSpPr>
          <p:cNvPr id="43" name="lane-3-step-6"/>
          <p:cNvSpPr/>
          <p:nvPr/>
        </p:nvSpPr>
        <p:spPr>
          <a:xfrm>
            <a:off x="4192524" y="2080260"/>
            <a:ext cx="13716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pic>
        <p:nvPicPr>
          <p:cNvPr id="44" name="lane-3-step-7" descr="lane-3-step-7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379976" y="2002536"/>
            <a:ext cx="155448" cy="155448"/>
          </a:xfrm>
          <a:prstGeom prst="rect">
            <a:avLst/>
          </a:prstGeom>
        </p:spPr>
      </p:pic>
      <p:pic>
        <p:nvPicPr>
          <p:cNvPr id="45" name="lane-3-step-8" descr="lane-3-step-8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76572" y="2002536"/>
            <a:ext cx="155448" cy="155448"/>
          </a:xfrm>
          <a:prstGeom prst="rect">
            <a:avLst/>
          </a:prstGeom>
        </p:spPr>
      </p:pic>
      <p:pic>
        <p:nvPicPr>
          <p:cNvPr id="46" name="lane-3-step-9" descr="lane-3-step-9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773168" y="2002536"/>
            <a:ext cx="155448" cy="155448"/>
          </a:xfrm>
          <a:prstGeom prst="rect">
            <a:avLst/>
          </a:prstGeom>
        </p:spPr>
      </p:pic>
      <p:sp>
        <p:nvSpPr>
          <p:cNvPr id="47" name="lane-3-step-10"/>
          <p:cNvSpPr/>
          <p:nvPr/>
        </p:nvSpPr>
        <p:spPr>
          <a:xfrm>
            <a:off x="4988052" y="2020824"/>
            <a:ext cx="118872" cy="118872"/>
          </a:xfrm>
          <a:prstGeom prst="ellipse">
            <a:avLst/>
          </a:prstGeom>
          <a:solidFill>
            <a:srgbClr val="2E9E73"/>
          </a:solidFill>
          <a:ln/>
        </p:spPr>
      </p:sp>
      <p:sp>
        <p:nvSpPr>
          <p:cNvPr id="48" name="lane-3-result"/>
          <p:cNvSpPr txBox="1"/>
          <p:nvPr/>
        </p:nvSpPr>
        <p:spPr>
          <a:xfrm>
            <a:off x="5532120" y="1967789"/>
            <a:ext cx="2944368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 — 45–46 из 48 прогонов, правило — 0</a:t>
            </a:r>
            <a:endParaRPr lang="en-US" sz="950" dirty="0"/>
          </a:p>
        </p:txBody>
      </p:sp>
      <p:sp>
        <p:nvSpPr>
          <p:cNvPr id="49" name="lane-4-rule"/>
          <p:cNvSpPr/>
          <p:nvPr/>
        </p:nvSpPr>
        <p:spPr>
          <a:xfrm>
            <a:off x="667512" y="2192731"/>
            <a:ext cx="7808976" cy="0"/>
          </a:xfrm>
          <a:prstGeom prst="line">
            <a:avLst/>
          </a:prstGeom>
          <a:noFill/>
          <a:ln w="6350">
            <a:solidFill>
              <a:schemeClr val="accent1"/>
            </a:solidFill>
            <a:prstDash val="solid"/>
          </a:ln>
        </p:spPr>
      </p:sp>
      <p:sp>
        <p:nvSpPr>
          <p:cNvPr id="50" name="lane-4-name"/>
          <p:cNvSpPr txBox="1"/>
          <p:nvPr/>
        </p:nvSpPr>
        <p:spPr>
          <a:xfrm>
            <a:off x="667512" y="2192731"/>
            <a:ext cx="246888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R16. Ехать, пока модель думает</a:t>
            </a:r>
            <a:endParaRPr lang="en-US" sz="950" dirty="0"/>
          </a:p>
        </p:txBody>
      </p:sp>
      <p:pic>
        <p:nvPicPr>
          <p:cNvPr id="51" name="lane-4-step-1" descr="lane-4-step-1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200400" y="2227478"/>
            <a:ext cx="155448" cy="155448"/>
          </a:xfrm>
          <a:prstGeom prst="rect">
            <a:avLst/>
          </a:prstGeom>
        </p:spPr>
      </p:pic>
      <p:pic>
        <p:nvPicPr>
          <p:cNvPr id="52" name="lane-4-step-2" descr="lane-4-step-2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396996" y="2227478"/>
            <a:ext cx="155448" cy="155448"/>
          </a:xfrm>
          <a:prstGeom prst="rect">
            <a:avLst/>
          </a:prstGeom>
        </p:spPr>
      </p:pic>
      <p:pic>
        <p:nvPicPr>
          <p:cNvPr id="53" name="lane-4-step-3" descr="lane-4-step-3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593592" y="2227478"/>
            <a:ext cx="155448" cy="155448"/>
          </a:xfrm>
          <a:prstGeom prst="rect">
            <a:avLst/>
          </a:prstGeom>
        </p:spPr>
      </p:pic>
      <p:pic>
        <p:nvPicPr>
          <p:cNvPr id="54" name="lane-4-step-4" descr="lane-4-step-4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790188" y="2227478"/>
            <a:ext cx="155448" cy="155448"/>
          </a:xfrm>
          <a:prstGeom prst="rect">
            <a:avLst/>
          </a:prstGeom>
        </p:spPr>
      </p:pic>
      <p:pic>
        <p:nvPicPr>
          <p:cNvPr id="55" name="lane-4-step-5" descr="lane-4-step-5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986784" y="2227478"/>
            <a:ext cx="155448" cy="155448"/>
          </a:xfrm>
          <a:prstGeom prst="rect">
            <a:avLst/>
          </a:prstGeom>
        </p:spPr>
      </p:pic>
      <p:sp>
        <p:nvSpPr>
          <p:cNvPr id="56" name="lane-4-step-6"/>
          <p:cNvSpPr/>
          <p:nvPr/>
        </p:nvSpPr>
        <p:spPr>
          <a:xfrm>
            <a:off x="4201668" y="2245766"/>
            <a:ext cx="118872" cy="118872"/>
          </a:xfrm>
          <a:prstGeom prst="ellipse">
            <a:avLst/>
          </a:prstGeom>
          <a:solidFill>
            <a:srgbClr val="2E9E73"/>
          </a:solidFill>
          <a:ln/>
        </p:spPr>
      </p:sp>
      <p:sp>
        <p:nvSpPr>
          <p:cNvPr id="57" name="lane-4-step-7"/>
          <p:cNvSpPr/>
          <p:nvPr/>
        </p:nvSpPr>
        <p:spPr>
          <a:xfrm>
            <a:off x="4389120" y="2305202"/>
            <a:ext cx="13716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pic>
        <p:nvPicPr>
          <p:cNvPr id="58" name="lane-4-step-8" descr="lane-4-step-8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576572" y="2227478"/>
            <a:ext cx="155448" cy="155448"/>
          </a:xfrm>
          <a:prstGeom prst="rect">
            <a:avLst/>
          </a:prstGeom>
        </p:spPr>
      </p:pic>
      <p:pic>
        <p:nvPicPr>
          <p:cNvPr id="59" name="lane-4-step-9" descr="lane-4-step-9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773168" y="2227478"/>
            <a:ext cx="155448" cy="155448"/>
          </a:xfrm>
          <a:prstGeom prst="rect">
            <a:avLst/>
          </a:prstGeom>
        </p:spPr>
      </p:pic>
      <p:sp>
        <p:nvSpPr>
          <p:cNvPr id="60" name="lane-4-step-10"/>
          <p:cNvSpPr/>
          <p:nvPr/>
        </p:nvSpPr>
        <p:spPr>
          <a:xfrm>
            <a:off x="4988052" y="2245766"/>
            <a:ext cx="118872" cy="118872"/>
          </a:xfrm>
          <a:prstGeom prst="ellipse">
            <a:avLst/>
          </a:prstGeom>
          <a:solidFill>
            <a:srgbClr val="2E9E73"/>
          </a:solidFill>
          <a:ln/>
        </p:spPr>
      </p:sp>
      <p:sp>
        <p:nvSpPr>
          <p:cNvPr id="61" name="lane-4-result"/>
          <p:cNvSpPr txBox="1"/>
          <p:nvPr/>
        </p:nvSpPr>
        <p:spPr>
          <a:xfrm>
            <a:off x="5532120" y="2192731"/>
            <a:ext cx="2944368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настоящая модель: стоять 34,7 → ехать 73,2</a:t>
            </a:r>
            <a:endParaRPr lang="en-US" sz="950" dirty="0"/>
          </a:p>
        </p:txBody>
      </p:sp>
      <p:sp>
        <p:nvSpPr>
          <p:cNvPr id="62" name="lane-5-rule"/>
          <p:cNvSpPr/>
          <p:nvPr/>
        </p:nvSpPr>
        <p:spPr>
          <a:xfrm>
            <a:off x="667512" y="2417674"/>
            <a:ext cx="7808976" cy="0"/>
          </a:xfrm>
          <a:prstGeom prst="line">
            <a:avLst/>
          </a:prstGeom>
          <a:noFill/>
          <a:ln w="6350">
            <a:solidFill>
              <a:schemeClr val="accent1"/>
            </a:solidFill>
            <a:prstDash val="solid"/>
          </a:ln>
        </p:spPr>
      </p:sp>
      <p:sp>
        <p:nvSpPr>
          <p:cNvPr id="63" name="lane-5-name"/>
          <p:cNvSpPr txBox="1"/>
          <p:nvPr/>
        </p:nvSpPr>
        <p:spPr>
          <a:xfrm>
            <a:off x="667512" y="2417674"/>
            <a:ext cx="246888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R10. Смена грунта на пути</a:t>
            </a:r>
            <a:endParaRPr lang="en-US" sz="950" dirty="0"/>
          </a:p>
        </p:txBody>
      </p:sp>
      <p:pic>
        <p:nvPicPr>
          <p:cNvPr id="64" name="lane-5-step-1" descr="lane-5-step-1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200400" y="2452421"/>
            <a:ext cx="155448" cy="155448"/>
          </a:xfrm>
          <a:prstGeom prst="rect">
            <a:avLst/>
          </a:prstGeom>
        </p:spPr>
      </p:pic>
      <p:pic>
        <p:nvPicPr>
          <p:cNvPr id="65" name="lane-5-step-2" descr="lane-5-step-2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396996" y="2452421"/>
            <a:ext cx="155448" cy="155448"/>
          </a:xfrm>
          <a:prstGeom prst="rect">
            <a:avLst/>
          </a:prstGeom>
        </p:spPr>
      </p:pic>
      <p:pic>
        <p:nvPicPr>
          <p:cNvPr id="66" name="lane-5-step-3" descr="lane-5-step-3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593592" y="2452421"/>
            <a:ext cx="155448" cy="155448"/>
          </a:xfrm>
          <a:prstGeom prst="rect">
            <a:avLst/>
          </a:prstGeom>
        </p:spPr>
      </p:pic>
      <p:pic>
        <p:nvPicPr>
          <p:cNvPr id="67" name="lane-5-step-4" descr="lane-5-step-4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790188" y="2452421"/>
            <a:ext cx="155448" cy="155448"/>
          </a:xfrm>
          <a:prstGeom prst="rect">
            <a:avLst/>
          </a:prstGeom>
        </p:spPr>
      </p:pic>
      <p:sp>
        <p:nvSpPr>
          <p:cNvPr id="68" name="lane-5-step-5"/>
          <p:cNvSpPr/>
          <p:nvPr/>
        </p:nvSpPr>
        <p:spPr>
          <a:xfrm>
            <a:off x="4005072" y="2470709"/>
            <a:ext cx="118872" cy="118872"/>
          </a:xfrm>
          <a:prstGeom prst="ellipse">
            <a:avLst/>
          </a:prstGeom>
          <a:solidFill>
            <a:srgbClr val="2E9E73"/>
          </a:solidFill>
          <a:ln/>
        </p:spPr>
      </p:sp>
      <p:sp>
        <p:nvSpPr>
          <p:cNvPr id="69" name="lane-5-result"/>
          <p:cNvSpPr txBox="1"/>
          <p:nvPr/>
        </p:nvSpPr>
        <p:spPr>
          <a:xfrm>
            <a:off x="5532120" y="2417674"/>
            <a:ext cx="2944368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выигрыш не показан — так и записано</a:t>
            </a:r>
            <a:endParaRPr lang="en-US" sz="950" dirty="0"/>
          </a:p>
        </p:txBody>
      </p:sp>
      <p:sp>
        <p:nvSpPr>
          <p:cNvPr id="70" name="lane-6-rule"/>
          <p:cNvSpPr/>
          <p:nvPr/>
        </p:nvSpPr>
        <p:spPr>
          <a:xfrm>
            <a:off x="667512" y="2642616"/>
            <a:ext cx="7808976" cy="0"/>
          </a:xfrm>
          <a:prstGeom prst="line">
            <a:avLst/>
          </a:prstGeom>
          <a:noFill/>
          <a:ln w="6350">
            <a:solidFill>
              <a:schemeClr val="accent1"/>
            </a:solidFill>
            <a:prstDash val="solid"/>
          </a:ln>
        </p:spPr>
      </p:sp>
      <p:sp>
        <p:nvSpPr>
          <p:cNvPr id="71" name="lane-6-name"/>
          <p:cNvSpPr txBox="1"/>
          <p:nvPr/>
        </p:nvSpPr>
        <p:spPr>
          <a:xfrm>
            <a:off x="667512" y="2642616"/>
            <a:ext cx="246888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G2 → G3. Положение и сторожа</a:t>
            </a:r>
            <a:endParaRPr lang="en-US" sz="950" dirty="0"/>
          </a:p>
        </p:txBody>
      </p:sp>
      <p:pic>
        <p:nvPicPr>
          <p:cNvPr id="72" name="lane-6-step-1" descr="lane-6-step-1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200400" y="2677363"/>
            <a:ext cx="155448" cy="155448"/>
          </a:xfrm>
          <a:prstGeom prst="rect">
            <a:avLst/>
          </a:prstGeom>
        </p:spPr>
      </p:pic>
      <p:pic>
        <p:nvPicPr>
          <p:cNvPr id="73" name="lane-6-step-2" descr="lane-6-step-2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396996" y="2677363"/>
            <a:ext cx="155448" cy="155448"/>
          </a:xfrm>
          <a:prstGeom prst="rect">
            <a:avLst/>
          </a:prstGeom>
        </p:spPr>
      </p:pic>
      <p:pic>
        <p:nvPicPr>
          <p:cNvPr id="74" name="lane-6-step-3" descr="lane-6-step-3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593592" y="2677363"/>
            <a:ext cx="155448" cy="155448"/>
          </a:xfrm>
          <a:prstGeom prst="rect">
            <a:avLst/>
          </a:prstGeom>
        </p:spPr>
      </p:pic>
      <p:sp>
        <p:nvSpPr>
          <p:cNvPr id="75" name="lane-6-step-4"/>
          <p:cNvSpPr/>
          <p:nvPr/>
        </p:nvSpPr>
        <p:spPr>
          <a:xfrm>
            <a:off x="3808476" y="2695651"/>
            <a:ext cx="118872" cy="118872"/>
          </a:xfrm>
          <a:prstGeom prst="ellipse">
            <a:avLst/>
          </a:prstGeom>
          <a:solidFill>
            <a:srgbClr val="2E9E73"/>
          </a:solidFill>
          <a:ln/>
        </p:spPr>
      </p:sp>
      <p:sp>
        <p:nvSpPr>
          <p:cNvPr id="76" name="lane-6-step-5"/>
          <p:cNvSpPr/>
          <p:nvPr/>
        </p:nvSpPr>
        <p:spPr>
          <a:xfrm>
            <a:off x="3995928" y="2755087"/>
            <a:ext cx="13716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pic>
        <p:nvPicPr>
          <p:cNvPr id="77" name="lane-6-step-6" descr="lane-6-step-6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4183380" y="2677363"/>
            <a:ext cx="155448" cy="155448"/>
          </a:xfrm>
          <a:prstGeom prst="rect">
            <a:avLst/>
          </a:prstGeom>
        </p:spPr>
      </p:pic>
      <p:pic>
        <p:nvPicPr>
          <p:cNvPr id="78" name="lane-6-step-7" descr="lane-6-step-7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379976" y="2677363"/>
            <a:ext cx="155448" cy="155448"/>
          </a:xfrm>
          <a:prstGeom prst="rect">
            <a:avLst/>
          </a:prstGeom>
        </p:spPr>
      </p:pic>
      <p:pic>
        <p:nvPicPr>
          <p:cNvPr id="79" name="lane-6-step-8" descr="lane-6-step-8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4576572" y="2677363"/>
            <a:ext cx="155448" cy="155448"/>
          </a:xfrm>
          <a:prstGeom prst="rect">
            <a:avLst/>
          </a:prstGeom>
        </p:spPr>
      </p:pic>
      <p:pic>
        <p:nvPicPr>
          <p:cNvPr id="80" name="lane-6-step-9" descr="lane-6-step-9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773168" y="2677363"/>
            <a:ext cx="155448" cy="155448"/>
          </a:xfrm>
          <a:prstGeom prst="rect">
            <a:avLst/>
          </a:prstGeom>
        </p:spPr>
      </p:pic>
      <p:sp>
        <p:nvSpPr>
          <p:cNvPr id="81" name="lane-6-step-10"/>
          <p:cNvSpPr/>
          <p:nvPr/>
        </p:nvSpPr>
        <p:spPr>
          <a:xfrm>
            <a:off x="4988052" y="2695651"/>
            <a:ext cx="118872" cy="118872"/>
          </a:xfrm>
          <a:prstGeom prst="ellipse">
            <a:avLst/>
          </a:prstGeom>
          <a:solidFill>
            <a:srgbClr val="2E9E73"/>
          </a:solidFill>
          <a:ln/>
        </p:spPr>
      </p:sp>
      <p:sp>
        <p:nvSpPr>
          <p:cNvPr id="82" name="lane-6-result"/>
          <p:cNvSpPr txBox="1"/>
          <p:nvPr/>
        </p:nvSpPr>
        <p:spPr>
          <a:xfrm>
            <a:off x="5532120" y="2642616"/>
            <a:ext cx="2944368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возврат на базу в Gazebo: 8 из 9 → 7 из 7</a:t>
            </a:r>
            <a:endParaRPr lang="en-US" sz="950" dirty="0"/>
          </a:p>
        </p:txBody>
      </p:sp>
      <p:sp>
        <p:nvSpPr>
          <p:cNvPr id="83" name="lane-7-rule"/>
          <p:cNvSpPr/>
          <p:nvPr/>
        </p:nvSpPr>
        <p:spPr>
          <a:xfrm>
            <a:off x="667512" y="2867558"/>
            <a:ext cx="7808976" cy="0"/>
          </a:xfrm>
          <a:prstGeom prst="line">
            <a:avLst/>
          </a:prstGeom>
          <a:noFill/>
          <a:ln w="6350">
            <a:solidFill>
              <a:schemeClr val="accent1"/>
            </a:solidFill>
            <a:prstDash val="solid"/>
          </a:ln>
        </p:spPr>
      </p:sp>
      <p:sp>
        <p:nvSpPr>
          <p:cNvPr id="84" name="lane-7-name"/>
          <p:cNvSpPr txBox="1"/>
          <p:nvPr/>
        </p:nvSpPr>
        <p:spPr>
          <a:xfrm>
            <a:off x="667512" y="2867558"/>
            <a:ext cx="246888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P1 → P2. Где робот теряет очки</a:t>
            </a:r>
            <a:endParaRPr lang="en-US" sz="950" dirty="0"/>
          </a:p>
        </p:txBody>
      </p:sp>
      <p:pic>
        <p:nvPicPr>
          <p:cNvPr id="85" name="lane-7-step-1" descr="lane-7-step-1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200400" y="2902306"/>
            <a:ext cx="155448" cy="155448"/>
          </a:xfrm>
          <a:prstGeom prst="rect">
            <a:avLst/>
          </a:prstGeom>
        </p:spPr>
      </p:pic>
      <p:pic>
        <p:nvPicPr>
          <p:cNvPr id="86" name="lane-7-step-2" descr="lane-7-step-2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3396996" y="2902306"/>
            <a:ext cx="155448" cy="155448"/>
          </a:xfrm>
          <a:prstGeom prst="rect">
            <a:avLst/>
          </a:prstGeom>
        </p:spPr>
      </p:pic>
      <p:pic>
        <p:nvPicPr>
          <p:cNvPr id="87" name="lane-7-step-3" descr="lane-7-step-3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593592" y="2902306"/>
            <a:ext cx="155448" cy="155448"/>
          </a:xfrm>
          <a:prstGeom prst="rect">
            <a:avLst/>
          </a:prstGeom>
        </p:spPr>
      </p:pic>
      <p:pic>
        <p:nvPicPr>
          <p:cNvPr id="88" name="lane-7-step-4" descr="lane-7-step-4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3790188" y="2902306"/>
            <a:ext cx="155448" cy="155448"/>
          </a:xfrm>
          <a:prstGeom prst="rect">
            <a:avLst/>
          </a:prstGeom>
        </p:spPr>
      </p:pic>
      <p:sp>
        <p:nvSpPr>
          <p:cNvPr id="89" name="lane-7-step-5"/>
          <p:cNvSpPr/>
          <p:nvPr/>
        </p:nvSpPr>
        <p:spPr>
          <a:xfrm>
            <a:off x="4005072" y="2920594"/>
            <a:ext cx="118872" cy="118872"/>
          </a:xfrm>
          <a:prstGeom prst="ellipse">
            <a:avLst/>
          </a:prstGeom>
          <a:solidFill>
            <a:srgbClr val="2E9E73"/>
          </a:solidFill>
          <a:ln/>
        </p:spPr>
      </p:sp>
      <p:sp>
        <p:nvSpPr>
          <p:cNvPr id="90" name="lane-7-step-6"/>
          <p:cNvSpPr/>
          <p:nvPr/>
        </p:nvSpPr>
        <p:spPr>
          <a:xfrm>
            <a:off x="4192524" y="2980030"/>
            <a:ext cx="13716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pic>
        <p:nvPicPr>
          <p:cNvPr id="91" name="lane-7-step-7" descr="lane-7-step-7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4379976" y="2902306"/>
            <a:ext cx="155448" cy="155448"/>
          </a:xfrm>
          <a:prstGeom prst="rect">
            <a:avLst/>
          </a:prstGeom>
        </p:spPr>
      </p:pic>
      <p:pic>
        <p:nvPicPr>
          <p:cNvPr id="92" name="lane-7-step-8" descr="lane-7-step-8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4576572" y="2902306"/>
            <a:ext cx="155448" cy="155448"/>
          </a:xfrm>
          <a:prstGeom prst="rect">
            <a:avLst/>
          </a:prstGeom>
        </p:spPr>
      </p:pic>
      <p:pic>
        <p:nvPicPr>
          <p:cNvPr id="93" name="lane-7-step-9" descr="lane-7-step-9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4773168" y="2902306"/>
            <a:ext cx="155448" cy="155448"/>
          </a:xfrm>
          <a:prstGeom prst="rect">
            <a:avLst/>
          </a:prstGeom>
        </p:spPr>
      </p:pic>
      <p:sp>
        <p:nvSpPr>
          <p:cNvPr id="94" name="lane-7-step-10"/>
          <p:cNvSpPr/>
          <p:nvPr/>
        </p:nvSpPr>
        <p:spPr>
          <a:xfrm>
            <a:off x="4988052" y="2920594"/>
            <a:ext cx="118872" cy="118872"/>
          </a:xfrm>
          <a:prstGeom prst="ellipse">
            <a:avLst/>
          </a:prstGeom>
          <a:solidFill>
            <a:srgbClr val="2E9E73"/>
          </a:solidFill>
          <a:ln/>
        </p:spPr>
      </p:sp>
      <p:sp>
        <p:nvSpPr>
          <p:cNvPr id="95" name="lane-7-result"/>
          <p:cNvSpPr txBox="1"/>
          <p:nvPr/>
        </p:nvSpPr>
        <p:spPr>
          <a:xfrm>
            <a:off x="5532120" y="2867558"/>
            <a:ext cx="2944368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сбой датчика: +6,4; пять правок: не показано</a:t>
            </a:r>
            <a:endParaRPr lang="en-US" sz="950" dirty="0"/>
          </a:p>
        </p:txBody>
      </p:sp>
      <p:sp>
        <p:nvSpPr>
          <p:cNvPr id="96" name="lane-8-rule"/>
          <p:cNvSpPr/>
          <p:nvPr/>
        </p:nvSpPr>
        <p:spPr>
          <a:xfrm>
            <a:off x="667512" y="3092501"/>
            <a:ext cx="7808976" cy="0"/>
          </a:xfrm>
          <a:prstGeom prst="line">
            <a:avLst/>
          </a:prstGeom>
          <a:noFill/>
          <a:ln w="6350">
            <a:solidFill>
              <a:schemeClr val="accent1"/>
            </a:solidFill>
            <a:prstDash val="solid"/>
          </a:ln>
        </p:spPr>
      </p:sp>
      <p:sp>
        <p:nvSpPr>
          <p:cNvPr id="97" name="lane-8-name"/>
          <p:cNvSpPr txBox="1"/>
          <p:nvPr/>
        </p:nvSpPr>
        <p:spPr>
          <a:xfrm>
            <a:off x="667512" y="3092501"/>
            <a:ext cx="246888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A1. Новые схемы агента</a:t>
            </a:r>
            <a:endParaRPr lang="en-US" sz="950" dirty="0"/>
          </a:p>
        </p:txBody>
      </p:sp>
      <p:pic>
        <p:nvPicPr>
          <p:cNvPr id="98" name="lane-8-step-1" descr="lane-8-step-1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3200400" y="3127248"/>
            <a:ext cx="155448" cy="155448"/>
          </a:xfrm>
          <a:prstGeom prst="rect">
            <a:avLst/>
          </a:prstGeom>
        </p:spPr>
      </p:pic>
      <p:pic>
        <p:nvPicPr>
          <p:cNvPr id="99" name="lane-8-step-2" descr="lane-8-step-2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3396996" y="3127248"/>
            <a:ext cx="155448" cy="155448"/>
          </a:xfrm>
          <a:prstGeom prst="rect">
            <a:avLst/>
          </a:prstGeom>
        </p:spPr>
      </p:pic>
      <p:pic>
        <p:nvPicPr>
          <p:cNvPr id="100" name="lane-8-step-3" descr="lane-8-step-3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593592" y="3127248"/>
            <a:ext cx="155448" cy="155448"/>
          </a:xfrm>
          <a:prstGeom prst="rect">
            <a:avLst/>
          </a:prstGeom>
        </p:spPr>
      </p:pic>
      <p:sp>
        <p:nvSpPr>
          <p:cNvPr id="101" name="lane-8-step-4"/>
          <p:cNvSpPr/>
          <p:nvPr/>
        </p:nvSpPr>
        <p:spPr>
          <a:xfrm>
            <a:off x="3808476" y="3145536"/>
            <a:ext cx="118872" cy="118872"/>
          </a:xfrm>
          <a:prstGeom prst="ellipse">
            <a:avLst/>
          </a:prstGeom>
          <a:solidFill>
            <a:srgbClr val="2E9E73"/>
          </a:solidFill>
          <a:ln/>
        </p:spPr>
      </p:sp>
      <p:sp>
        <p:nvSpPr>
          <p:cNvPr id="102" name="lane-8-result"/>
          <p:cNvSpPr txBox="1"/>
          <p:nvPr/>
        </p:nvSpPr>
        <p:spPr>
          <a:xfrm>
            <a:off x="5532120" y="3092501"/>
            <a:ext cx="2944368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лучше нынешней</a:t>
            </a:r>
            <a:endParaRPr lang="en-US" sz="950" dirty="0"/>
          </a:p>
        </p:txBody>
      </p:sp>
      <p:sp>
        <p:nvSpPr>
          <p:cNvPr id="103" name="lane-9-rule"/>
          <p:cNvSpPr/>
          <p:nvPr/>
        </p:nvSpPr>
        <p:spPr>
          <a:xfrm>
            <a:off x="667512" y="3317443"/>
            <a:ext cx="7808976" cy="0"/>
          </a:xfrm>
          <a:prstGeom prst="line">
            <a:avLst/>
          </a:prstGeom>
          <a:noFill/>
          <a:ln w="6350">
            <a:solidFill>
              <a:schemeClr val="accent1"/>
            </a:solidFill>
            <a:prstDash val="solid"/>
          </a:ln>
        </p:spPr>
      </p:sp>
      <p:sp>
        <p:nvSpPr>
          <p:cNvPr id="104" name="lane-9-name"/>
          <p:cNvSpPr txBox="1"/>
          <p:nvPr/>
        </p:nvSpPr>
        <p:spPr>
          <a:xfrm>
            <a:off x="667512" y="3317443"/>
            <a:ext cx="246888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R12. Выбор опыта с учётом цены</a:t>
            </a:r>
            <a:endParaRPr lang="en-US" sz="950" dirty="0"/>
          </a:p>
        </p:txBody>
      </p:sp>
      <p:pic>
        <p:nvPicPr>
          <p:cNvPr id="105" name="lane-9-step-1" descr="lane-9-step-1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3200400" y="3352190"/>
            <a:ext cx="155448" cy="155448"/>
          </a:xfrm>
          <a:prstGeom prst="rect">
            <a:avLst/>
          </a:prstGeom>
        </p:spPr>
      </p:pic>
      <p:pic>
        <p:nvPicPr>
          <p:cNvPr id="106" name="lane-9-step-2" descr="lane-9-step-2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3396996" y="3352190"/>
            <a:ext cx="155448" cy="155448"/>
          </a:xfrm>
          <a:prstGeom prst="rect">
            <a:avLst/>
          </a:prstGeom>
        </p:spPr>
      </p:pic>
      <p:pic>
        <p:nvPicPr>
          <p:cNvPr id="107" name="lane-9-step-3" descr="lane-9-step-3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3593592" y="3352190"/>
            <a:ext cx="155448" cy="155448"/>
          </a:xfrm>
          <a:prstGeom prst="rect">
            <a:avLst/>
          </a:prstGeom>
        </p:spPr>
      </p:pic>
      <p:sp>
        <p:nvSpPr>
          <p:cNvPr id="108" name="lane-9-step-4"/>
          <p:cNvSpPr/>
          <p:nvPr/>
        </p:nvSpPr>
        <p:spPr>
          <a:xfrm>
            <a:off x="3808476" y="3370478"/>
            <a:ext cx="118872" cy="118872"/>
          </a:xfrm>
          <a:prstGeom prst="ellipse">
            <a:avLst/>
          </a:prstGeom>
          <a:solidFill>
            <a:srgbClr val="2E9E73"/>
          </a:solidFill>
          <a:ln/>
        </p:spPr>
      </p:sp>
      <p:sp>
        <p:nvSpPr>
          <p:cNvPr id="109" name="lane-9-result"/>
          <p:cNvSpPr txBox="1"/>
          <p:nvPr/>
        </p:nvSpPr>
        <p:spPr>
          <a:xfrm>
            <a:off x="5532120" y="3317443"/>
            <a:ext cx="2944368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расход на расследование: 0,54 → 0,08</a:t>
            </a:r>
            <a:endParaRPr lang="en-US" sz="950" dirty="0"/>
          </a:p>
        </p:txBody>
      </p:sp>
      <p:sp>
        <p:nvSpPr>
          <p:cNvPr id="110" name="lane-10-rule"/>
          <p:cNvSpPr/>
          <p:nvPr/>
        </p:nvSpPr>
        <p:spPr>
          <a:xfrm>
            <a:off x="667512" y="3542386"/>
            <a:ext cx="7808976" cy="0"/>
          </a:xfrm>
          <a:prstGeom prst="line">
            <a:avLst/>
          </a:prstGeom>
          <a:noFill/>
          <a:ln w="6350">
            <a:solidFill>
              <a:schemeClr val="accent1"/>
            </a:solidFill>
            <a:prstDash val="solid"/>
          </a:ln>
        </p:spPr>
      </p:sp>
      <p:sp>
        <p:nvSpPr>
          <p:cNvPr id="111" name="lane-10-name"/>
          <p:cNvSpPr txBox="1"/>
          <p:nvPr/>
        </p:nvSpPr>
        <p:spPr>
          <a:xfrm>
            <a:off x="667512" y="3542386"/>
            <a:ext cx="246888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R14. Самокалибровка датчика</a:t>
            </a:r>
            <a:endParaRPr lang="en-US" sz="950" dirty="0"/>
          </a:p>
        </p:txBody>
      </p:sp>
      <p:pic>
        <p:nvPicPr>
          <p:cNvPr id="112" name="lane-10-step-1" descr="lane-10-step-1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3200400" y="3577133"/>
            <a:ext cx="155448" cy="155448"/>
          </a:xfrm>
          <a:prstGeom prst="rect">
            <a:avLst/>
          </a:prstGeom>
        </p:spPr>
      </p:pic>
      <p:pic>
        <p:nvPicPr>
          <p:cNvPr id="113" name="lane-10-step-2" descr="lane-10-step-2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3396996" y="3577133"/>
            <a:ext cx="155448" cy="155448"/>
          </a:xfrm>
          <a:prstGeom prst="rect">
            <a:avLst/>
          </a:prstGeom>
        </p:spPr>
      </p:pic>
      <p:pic>
        <p:nvPicPr>
          <p:cNvPr id="114" name="lane-10-step-3" descr="lane-10-step-3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3593592" y="3577133"/>
            <a:ext cx="155448" cy="155448"/>
          </a:xfrm>
          <a:prstGeom prst="rect">
            <a:avLst/>
          </a:prstGeom>
        </p:spPr>
      </p:pic>
      <p:pic>
        <p:nvPicPr>
          <p:cNvPr id="115" name="lane-10-step-4" descr="lane-10-step-4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3790188" y="3577133"/>
            <a:ext cx="155448" cy="155448"/>
          </a:xfrm>
          <a:prstGeom prst="rect">
            <a:avLst/>
          </a:prstGeom>
        </p:spPr>
      </p:pic>
      <p:pic>
        <p:nvPicPr>
          <p:cNvPr id="116" name="lane-10-step-5" descr="lane-10-step-5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3986784" y="3577133"/>
            <a:ext cx="155448" cy="155448"/>
          </a:xfrm>
          <a:prstGeom prst="rect">
            <a:avLst/>
          </a:prstGeom>
        </p:spPr>
      </p:pic>
      <p:sp>
        <p:nvSpPr>
          <p:cNvPr id="117" name="lane-10-step-6"/>
          <p:cNvSpPr/>
          <p:nvPr/>
        </p:nvSpPr>
        <p:spPr>
          <a:xfrm>
            <a:off x="4201668" y="3595421"/>
            <a:ext cx="118872" cy="118872"/>
          </a:xfrm>
          <a:prstGeom prst="ellipse">
            <a:avLst/>
          </a:prstGeom>
          <a:solidFill>
            <a:srgbClr val="2E9E73"/>
          </a:solidFill>
          <a:ln/>
        </p:spPr>
      </p:sp>
      <p:sp>
        <p:nvSpPr>
          <p:cNvPr id="118" name="lane-10-result"/>
          <p:cNvSpPr txBox="1"/>
          <p:nvPr/>
        </p:nvSpPr>
        <p:spPr>
          <a:xfrm>
            <a:off x="5532120" y="3542386"/>
            <a:ext cx="2944368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неверный закон датчика: 1% → 71% образцов</a:t>
            </a:r>
            <a:endParaRPr lang="en-US" sz="950" dirty="0"/>
          </a:p>
        </p:txBody>
      </p:sp>
      <p:sp>
        <p:nvSpPr>
          <p:cNvPr id="119" name="lane-11-rule"/>
          <p:cNvSpPr/>
          <p:nvPr/>
        </p:nvSpPr>
        <p:spPr>
          <a:xfrm>
            <a:off x="667512" y="3767328"/>
            <a:ext cx="7808976" cy="0"/>
          </a:xfrm>
          <a:prstGeom prst="line">
            <a:avLst/>
          </a:prstGeom>
          <a:noFill/>
          <a:ln w="6350">
            <a:solidFill>
              <a:schemeClr val="accent1"/>
            </a:solidFill>
            <a:prstDash val="solid"/>
          </a:ln>
        </p:spPr>
      </p:sp>
      <p:sp>
        <p:nvSpPr>
          <p:cNvPr id="120" name="lane-11-name"/>
          <p:cNvSpPr txBox="1"/>
          <p:nvPr/>
        </p:nvSpPr>
        <p:spPr>
          <a:xfrm>
            <a:off x="667512" y="3767328"/>
            <a:ext cx="246888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M1. Два робота с координацией</a:t>
            </a:r>
            <a:endParaRPr lang="en-US" sz="950" dirty="0"/>
          </a:p>
        </p:txBody>
      </p:sp>
      <p:pic>
        <p:nvPicPr>
          <p:cNvPr id="121" name="lane-11-step-1" descr="lane-11-step-1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3200400" y="3802075"/>
            <a:ext cx="155448" cy="155448"/>
          </a:xfrm>
          <a:prstGeom prst="rect">
            <a:avLst/>
          </a:prstGeom>
        </p:spPr>
      </p:pic>
      <p:pic>
        <p:nvPicPr>
          <p:cNvPr id="122" name="lane-11-step-2" descr="lane-11-step-2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3396996" y="3802075"/>
            <a:ext cx="155448" cy="155448"/>
          </a:xfrm>
          <a:prstGeom prst="rect">
            <a:avLst/>
          </a:prstGeom>
        </p:spPr>
      </p:pic>
      <p:pic>
        <p:nvPicPr>
          <p:cNvPr id="123" name="lane-11-step-3" descr="lane-11-step-3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3593592" y="3802075"/>
            <a:ext cx="155448" cy="155448"/>
          </a:xfrm>
          <a:prstGeom prst="rect">
            <a:avLst/>
          </a:prstGeom>
        </p:spPr>
      </p:pic>
      <p:pic>
        <p:nvPicPr>
          <p:cNvPr id="124" name="lane-11-step-4" descr="lane-11-step-4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3790188" y="3802075"/>
            <a:ext cx="155448" cy="155448"/>
          </a:xfrm>
          <a:prstGeom prst="rect">
            <a:avLst/>
          </a:prstGeom>
        </p:spPr>
      </p:pic>
      <p:pic>
        <p:nvPicPr>
          <p:cNvPr id="125" name="lane-11-step-5" descr="lane-11-step-5">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3986784" y="3802075"/>
            <a:ext cx="155448" cy="155448"/>
          </a:xfrm>
          <a:prstGeom prst="rect">
            <a:avLst/>
          </a:prstGeom>
        </p:spPr>
      </p:pic>
      <p:sp>
        <p:nvSpPr>
          <p:cNvPr id="126" name="lane-11-step-6"/>
          <p:cNvSpPr/>
          <p:nvPr/>
        </p:nvSpPr>
        <p:spPr>
          <a:xfrm>
            <a:off x="4201668" y="3820363"/>
            <a:ext cx="118872" cy="118872"/>
          </a:xfrm>
          <a:prstGeom prst="ellipse">
            <a:avLst/>
          </a:prstGeom>
          <a:solidFill>
            <a:srgbClr val="2E9E73"/>
          </a:solidFill>
          <a:ln/>
        </p:spPr>
      </p:sp>
      <p:sp>
        <p:nvSpPr>
          <p:cNvPr id="127" name="lane-11-result"/>
          <p:cNvSpPr txBox="1"/>
          <p:nvPr/>
        </p:nvSpPr>
        <p:spPr>
          <a:xfrm>
            <a:off x="5532120" y="3767328"/>
            <a:ext cx="2944368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прогон короче на 26 с</a:t>
            </a:r>
            <a:endParaRPr lang="en-US" sz="950" dirty="0"/>
          </a:p>
        </p:txBody>
      </p:sp>
      <p:sp>
        <p:nvSpPr>
          <p:cNvPr id="128" name="lane-12-rule"/>
          <p:cNvSpPr/>
          <p:nvPr/>
        </p:nvSpPr>
        <p:spPr>
          <a:xfrm>
            <a:off x="667512" y="3992270"/>
            <a:ext cx="7808976" cy="0"/>
          </a:xfrm>
          <a:prstGeom prst="line">
            <a:avLst/>
          </a:prstGeom>
          <a:noFill/>
          <a:ln w="6350">
            <a:solidFill>
              <a:schemeClr val="accent1"/>
            </a:solidFill>
            <a:prstDash val="solid"/>
          </a:ln>
        </p:spPr>
      </p:sp>
      <p:sp>
        <p:nvSpPr>
          <p:cNvPr id="129" name="lane-12-name"/>
          <p:cNvSpPr txBox="1"/>
          <p:nvPr/>
        </p:nvSpPr>
        <p:spPr>
          <a:xfrm>
            <a:off x="667512" y="3992270"/>
            <a:ext cx="246888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F2. SLAM вместо готовой карты</a:t>
            </a:r>
            <a:endParaRPr lang="en-US" sz="950" dirty="0"/>
          </a:p>
        </p:txBody>
      </p:sp>
      <p:pic>
        <p:nvPicPr>
          <p:cNvPr id="130" name="lane-12-step-1" descr="lane-12-step-1">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3200400" y="4027018"/>
            <a:ext cx="155448" cy="155448"/>
          </a:xfrm>
          <a:prstGeom prst="rect">
            <a:avLst/>
          </a:prstGeom>
        </p:spPr>
      </p:pic>
      <p:pic>
        <p:nvPicPr>
          <p:cNvPr id="131" name="lane-12-step-2" descr="lane-12-step-2">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3396996" y="4027018"/>
            <a:ext cx="155448" cy="155448"/>
          </a:xfrm>
          <a:prstGeom prst="rect">
            <a:avLst/>
          </a:prstGeom>
        </p:spPr>
      </p:pic>
      <p:pic>
        <p:nvPicPr>
          <p:cNvPr id="132" name="lane-12-step-3" descr="lane-12-step-3">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3593592" y="4027018"/>
            <a:ext cx="155448" cy="155448"/>
          </a:xfrm>
          <a:prstGeom prst="rect">
            <a:avLst/>
          </a:prstGeom>
        </p:spPr>
      </p:pic>
      <p:pic>
        <p:nvPicPr>
          <p:cNvPr id="133" name="lane-12-step-4" descr="lane-12-step-4">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3790188" y="4027018"/>
            <a:ext cx="155448" cy="155448"/>
          </a:xfrm>
          <a:prstGeom prst="rect">
            <a:avLst/>
          </a:prstGeom>
        </p:spPr>
      </p:pic>
      <p:pic>
        <p:nvPicPr>
          <p:cNvPr id="134" name="lane-12-step-5" descr="lane-12-step-5">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3986784" y="4027018"/>
            <a:ext cx="155448" cy="155448"/>
          </a:xfrm>
          <a:prstGeom prst="rect">
            <a:avLst/>
          </a:prstGeom>
        </p:spPr>
      </p:pic>
      <p:pic>
        <p:nvPicPr>
          <p:cNvPr id="135" name="lane-12-step-6" descr="lane-12-step-6">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4183380" y="4027018"/>
            <a:ext cx="155448" cy="155448"/>
          </a:xfrm>
          <a:prstGeom prst="rect">
            <a:avLst/>
          </a:prstGeom>
        </p:spPr>
      </p:pic>
      <p:pic>
        <p:nvPicPr>
          <p:cNvPr id="136" name="lane-12-step-7" descr="lane-12-step-7">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4379976" y="4027018"/>
            <a:ext cx="155448" cy="155448"/>
          </a:xfrm>
          <a:prstGeom prst="rect">
            <a:avLst/>
          </a:prstGeom>
        </p:spPr>
      </p:pic>
      <p:sp>
        <p:nvSpPr>
          <p:cNvPr id="137" name="lane-12-step-8"/>
          <p:cNvSpPr/>
          <p:nvPr/>
        </p:nvSpPr>
        <p:spPr>
          <a:xfrm>
            <a:off x="4594860" y="4045306"/>
            <a:ext cx="118872" cy="118872"/>
          </a:xfrm>
          <a:prstGeom prst="ellipse">
            <a:avLst/>
          </a:prstGeom>
          <a:solidFill>
            <a:srgbClr val="2E9E73"/>
          </a:solidFill>
          <a:ln/>
        </p:spPr>
      </p:sp>
      <p:sp>
        <p:nvSpPr>
          <p:cNvPr id="138" name="lane-12-result"/>
          <p:cNvSpPr txBox="1"/>
          <p:nvPr/>
        </p:nvSpPr>
        <p:spPr>
          <a:xfrm>
            <a:off x="5532120" y="3992270"/>
            <a:ext cx="2944368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карта совпала с готовой на 96–99%</a:t>
            </a:r>
            <a:endParaRPr lang="en-US" sz="950" dirty="0"/>
          </a:p>
        </p:txBody>
      </p:sp>
      <p:sp>
        <p:nvSpPr>
          <p:cNvPr id="139" name="logs-line"/>
          <p:cNvSpPr txBox="1"/>
          <p:nvPr/>
        </p:nvSpPr>
        <p:spPr>
          <a:xfrm>
            <a:off x="667512" y="4308653"/>
            <a:ext cx="7808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Логи в репозитории: research/agenda.yaml (план) · research/PROTOCOL.md (правила) · research/findings/ (отчёты) · Git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19288" y="4773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67512" y="365760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8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Скиллы, которые выросли из нашей работы</a:t>
            </a:r>
            <a:endParaRPr lang="en-US" sz="228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67512" y="868680"/>
            <a:ext cx="7808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повторялось десятки раз, стало инструкцией, которую ИИ-агент подгружает сам</a:t>
            </a:r>
            <a:endParaRPr lang="en-US" sz="1150" dirty="0"/>
          </a:p>
        </p:txBody>
      </p:sp>
      <p:sp>
        <p:nvSpPr>
          <p:cNvPr id="5" name="track-tag"/>
          <p:cNvSpPr txBox="1"/>
          <p:nvPr/>
        </p:nvSpPr>
        <p:spPr>
          <a:xfrm>
            <a:off x="5992978" y="155448"/>
            <a:ext cx="2483510" cy="23774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Доп. трек · использование ассистента</a:t>
            </a:r>
            <a:endParaRPr lang="en-US" sz="900" dirty="0"/>
          </a:p>
        </p:txBody>
      </p:sp>
      <p:sp>
        <p:nvSpPr>
          <p:cNvPr id="6" name="skill-1-card"/>
          <p:cNvSpPr/>
          <p:nvPr/>
        </p:nvSpPr>
        <p:spPr>
          <a:xfrm>
            <a:off x="667512" y="1298448"/>
            <a:ext cx="2487168" cy="2395728"/>
          </a:xfrm>
          <a:prstGeom prst="roundRect">
            <a:avLst>
              <a:gd name="adj" fmla="val 9924"/>
            </a:avLst>
          </a:prstGeom>
          <a:solidFill>
            <a:schemeClr val="accent1"/>
          </a:solidFill>
          <a:ln/>
        </p:spPr>
      </p:sp>
      <p:sp>
        <p:nvSpPr>
          <p:cNvPr id="7" name="skill-1-head"/>
          <p:cNvSpPr txBox="1"/>
          <p:nvPr/>
        </p:nvSpPr>
        <p:spPr>
          <a:xfrm>
            <a:off x="868680" y="1426464"/>
            <a:ext cx="2121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did-research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Исследование по источникам</a:t>
            </a:r>
            <a:endParaRPr lang="en-US" sz="1100" dirty="0"/>
          </a:p>
        </p:txBody>
      </p:sp>
      <p:sp>
        <p:nvSpPr>
          <p:cNvPr id="8" name="skill-1-lines"/>
          <p:cNvSpPr txBox="1"/>
          <p:nvPr/>
        </p:nvSpPr>
        <p:spPr>
          <a:xfrm>
            <a:off x="868680" y="2029968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поиск статей, документации и похожих проектов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проверка каждой ссылки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перенос на нашего робота и дешёвая пробная проверка</a:t>
            </a:r>
            <a:endParaRPr lang="en-US" sz="950" dirty="0"/>
          </a:p>
        </p:txBody>
      </p:sp>
      <p:sp>
        <p:nvSpPr>
          <p:cNvPr id="9" name="skill-1-out"/>
          <p:cNvSpPr txBox="1"/>
          <p:nvPr/>
        </p:nvSpPr>
        <p:spPr>
          <a:xfrm>
            <a:off x="868680" y="3072384"/>
            <a:ext cx="21214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Вырос из: </a:t>
            </a:r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четырёх обзоров литературы: проверка нашла в них две выдуманные ссылки</a:t>
            </a:r>
            <a:endParaRPr lang="en-US" sz="950" dirty="0"/>
          </a:p>
        </p:txBody>
      </p:sp>
      <p:sp>
        <p:nvSpPr>
          <p:cNvPr id="10" name="skill-2-card"/>
          <p:cNvSpPr/>
          <p:nvPr/>
        </p:nvSpPr>
        <p:spPr>
          <a:xfrm>
            <a:off x="3328416" y="1298448"/>
            <a:ext cx="2487168" cy="2395728"/>
          </a:xfrm>
          <a:prstGeom prst="roundRect">
            <a:avLst>
              <a:gd name="adj" fmla="val 9924"/>
            </a:avLst>
          </a:prstGeom>
          <a:solidFill>
            <a:schemeClr val="accent3"/>
          </a:solidFill>
          <a:ln/>
        </p:spPr>
      </p:sp>
      <p:sp>
        <p:nvSpPr>
          <p:cNvPr id="11" name="skill-2-head"/>
          <p:cNvSpPr txBox="1"/>
          <p:nvPr/>
        </p:nvSpPr>
        <p:spPr>
          <a:xfrm>
            <a:off x="3529584" y="1426464"/>
            <a:ext cx="2121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did-experiment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Постановка опыта</a:t>
            </a:r>
            <a:endParaRPr lang="en-US" sz="1100" dirty="0"/>
          </a:p>
        </p:txBody>
      </p:sp>
      <p:sp>
        <p:nvSpPr>
          <p:cNvPr id="12" name="skill-2-lines"/>
          <p:cNvSpPr txBox="1"/>
          <p:nvPr/>
        </p:nvSpPr>
        <p:spPr>
          <a:xfrm>
            <a:off x="3529584" y="2029968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описание опыта в файле YAML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варианты агента и отложенные сценарии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парные разности с 95% интервалами</a:t>
            </a:r>
            <a:endParaRPr lang="en-US" sz="950" dirty="0"/>
          </a:p>
        </p:txBody>
      </p:sp>
      <p:sp>
        <p:nvSpPr>
          <p:cNvPr id="13" name="skill-2-out"/>
          <p:cNvSpPr txBox="1"/>
          <p:nvPr/>
        </p:nvSpPr>
        <p:spPr>
          <a:xfrm>
            <a:off x="3529584" y="3072384"/>
            <a:ext cx="21214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Вырос из: </a:t>
            </a:r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50+ опытов, описанных и посчитанных по одной схеме</a:t>
            </a:r>
            <a:endParaRPr lang="en-US" sz="950" dirty="0"/>
          </a:p>
        </p:txBody>
      </p:sp>
      <p:sp>
        <p:nvSpPr>
          <p:cNvPr id="14" name="skill-3-card"/>
          <p:cNvSpPr/>
          <p:nvPr/>
        </p:nvSpPr>
        <p:spPr>
          <a:xfrm>
            <a:off x="5989320" y="1298448"/>
            <a:ext cx="2487168" cy="2395728"/>
          </a:xfrm>
          <a:prstGeom prst="roundRect">
            <a:avLst>
              <a:gd name="adj" fmla="val 9924"/>
            </a:avLst>
          </a:prstGeom>
          <a:solidFill>
            <a:schemeClr val="accent2"/>
          </a:solidFill>
          <a:ln/>
        </p:spPr>
      </p:sp>
      <p:sp>
        <p:nvSpPr>
          <p:cNvPr id="15" name="skill-3-head"/>
          <p:cNvSpPr txBox="1"/>
          <p:nvPr/>
        </p:nvSpPr>
        <p:spPr>
          <a:xfrm>
            <a:off x="6190488" y="1426464"/>
            <a:ext cx="2121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did-review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Независимое ревью</a:t>
            </a:r>
            <a:endParaRPr lang="en-US" sz="1100" dirty="0"/>
          </a:p>
        </p:txBody>
      </p:sp>
      <p:sp>
        <p:nvSpPr>
          <p:cNvPr id="16" name="skill-3-lines"/>
          <p:cNvSpPr txBox="1"/>
          <p:nvPr/>
        </p:nvSpPr>
        <p:spPr>
          <a:xfrm>
            <a:off x="6190488" y="2029968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проверять в коде робота и в измерениях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воспроизвести числа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каком виде вернуть вердикт</a:t>
            </a:r>
            <a:endParaRPr lang="en-US" sz="950" dirty="0"/>
          </a:p>
        </p:txBody>
      </p:sp>
      <p:sp>
        <p:nvSpPr>
          <p:cNvPr id="17" name="skill-3-out"/>
          <p:cNvSpPr txBox="1"/>
          <p:nvPr/>
        </p:nvSpPr>
        <p:spPr>
          <a:xfrm>
            <a:off x="6190488" y="3072384"/>
            <a:ext cx="21214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Вырос из: </a:t>
            </a:r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ревью 22 работ: 21 из них вернуло на доработку</a:t>
            </a:r>
            <a:endParaRPr lang="en-US" sz="950" dirty="0"/>
          </a:p>
        </p:txBody>
      </p:sp>
      <p:sp>
        <p:nvSpPr>
          <p:cNvPr id="18" name="skills-card"/>
          <p:cNvSpPr/>
          <p:nvPr/>
        </p:nvSpPr>
        <p:spPr>
          <a:xfrm>
            <a:off x="667512" y="3840480"/>
            <a:ext cx="7808976" cy="749808"/>
          </a:xfrm>
          <a:prstGeom prst="roundRect">
            <a:avLst>
              <a:gd name="adj" fmla="val 36585"/>
            </a:avLst>
          </a:prstGeom>
          <a:solidFill>
            <a:schemeClr val="bg2"/>
          </a:solidFill>
          <a:ln/>
        </p:spPr>
      </p:sp>
      <p:sp>
        <p:nvSpPr>
          <p:cNvPr id="19" name="skills-text"/>
          <p:cNvSpPr txBox="1"/>
          <p:nvPr/>
        </p:nvSpPr>
        <p:spPr>
          <a:xfrm>
            <a:off x="941832" y="3840480"/>
            <a:ext cx="72603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это дало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Новая сессия агента работает по тем же правилам без пересказа: одно поручение вместо страницы требований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19288" y="4773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67512" y="365760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8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Команда и роли</a:t>
            </a:r>
            <a:endParaRPr lang="en-US" sz="228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67512" y="868680"/>
            <a:ext cx="7808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Спасибо! Дальше — живой показ и вопросы</a:t>
            </a:r>
            <a:endParaRPr lang="en-US" sz="1150" dirty="0"/>
          </a:p>
        </p:txBody>
      </p:sp>
      <p:sp>
        <p:nvSpPr>
          <p:cNvPr id="5" name="member-1-circle"/>
          <p:cNvSpPr/>
          <p:nvPr/>
        </p:nvSpPr>
        <p:spPr>
          <a:xfrm>
            <a:off x="1170432" y="137160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member-1-text"/>
          <p:cNvSpPr txBox="1"/>
          <p:nvPr/>
        </p:nvSpPr>
        <p:spPr>
          <a:xfrm>
            <a:off x="1353312" y="1810512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Ефремова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Анастасия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(LLM)</a:t>
            </a:r>
            <a:endParaRPr lang="en-US" sz="1100" dirty="0"/>
          </a:p>
        </p:txBody>
      </p:sp>
      <p:sp>
        <p:nvSpPr>
          <p:cNvPr id="7" name="member-2-circle"/>
          <p:cNvSpPr/>
          <p:nvPr/>
        </p:nvSpPr>
        <p:spPr>
          <a:xfrm>
            <a:off x="3776472" y="1371600"/>
            <a:ext cx="1920240" cy="19202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member-2-text"/>
          <p:cNvSpPr txBox="1"/>
          <p:nvPr/>
        </p:nvSpPr>
        <p:spPr>
          <a:xfrm>
            <a:off x="3959352" y="1810512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Путиловский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Михаил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аналитик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(исследователь)</a:t>
            </a:r>
            <a:endParaRPr lang="en-US" sz="1100" dirty="0"/>
          </a:p>
        </p:txBody>
      </p:sp>
      <p:sp>
        <p:nvSpPr>
          <p:cNvPr id="9" name="member-3-circle"/>
          <p:cNvSpPr/>
          <p:nvPr/>
        </p:nvSpPr>
        <p:spPr>
          <a:xfrm>
            <a:off x="6382512" y="1371600"/>
            <a:ext cx="1920240" cy="19202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member-3-text"/>
          <p:cNvSpPr txBox="1"/>
          <p:nvPr/>
        </p:nvSpPr>
        <p:spPr>
          <a:xfrm>
            <a:off x="6565392" y="1810512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Журавлева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Полина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разработчик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(Back/ROS)</a:t>
            </a:r>
            <a:endParaRPr lang="en-US" sz="1100" dirty="0"/>
          </a:p>
        </p:txBody>
      </p:sp>
      <p:sp>
        <p:nvSpPr>
          <p:cNvPr id="11" name="done-card"/>
          <p:cNvSpPr/>
          <p:nvPr/>
        </p:nvSpPr>
        <p:spPr>
          <a:xfrm>
            <a:off x="667512" y="3547872"/>
            <a:ext cx="7808976" cy="1042416"/>
          </a:xfrm>
          <a:prstGeom prst="roundRect">
            <a:avLst>
              <a:gd name="adj" fmla="val 26316"/>
            </a:avLst>
          </a:prstGeom>
          <a:solidFill>
            <a:schemeClr val="bg2"/>
          </a:solidFill>
          <a:ln/>
        </p:spPr>
      </p:sp>
      <p:sp>
        <p:nvSpPr>
          <p:cNvPr id="12" name="done-text"/>
          <p:cNvSpPr txBox="1"/>
          <p:nvPr/>
        </p:nvSpPr>
        <p:spPr>
          <a:xfrm>
            <a:off x="941832" y="3547872"/>
            <a:ext cx="72603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сделано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 уровни задания · научный цикл · задания словами через языковую модель · память между прогонами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Дополнительные треки: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журнал гипотез · карта через SLAM · два робота · работа с ИИ-агентами · скиллы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19288" y="4773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D Hack — команда">
  <a:themeElements>
    <a:clrScheme name="DID Hack — команда">
      <a:dk1>
        <a:srgbClr val="182B45"/>
      </a:dk1>
      <a:lt1>
        <a:srgbClr val="F8F9FC"/>
      </a:lt1>
      <a:dk2>
        <a:srgbClr val="40536B"/>
      </a:dk2>
      <a:lt2>
        <a:srgbClr val="FFFFFF"/>
      </a:lt2>
      <a:accent1>
        <a:srgbClr val="DCE8FF"/>
      </a:accent1>
      <a:accent2>
        <a:srgbClr val="E7DFF6"/>
      </a:accent2>
      <a:accent3>
        <a:srgbClr val="D9EEE7"/>
      </a:accent3>
      <a:accent4>
        <a:srgbClr val="3D63DD"/>
      </a:accent4>
      <a:accent5>
        <a:srgbClr val="7C5CD6"/>
      </a:accent5>
      <a:accent6>
        <a:srgbClr val="2E9E73"/>
      </a:accent6>
      <a:hlink>
        <a:srgbClr val="3D63DD"/>
      </a:hlink>
      <a:folHlink>
        <a:srgbClr val="7C5CD6"/>
      </a:folHlink>
    </a:clrScheme>
    <a:fontScheme name="DID Hack — команда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Автономный ИИ-исследователь</dc:title>
  <dc:subject>PptxGenJS Presentation</dc:subject>
  <dc:creator>Команда DID Hack</dc:creator>
  <cp:lastModifiedBy>Команда DID Hack</cp:lastModifiedBy>
  <cp:revision>1</cp:revision>
  <dcterms:created xsi:type="dcterms:W3CDTF">2026-10-09T10:32:27Z</dcterms:created>
  <dcterms:modified xsi:type="dcterms:W3CDTF">2026-10-09T10:32:27Z</dcterms:modified>
</cp:coreProperties>
</file>