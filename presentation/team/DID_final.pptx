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Всё это робот записывает в журнал гипотез: что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показывает. Журнал мы сверили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 и заранее его не предусмотришь. Задание составное: собери ровно два образца, не заезжая в правую половину арены, и сразу возвращайся. Слева робот с обычным правилом: текста он не читает, собирает всё подряд и едет через запретную половину. Справа подцели выбирает языковая модель: два образца в разрешённой половине — и домой. Каждое такое условие по отдельности можно запрограммировать, но здесь мы ничего не программировали: поменяли фразу — поменялось поведение. Модель выполняет это задание в 11 прогонах из 12,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У робота три разные памяти. Первая — карта мира внутри прогона: где вероятны образцы, где дорогой грунт, где опасные зоны. Она живёт один прогон. Вторая — законы среды: числа вроде цены метра и длительности сбоя. Они годятся для любой карты, но выигрыша от них мы не показали. Третья — память о лаборатории: места, где робот получил штраф и где пол дорогой. Она годится только для той же арены — и она дала прибавку. Мест образцов и скрытой правды судьи в файле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Дополнительно робот умеет работать без готовой карты: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Ещё одно дополнение — два робота: у каждого своя батарея и свой датчик. Общей памяти у них нет, всё идёт сообщениями через один канал ROS 2. Раз в секунду робот передаёт свои показания датчика — напарник вносит их в свою карту вероятностей, как собственные. Перед выездом робот заявляет цель — второй туда не едет, а если выбрали одну и ту же, уступает тот, кому дороже ехать. О сборе и об опасной зоне тоже сообщают, и арену они делят пополам.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Из этой работы выросли три скилла.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 и дополнительные треки: журнал гипотез, своя карта, два робота, работа с ИИ-агентами и скиллы.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gif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1.png"/><Relationship Id="rId5" Type="http://schemas.openxmlformats.org/officeDocument/2006/relationships/image" Target="../media/image-18-3.png"/><Relationship Id="rId6" Type="http://schemas.openxmlformats.org/officeDocument/2006/relationships/image" Target="../media/image-18-2.png"/><Relationship Id="rId7" Type="http://schemas.openxmlformats.org/officeDocument/2006/relationships/image" Target="../media/image-18-3.png"/><Relationship Id="rId8" Type="http://schemas.openxmlformats.org/officeDocument/2006/relationships/image" Target="../media/image-18-2.png"/><Relationship Id="rId9" Type="http://schemas.openxmlformats.org/officeDocument/2006/relationships/image" Target="../media/image-18-3.png"/><Relationship Id="rId10" Type="http://schemas.openxmlformats.org/officeDocument/2006/relationships/image" Target="../media/image-18-2.png"/><Relationship Id="rId11" Type="http://schemas.openxmlformats.org/officeDocument/2006/relationships/image" Target="../media/image-18-3.png"/><Relationship Id="rId12" Type="http://schemas.openxmlformats.org/officeDocument/2006/relationships/image" Target="../media/image-18-2.png"/><Relationship Id="rId13" Type="http://schemas.openxmlformats.org/officeDocument/2006/relationships/image" Target="../media/image-18-1.png"/><Relationship Id="rId14" Type="http://schemas.openxmlformats.org/officeDocument/2006/relationships/image" Target="../media/image-18-1.png"/><Relationship Id="rId15" Type="http://schemas.openxmlformats.org/officeDocument/2006/relationships/image" Target="../media/image-18-1.png"/><Relationship Id="rId16" Type="http://schemas.openxmlformats.org/officeDocument/2006/relationships/image" Target="../media/image-18-1.png"/><Relationship Id="rId17" Type="http://schemas.openxmlformats.org/officeDocument/2006/relationships/image" Target="../media/image-18-2.png"/><Relationship Id="rId18" Type="http://schemas.openxmlformats.org/officeDocument/2006/relationships/image" Target="../media/image-18-1.png"/><Relationship Id="rId19" Type="http://schemas.openxmlformats.org/officeDocument/2006/relationships/image" Target="../media/image-18-2.png"/><Relationship Id="rId20" Type="http://schemas.openxmlformats.org/officeDocument/2006/relationships/image" Target="../media/image-18-3.png"/><Relationship Id="rId21" Type="http://schemas.openxmlformats.org/officeDocument/2006/relationships/image" Target="../media/image-18-2.png"/><Relationship Id="rId22" Type="http://schemas.openxmlformats.org/officeDocument/2006/relationships/image" Target="../media/image-18-2.png"/><Relationship Id="rId23" Type="http://schemas.openxmlformats.org/officeDocument/2006/relationships/image" Target="../media/image-18-3.png"/><Relationship Id="rId24" Type="http://schemas.openxmlformats.org/officeDocument/2006/relationships/image" Target="../media/image-18-2.png"/><Relationship Id="rId25" Type="http://schemas.openxmlformats.org/officeDocument/2006/relationships/image" Target="../media/image-18-2.png"/><Relationship Id="rId26" Type="http://schemas.openxmlformats.org/officeDocument/2006/relationships/image" Target="../media/image-18-3.png"/><Relationship Id="rId27" Type="http://schemas.openxmlformats.org/officeDocument/2006/relationships/image" Target="../media/image-18-2.png"/><Relationship Id="rId28" Type="http://schemas.openxmlformats.org/officeDocument/2006/relationships/image" Target="../media/image-18-3.png"/><Relationship Id="rId29" Type="http://schemas.openxmlformats.org/officeDocument/2006/relationships/image" Target="../media/image-18-2.png"/><Relationship Id="rId30" Type="http://schemas.openxmlformats.org/officeDocument/2006/relationships/image" Target="../media/image-18-2.png"/><Relationship Id="rId31" Type="http://schemas.openxmlformats.org/officeDocument/2006/relationships/image" Target="../media/image-18-3.png"/><Relationship Id="rId32" Type="http://schemas.openxmlformats.org/officeDocument/2006/relationships/image" Target="../media/image-18-2.png"/><Relationship Id="rId33" Type="http://schemas.openxmlformats.org/officeDocument/2006/relationships/image" Target="../media/image-18-3.png"/><Relationship Id="rId34" Type="http://schemas.openxmlformats.org/officeDocument/2006/relationships/image" Target="../media/image-18-2.png"/><Relationship Id="rId35" Type="http://schemas.openxmlformats.org/officeDocument/2006/relationships/image" Target="../media/image-18-3.png"/><Relationship Id="rId36" Type="http://schemas.openxmlformats.org/officeDocument/2006/relationships/image" Target="../media/image-18-2.png"/><Relationship Id="rId37" Type="http://schemas.openxmlformats.org/officeDocument/2006/relationships/image" Target="../media/image-18-3.png"/><Relationship Id="rId38" Type="http://schemas.openxmlformats.org/officeDocument/2006/relationships/image" Target="../media/image-18-2.png"/><Relationship Id="rId39" Type="http://schemas.openxmlformats.org/officeDocument/2006/relationships/image" Target="../media/image-18-2.png"/><Relationship Id="rId40" Type="http://schemas.openxmlformats.org/officeDocument/2006/relationships/image" Target="../media/image-18-3.png"/><Relationship Id="rId41" Type="http://schemas.openxmlformats.org/officeDocument/2006/relationships/image" Target="../media/image-18-2.png"/><Relationship Id="rId42" Type="http://schemas.openxmlformats.org/officeDocument/2006/relationships/image" Target="../media/image-18-3.png"/><Relationship Id="rId43" Type="http://schemas.openxmlformats.org/officeDocument/2006/relationships/image" Target="../media/image-18-2.png"/><Relationship Id="rId44" Type="http://schemas.openxmlformats.org/officeDocument/2006/relationships/image" Target="../media/image-18-3.png"/><Relationship Id="rId45" Type="http://schemas.openxmlformats.org/officeDocument/2006/relationships/image" Target="../media/image-18-2.png"/><Relationship Id="rId46" Type="http://schemas.openxmlformats.org/officeDocument/2006/relationships/image" Target="../media/image-18-3.png"/><Relationship Id="rId47" Type="http://schemas.openxmlformats.org/officeDocument/2006/relationships/image" Target="../media/image-18-2.png"/><Relationship Id="rId48" Type="http://schemas.openxmlformats.org/officeDocument/2006/relationships/image" Target="../media/image-18-3.png"/><Relationship Id="rId49" Type="http://schemas.openxmlformats.org/officeDocument/2006/relationships/image" Target="../media/image-18-2.png"/><Relationship Id="rId50" Type="http://schemas.openxmlformats.org/officeDocument/2006/relationships/image" Target="../media/image-18-2.png"/><Relationship Id="rId51" Type="http://schemas.openxmlformats.org/officeDocument/2006/relationships/image" Target="../media/image-18-3.png"/><Relationship Id="rId52" Type="http://schemas.openxmlformats.org/officeDocument/2006/relationships/image" Target="../media/image-18-2.png"/><Relationship Id="rId53" Type="http://schemas.openxmlformats.org/officeDocument/2006/relationships/image" Target="../media/image-18-2.png"/><Relationship Id="rId54" Type="http://schemas.openxmlformats.org/officeDocument/2006/relationships/image" Target="../media/image-18-3.png"/><Relationship Id="rId55" Type="http://schemas.openxmlformats.org/officeDocument/2006/relationships/image" Target="../media/image-18-2.png"/><Relationship Id="rId56" Type="http://schemas.openxmlformats.org/officeDocument/2006/relationships/image" Target="../media/image-18-2.png"/><Relationship Id="rId57" Type="http://schemas.openxmlformats.org/officeDocument/2006/relationships/image" Target="../media/image-18-3.png"/><Relationship Id="rId58" Type="http://schemas.openxmlformats.org/officeDocument/2006/relationships/image" Target="../media/image-18-2.png"/><Relationship Id="rId59" Type="http://schemas.openxmlformats.org/officeDocument/2006/relationships/image" Target="../media/image-18-3.png"/><Relationship Id="rId60" Type="http://schemas.openxmlformats.org/officeDocument/2006/relationships/image" Target="../media/image-18-2.png"/><Relationship Id="rId61" Type="http://schemas.openxmlformats.org/officeDocument/2006/relationships/image" Target="../media/image-18-2.png"/><Relationship Id="rId62" Type="http://schemas.openxmlformats.org/officeDocument/2006/relationships/image" Target="../media/image-18-3.png"/><Relationship Id="rId63" Type="http://schemas.openxmlformats.org/officeDocument/2006/relationships/image" Target="../media/image-18-2.png"/><Relationship Id="rId64" Type="http://schemas.openxmlformats.org/officeDocument/2006/relationships/image" Target="../media/image-18-3.png"/><Relationship Id="rId65" Type="http://schemas.openxmlformats.org/officeDocument/2006/relationships/image" Target="../media/image-18-2.png"/><Relationship Id="rId66" Type="http://schemas.openxmlformats.org/officeDocument/2006/relationships/image" Target="../media/image-18-1.png"/><Relationship Id="rId67" Type="http://schemas.openxmlformats.org/officeDocument/2006/relationships/image" Target="../media/image-18-2.png"/><Relationship Id="rId68" Type="http://schemas.openxmlformats.org/officeDocument/2006/relationships/image" Target="../media/image-18-3.png"/><Relationship Id="rId69" Type="http://schemas.openxmlformats.org/officeDocument/2006/relationships/image" Target="../media/image-18-2.png"/><Relationship Id="rId70" Type="http://schemas.openxmlformats.org/officeDocument/2006/relationships/image" Target="../media/image-18-3.png"/><Relationship Id="rId71" Type="http://schemas.openxmlformats.org/officeDocument/2006/relationships/image" Target="../media/image-18-2.png"/><Relationship Id="rId72" Type="http://schemas.openxmlformats.org/officeDocument/2006/relationships/image" Target="../media/image-18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57800" y="3401568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8046720" y="37033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pic>
        <p:nvPicPr>
          <p:cNvPr id="6" name="logos" descr="Логотипы МАИ и программы ТОП 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92608"/>
            <a:ext cx="1645920" cy="490124"/>
          </a:xfrm>
          <a:prstGeom prst="rect">
            <a:avLst/>
          </a:prstGeom>
        </p:spPr>
      </p:pic>
      <p:sp>
        <p:nvSpPr>
          <p:cNvPr id="7" name="event"/>
          <p:cNvSpPr txBox="1"/>
          <p:nvPr/>
        </p:nvSpPr>
        <p:spPr>
          <a:xfrm>
            <a:off x="822960" y="1115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Интеллектуальное состязание DID-HACK · ТОП ИТ МАИ</a:t>
            </a:r>
            <a:endParaRPr lang="en-US" sz="1050" dirty="0"/>
          </a:p>
        </p:txBody>
      </p:sp>
      <p:sp>
        <p:nvSpPr>
          <p:cNvPr id="8" name="title"/>
          <p:cNvSpPr txBox="1"/>
          <p:nvPr/>
        </p:nvSpPr>
        <p:spPr>
          <a:xfrm>
            <a:off x="822960" y="1371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 на роботе-платформе</a:t>
            </a:r>
            <a:endParaRPr lang="en-US" sz="2800" dirty="0"/>
          </a:p>
        </p:txBody>
      </p:sp>
      <p:sp>
        <p:nvSpPr>
          <p:cNvPr id="9" name="program"/>
          <p:cNvSpPr txBox="1"/>
          <p:nvPr/>
        </p:nvSpPr>
        <p:spPr>
          <a:xfrm>
            <a:off x="822960" y="28163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«Программирование и технология разработки программных систем» (02.03.02)</a:t>
            </a:r>
            <a:endParaRPr lang="en-US" sz="1050" dirty="0"/>
          </a:p>
        </p:txBody>
      </p:sp>
      <p:sp>
        <p:nvSpPr>
          <p:cNvPr id="10" name="team"/>
          <p:cNvSpPr txBox="1"/>
          <p:nvPr/>
        </p:nvSpPr>
        <p:spPr>
          <a:xfrm>
            <a:off x="822960" y="336499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М8О-205БВ-25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 Михаил · М8О-205БВ-25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 Полина · М8О-206БВ-25</a:t>
            </a:r>
            <a:endParaRPr lang="en-US" sz="1050" dirty="0"/>
          </a:p>
        </p:txBody>
      </p:sp>
      <p:sp>
        <p:nvSpPr>
          <p:cNvPr id="11" name="support"/>
          <p:cNvSpPr txBox="1"/>
          <p:nvPr/>
        </p:nvSpPr>
        <p:spPr>
          <a:xfrm>
            <a:off x="822960" y="457200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 поддержке АНО «Аналитический центр при Правительстве Российской Федерации» по договору № 70-2025-000814 от 04.06.2025 о реализации программ топ-уровня в сфере информационных технологий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Запасное правило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модель не ответила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предположил, как проверил и чем закончилось — строки из журнала прогона показа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656832" y="155448"/>
            <a:ext cx="181965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научный агент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Задание меняется фразой — код робота остаётся тем же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351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«Собери ровно два образца, не заезжая в правую половину арены, и сразу возвращайся на базу»</a:t>
            </a:r>
            <a:endParaRPr lang="en-US" sz="1100" dirty="0"/>
          </a:p>
        </p:txBody>
      </p:sp>
      <p:pic>
        <p:nvPicPr>
          <p:cNvPr id="7" name="pair_llm_combo" descr="Две карты одной арены с запретной правой половиной: робот с правилом собирает все образцы и заезжает в неё, робот с языковой моделью собирает два образца в левой половине и возвращает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82496"/>
            <a:ext cx="4206240" cy="1912160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89611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собрал все 5 и 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04495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образца в разрешённой половине — и на базу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144768" y="1682496"/>
            <a:ext cx="2103120" cy="21031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14476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28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633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этим заданием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950" dirty="0"/>
          </a:p>
        </p:txBody>
      </p:sp>
      <p:sp>
        <p:nvSpPr>
          <p:cNvPr id="13" name="llm-note"/>
          <p:cNvSpPr txBox="1"/>
          <p:nvPr/>
        </p:nvSpPr>
        <p:spPr>
          <a:xfrm>
            <a:off x="5897880" y="384048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850" dirty="0"/>
          </a:p>
        </p:txBody>
      </p:sp>
      <p:sp>
        <p:nvSpPr>
          <p:cNvPr id="14" name="other-pill"/>
          <p:cNvSpPr/>
          <p:nvPr/>
        </p:nvSpPr>
        <p:spPr>
          <a:xfrm>
            <a:off x="667512" y="4224528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other-text"/>
          <p:cNvSpPr txBox="1"/>
          <p:nvPr/>
        </p:nvSpPr>
        <p:spPr>
          <a:xfrm>
            <a:off x="923544" y="422452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Ещё четыре задания другими фразами, 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например «сохрани 30 единиц заряда»: 45–46 из 48 прогонов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помнит: три памяти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живёт один прогон; в файл между прогонами идёт только то, что робот узнал сам</a:t>
            </a:r>
            <a:endParaRPr lang="en-US" sz="1150" dirty="0"/>
          </a:p>
        </p:txBody>
      </p:sp>
      <p:sp>
        <p:nvSpPr>
          <p:cNvPr id="5" name="level-tag"/>
          <p:cNvSpPr txBox="1"/>
          <p:nvPr/>
        </p:nvSpPr>
        <p:spPr>
          <a:xfrm>
            <a:off x="6898234" y="155448"/>
            <a:ext cx="1578254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Уровень 4 · адаптация</a:t>
            </a:r>
            <a:endParaRPr lang="en-US" sz="900" dirty="0"/>
          </a:p>
        </p:txBody>
      </p:sp>
      <p:sp>
        <p:nvSpPr>
          <p:cNvPr id="6" name="memory-1-card"/>
          <p:cNvSpPr/>
          <p:nvPr/>
        </p:nvSpPr>
        <p:spPr>
          <a:xfrm>
            <a:off x="667512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1"/>
          </a:solidFill>
          <a:ln/>
        </p:spPr>
      </p:sp>
      <p:sp>
        <p:nvSpPr>
          <p:cNvPr id="7" name="memory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мира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внутри одного прогона</a:t>
            </a:r>
            <a:endParaRPr lang="en-US" sz="1100" dirty="0"/>
          </a:p>
        </p:txBody>
      </p:sp>
      <p:sp>
        <p:nvSpPr>
          <p:cNvPr id="8" name="memory-1-row-1"/>
          <p:cNvSpPr txBox="1"/>
          <p:nvPr/>
        </p:nvSpPr>
        <p:spPr>
          <a:xfrm>
            <a:off x="868680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вероятные места образцов, цена грунта, опасные зоны</a:t>
            </a:r>
            <a:endParaRPr lang="en-US" sz="1100" dirty="0"/>
          </a:p>
        </p:txBody>
      </p:sp>
      <p:sp>
        <p:nvSpPr>
          <p:cNvPr id="9" name="memory-1-row-2"/>
          <p:cNvSpPr txBox="1"/>
          <p:nvPr/>
        </p:nvSpPr>
        <p:spPr>
          <a:xfrm>
            <a:off x="868680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прогон, потом пусто</a:t>
            </a:r>
            <a:endParaRPr lang="en-US" sz="1100" dirty="0"/>
          </a:p>
        </p:txBody>
      </p:sp>
      <p:sp>
        <p:nvSpPr>
          <p:cNvPr id="10" name="memory-1-row-3"/>
          <p:cNvSpPr txBox="1"/>
          <p:nvPr/>
        </p:nvSpPr>
        <p:spPr>
          <a:xfrm>
            <a:off x="868680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основа всех решений робота</a:t>
            </a:r>
            <a:endParaRPr lang="en-US" sz="1100" dirty="0"/>
          </a:p>
        </p:txBody>
      </p:sp>
      <p:sp>
        <p:nvSpPr>
          <p:cNvPr id="11" name="memory-2-card"/>
          <p:cNvSpPr/>
          <p:nvPr/>
        </p:nvSpPr>
        <p:spPr>
          <a:xfrm>
            <a:off x="3328416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3"/>
          </a:solidFill>
          <a:ln/>
        </p:spPr>
      </p:sp>
      <p:sp>
        <p:nvSpPr>
          <p:cNvPr id="12" name="memory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Законы среды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между прогонами · любая карта</a:t>
            </a:r>
            <a:endParaRPr lang="en-US" sz="1100" dirty="0"/>
          </a:p>
        </p:txBody>
      </p:sp>
      <p:sp>
        <p:nvSpPr>
          <p:cNvPr id="13" name="memory-2-row-1"/>
          <p:cNvSpPr txBox="1"/>
          <p:nvPr/>
        </p:nvSpPr>
        <p:spPr>
          <a:xfrm>
            <a:off x="3529584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числа: цена метра, поворота и простоя, длительность сбоя, утечка заряда</a:t>
            </a:r>
            <a:endParaRPr lang="en-US" sz="1100" dirty="0"/>
          </a:p>
        </p:txBody>
      </p:sp>
      <p:sp>
        <p:nvSpPr>
          <p:cNvPr id="14" name="memory-2-row-2"/>
          <p:cNvSpPr txBox="1"/>
          <p:nvPr/>
        </p:nvSpPr>
        <p:spPr>
          <a:xfrm>
            <a:off x="352958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файл, копится от прогона к прогону</a:t>
            </a:r>
            <a:endParaRPr lang="en-US" sz="1100" dirty="0"/>
          </a:p>
        </p:txBody>
      </p:sp>
      <p:sp>
        <p:nvSpPr>
          <p:cNvPr id="15" name="memory-2-row-3"/>
          <p:cNvSpPr txBox="1"/>
          <p:nvPr/>
        </p:nvSpPr>
        <p:spPr>
          <a:xfrm>
            <a:off x="3529584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(опыт E11)</a:t>
            </a:r>
            <a:endParaRPr lang="en-US" sz="1100" dirty="0"/>
          </a:p>
        </p:txBody>
      </p:sp>
      <p:sp>
        <p:nvSpPr>
          <p:cNvPr id="16" name="memory-3-card"/>
          <p:cNvSpPr/>
          <p:nvPr/>
        </p:nvSpPr>
        <p:spPr>
          <a:xfrm>
            <a:off x="5989320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2"/>
          </a:solidFill>
          <a:ln/>
        </p:spPr>
      </p:sp>
      <p:sp>
        <p:nvSpPr>
          <p:cNvPr id="17" name="memory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о лаборатории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между прогонами · та же арена</a:t>
            </a:r>
            <a:endParaRPr lang="en-US" sz="1100" dirty="0"/>
          </a:p>
        </p:txBody>
      </p:sp>
      <p:sp>
        <p:nvSpPr>
          <p:cNvPr id="18" name="memory-3-row-1"/>
          <p:cNvSpPr txBox="1"/>
          <p:nvPr/>
        </p:nvSpPr>
        <p:spPr>
          <a:xfrm>
            <a:off x="6190488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места: где пришёл штраф за зону и где пол дорогой; мест образцов нет</a:t>
            </a:r>
            <a:endParaRPr lang="en-US" sz="1100" dirty="0"/>
          </a:p>
        </p:txBody>
      </p:sp>
      <p:sp>
        <p:nvSpPr>
          <p:cNvPr id="19" name="memory-3-row-2"/>
          <p:cNvSpPr txBox="1"/>
          <p:nvPr/>
        </p:nvSpPr>
        <p:spPr>
          <a:xfrm>
            <a:off x="6190488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файл; арену переставили — стереть</a:t>
            </a:r>
            <a:endParaRPr lang="en-US" sz="1100" dirty="0"/>
          </a:p>
        </p:txBody>
      </p:sp>
      <p:sp>
        <p:nvSpPr>
          <p:cNvPr id="20" name="memory-3-row-3"/>
          <p:cNvSpPr txBox="1"/>
          <p:nvPr/>
        </p:nvSpPr>
        <p:spPr>
          <a:xfrm>
            <a:off x="6190488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очка [2,4; 6,3] во втором прогоне</a:t>
            </a:r>
            <a:endParaRPr lang="en-US" sz="1100" dirty="0"/>
          </a:p>
        </p:txBody>
      </p:sp>
      <p:sp>
        <p:nvSpPr>
          <p:cNvPr id="21" name="flow-run-1"/>
          <p:cNvSpPr txBox="1"/>
          <p:nvPr/>
        </p:nvSpPr>
        <p:spPr>
          <a:xfrm>
            <a:off x="667512" y="3968496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1</a:t>
            </a:r>
            <a:endParaRPr lang="en-US" sz="1050" dirty="0"/>
          </a:p>
        </p:txBody>
      </p:sp>
      <p:sp>
        <p:nvSpPr>
          <p:cNvPr id="22" name="flow-arrow-1"/>
          <p:cNvSpPr/>
          <p:nvPr/>
        </p:nvSpPr>
        <p:spPr>
          <a:xfrm>
            <a:off x="1883664" y="4151376"/>
            <a:ext cx="31089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flow-file"/>
          <p:cNvSpPr txBox="1"/>
          <p:nvPr/>
        </p:nvSpPr>
        <p:spPr>
          <a:xfrm>
            <a:off x="2267712" y="3968496"/>
            <a:ext cx="384048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файлы памяти: законы среды · места в лаборатории</a:t>
            </a:r>
            <a:endParaRPr lang="en-US" sz="1050" dirty="0"/>
          </a:p>
        </p:txBody>
      </p:sp>
      <p:sp>
        <p:nvSpPr>
          <p:cNvPr id="24" name="flow-arrow-2"/>
          <p:cNvSpPr/>
          <p:nvPr/>
        </p:nvSpPr>
        <p:spPr>
          <a:xfrm>
            <a:off x="6181344" y="4151376"/>
            <a:ext cx="31089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flow-run-2"/>
          <p:cNvSpPr txBox="1"/>
          <p:nvPr/>
        </p:nvSpPr>
        <p:spPr>
          <a:xfrm>
            <a:off x="6565392" y="3968496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2</a:t>
            </a:r>
            <a:endParaRPr lang="en-US" sz="1050" dirty="0"/>
          </a:p>
        </p:txBody>
      </p:sp>
      <p:sp>
        <p:nvSpPr>
          <p:cNvPr id="26" name="flow-note"/>
          <p:cNvSpPr txBox="1"/>
          <p:nvPr/>
        </p:nvSpPr>
        <p:spPr>
          <a:xfrm>
            <a:off x="667512" y="4407408"/>
            <a:ext cx="7808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— предположение: проехал запомненное место без штрафа — зона снята. Правды судьи в файлах нет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7199986" y="155448"/>
            <a:ext cx="127650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SLAM</a:t>
            </a:r>
            <a:endParaRPr lang="en-US" sz="900" dirty="0"/>
          </a:p>
        </p:txBody>
      </p:sp>
      <p:pic>
        <p:nvPicPr>
          <p:cNvPr id="6" name="slam-map" descr="Анимация: робот объезжает арену, карта SLAM Toolbox растёт; видны лучи лидара, след и путь к краю увиденног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25296"/>
            <a:ext cx="2743200" cy="2980113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4241985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объезда в Gazebo. Серое — ещё не видел, лучи — лидар, синяя линия — след, оранжевая — путь к краю увиденного</a:t>
            </a:r>
            <a:endParaRPr lang="en-US" sz="90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Общей памяти нет: всё, что робот знает о напарнике, пришло сообщением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596482" y="155448"/>
            <a:ext cx="18800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мультиагентный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514600" cy="2319528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6454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5 из 5 образцов, оба вернулись, 187 сообщений</a:t>
            </a:r>
            <a:endParaRPr lang="en-US" sz="950" dirty="0"/>
          </a:p>
        </p:txBody>
      </p:sp>
      <p:sp>
        <p:nvSpPr>
          <p:cNvPr id="8" name="robot-1"/>
          <p:cNvSpPr txBox="1"/>
          <p:nvPr/>
        </p:nvSpPr>
        <p:spPr>
          <a:xfrm>
            <a:off x="3429000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1</a:t>
            </a:r>
            <a:endParaRPr lang="en-US" sz="1050" dirty="0"/>
          </a:p>
        </p:txBody>
      </p:sp>
      <p:sp>
        <p:nvSpPr>
          <p:cNvPr id="9" name="channel"/>
          <p:cNvSpPr txBox="1"/>
          <p:nvPr/>
        </p:nvSpPr>
        <p:spPr>
          <a:xfrm>
            <a:off x="4645152" y="1298448"/>
            <a:ext cx="2615184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канал ROS 2 · /did/team · строка JSON</a:t>
            </a:r>
            <a:endParaRPr lang="en-US" sz="1050" dirty="0"/>
          </a:p>
        </p:txBody>
      </p:sp>
      <p:sp>
        <p:nvSpPr>
          <p:cNvPr id="10" name="robot-2"/>
          <p:cNvSpPr txBox="1"/>
          <p:nvPr/>
        </p:nvSpPr>
        <p:spPr>
          <a:xfrm>
            <a:off x="7516368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7C5C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2</a:t>
            </a:r>
            <a:endParaRPr lang="en-US" sz="1050" dirty="0"/>
          </a:p>
        </p:txBody>
      </p:sp>
      <p:sp>
        <p:nvSpPr>
          <p:cNvPr id="11" name="channel-arrow-1"/>
          <p:cNvSpPr/>
          <p:nvPr/>
        </p:nvSpPr>
        <p:spPr>
          <a:xfrm>
            <a:off x="4407408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2" name="channel-arrow-2"/>
          <p:cNvSpPr/>
          <p:nvPr/>
        </p:nvSpPr>
        <p:spPr>
          <a:xfrm>
            <a:off x="7278624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msg-head-1"/>
          <p:cNvSpPr txBox="1"/>
          <p:nvPr/>
        </p:nvSpPr>
        <p:spPr>
          <a:xfrm>
            <a:off x="3429000" y="18288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сообщает</a:t>
            </a:r>
            <a:endParaRPr lang="en-US" sz="950" dirty="0"/>
          </a:p>
        </p:txBody>
      </p:sp>
      <p:sp>
        <p:nvSpPr>
          <p:cNvPr id="14" name="msg-head-2"/>
          <p:cNvSpPr txBox="1"/>
          <p:nvPr/>
        </p:nvSpPr>
        <p:spPr>
          <a:xfrm>
            <a:off x="5440680" y="18288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делает напарник</a:t>
            </a:r>
            <a:endParaRPr lang="en-US" sz="950" dirty="0"/>
          </a:p>
        </p:txBody>
      </p:sp>
      <p:sp>
        <p:nvSpPr>
          <p:cNvPr id="15" name="msg-1"/>
          <p:cNvSpPr txBox="1"/>
          <p:nvPr/>
        </p:nvSpPr>
        <p:spPr>
          <a:xfrm>
            <a:off x="3429000" y="210312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показания датчика</a:t>
            </a:r>
            <a:endParaRPr lang="en-US" sz="900" dirty="0"/>
          </a:p>
        </p:txBody>
      </p:sp>
      <p:sp>
        <p:nvSpPr>
          <p:cNvPr id="16" name="msg-1-arrow"/>
          <p:cNvSpPr/>
          <p:nvPr/>
        </p:nvSpPr>
        <p:spPr>
          <a:xfrm>
            <a:off x="5230368" y="224942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msg-1-act"/>
          <p:cNvSpPr txBox="1"/>
          <p:nvPr/>
        </p:nvSpPr>
        <p:spPr>
          <a:xfrm>
            <a:off x="5440680" y="210312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вносит их в свою карту вероятностей</a:t>
            </a:r>
            <a:endParaRPr lang="en-US" sz="1000" dirty="0"/>
          </a:p>
        </p:txBody>
      </p:sp>
      <p:sp>
        <p:nvSpPr>
          <p:cNvPr id="18" name="msg-2"/>
          <p:cNvSpPr txBox="1"/>
          <p:nvPr/>
        </p:nvSpPr>
        <p:spPr>
          <a:xfrm>
            <a:off x="3429000" y="246888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«эту цель беру я»</a:t>
            </a:r>
            <a:endParaRPr lang="en-US" sz="900" dirty="0"/>
          </a:p>
        </p:txBody>
      </p:sp>
      <p:sp>
        <p:nvSpPr>
          <p:cNvPr id="19" name="msg-2-arrow"/>
          <p:cNvSpPr/>
          <p:nvPr/>
        </p:nvSpPr>
        <p:spPr>
          <a:xfrm>
            <a:off x="5230368" y="261518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msg-2-act"/>
          <p:cNvSpPr txBox="1"/>
          <p:nvPr/>
        </p:nvSpPr>
        <p:spPr>
          <a:xfrm>
            <a:off x="5440680" y="246888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туда не едет; спор решает цена пути</a:t>
            </a:r>
            <a:endParaRPr lang="en-US" sz="1000" dirty="0"/>
          </a:p>
        </p:txBody>
      </p:sp>
      <p:sp>
        <p:nvSpPr>
          <p:cNvPr id="21" name="msg-3"/>
          <p:cNvSpPr txBox="1"/>
          <p:nvPr/>
        </p:nvSpPr>
        <p:spPr>
          <a:xfrm>
            <a:off x="3429000" y="283464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«образец собран»</a:t>
            </a:r>
            <a:endParaRPr lang="en-US" sz="900" dirty="0"/>
          </a:p>
        </p:txBody>
      </p:sp>
      <p:sp>
        <p:nvSpPr>
          <p:cNvPr id="22" name="msg-3-arrow"/>
          <p:cNvSpPr/>
          <p:nvPr/>
        </p:nvSpPr>
        <p:spPr>
          <a:xfrm>
            <a:off x="5230368" y="298094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msg-3-act"/>
          <p:cNvSpPr txBox="1"/>
          <p:nvPr/>
        </p:nvSpPr>
        <p:spPr>
          <a:xfrm>
            <a:off x="5440680" y="283464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пересчитывает карту и строит новый план</a:t>
            </a:r>
            <a:endParaRPr lang="en-US" sz="1000" dirty="0"/>
          </a:p>
        </p:txBody>
      </p:sp>
      <p:sp>
        <p:nvSpPr>
          <p:cNvPr id="24" name="msg-4"/>
          <p:cNvSpPr txBox="1"/>
          <p:nvPr/>
        </p:nvSpPr>
        <p:spPr>
          <a:xfrm>
            <a:off x="3429000" y="320040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«здесь опасная зона»</a:t>
            </a:r>
            <a:endParaRPr lang="en-US" sz="900" dirty="0"/>
          </a:p>
        </p:txBody>
      </p:sp>
      <p:sp>
        <p:nvSpPr>
          <p:cNvPr id="25" name="msg-4-arrow"/>
          <p:cNvSpPr/>
          <p:nvPr/>
        </p:nvSpPr>
        <p:spPr>
          <a:xfrm>
            <a:off x="5230368" y="334670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msg-4-act"/>
          <p:cNvSpPr txBox="1"/>
          <p:nvPr/>
        </p:nvSpPr>
        <p:spPr>
          <a:xfrm>
            <a:off x="5440680" y="320040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объезжает её, не получив штрафа сам</a:t>
            </a:r>
            <a:endParaRPr lang="en-US" sz="1000" dirty="0"/>
          </a:p>
        </p:txBody>
      </p:sp>
      <p:sp>
        <p:nvSpPr>
          <p:cNvPr id="27" name="msg-5"/>
          <p:cNvSpPr txBox="1"/>
          <p:nvPr/>
        </p:nvSpPr>
        <p:spPr>
          <a:xfrm>
            <a:off x="3429000" y="356616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«делим арену»</a:t>
            </a:r>
            <a:endParaRPr lang="en-US" sz="900" dirty="0"/>
          </a:p>
        </p:txBody>
      </p:sp>
      <p:sp>
        <p:nvSpPr>
          <p:cNvPr id="28" name="msg-5-arrow"/>
          <p:cNvSpPr/>
          <p:nvPr/>
        </p:nvSpPr>
        <p:spPr>
          <a:xfrm>
            <a:off x="5230368" y="371246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msg-5-act"/>
          <p:cNvSpPr txBox="1"/>
          <p:nvPr/>
        </p:nvSpPr>
        <p:spPr>
          <a:xfrm>
            <a:off x="5440680" y="356616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ищет на своей половине; деление меняется</a:t>
            </a:r>
            <a:endParaRPr lang="en-US" sz="1000" dirty="0"/>
          </a:p>
        </p:txBody>
      </p:sp>
      <p:sp>
        <p:nvSpPr>
          <p:cNvPr id="30" name="team-stats"/>
          <p:cNvSpPr/>
          <p:nvPr/>
        </p:nvSpPr>
        <p:spPr>
          <a:xfrm>
            <a:off x="667512" y="4023360"/>
            <a:ext cx="7808976" cy="585216"/>
          </a:xfrm>
          <a:prstGeom prst="roundRect">
            <a:avLst>
              <a:gd name="adj" fmla="val 46875"/>
            </a:avLst>
          </a:prstGeom>
          <a:solidFill>
            <a:schemeClr val="bg2"/>
          </a:solidFill>
          <a:ln/>
        </p:spPr>
      </p:sp>
      <p:sp>
        <p:nvSpPr>
          <p:cNvPr id="31" name="team-stat-1-value"/>
          <p:cNvSpPr txBox="1"/>
          <p:nvPr/>
        </p:nvSpPr>
        <p:spPr>
          <a:xfrm>
            <a:off x="85039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1500" dirty="0"/>
          </a:p>
        </p:txBody>
      </p:sp>
      <p:sp>
        <p:nvSpPr>
          <p:cNvPr id="32" name="team-stat-1-label"/>
          <p:cNvSpPr txBox="1"/>
          <p:nvPr/>
        </p:nvSpPr>
        <p:spPr>
          <a:xfrm>
            <a:off x="18562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900" dirty="0"/>
          </a:p>
        </p:txBody>
      </p:sp>
      <p:sp>
        <p:nvSpPr>
          <p:cNvPr id="33" name="team-stat-2-value"/>
          <p:cNvSpPr txBox="1"/>
          <p:nvPr/>
        </p:nvSpPr>
        <p:spPr>
          <a:xfrm>
            <a:off x="27706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1500" dirty="0"/>
          </a:p>
        </p:txBody>
      </p:sp>
      <p:sp>
        <p:nvSpPr>
          <p:cNvPr id="34" name="team-stat-2-label"/>
          <p:cNvSpPr txBox="1"/>
          <p:nvPr/>
        </p:nvSpPr>
        <p:spPr>
          <a:xfrm>
            <a:off x="37764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900" dirty="0"/>
          </a:p>
        </p:txBody>
      </p:sp>
      <p:sp>
        <p:nvSpPr>
          <p:cNvPr id="35" name="team-stat-3-value"/>
          <p:cNvSpPr txBox="1"/>
          <p:nvPr/>
        </p:nvSpPr>
        <p:spPr>
          <a:xfrm>
            <a:off x="46908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1500" dirty="0"/>
          </a:p>
        </p:txBody>
      </p:sp>
      <p:sp>
        <p:nvSpPr>
          <p:cNvPr id="36" name="team-stat-3-label"/>
          <p:cNvSpPr txBox="1"/>
          <p:nvPr/>
        </p:nvSpPr>
        <p:spPr>
          <a:xfrm>
            <a:off x="569671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900" dirty="0"/>
          </a:p>
        </p:txBody>
      </p:sp>
      <p:sp>
        <p:nvSpPr>
          <p:cNvPr id="37" name="team-note"/>
          <p:cNvSpPr txBox="1"/>
          <p:nvPr/>
        </p:nvSpPr>
        <p:spPr>
          <a:xfrm>
            <a:off x="6675120" y="402336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против пары без связи: 80 сценариев, быстрый симулятор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работали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346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разработки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Скиллы, которые выросли из нашей работы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стало инструкцией, которую ИИ-агент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5992978" y="155448"/>
            <a:ext cx="248351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использование ассистента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547872"/>
            <a:ext cx="7808976" cy="1042416"/>
          </a:xfrm>
          <a:prstGeom prst="roundRect">
            <a:avLst>
              <a:gd name="adj" fmla="val 26316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547872"/>
            <a:ext cx="7260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· задания словами через языковую модель · память между прогонами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· карта через SLAM · два робота · работа с ИИ-агентами · скиллы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2026-10-09T10:58:47Z</dcterms:created>
  <dcterms:modified xsi:type="dcterms:W3CDTF">2026-10-09T10:58:47Z</dcterms:modified>
</cp:coreProperties>
</file>