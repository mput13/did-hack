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Собрано образцов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3D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спираль</c:v>
                  </c:pt>
                  <c:pt idx="1">
                    <c:v>подъём по сигналу</c:v>
                  </c:pt>
                  <c:pt idx="2">
                    <c:v>карта вероятностей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82</c:v>
                </c:pt>
                <c:pt idx="2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опыта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23</c:v>
                </c:pt>
                <c:pt idx="2">
                  <c:v>11</c:v>
                </c:pt>
                <c:pt idx="3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опыта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целиком ниже нуля; если он включает ноль, выигрыш не показан. Итог в быстром симуляторе: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Сверху стенд: генератор сценариев, судья и симулятор — Gazebo с TurtleBot3 или быстрый симулятор с тем же интерфейсом. Агент видит только каналы ROS 2 из условия задачи. Внутри агента — картина мира, научный цикл, планировщик и исполнитель; планировщик может спросить языковую модель с сервера МАИ, скоростями она не управляет. Каждый прогон записывается: запись открывается в лаборатории и идёт в серии опытов, из которых получаются числа с интервалами.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Робот и симуляция — стандартные: ROS 2 Jazzy, Gazebo Harmonic, TurtleBot3 и SLAM Toolbox. Свой код — на Python с NumPy и SciPy; для серий опытов мы написали быстрый симулятор с тем же судьёй. Языковые модели робота — с сервера МАИ. Разрабатывали с ИИ-агентами: Claude пишет код, GPT независимо проверяет, Gemini читает литературу.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Датчик образцов сообщает одно число. По нему известно расстояние, но не направление: образец где-то на кольце вокруг робота. Робот делит арену на клетки и для каждой хранит вероятность, что образец там. Каждое новое показание — ещё одно кольцо: вероятность клетки умножается на то, насколько показание с ней согласуется. Где кольца сходятся, вероятность растёт. После трёх показаний остаётся одно место — это и есть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Перед каждым движением робот считает три вещи. Первое — цель: это максимум карты вероятностей. Простой подъём по сигналу — градиентный подъём, когда робот шагает туда, где показание растёт, — собирает заметно меньше: он теряется, когда образцов несколько. Второе — путь: алгоритм Дейкстры по сетке, где шаг по дорогому грунту стоит дороже, поэтому робот выбирает не самый короткий, а самый дешёвый по заряду путь. Третье — запас: к цели он едет, только если заряда хватит и туда, и домой.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Это научный цикл внутри робота. Когда измерение расходится с прогнозом — например, заряд уходит быстрее, чем должен, — робот не гадает. Он выдвигает несколько объяснений с вероятностями и выбирает опыт, который различит их дешевле всего: например, постоять две секунды. По результату вероятности пересчитываются, и робот действует: вносит участок в карту стоимости и меняет запас на возврат. Справа пример из прогона: до опыта объяснений четыре, после — одно.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Языковая модель нужна там, где задание дано словами. Миссия: не заезжай в правую половину арены. Слева робот с обычным правилом: текст он не читает и едет за образцами через запретную половину. Справа подцели выбирает языковая модель: она читает миссию и работает только в разрешённой половине — собирает там все три образца и возвращается. Так же словами можно задать, например, сколько образцов собрать. Модель выполняет такую миссию в одиннадцати прогонах из двенадцати,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робот с адаптацией против плана заранее — плюс тринадцать. Пережидание сбоя датчика, контроль его исправности, запас на возврат по оценке пути и память о лаборатории между прогонами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 засчитанных.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В условии пять дополнительных треков, и мы заявляемся на все пять. Научный агент — журнал гипотез со статусами и сверкой. SLAM вместо готовой карты. Мультиагентный — два робота с координацией. Лучшее использование ассистента — свои скиллы. И команда мечты с AI — весь проект сделан через агентов. Дальше по слайду на каждый трек.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Трек «научный агент». Робот ведёт журнал гипотез: что он предположил, как проверил и чем кончилось. Это строки из настоящего прогона в Gazebo. Гипотеза «образец здесь» — подъехал, собрал, подтверждена. Расход вырос — три объяснения, опыт «постоять две секунды», вывод: грунт стал дороже. Одна гипотеза осталась открытой, и журнал это честно показывает. А главное — мы сверили журнал со скрытой правдой: девять из десяти гипотез, которые робот счёл подтверждёнными, действительно верны.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Трек SLAM. Готовую карту роботу не даём: он строит её сам через SLAM Toolbox и по ней же выполняет миссию. Карта совпадает с готовой на девяносто шесть — девяносто девять процентов клеток, все девять столбов на месте, а начало координат совпадает с мировым с точностью около пяти сантиметров. Пять прогонов в Gazebo, столкновений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Трек «мультиагентный». Два робота, у каждого своя батарея и свой датчик. Общаются они только сообщениями: делятся картой вероятностей, заявляют цели, сообщают о сборе и опасных зонах и делят арену. Против такой же пары без связи прогон короче на двадцать шесть секунд, заряда уходит на четверть меньше, и на базу возвращаются оба во всех восьмидесяти прогонах. Слева — запись из Gazebo с двумя TurtleBot3.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Трек «лучшее использование ассистента». Три вещи в нашей работе повторялись десятки раз: исследование по источникам, постановка опыта и независимое ревью. Мы оформили их в три скилла. Скилл — это инструкция, которую агент подгружает сам, когда видит подходящую задачу. Теперь новая сессия агента работает по тем же правилам без пересказа: человек пишет одно поручение, а не страницу требований.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Почти все работы — двадцать одну из двадцати двух — ревью вернуло на доработку, и в этом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Это журнал разработки. Каждая строка — одно исследование, каждый значок — один шаг: обзор исследователя, работа инженера или ревью; зелёная точка — работа принята. Видно, что почти каждую работу ревью возвращало на доработку, и что не всё кончилось выигрышем: отрицательные результаты записаны как результаты. Все логи лежат в репозитории: план, правила, отчёты и история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15 с. Команда — три человека. Сделаны все уровни задания, научный цикл, задания словами через языковую модель, своя карта и два робота.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1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1.png"/><Relationship Id="rId5" Type="http://schemas.openxmlformats.org/officeDocument/2006/relationships/image" Target="../media/image-19-3.png"/><Relationship Id="rId6" Type="http://schemas.openxmlformats.org/officeDocument/2006/relationships/image" Target="../media/image-19-2.png"/><Relationship Id="rId7" Type="http://schemas.openxmlformats.org/officeDocument/2006/relationships/image" Target="../media/image-19-3.png"/><Relationship Id="rId8" Type="http://schemas.openxmlformats.org/officeDocument/2006/relationships/image" Target="../media/image-19-2.png"/><Relationship Id="rId9" Type="http://schemas.openxmlformats.org/officeDocument/2006/relationships/image" Target="../media/image-19-3.png"/><Relationship Id="rId10" Type="http://schemas.openxmlformats.org/officeDocument/2006/relationships/image" Target="../media/image-19-2.png"/><Relationship Id="rId11" Type="http://schemas.openxmlformats.org/officeDocument/2006/relationships/image" Target="../media/image-19-3.png"/><Relationship Id="rId12" Type="http://schemas.openxmlformats.org/officeDocument/2006/relationships/image" Target="../media/image-19-2.png"/><Relationship Id="rId13" Type="http://schemas.openxmlformats.org/officeDocument/2006/relationships/image" Target="../media/image-19-1.png"/><Relationship Id="rId14" Type="http://schemas.openxmlformats.org/officeDocument/2006/relationships/image" Target="../media/image-19-1.png"/><Relationship Id="rId15" Type="http://schemas.openxmlformats.org/officeDocument/2006/relationships/image" Target="../media/image-19-1.png"/><Relationship Id="rId16" Type="http://schemas.openxmlformats.org/officeDocument/2006/relationships/image" Target="../media/image-19-1.png"/><Relationship Id="rId17" Type="http://schemas.openxmlformats.org/officeDocument/2006/relationships/image" Target="../media/image-19-2.png"/><Relationship Id="rId18" Type="http://schemas.openxmlformats.org/officeDocument/2006/relationships/image" Target="../media/image-19-1.png"/><Relationship Id="rId19" Type="http://schemas.openxmlformats.org/officeDocument/2006/relationships/image" Target="../media/image-19-2.png"/><Relationship Id="rId20" Type="http://schemas.openxmlformats.org/officeDocument/2006/relationships/image" Target="../media/image-19-3.png"/><Relationship Id="rId21" Type="http://schemas.openxmlformats.org/officeDocument/2006/relationships/image" Target="../media/image-19-2.png"/><Relationship Id="rId22" Type="http://schemas.openxmlformats.org/officeDocument/2006/relationships/image" Target="../media/image-19-2.png"/><Relationship Id="rId23" Type="http://schemas.openxmlformats.org/officeDocument/2006/relationships/image" Target="../media/image-19-3.png"/><Relationship Id="rId24" Type="http://schemas.openxmlformats.org/officeDocument/2006/relationships/image" Target="../media/image-19-2.png"/><Relationship Id="rId25" Type="http://schemas.openxmlformats.org/officeDocument/2006/relationships/image" Target="../media/image-19-2.png"/><Relationship Id="rId26" Type="http://schemas.openxmlformats.org/officeDocument/2006/relationships/image" Target="../media/image-19-3.png"/><Relationship Id="rId27" Type="http://schemas.openxmlformats.org/officeDocument/2006/relationships/image" Target="../media/image-19-2.png"/><Relationship Id="rId28" Type="http://schemas.openxmlformats.org/officeDocument/2006/relationships/image" Target="../media/image-19-3.png"/><Relationship Id="rId29" Type="http://schemas.openxmlformats.org/officeDocument/2006/relationships/image" Target="../media/image-19-2.png"/><Relationship Id="rId30" Type="http://schemas.openxmlformats.org/officeDocument/2006/relationships/image" Target="../media/image-19-2.png"/><Relationship Id="rId31" Type="http://schemas.openxmlformats.org/officeDocument/2006/relationships/image" Target="../media/image-19-3.png"/><Relationship Id="rId32" Type="http://schemas.openxmlformats.org/officeDocument/2006/relationships/image" Target="../media/image-19-2.png"/><Relationship Id="rId33" Type="http://schemas.openxmlformats.org/officeDocument/2006/relationships/image" Target="../media/image-19-3.png"/><Relationship Id="rId34" Type="http://schemas.openxmlformats.org/officeDocument/2006/relationships/image" Target="../media/image-19-2.png"/><Relationship Id="rId35" Type="http://schemas.openxmlformats.org/officeDocument/2006/relationships/image" Target="../media/image-19-3.png"/><Relationship Id="rId36" Type="http://schemas.openxmlformats.org/officeDocument/2006/relationships/image" Target="../media/image-19-2.png"/><Relationship Id="rId37" Type="http://schemas.openxmlformats.org/officeDocument/2006/relationships/image" Target="../media/image-19-3.png"/><Relationship Id="rId38" Type="http://schemas.openxmlformats.org/officeDocument/2006/relationships/image" Target="../media/image-19-2.png"/><Relationship Id="rId39" Type="http://schemas.openxmlformats.org/officeDocument/2006/relationships/image" Target="../media/image-19-2.png"/><Relationship Id="rId40" Type="http://schemas.openxmlformats.org/officeDocument/2006/relationships/image" Target="../media/image-19-3.png"/><Relationship Id="rId41" Type="http://schemas.openxmlformats.org/officeDocument/2006/relationships/image" Target="../media/image-19-2.png"/><Relationship Id="rId42" Type="http://schemas.openxmlformats.org/officeDocument/2006/relationships/image" Target="../media/image-19-3.png"/><Relationship Id="rId43" Type="http://schemas.openxmlformats.org/officeDocument/2006/relationships/image" Target="../media/image-19-2.png"/><Relationship Id="rId44" Type="http://schemas.openxmlformats.org/officeDocument/2006/relationships/image" Target="../media/image-19-3.png"/><Relationship Id="rId45" Type="http://schemas.openxmlformats.org/officeDocument/2006/relationships/image" Target="../media/image-19-2.png"/><Relationship Id="rId46" Type="http://schemas.openxmlformats.org/officeDocument/2006/relationships/image" Target="../media/image-19-3.png"/><Relationship Id="rId47" Type="http://schemas.openxmlformats.org/officeDocument/2006/relationships/image" Target="../media/image-19-2.png"/><Relationship Id="rId48" Type="http://schemas.openxmlformats.org/officeDocument/2006/relationships/image" Target="../media/image-19-3.png"/><Relationship Id="rId49" Type="http://schemas.openxmlformats.org/officeDocument/2006/relationships/image" Target="../media/image-19-2.png"/><Relationship Id="rId50" Type="http://schemas.openxmlformats.org/officeDocument/2006/relationships/image" Target="../media/image-19-2.png"/><Relationship Id="rId51" Type="http://schemas.openxmlformats.org/officeDocument/2006/relationships/image" Target="../media/image-19-3.png"/><Relationship Id="rId52" Type="http://schemas.openxmlformats.org/officeDocument/2006/relationships/image" Target="../media/image-19-2.png"/><Relationship Id="rId53" Type="http://schemas.openxmlformats.org/officeDocument/2006/relationships/image" Target="../media/image-19-2.png"/><Relationship Id="rId54" Type="http://schemas.openxmlformats.org/officeDocument/2006/relationships/image" Target="../media/image-19-3.png"/><Relationship Id="rId55" Type="http://schemas.openxmlformats.org/officeDocument/2006/relationships/image" Target="../media/image-19-2.png"/><Relationship Id="rId56" Type="http://schemas.openxmlformats.org/officeDocument/2006/relationships/image" Target="../media/image-19-2.png"/><Relationship Id="rId57" Type="http://schemas.openxmlformats.org/officeDocument/2006/relationships/image" Target="../media/image-19-3.png"/><Relationship Id="rId58" Type="http://schemas.openxmlformats.org/officeDocument/2006/relationships/image" Target="../media/image-19-2.png"/><Relationship Id="rId59" Type="http://schemas.openxmlformats.org/officeDocument/2006/relationships/image" Target="../media/image-19-3.png"/><Relationship Id="rId60" Type="http://schemas.openxmlformats.org/officeDocument/2006/relationships/image" Target="../media/image-19-2.png"/><Relationship Id="rId61" Type="http://schemas.openxmlformats.org/officeDocument/2006/relationships/image" Target="../media/image-19-2.png"/><Relationship Id="rId62" Type="http://schemas.openxmlformats.org/officeDocument/2006/relationships/image" Target="../media/image-19-3.png"/><Relationship Id="rId63" Type="http://schemas.openxmlformats.org/officeDocument/2006/relationships/image" Target="../media/image-19-2.png"/><Relationship Id="rId64" Type="http://schemas.openxmlformats.org/officeDocument/2006/relationships/image" Target="../media/image-19-3.png"/><Relationship Id="rId65" Type="http://schemas.openxmlformats.org/officeDocument/2006/relationships/image" Target="../media/image-19-2.png"/><Relationship Id="rId66" Type="http://schemas.openxmlformats.org/officeDocument/2006/relationships/image" Target="../media/image-19-1.png"/><Relationship Id="rId67" Type="http://schemas.openxmlformats.org/officeDocument/2006/relationships/image" Target="../media/image-19-2.png"/><Relationship Id="rId68" Type="http://schemas.openxmlformats.org/officeDocument/2006/relationships/image" Target="../media/image-19-3.png"/><Relationship Id="rId69" Type="http://schemas.openxmlformats.org/officeDocument/2006/relationships/image" Target="../media/image-19-2.png"/><Relationship Id="rId70" Type="http://schemas.openxmlformats.org/officeDocument/2006/relationships/image" Target="../media/image-19-3.png"/><Relationship Id="rId71" Type="http://schemas.openxmlformats.org/officeDocument/2006/relationships/image" Target="../media/image-19-2.png"/><Relationship Id="rId72" Type="http://schemas.openxmlformats.org/officeDocument/2006/relationships/image" Target="../media/image-19-3.png"/><Relationship Id="rId73" Type="http://schemas.openxmlformats.org/officeDocument/2006/relationships/slideLayout" Target="../slideLayouts/slideLayout3.xml"/><Relationship Id="rId7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30368" y="36576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7973568" y="457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822960" y="1051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</a:t>
            </a:r>
            <a:endParaRPr lang="en-US" sz="3400" dirty="0"/>
          </a:p>
        </p:txBody>
      </p:sp>
      <p:sp>
        <p:nvSpPr>
          <p:cNvPr id="7" name="subtitle"/>
          <p:cNvSpPr txBox="1"/>
          <p:nvPr/>
        </p:nvSpPr>
        <p:spPr>
          <a:xfrm>
            <a:off x="822960" y="2487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образцов и исследование среды с ограниченным запасом энергии</a:t>
            </a:r>
            <a:endParaRPr lang="en-US" sz="1400" dirty="0"/>
          </a:p>
        </p:txBody>
      </p:sp>
      <p:sp>
        <p:nvSpPr>
          <p:cNvPr id="8" name="team"/>
          <p:cNvSpPr txBox="1"/>
          <p:nvPr/>
        </p:nvSpPr>
        <p:spPr>
          <a:xfrm>
            <a:off x="822960" y="40416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Путиловский Михаил · Журавлева Полина</a:t>
            </a:r>
            <a:endParaRPr lang="en-US" sz="1050" dirty="0"/>
          </a:p>
        </p:txBody>
      </p:sp>
      <p:sp>
        <p:nvSpPr>
          <p:cNvPr id="9" name="event"/>
          <p:cNvSpPr txBox="1"/>
          <p:nvPr/>
        </p:nvSpPr>
        <p:spPr>
          <a:xfrm>
            <a:off x="822960" y="43708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«с адаптацией».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целиком ниже нуля. Если он включает ноль — выигрыш не показан.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выше в 29 из 40 сценариев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как всё связано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агент и один судья на двух симуляторах; каждый прогон записывается и идёт в показ и в опыты</a:t>
            </a:r>
            <a:endParaRPr lang="en-US" sz="1150" dirty="0"/>
          </a:p>
        </p:txBody>
      </p:sp>
      <p:sp>
        <p:nvSpPr>
          <p:cNvPr id="5" name="stand-band"/>
          <p:cNvSpPr/>
          <p:nvPr/>
        </p:nvSpPr>
        <p:spPr>
          <a:xfrm>
            <a:off x="667512" y="1225296"/>
            <a:ext cx="7808976" cy="786384"/>
          </a:xfrm>
          <a:prstGeom prst="roundRect">
            <a:avLst>
              <a:gd name="adj" fmla="val 30233"/>
            </a:avLst>
          </a:prstGeom>
          <a:solidFill>
            <a:schemeClr val="accent1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868680" y="122529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Стенд</a:t>
            </a:r>
            <a:endParaRPr lang="en-US" sz="1250" dirty="0"/>
          </a:p>
        </p:txBody>
      </p:sp>
      <p:sp>
        <p:nvSpPr>
          <p:cNvPr id="7" name="stand-1-pill"/>
          <p:cNvSpPr/>
          <p:nvPr/>
        </p:nvSpPr>
        <p:spPr>
          <a:xfrm>
            <a:off x="1600200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8" name="stand-1-text"/>
          <p:cNvSpPr txBox="1"/>
          <p:nvPr/>
        </p:nvSpPr>
        <p:spPr>
          <a:xfrm>
            <a:off x="1709928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сценариев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грунты, зоны, события</a:t>
            </a:r>
            <a:endParaRPr lang="en-US" sz="1100" dirty="0"/>
          </a:p>
        </p:txBody>
      </p:sp>
      <p:sp>
        <p:nvSpPr>
          <p:cNvPr id="9" name="stand-2-pill"/>
          <p:cNvSpPr/>
          <p:nvPr/>
        </p:nvSpPr>
        <p:spPr>
          <a:xfrm>
            <a:off x="3300984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0" name="stand-2-text"/>
          <p:cNvSpPr txBox="1"/>
          <p:nvPr/>
        </p:nvSpPr>
        <p:spPr>
          <a:xfrm>
            <a:off x="3410712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заряд, датчик, штрафы, счёт</a:t>
            </a:r>
            <a:endParaRPr lang="en-US" sz="1100" dirty="0"/>
          </a:p>
        </p:txBody>
      </p:sp>
      <p:sp>
        <p:nvSpPr>
          <p:cNvPr id="11" name="stand-3-pill"/>
          <p:cNvSpPr/>
          <p:nvPr/>
        </p:nvSpPr>
        <p:spPr>
          <a:xfrm>
            <a:off x="5001768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2" name="stand-3-text"/>
          <p:cNvSpPr txBox="1"/>
          <p:nvPr/>
        </p:nvSpPr>
        <p:spPr>
          <a:xfrm>
            <a:off x="5111496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TurtleBot3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быстрый симулятор</a:t>
            </a:r>
            <a:endParaRPr lang="en-US" sz="1100" dirty="0"/>
          </a:p>
        </p:txBody>
      </p:sp>
      <p:sp>
        <p:nvSpPr>
          <p:cNvPr id="13" name="stand-4-pill"/>
          <p:cNvSpPr/>
          <p:nvPr/>
        </p:nvSpPr>
        <p:spPr>
          <a:xfrm>
            <a:off x="6702552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4" name="stand-4-text"/>
          <p:cNvSpPr txBox="1"/>
          <p:nvPr/>
        </p:nvSpPr>
        <p:spPr>
          <a:xfrm>
            <a:off x="6812280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5" name="bus-strip"/>
          <p:cNvSpPr/>
          <p:nvPr/>
        </p:nvSpPr>
        <p:spPr>
          <a:xfrm>
            <a:off x="667512" y="2103120"/>
            <a:ext cx="5504688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bus-text"/>
          <p:cNvSpPr txBox="1"/>
          <p:nvPr/>
        </p:nvSpPr>
        <p:spPr>
          <a:xfrm>
            <a:off x="850392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  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лидар, одометрия, заряд, датчик    ↑ скорости, «собрать», «финиш»</a:t>
            </a:r>
            <a:endParaRPr lang="en-US" sz="900" dirty="0"/>
          </a:p>
        </p:txBody>
      </p:sp>
      <p:sp>
        <p:nvSpPr>
          <p:cNvPr id="17" name="agent-band"/>
          <p:cNvSpPr/>
          <p:nvPr/>
        </p:nvSpPr>
        <p:spPr>
          <a:xfrm>
            <a:off x="667512" y="2450592"/>
            <a:ext cx="5504688" cy="1225296"/>
          </a:xfrm>
          <a:prstGeom prst="roundRect">
            <a:avLst>
              <a:gd name="adj" fmla="val 19403"/>
            </a:avLst>
          </a:prstGeom>
          <a:solidFill>
            <a:schemeClr val="accent3"/>
          </a:solidFill>
          <a:ln/>
        </p:spPr>
      </p:sp>
      <p:sp>
        <p:nvSpPr>
          <p:cNvPr id="18" name="agent-label"/>
          <p:cNvSpPr txBox="1"/>
          <p:nvPr/>
        </p:nvSpPr>
        <p:spPr>
          <a:xfrm>
            <a:off x="868680" y="2450592"/>
            <a:ext cx="731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</a:t>
            </a:r>
            <a:endParaRPr lang="en-US" sz="1250" dirty="0"/>
          </a:p>
        </p:txBody>
      </p:sp>
      <p:sp>
        <p:nvSpPr>
          <p:cNvPr id="19" name="agent-1-pill"/>
          <p:cNvSpPr/>
          <p:nvPr/>
        </p:nvSpPr>
        <p:spPr>
          <a:xfrm>
            <a:off x="1600200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0" name="agent-1-text"/>
          <p:cNvSpPr txBox="1"/>
          <p:nvPr/>
        </p:nvSpPr>
        <p:spPr>
          <a:xfrm>
            <a:off x="1709928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грунт, зоны, поза</a:t>
            </a:r>
            <a:endParaRPr lang="en-US" sz="1100" dirty="0"/>
          </a:p>
        </p:txBody>
      </p:sp>
      <p:sp>
        <p:nvSpPr>
          <p:cNvPr id="21" name="agent-2-pill"/>
          <p:cNvSpPr/>
          <p:nvPr/>
        </p:nvSpPr>
        <p:spPr>
          <a:xfrm>
            <a:off x="3118104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2" name="agent-2-text"/>
          <p:cNvSpPr txBox="1"/>
          <p:nvPr/>
        </p:nvSpPr>
        <p:spPr>
          <a:xfrm>
            <a:off x="3227832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→ опыт → вывод</a:t>
            </a:r>
            <a:endParaRPr lang="en-US" sz="1100" dirty="0"/>
          </a:p>
        </p:txBody>
      </p:sp>
      <p:sp>
        <p:nvSpPr>
          <p:cNvPr id="23" name="agent-3-pill"/>
          <p:cNvSpPr/>
          <p:nvPr/>
        </p:nvSpPr>
        <p:spPr>
          <a:xfrm>
            <a:off x="4636008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4" name="agent-3-text"/>
          <p:cNvSpPr txBox="1"/>
          <p:nvPr/>
        </p:nvSpPr>
        <p:spPr>
          <a:xfrm>
            <a:off x="4745736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1100" dirty="0"/>
          </a:p>
        </p:txBody>
      </p:sp>
      <p:sp>
        <p:nvSpPr>
          <p:cNvPr id="25" name="agent-4-pill"/>
          <p:cNvSpPr/>
          <p:nvPr/>
        </p:nvSpPr>
        <p:spPr>
          <a:xfrm>
            <a:off x="1600200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6" name="agent-4-text"/>
          <p:cNvSpPr txBox="1"/>
          <p:nvPr/>
        </p:nvSpPr>
        <p:spPr>
          <a:xfrm>
            <a:off x="1709928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v, ω; сторожа</a:t>
            </a:r>
            <a:endParaRPr lang="en-US" sz="1100" dirty="0"/>
          </a:p>
        </p:txBody>
      </p:sp>
      <p:sp>
        <p:nvSpPr>
          <p:cNvPr id="27" name="agent-5-pill"/>
          <p:cNvSpPr/>
          <p:nvPr/>
        </p:nvSpPr>
        <p:spPr>
          <a:xfrm>
            <a:off x="3118104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8" name="agent-5-text"/>
          <p:cNvSpPr txBox="1"/>
          <p:nvPr/>
        </p:nvSpPr>
        <p:spPr>
          <a:xfrm>
            <a:off x="3227832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 лаборатории, между прогонами</a:t>
            </a:r>
            <a:endParaRPr lang="en-US" sz="1100" dirty="0"/>
          </a:p>
        </p:txBody>
      </p:sp>
      <p:sp>
        <p:nvSpPr>
          <p:cNvPr id="29" name="agent-6-pill"/>
          <p:cNvSpPr/>
          <p:nvPr/>
        </p:nvSpPr>
        <p:spPr>
          <a:xfrm>
            <a:off x="4636008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30" name="agent-6-text"/>
          <p:cNvSpPr txBox="1"/>
          <p:nvPr/>
        </p:nvSpPr>
        <p:spPr>
          <a:xfrm>
            <a:off x="4745736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обмен сообщениями</a:t>
            </a:r>
            <a:endParaRPr lang="en-US" sz="1100" dirty="0"/>
          </a:p>
        </p:txBody>
      </p:sp>
      <p:sp>
        <p:nvSpPr>
          <p:cNvPr id="31" name="llm-card"/>
          <p:cNvSpPr/>
          <p:nvPr/>
        </p:nvSpPr>
        <p:spPr>
          <a:xfrm>
            <a:off x="6464808" y="2103120"/>
            <a:ext cx="2011680" cy="1572768"/>
          </a:xfrm>
          <a:prstGeom prst="roundRect">
            <a:avLst>
              <a:gd name="adj" fmla="val 15116"/>
            </a:avLst>
          </a:prstGeom>
          <a:solidFill>
            <a:schemeClr val="accent2"/>
          </a:solidFill>
          <a:ln/>
        </p:spPr>
      </p:sp>
      <p:sp>
        <p:nvSpPr>
          <p:cNvPr id="32" name="llm-text"/>
          <p:cNvSpPr txBox="1"/>
          <p:nvPr/>
        </p:nvSpPr>
        <p:spPr>
          <a:xfrm>
            <a:off x="6620256" y="2176272"/>
            <a:ext cx="1737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вход: миссия + сводка состояния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выход: подцели в JSON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ответа, запасное правило, кэш</a:t>
            </a:r>
            <a:endParaRPr lang="en-US" sz="1100" dirty="0"/>
          </a:p>
        </p:txBody>
      </p:sp>
      <p:sp>
        <p:nvSpPr>
          <p:cNvPr id="33" name="arrow-planner-llm"/>
          <p:cNvSpPr/>
          <p:nvPr/>
        </p:nvSpPr>
        <p:spPr>
          <a:xfrm>
            <a:off x="6108192" y="2706624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arrow-llm-planner"/>
          <p:cNvSpPr/>
          <p:nvPr/>
        </p:nvSpPr>
        <p:spPr>
          <a:xfrm>
            <a:off x="6437376" y="2852928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flow-1-card"/>
          <p:cNvSpPr/>
          <p:nvPr/>
        </p:nvSpPr>
        <p:spPr>
          <a:xfrm>
            <a:off x="667512" y="3858768"/>
            <a:ext cx="1874520" cy="585216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flow-1-text"/>
          <p:cNvSpPr txBox="1"/>
          <p:nvPr/>
        </p:nvSpPr>
        <p:spPr>
          <a:xfrm>
            <a:off x="813816" y="385876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Лаборатория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 и пульт, проигрыватель</a:t>
            </a:r>
            <a:endParaRPr lang="en-US" sz="1100" dirty="0"/>
          </a:p>
        </p:txBody>
      </p:sp>
      <p:sp>
        <p:nvSpPr>
          <p:cNvPr id="37" name="flow-2-card"/>
          <p:cNvSpPr/>
          <p:nvPr/>
        </p:nvSpPr>
        <p:spPr>
          <a:xfrm>
            <a:off x="2743200" y="3858768"/>
            <a:ext cx="1700784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38" name="flow-2-text"/>
          <p:cNvSpPr txBox="1"/>
          <p:nvPr/>
        </p:nvSpPr>
        <p:spPr>
          <a:xfrm>
            <a:off x="2889504" y="3858768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прогона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путь, заряд, решения, гипотезы</a:t>
            </a:r>
            <a:endParaRPr lang="en-US" sz="1100" dirty="0"/>
          </a:p>
        </p:txBody>
      </p:sp>
      <p:sp>
        <p:nvSpPr>
          <p:cNvPr id="39" name="flow-3-card"/>
          <p:cNvSpPr/>
          <p:nvPr/>
        </p:nvSpPr>
        <p:spPr>
          <a:xfrm>
            <a:off x="4645152" y="3858768"/>
            <a:ext cx="1920240" cy="585216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40" name="flow-3-text"/>
          <p:cNvSpPr txBox="1"/>
          <p:nvPr/>
        </p:nvSpPr>
        <p:spPr>
          <a:xfrm>
            <a:off x="4791456" y="3858768"/>
            <a:ext cx="1682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Серии опытов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× варианты → интервалы</a:t>
            </a:r>
            <a:endParaRPr lang="en-US" sz="1100" dirty="0"/>
          </a:p>
        </p:txBody>
      </p:sp>
      <p:sp>
        <p:nvSpPr>
          <p:cNvPr id="41" name="flow-4-card"/>
          <p:cNvSpPr/>
          <p:nvPr/>
        </p:nvSpPr>
        <p:spPr>
          <a:xfrm>
            <a:off x="6766560" y="3858768"/>
            <a:ext cx="1709928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42" name="flow-4-text"/>
          <p:cNvSpPr txBox="1"/>
          <p:nvPr/>
        </p:nvSpPr>
        <p:spPr>
          <a:xfrm>
            <a:off x="6912864" y="3858768"/>
            <a:ext cx="1472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отчёты, страница-объяснение</a:t>
            </a:r>
            <a:endParaRPr lang="en-US" sz="1100" dirty="0"/>
          </a:p>
        </p:txBody>
      </p:sp>
      <p:sp>
        <p:nvSpPr>
          <p:cNvPr id="43" name="arrow-agent-record"/>
          <p:cNvSpPr/>
          <p:nvPr/>
        </p:nvSpPr>
        <p:spPr>
          <a:xfrm>
            <a:off x="3593592" y="3685032"/>
            <a:ext cx="0" cy="155448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record-lab"/>
          <p:cNvSpPr/>
          <p:nvPr/>
        </p:nvSpPr>
        <p:spPr>
          <a:xfrm>
            <a:off x="2724912" y="4151376"/>
            <a:ext cx="-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record-series"/>
          <p:cNvSpPr/>
          <p:nvPr/>
        </p:nvSpPr>
        <p:spPr>
          <a:xfrm>
            <a:off x="4462272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series-reports"/>
          <p:cNvSpPr/>
          <p:nvPr/>
        </p:nvSpPr>
        <p:spPr>
          <a:xfrm>
            <a:off x="6583680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dev-line"/>
          <p:cNvSpPr txBox="1"/>
          <p:nvPr/>
        </p:nvSpPr>
        <p:spPr>
          <a:xfrm>
            <a:off x="667512" y="4498848"/>
            <a:ext cx="7808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Разработка: человек задаёт цель → ведущий агент → исследователи, инженеры и независимое ревью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использовали в работе и для чего</a:t>
            </a:r>
            <a:endParaRPr lang="en-US" sz="1150" dirty="0"/>
          </a:p>
        </p:txBody>
      </p:sp>
      <p:sp>
        <p:nvSpPr>
          <p:cNvPr id="5" name="res-1-card"/>
          <p:cNvSpPr/>
          <p:nvPr/>
        </p:nvSpPr>
        <p:spPr>
          <a:xfrm>
            <a:off x="667512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6" name="res-1-head"/>
          <p:cNvSpPr txBox="1"/>
          <p:nvPr/>
        </p:nvSpPr>
        <p:spPr>
          <a:xfrm>
            <a:off x="850392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и симуляция</a:t>
            </a:r>
            <a:endParaRPr lang="en-US" sz="1200" dirty="0"/>
          </a:p>
        </p:txBody>
      </p:sp>
      <p:sp>
        <p:nvSpPr>
          <p:cNvPr id="7" name="res-1-row-1"/>
          <p:cNvSpPr txBox="1"/>
          <p:nvPr/>
        </p:nvSpPr>
        <p:spPr>
          <a:xfrm>
            <a:off x="850392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Jazzy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и команды</a:t>
            </a:r>
            <a:endParaRPr lang="en-US" sz="1100" dirty="0"/>
          </a:p>
        </p:txBody>
      </p:sp>
      <p:sp>
        <p:nvSpPr>
          <p:cNvPr id="8" name="res-1-row-2"/>
          <p:cNvSpPr txBox="1"/>
          <p:nvPr/>
        </p:nvSpPr>
        <p:spPr>
          <a:xfrm>
            <a:off x="850392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Harmonic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физика и мир</a:t>
            </a:r>
            <a:endParaRPr lang="en-US" sz="1100" dirty="0"/>
          </a:p>
        </p:txBody>
      </p:sp>
      <p:sp>
        <p:nvSpPr>
          <p:cNvPr id="9" name="res-1-row-3"/>
          <p:cNvSpPr txBox="1"/>
          <p:nvPr/>
        </p:nvSpPr>
        <p:spPr>
          <a:xfrm>
            <a:off x="850392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робота</a:t>
            </a:r>
            <a:endParaRPr lang="en-US" sz="1100" dirty="0"/>
          </a:p>
        </p:txBody>
      </p:sp>
      <p:sp>
        <p:nvSpPr>
          <p:cNvPr id="10" name="res-1-row-4"/>
          <p:cNvSpPr txBox="1"/>
          <p:nvPr/>
        </p:nvSpPr>
        <p:spPr>
          <a:xfrm>
            <a:off x="850392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1" name="res-2-card"/>
          <p:cNvSpPr/>
          <p:nvPr/>
        </p:nvSpPr>
        <p:spPr>
          <a:xfrm>
            <a:off x="2660904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3"/>
          </a:solidFill>
          <a:ln/>
        </p:spPr>
      </p:sp>
      <p:sp>
        <p:nvSpPr>
          <p:cNvPr id="12" name="res-2-head"/>
          <p:cNvSpPr txBox="1"/>
          <p:nvPr/>
        </p:nvSpPr>
        <p:spPr>
          <a:xfrm>
            <a:off x="2843784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расчёты</a:t>
            </a:r>
            <a:endParaRPr lang="en-US" sz="1200" dirty="0"/>
          </a:p>
        </p:txBody>
      </p:sp>
      <p:sp>
        <p:nvSpPr>
          <p:cNvPr id="13" name="res-2-row-1"/>
          <p:cNvSpPr txBox="1"/>
          <p:nvPr/>
        </p:nvSpPr>
        <p:spPr>
          <a:xfrm>
            <a:off x="2843784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NumPy, SciPy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логика агента</a:t>
            </a:r>
            <a:endParaRPr lang="en-US" sz="1100" dirty="0"/>
          </a:p>
        </p:txBody>
      </p:sp>
      <p:sp>
        <p:nvSpPr>
          <p:cNvPr id="14" name="res-2-row-2"/>
          <p:cNvSpPr txBox="1"/>
          <p:nvPr/>
        </p:nvSpPr>
        <p:spPr>
          <a:xfrm>
            <a:off x="2843784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свой: серии опытов</a:t>
            </a:r>
            <a:endParaRPr lang="en-US" sz="1100" dirty="0"/>
          </a:p>
        </p:txBody>
      </p:sp>
      <p:sp>
        <p:nvSpPr>
          <p:cNvPr id="15" name="res-2-row-3"/>
          <p:cNvSpPr txBox="1"/>
          <p:nvPr/>
        </p:nvSpPr>
        <p:spPr>
          <a:xfrm>
            <a:off x="2843784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 проверок</a:t>
            </a:r>
            <a:endParaRPr lang="en-US" sz="1100" dirty="0"/>
          </a:p>
        </p:txBody>
      </p:sp>
      <p:sp>
        <p:nvSpPr>
          <p:cNvPr id="16" name="res-2-row-4"/>
          <p:cNvSpPr txBox="1"/>
          <p:nvPr/>
        </p:nvSpPr>
        <p:spPr>
          <a:xfrm>
            <a:off x="2843784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+ RoboStack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окружения</a:t>
            </a:r>
            <a:endParaRPr lang="en-US" sz="1100" dirty="0"/>
          </a:p>
        </p:txBody>
      </p:sp>
      <p:sp>
        <p:nvSpPr>
          <p:cNvPr id="17" name="res-3-card"/>
          <p:cNvSpPr/>
          <p:nvPr/>
        </p:nvSpPr>
        <p:spPr>
          <a:xfrm>
            <a:off x="4654296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2"/>
          </a:solidFill>
          <a:ln/>
        </p:spPr>
      </p:sp>
      <p:sp>
        <p:nvSpPr>
          <p:cNvPr id="18" name="res-3-head"/>
          <p:cNvSpPr txBox="1"/>
          <p:nvPr/>
        </p:nvSpPr>
        <p:spPr>
          <a:xfrm>
            <a:off x="4837176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Языковые модели</a:t>
            </a:r>
            <a:endParaRPr lang="en-US" sz="1200" dirty="0"/>
          </a:p>
        </p:txBody>
      </p:sp>
      <p:sp>
        <p:nvSpPr>
          <p:cNvPr id="19" name="res-3-row-1"/>
          <p:cNvSpPr txBox="1"/>
          <p:nvPr/>
        </p:nvSpPr>
        <p:spPr>
          <a:xfrm>
            <a:off x="4837176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QWEN, DeepSeek</a:t>
            </a:r>
            <a:endParaRPr lang="en-US" sz="1100" dirty="0"/>
          </a:p>
        </p:txBody>
      </p:sp>
      <p:sp>
        <p:nvSpPr>
          <p:cNvPr id="20" name="res-3-row-2"/>
          <p:cNvSpPr txBox="1"/>
          <p:nvPr/>
        </p:nvSpPr>
        <p:spPr>
          <a:xfrm>
            <a:off x="4837176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в JSON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 схеме</a:t>
            </a:r>
            <a:endParaRPr lang="en-US" sz="1100" dirty="0"/>
          </a:p>
        </p:txBody>
      </p:sp>
      <p:sp>
        <p:nvSpPr>
          <p:cNvPr id="21" name="res-3-row-3"/>
          <p:cNvSpPr txBox="1"/>
          <p:nvPr/>
        </p:nvSpPr>
        <p:spPr>
          <a:xfrm>
            <a:off x="4837176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 ответов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повторяемые опыты</a:t>
            </a:r>
            <a:endParaRPr lang="en-US" sz="1100" dirty="0"/>
          </a:p>
        </p:txBody>
      </p:sp>
      <p:sp>
        <p:nvSpPr>
          <p:cNvPr id="22" name="res-3-row-4"/>
          <p:cNvSpPr txBox="1"/>
          <p:nvPr/>
        </p:nvSpPr>
        <p:spPr>
          <a:xfrm>
            <a:off x="4837176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Jev 1.13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опыт, OpenRouter</a:t>
            </a:r>
            <a:endParaRPr lang="en-US" sz="1100" dirty="0"/>
          </a:p>
        </p:txBody>
      </p:sp>
      <p:sp>
        <p:nvSpPr>
          <p:cNvPr id="23" name="res-4-card"/>
          <p:cNvSpPr/>
          <p:nvPr/>
        </p:nvSpPr>
        <p:spPr>
          <a:xfrm>
            <a:off x="6647688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24" name="res-4-head"/>
          <p:cNvSpPr txBox="1"/>
          <p:nvPr/>
        </p:nvSpPr>
        <p:spPr>
          <a:xfrm>
            <a:off x="6830568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ИИ в разработке</a:t>
            </a:r>
            <a:endParaRPr lang="en-US" sz="1200" dirty="0"/>
          </a:p>
        </p:txBody>
      </p:sp>
      <p:pic>
        <p:nvPicPr>
          <p:cNvPr id="25" name="res-4-logo-1" descr="res-4-logo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020824"/>
            <a:ext cx="182880" cy="182880"/>
          </a:xfrm>
          <a:prstGeom prst="rect">
            <a:avLst/>
          </a:prstGeom>
        </p:spPr>
      </p:pic>
      <p:sp>
        <p:nvSpPr>
          <p:cNvPr id="26" name="res-4-row-1"/>
          <p:cNvSpPr txBox="1"/>
          <p:nvPr/>
        </p:nvSpPr>
        <p:spPr>
          <a:xfrm>
            <a:off x="7086600" y="200253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Opus: код и опыты</a:t>
            </a:r>
            <a:endParaRPr lang="en-US" sz="1100" dirty="0"/>
          </a:p>
        </p:txBody>
      </p:sp>
      <p:pic>
        <p:nvPicPr>
          <p:cNvPr id="27" name="res-4-logo-2" descr="res-4-logo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606040"/>
            <a:ext cx="182880" cy="182880"/>
          </a:xfrm>
          <a:prstGeom prst="rect">
            <a:avLst/>
          </a:prstGeom>
        </p:spPr>
      </p:pic>
      <p:sp>
        <p:nvSpPr>
          <p:cNvPr id="28" name="res-4-row-2"/>
          <p:cNvSpPr txBox="1"/>
          <p:nvPr/>
        </p:nvSpPr>
        <p:spPr>
          <a:xfrm>
            <a:off x="7086600" y="258775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Sol: ревью</a:t>
            </a:r>
            <a:endParaRPr lang="en-US" sz="1100" dirty="0"/>
          </a:p>
        </p:txBody>
      </p:sp>
      <p:pic>
        <p:nvPicPr>
          <p:cNvPr id="29" name="res-4-logo-3" descr="res-4-logo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191256"/>
            <a:ext cx="182880" cy="182880"/>
          </a:xfrm>
          <a:prstGeom prst="rect">
            <a:avLst/>
          </a:prstGeom>
        </p:spPr>
      </p:pic>
      <p:sp>
        <p:nvSpPr>
          <p:cNvPr id="30" name="res-4-row-3"/>
          <p:cNvSpPr txBox="1"/>
          <p:nvPr/>
        </p:nvSpPr>
        <p:spPr>
          <a:xfrm>
            <a:off x="7086600" y="31729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Antigravity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Gemini: литература</a:t>
            </a:r>
            <a:endParaRPr lang="en-US" sz="1100" dirty="0"/>
          </a:p>
        </p:txBody>
      </p:sp>
      <p:sp>
        <p:nvSpPr>
          <p:cNvPr id="31" name="res-4-row-4"/>
          <p:cNvSpPr txBox="1"/>
          <p:nvPr/>
        </p:nvSpPr>
        <p:spPr>
          <a:xfrm>
            <a:off x="6830568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и GitHub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и история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карта вероятностей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даёт одно число — близость к образцу, без направления. Место находим по правилу Байеса</a:t>
            </a:r>
            <a:endParaRPr lang="en-US" sz="1150" dirty="0"/>
          </a:p>
        </p:txBody>
      </p:sp>
      <p:sp>
        <p:nvSpPr>
          <p:cNvPr id="5" name="law-head"/>
          <p:cNvSpPr txBox="1"/>
          <p:nvPr/>
        </p:nvSpPr>
        <p:spPr>
          <a:xfrm>
            <a:off x="667512" y="1225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Показание → расстояние</a:t>
            </a:r>
            <a:endParaRPr lang="en-US" sz="1150" dirty="0"/>
          </a:p>
        </p:txBody>
      </p:sp>
      <p:pic>
        <p:nvPicPr>
          <p:cNvPr id="6" name="sensor_law" descr="График закона датчика: показание линейно падает с расстоянием д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99616"/>
            <a:ext cx="1938528" cy="1401387"/>
          </a:xfrm>
          <a:prstGeom prst="rect">
            <a:avLst/>
          </a:prstGeom>
        </p:spPr>
      </p:pic>
      <p:sp>
        <p:nvSpPr>
          <p:cNvPr id="7" name="law-cap"/>
          <p:cNvSpPr txBox="1"/>
          <p:nvPr/>
        </p:nvSpPr>
        <p:spPr>
          <a:xfrm>
            <a:off x="667512" y="2946723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d/2. Показание 0,48 — образец примерно в метре, а в какой стороне, неизвестно</a:t>
            </a:r>
            <a:endParaRPr lang="en-US" sz="950" dirty="0"/>
          </a:p>
        </p:txBody>
      </p:sp>
      <p:sp>
        <p:nvSpPr>
          <p:cNvPr id="8" name="rings-head"/>
          <p:cNvSpPr txBox="1"/>
          <p:nvPr/>
        </p:nvSpPr>
        <p:spPr>
          <a:xfrm>
            <a:off x="2926080" y="1225296"/>
            <a:ext cx="5550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Каждое показание — кольцо. Где кольца сходятся, там образец</a:t>
            </a:r>
            <a:endParaRPr lang="en-US" sz="1150" dirty="0"/>
          </a:p>
        </p:txBody>
      </p:sp>
      <p:pic>
        <p:nvPicPr>
          <p:cNvPr id="9" name="bayes_steps" descr="Три карты вероятностей: после одного показания — кольцо, после двух — два места, после трёх — одно место у настоящего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99616"/>
            <a:ext cx="5550408" cy="1691480"/>
          </a:xfrm>
          <a:prstGeom prst="rect">
            <a:avLst/>
          </a:prstGeom>
        </p:spPr>
      </p:pic>
      <p:sp>
        <p:nvSpPr>
          <p:cNvPr id="10" name="rings-cap-1"/>
          <p:cNvSpPr txBox="1"/>
          <p:nvPr/>
        </p:nvSpPr>
        <p:spPr>
          <a:xfrm>
            <a:off x="2971800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показание: кольцо</a:t>
            </a:r>
            <a:endParaRPr lang="en-US" sz="950" dirty="0"/>
          </a:p>
        </p:txBody>
      </p:sp>
      <p:sp>
        <p:nvSpPr>
          <p:cNvPr id="11" name="rings-cap-2"/>
          <p:cNvSpPr txBox="1"/>
          <p:nvPr/>
        </p:nvSpPr>
        <p:spPr>
          <a:xfrm>
            <a:off x="4821936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два: осталось два места</a:t>
            </a:r>
            <a:endParaRPr lang="en-US" sz="950" dirty="0"/>
          </a:p>
        </p:txBody>
      </p:sp>
      <p:sp>
        <p:nvSpPr>
          <p:cNvPr id="12" name="rings-cap-3"/>
          <p:cNvSpPr txBox="1"/>
          <p:nvPr/>
        </p:nvSpPr>
        <p:spPr>
          <a:xfrm>
            <a:off x="6672072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три: одно место, 45%</a:t>
            </a:r>
            <a:endParaRPr lang="en-US" sz="950" dirty="0"/>
          </a:p>
        </p:txBody>
      </p:sp>
      <p:sp>
        <p:nvSpPr>
          <p:cNvPr id="13" name="rings-legend"/>
          <p:cNvSpPr txBox="1"/>
          <p:nvPr/>
        </p:nvSpPr>
        <p:spPr>
          <a:xfrm>
            <a:off x="2926080" y="3419696"/>
            <a:ext cx="5550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кольцо показания, синее — вероятность, зелёный кружок — настоящий образец</a:t>
            </a:r>
            <a:endParaRPr lang="en-US" sz="900" dirty="0"/>
          </a:p>
        </p:txBody>
      </p:sp>
      <p:sp>
        <p:nvSpPr>
          <p:cNvPr id="14" name="bayes-card"/>
          <p:cNvSpPr/>
          <p:nvPr/>
        </p:nvSpPr>
        <p:spPr>
          <a:xfrm>
            <a:off x="667512" y="3675888"/>
            <a:ext cx="7808976" cy="530352"/>
          </a:xfrm>
          <a:prstGeom prst="roundRect">
            <a:avLst>
              <a:gd name="adj" fmla="val 44828"/>
            </a:avLst>
          </a:prstGeom>
          <a:solidFill>
            <a:schemeClr val="accent2"/>
          </a:solidFill>
          <a:ln/>
        </p:spPr>
      </p:sp>
      <p:sp>
        <p:nvSpPr>
          <p:cNvPr id="15" name="bayes-text"/>
          <p:cNvSpPr txBox="1"/>
          <p:nvPr/>
        </p:nvSpPr>
        <p:spPr>
          <a:xfrm>
            <a:off x="923544" y="3675888"/>
            <a:ext cx="7351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Правило Байеса — для каждой клетки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вероятность  ∝  прежняя вероятность  ×  насколько показание подходит этой клетке</a:t>
            </a:r>
            <a:endParaRPr lang="en-US" sz="1100" dirty="0"/>
          </a:p>
        </p:txBody>
      </p:sp>
      <p:sp>
        <p:nvSpPr>
          <p:cNvPr id="16" name="max-pill"/>
          <p:cNvSpPr/>
          <p:nvPr/>
        </p:nvSpPr>
        <p:spPr>
          <a:xfrm>
            <a:off x="667512" y="4279392"/>
            <a:ext cx="7808976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ax-text"/>
          <p:cNvSpPr txBox="1"/>
          <p:nvPr/>
        </p:nvSpPr>
        <p:spPr>
          <a:xfrm>
            <a:off x="923544" y="4279392"/>
            <a:ext cx="7351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Цель робота — максимум карты: гипотеза «образец здесь» → подъехать → проверить сбором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куда ехать и как доехать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расчёта перед каждым движением: цель, путь и запас заряда</a:t>
            </a:r>
            <a:endParaRPr lang="en-US" sz="1150" dirty="0"/>
          </a:p>
        </p:txBody>
      </p:sp>
      <p:sp>
        <p:nvSpPr>
          <p:cNvPr id="5" name="calc-1-head"/>
          <p:cNvSpPr txBox="1"/>
          <p:nvPr/>
        </p:nvSpPr>
        <p:spPr>
          <a:xfrm>
            <a:off x="667512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— максимум карты</a:t>
            </a:r>
            <a:endParaRPr lang="en-US" sz="1150" dirty="0"/>
          </a:p>
        </p:txBody>
      </p:sp>
      <p:sp>
        <p:nvSpPr>
          <p:cNvPr id="6" name="calc-2-head"/>
          <p:cNvSpPr txBox="1"/>
          <p:nvPr/>
        </p:nvSpPr>
        <p:spPr>
          <a:xfrm>
            <a:off x="3328416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— Дейкстра по цене грунта</a:t>
            </a:r>
            <a:endParaRPr lang="en-US" sz="1150" dirty="0"/>
          </a:p>
        </p:txBody>
      </p:sp>
      <p:sp>
        <p:nvSpPr>
          <p:cNvPr id="7" name="calc-3-head"/>
          <p:cNvSpPr txBox="1"/>
          <p:nvPr/>
        </p:nvSpPr>
        <p:spPr>
          <a:xfrm>
            <a:off x="5989320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— хватит ли домой</a:t>
            </a:r>
            <a:endParaRPr lang="en-US" sz="1150" dirty="0"/>
          </a:p>
        </p:txBody>
      </p:sp>
      <p:graphicFrame>
        <p:nvGraphicFramePr>
          <p:cNvPr id="8" name="search-chart" descr="Доля собранных образцов: спираль 67,5%, подъём по сигналу 82%, карта вероятностей 99,5%"/>
          <p:cNvGraphicFramePr/>
          <p:nvPr/>
        </p:nvGraphicFramePr>
        <p:xfrm>
          <a:off x="576072" y="1609344"/>
          <a:ext cx="257860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alc-1-cap"/>
          <p:cNvSpPr txBox="1"/>
          <p:nvPr/>
        </p:nvSpPr>
        <p:spPr>
          <a:xfrm>
            <a:off x="667512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Доля собранных образцов. Подъём по сигналу (градиентный подъём) теряется, когда образцов несколько</a:t>
            </a:r>
            <a:endParaRPr lang="en-US" sz="950" dirty="0"/>
          </a:p>
        </p:txBody>
      </p:sp>
      <p:pic>
        <p:nvPicPr>
          <p:cNvPr id="10" name="dijkstra" descr="Арена с участком дорогого грунта и двумя путями: короткий через дорогой грунт и путь Дейкстры в обх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627632"/>
            <a:ext cx="2487168" cy="1829051"/>
          </a:xfrm>
          <a:prstGeom prst="rect">
            <a:avLst/>
          </a:prstGeom>
        </p:spPr>
      </p:pic>
      <p:sp>
        <p:nvSpPr>
          <p:cNvPr id="11" name="calc-2-cap"/>
          <p:cNvSpPr txBox="1"/>
          <p:nvPr/>
        </p:nvSpPr>
        <p:spPr>
          <a:xfrm>
            <a:off x="3328416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шага = длина × цена грунта. Пунктир короче, но стоит 10,5 ед. заряда; синий путь — 7,2</a:t>
            </a:r>
            <a:endParaRPr lang="en-US" sz="950" dirty="0"/>
          </a:p>
        </p:txBody>
      </p:sp>
      <p:sp>
        <p:nvSpPr>
          <p:cNvPr id="12" name="reserve-top"/>
          <p:cNvSpPr txBox="1"/>
          <p:nvPr/>
        </p:nvSpPr>
        <p:spPr>
          <a:xfrm>
            <a:off x="5989320" y="173736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батареи</a:t>
            </a:r>
            <a:endParaRPr lang="en-US" sz="950" dirty="0"/>
          </a:p>
        </p:txBody>
      </p:sp>
      <p:sp>
        <p:nvSpPr>
          <p:cNvPr id="13" name="reserve-part-1"/>
          <p:cNvSpPr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solidFill>
            <a:srgbClr val="3D63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reserve-label-1"/>
          <p:cNvSpPr txBox="1"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цели</a:t>
            </a:r>
            <a:endParaRPr lang="en-US" sz="900" dirty="0"/>
          </a:p>
        </p:txBody>
      </p:sp>
      <p:sp>
        <p:nvSpPr>
          <p:cNvPr id="15" name="reserve-part-2"/>
          <p:cNvSpPr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serve-label-2"/>
          <p:cNvSpPr txBox="1"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домой × 1,1</a:t>
            </a:r>
            <a:endParaRPr lang="en-US" sz="900" dirty="0"/>
          </a:p>
        </p:txBody>
      </p:sp>
      <p:sp>
        <p:nvSpPr>
          <p:cNvPr id="17" name="reserve-part-3"/>
          <p:cNvSpPr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serve-label-3"/>
          <p:cNvSpPr txBox="1"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</a:t>
            </a:r>
            <a:endParaRPr lang="en-US" sz="900" dirty="0"/>
          </a:p>
        </p:txBody>
      </p:sp>
      <p:sp>
        <p:nvSpPr>
          <p:cNvPr id="19" name="reserve-part-4"/>
          <p:cNvSpPr/>
          <p:nvPr/>
        </p:nvSpPr>
        <p:spPr>
          <a:xfrm>
            <a:off x="8019288" y="1975104"/>
            <a:ext cx="45720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serve-text"/>
          <p:cNvSpPr txBox="1"/>
          <p:nvPr/>
        </p:nvSpPr>
        <p:spPr>
          <a:xfrm>
            <a:off x="5989320" y="2523744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робот едет, только если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− путь до цели − 1,1 × путь домой − 4 ≥ 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Иначе — сразу на базу</a:t>
            </a:r>
            <a:endParaRPr lang="en-US" sz="1100" dirty="0"/>
          </a:p>
        </p:txBody>
      </p:sp>
      <p:sp>
        <p:nvSpPr>
          <p:cNvPr id="21" name="goal-pill"/>
          <p:cNvSpPr/>
          <p:nvPr/>
        </p:nvSpPr>
        <p:spPr>
          <a:xfrm>
            <a:off x="667512" y="4169664"/>
            <a:ext cx="7808976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goal-text"/>
          <p:cNvSpPr txBox="1"/>
          <p:nvPr/>
        </p:nvSpPr>
        <p:spPr>
          <a:xfrm>
            <a:off x="923544" y="4169664"/>
            <a:ext cx="7351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всех расчётов — счёт судьи: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10·образцы + 20·возврат + 0,1·остаток заряда − штрафы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подъехал → собрал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грунт стал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заметил перерасход, поставил опыт, внёс участок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шумит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 36 секунд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план заранее против робота с адаптацией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различие не показано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подход: робот сам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измерение расходится с прогнозом, робот выдвигает объяснения и проверяет их действием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2984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tep-1-text"/>
          <p:cNvSpPr txBox="1"/>
          <p:nvPr/>
        </p:nvSpPr>
        <p:spPr>
          <a:xfrm>
            <a:off x="1216152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Расхождение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измерение не сходится с прогнозом</a:t>
            </a:r>
            <a:endParaRPr lang="en-US" sz="1100" dirty="0"/>
          </a:p>
        </p:txBody>
      </p:sp>
      <p:sp>
        <p:nvSpPr>
          <p:cNvPr id="8" name="step-1-arrow"/>
          <p:cNvSpPr/>
          <p:nvPr/>
        </p:nvSpPr>
        <p:spPr>
          <a:xfrm>
            <a:off x="868680" y="172821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step-2-dot"/>
          <p:cNvSpPr/>
          <p:nvPr/>
        </p:nvSpPr>
        <p:spPr>
          <a:xfrm>
            <a:off x="667512" y="190195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step-2-n"/>
          <p:cNvSpPr txBox="1"/>
          <p:nvPr/>
        </p:nvSpPr>
        <p:spPr>
          <a:xfrm>
            <a:off x="667512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tep-2-text"/>
          <p:cNvSpPr txBox="1"/>
          <p:nvPr/>
        </p:nvSpPr>
        <p:spPr>
          <a:xfrm>
            <a:off x="1216152" y="18653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объяснений с вероятностями</a:t>
            </a:r>
            <a:endParaRPr lang="en-US" sz="1100" dirty="0"/>
          </a:p>
        </p:txBody>
      </p:sp>
      <p:sp>
        <p:nvSpPr>
          <p:cNvPr id="12" name="step-2-arrow"/>
          <p:cNvSpPr/>
          <p:nvPr/>
        </p:nvSpPr>
        <p:spPr>
          <a:xfrm>
            <a:off x="868680" y="2331720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3-dot"/>
          <p:cNvSpPr/>
          <p:nvPr/>
        </p:nvSpPr>
        <p:spPr>
          <a:xfrm>
            <a:off x="667512" y="2505456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step-3-n"/>
          <p:cNvSpPr txBox="1"/>
          <p:nvPr/>
        </p:nvSpPr>
        <p:spPr>
          <a:xfrm>
            <a:off x="6675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tep-3-text"/>
          <p:cNvSpPr txBox="1"/>
          <p:nvPr/>
        </p:nvSpPr>
        <p:spPr>
          <a:xfrm>
            <a:off x="1216152" y="24688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тот, что различит объяснения дешевле всего</a:t>
            </a:r>
            <a:endParaRPr lang="en-US" sz="1100" dirty="0"/>
          </a:p>
        </p:txBody>
      </p:sp>
      <p:sp>
        <p:nvSpPr>
          <p:cNvPr id="16" name="step-3-arrow"/>
          <p:cNvSpPr/>
          <p:nvPr/>
        </p:nvSpPr>
        <p:spPr>
          <a:xfrm>
            <a:off x="868680" y="2935224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step-4-dot"/>
          <p:cNvSpPr/>
          <p:nvPr/>
        </p:nvSpPr>
        <p:spPr>
          <a:xfrm>
            <a:off x="667512" y="3108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tep-4-n"/>
          <p:cNvSpPr txBox="1"/>
          <p:nvPr/>
        </p:nvSpPr>
        <p:spPr>
          <a:xfrm>
            <a:off x="667512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tep-4-text"/>
          <p:cNvSpPr txBox="1"/>
          <p:nvPr/>
        </p:nvSpPr>
        <p:spPr>
          <a:xfrm>
            <a:off x="1216152" y="30723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обновляет карту, маршрут и запас на возврат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526280" y="124358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заряда вырос: вероятности объяснений</a:t>
            </a:r>
            <a:endParaRPr lang="en-US" sz="1050" dirty="0"/>
          </a:p>
        </p:txBody>
      </p:sp>
      <p:graphicFrame>
        <p:nvGraphicFramePr>
          <p:cNvPr id="21" name="inquiry-chart" descr="Вероятности четырёх объяснений до и после опыта: «грунт стал дороже» — с 47 до 100 процентов"/>
          <p:cNvGraphicFramePr/>
          <p:nvPr/>
        </p:nvGraphicFramePr>
        <p:xfrm>
          <a:off x="4434840" y="1463040"/>
          <a:ext cx="4041648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metric-1"/>
          <p:cNvSpPr/>
          <p:nvPr/>
        </p:nvSpPr>
        <p:spPr>
          <a:xfrm>
            <a:off x="667512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/>
        </p:spPr>
      </p:sp>
      <p:sp>
        <p:nvSpPr>
          <p:cNvPr id="23" name="metric-1-value"/>
          <p:cNvSpPr txBox="1"/>
          <p:nvPr/>
        </p:nvSpPr>
        <p:spPr>
          <a:xfrm>
            <a:off x="923544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700" dirty="0"/>
          </a:p>
        </p:txBody>
      </p:sp>
      <p:sp>
        <p:nvSpPr>
          <p:cNvPr id="24" name="metric-1-label"/>
          <p:cNvSpPr txBox="1"/>
          <p:nvPr/>
        </p:nvSpPr>
        <p:spPr>
          <a:xfrm>
            <a:off x="2148840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которые робот счёл подтверждёнными, верны по скрытой правде</a:t>
            </a:r>
            <a:endParaRPr lang="en-US" sz="950" dirty="0"/>
          </a:p>
        </p:txBody>
      </p:sp>
      <p:sp>
        <p:nvSpPr>
          <p:cNvPr id="25" name="metric-2"/>
          <p:cNvSpPr/>
          <p:nvPr/>
        </p:nvSpPr>
        <p:spPr>
          <a:xfrm>
            <a:off x="4654296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/>
        </p:spPr>
      </p:sp>
      <p:sp>
        <p:nvSpPr>
          <p:cNvPr id="26" name="metric-2-value"/>
          <p:cNvSpPr txBox="1"/>
          <p:nvPr/>
        </p:nvSpPr>
        <p:spPr>
          <a:xfrm>
            <a:off x="4910328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6–7 раз</a:t>
            </a:r>
            <a:endParaRPr lang="en-US" sz="1700" dirty="0"/>
          </a:p>
        </p:txBody>
      </p:sp>
      <p:sp>
        <p:nvSpPr>
          <p:cNvPr id="27" name="metric-2-label"/>
          <p:cNvSpPr txBox="1"/>
          <p:nvPr/>
        </p:nvSpPr>
        <p:spPr>
          <a:xfrm>
            <a:off x="6135624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меньше заряда на опыт, чем при случайном выборе опыта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модель: задание словами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и тот же робот; подцели выбирает правило или языковая модель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296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Миссия: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заезжай в правую половину арены: работай только в левой»</a:t>
            </a:r>
            <a:endParaRPr lang="en-US" sz="1200" dirty="0"/>
          </a:p>
        </p:txBody>
      </p:sp>
      <p:pic>
        <p:nvPicPr>
          <p:cNvPr id="7" name="pair_llm_zone" descr="Две карты одной арены с запретной правой половиной: робот с правилом заезжает в неё, робот с языковой моделью остаётся в лев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0784"/>
            <a:ext cx="5029200" cy="2286279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713232" y="4032783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заехал в запретную половину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3273552" y="4032783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языковой моделью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остался в разрешённой: 3 из 3 образцов там</a:t>
            </a:r>
            <a:endParaRPr lang="en-US" sz="1100" dirty="0"/>
          </a:p>
        </p:txBody>
      </p:sp>
      <p:sp>
        <p:nvSpPr>
          <p:cNvPr id="10" name="stat-circle"/>
          <p:cNvSpPr/>
          <p:nvPr/>
        </p:nvSpPr>
        <p:spPr>
          <a:xfrm>
            <a:off x="6053328" y="1737360"/>
            <a:ext cx="2286000" cy="22860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tat-value"/>
          <p:cNvSpPr txBox="1"/>
          <p:nvPr/>
        </p:nvSpPr>
        <p:spPr>
          <a:xfrm>
            <a:off x="6053328" y="22128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из 12</a:t>
            </a:r>
            <a:endParaRPr lang="en-US" sz="3000" dirty="0"/>
          </a:p>
        </p:txBody>
      </p:sp>
      <p:sp>
        <p:nvSpPr>
          <p:cNvPr id="12" name="stat-lines"/>
          <p:cNvSpPr txBox="1"/>
          <p:nvPr/>
        </p:nvSpPr>
        <p:spPr>
          <a:xfrm>
            <a:off x="6236208" y="277977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с этой миссией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выполняет модель;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— 0 из 12</a:t>
            </a:r>
            <a:endParaRPr lang="en-US" sz="1000" dirty="0"/>
          </a:p>
        </p:txBody>
      </p:sp>
      <p:sp>
        <p:nvSpPr>
          <p:cNvPr id="13" name="llm-note"/>
          <p:cNvSpPr txBox="1"/>
          <p:nvPr/>
        </p:nvSpPr>
        <p:spPr>
          <a:xfrm>
            <a:off x="5852160" y="411480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не учитывается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80160"/>
            <a:ext cx="0" cy="237744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801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801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801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28750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6931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5773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Пережидает сбой датчика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5773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5773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25930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66649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8745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8745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8745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23110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196367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17170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17170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17170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320290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26085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46888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Помнит лабораторию: второй прогон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46888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[+2,4; +6,3]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46888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6454201" y="2617470"/>
            <a:ext cx="41367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596299" y="255803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7660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7660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7660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ci"/>
          <p:cNvSpPr/>
          <p:nvPr/>
        </p:nvSpPr>
        <p:spPr>
          <a:xfrm>
            <a:off x="5817779" y="2914650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1" name="res-6-dot"/>
          <p:cNvSpPr/>
          <p:nvPr/>
        </p:nvSpPr>
        <p:spPr>
          <a:xfrm>
            <a:off x="6246266" y="285521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res-7-label"/>
          <p:cNvSpPr txBox="1"/>
          <p:nvPr/>
        </p:nvSpPr>
        <p:spPr>
          <a:xfrm>
            <a:off x="667512" y="30632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43" name="res-7-value"/>
          <p:cNvSpPr txBox="1"/>
          <p:nvPr/>
        </p:nvSpPr>
        <p:spPr>
          <a:xfrm>
            <a:off x="3611880" y="30632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44" name="res-7-mark"/>
          <p:cNvSpPr txBox="1"/>
          <p:nvPr/>
        </p:nvSpPr>
        <p:spPr>
          <a:xfrm>
            <a:off x="5029200" y="30632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5" name="res-7-dot"/>
          <p:cNvSpPr/>
          <p:nvPr/>
        </p:nvSpPr>
        <p:spPr>
          <a:xfrm>
            <a:off x="6142317" y="315239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8-label"/>
          <p:cNvSpPr txBox="1"/>
          <p:nvPr/>
        </p:nvSpPr>
        <p:spPr>
          <a:xfrm>
            <a:off x="667512" y="33604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7" name="res-8-value"/>
          <p:cNvSpPr txBox="1"/>
          <p:nvPr/>
        </p:nvSpPr>
        <p:spPr>
          <a:xfrm>
            <a:off x="3611880" y="33604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8" name="res-8-mark"/>
          <p:cNvSpPr txBox="1"/>
          <p:nvPr/>
        </p:nvSpPr>
        <p:spPr>
          <a:xfrm>
            <a:off x="5029200" y="33604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9" name="res-8-ci"/>
          <p:cNvSpPr/>
          <p:nvPr/>
        </p:nvSpPr>
        <p:spPr>
          <a:xfrm>
            <a:off x="5913242" y="3509010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50" name="res-8-dot"/>
          <p:cNvSpPr/>
          <p:nvPr/>
        </p:nvSpPr>
        <p:spPr>
          <a:xfrm>
            <a:off x="6097768" y="344957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es-note"/>
          <p:cNvSpPr txBox="1"/>
          <p:nvPr/>
        </p:nvSpPr>
        <p:spPr>
          <a:xfrm>
            <a:off x="667512" y="3685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Опыты разные: числа не складывать. Смена грунта — разность разностей</a:t>
            </a:r>
            <a:endParaRPr lang="en-US" sz="950" dirty="0"/>
          </a:p>
        </p:txBody>
      </p:sp>
      <p:sp>
        <p:nvSpPr>
          <p:cNvPr id="52" name="tile-1"/>
          <p:cNvSpPr/>
          <p:nvPr/>
        </p:nvSpPr>
        <p:spPr>
          <a:xfrm>
            <a:off x="66751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/>
        </p:spPr>
      </p:sp>
      <p:sp>
        <p:nvSpPr>
          <p:cNvPr id="53" name="tile-1-value"/>
          <p:cNvSpPr txBox="1"/>
          <p:nvPr/>
        </p:nvSpPr>
        <p:spPr>
          <a:xfrm>
            <a:off x="89611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 · Gazebo</a:t>
            </a:r>
            <a:endParaRPr lang="en-US" sz="1400" dirty="0"/>
          </a:p>
        </p:txBody>
      </p:sp>
      <p:sp>
        <p:nvSpPr>
          <p:cNvPr id="54" name="tile-1-label"/>
          <p:cNvSpPr txBox="1"/>
          <p:nvPr/>
        </p:nvSpPr>
        <p:spPr>
          <a:xfrm>
            <a:off x="89611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засчитанных прогонов показа: 7 из 7 образцов, без штрафов</a:t>
            </a:r>
            <a:endParaRPr lang="en-US" sz="900" dirty="0"/>
          </a:p>
        </p:txBody>
      </p:sp>
      <p:sp>
        <p:nvSpPr>
          <p:cNvPr id="55" name="tile-2"/>
          <p:cNvSpPr/>
          <p:nvPr/>
        </p:nvSpPr>
        <p:spPr>
          <a:xfrm>
            <a:off x="331927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2"/>
          </a:solidFill>
          <a:ln/>
        </p:spPr>
      </p:sp>
      <p:sp>
        <p:nvSpPr>
          <p:cNvPr id="56" name="tile-2-value"/>
          <p:cNvSpPr txBox="1"/>
          <p:nvPr/>
        </p:nvSpPr>
        <p:spPr>
          <a:xfrm>
            <a:off x="354787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400" dirty="0"/>
          </a:p>
        </p:txBody>
      </p:sp>
      <p:sp>
        <p:nvSpPr>
          <p:cNvPr id="57" name="tile-2-label"/>
          <p:cNvSpPr txBox="1"/>
          <p:nvPr/>
        </p:nvSpPr>
        <p:spPr>
          <a:xfrm>
            <a:off x="354787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8" name="tile-3"/>
          <p:cNvSpPr/>
          <p:nvPr/>
        </p:nvSpPr>
        <p:spPr>
          <a:xfrm>
            <a:off x="597103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3"/>
          </a:solidFill>
          <a:ln/>
        </p:spPr>
      </p:sp>
      <p:sp>
        <p:nvSpPr>
          <p:cNvPr id="59" name="tile-3-value"/>
          <p:cNvSpPr txBox="1"/>
          <p:nvPr/>
        </p:nvSpPr>
        <p:spPr>
          <a:xfrm>
            <a:off x="619963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60" name="tile-3-label"/>
          <p:cNvSpPr txBox="1"/>
          <p:nvPr/>
        </p:nvSpPr>
        <p:spPr>
          <a:xfrm>
            <a:off x="619963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роботом гипотез верны (базовые правила)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Дополнительные треки: все пять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 по каждому треку условия и на каком слайде это показано</a:t>
            </a:r>
            <a:endParaRPr lang="en-US" sz="1150" dirty="0"/>
          </a:p>
        </p:txBody>
      </p:sp>
      <p:sp>
        <p:nvSpPr>
          <p:cNvPr id="5" name="track-1-pill"/>
          <p:cNvSpPr/>
          <p:nvPr/>
        </p:nvSpPr>
        <p:spPr>
          <a:xfrm>
            <a:off x="667512" y="1280160"/>
            <a:ext cx="7808976" cy="5669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track-1-done"/>
          <p:cNvSpPr/>
          <p:nvPr/>
        </p:nvSpPr>
        <p:spPr>
          <a:xfrm>
            <a:off x="850392" y="1463040"/>
            <a:ext cx="201168" cy="201168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" name="track-1-text"/>
          <p:cNvSpPr txBox="1"/>
          <p:nvPr/>
        </p:nvSpPr>
        <p:spPr>
          <a:xfrm>
            <a:off x="1234440" y="128016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Лучший «научный» агент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 со статусами, опыты и сверка журнала со скрытой правдой</a:t>
            </a:r>
            <a:endParaRPr lang="en-US" sz="1100" dirty="0"/>
          </a:p>
        </p:txBody>
      </p:sp>
      <p:sp>
        <p:nvSpPr>
          <p:cNvPr id="8" name="track-1-where"/>
          <p:cNvSpPr txBox="1"/>
          <p:nvPr/>
        </p:nvSpPr>
        <p:spPr>
          <a:xfrm>
            <a:off x="6949440" y="12801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слайды 10 и 14</a:t>
            </a:r>
            <a:endParaRPr lang="en-US" sz="1000" dirty="0"/>
          </a:p>
        </p:txBody>
      </p:sp>
      <p:sp>
        <p:nvSpPr>
          <p:cNvPr id="9" name="track-2-pill"/>
          <p:cNvSpPr/>
          <p:nvPr/>
        </p:nvSpPr>
        <p:spPr>
          <a:xfrm>
            <a:off x="667512" y="1938528"/>
            <a:ext cx="7808976" cy="5669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0" name="track-2-done"/>
          <p:cNvSpPr/>
          <p:nvPr/>
        </p:nvSpPr>
        <p:spPr>
          <a:xfrm>
            <a:off x="850392" y="2121408"/>
            <a:ext cx="201168" cy="201168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" name="track-2-text"/>
          <p:cNvSpPr txBox="1"/>
          <p:nvPr/>
        </p:nvSpPr>
        <p:spPr>
          <a:xfrm>
            <a:off x="1234440" y="1938528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через SLAM Toolbox; начало координат совпадает с мировым</a:t>
            </a:r>
            <a:endParaRPr lang="en-US" sz="1100" dirty="0"/>
          </a:p>
        </p:txBody>
      </p:sp>
      <p:sp>
        <p:nvSpPr>
          <p:cNvPr id="12" name="track-2-where"/>
          <p:cNvSpPr txBox="1"/>
          <p:nvPr/>
        </p:nvSpPr>
        <p:spPr>
          <a:xfrm>
            <a:off x="6949440" y="19385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слайд 15</a:t>
            </a:r>
            <a:endParaRPr lang="en-US" sz="1000" dirty="0"/>
          </a:p>
        </p:txBody>
      </p:sp>
      <p:sp>
        <p:nvSpPr>
          <p:cNvPr id="13" name="track-3-pill"/>
          <p:cNvSpPr/>
          <p:nvPr/>
        </p:nvSpPr>
        <p:spPr>
          <a:xfrm>
            <a:off x="667512" y="2596896"/>
            <a:ext cx="7808976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4" name="track-3-done"/>
          <p:cNvSpPr/>
          <p:nvPr/>
        </p:nvSpPr>
        <p:spPr>
          <a:xfrm>
            <a:off x="850392" y="2779776"/>
            <a:ext cx="201168" cy="201168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track-3-text"/>
          <p:cNvSpPr txBox="1"/>
          <p:nvPr/>
        </p:nvSpPr>
        <p:spPr>
          <a:xfrm>
            <a:off x="1234440" y="2596896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Мультиагентный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делят арену и координируются сообщениями</a:t>
            </a:r>
            <a:endParaRPr lang="en-US" sz="1100" dirty="0"/>
          </a:p>
        </p:txBody>
      </p:sp>
      <p:sp>
        <p:nvSpPr>
          <p:cNvPr id="16" name="track-3-where"/>
          <p:cNvSpPr txBox="1"/>
          <p:nvPr/>
        </p:nvSpPr>
        <p:spPr>
          <a:xfrm>
            <a:off x="6949440" y="259689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слайд 16</a:t>
            </a:r>
            <a:endParaRPr lang="en-US" sz="1000" dirty="0"/>
          </a:p>
        </p:txBody>
      </p:sp>
      <p:sp>
        <p:nvSpPr>
          <p:cNvPr id="17" name="track-4-pill"/>
          <p:cNvSpPr/>
          <p:nvPr/>
        </p:nvSpPr>
        <p:spPr>
          <a:xfrm>
            <a:off x="667512" y="3255264"/>
            <a:ext cx="7808976" cy="5669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" name="track-4-done"/>
          <p:cNvSpPr/>
          <p:nvPr/>
        </p:nvSpPr>
        <p:spPr>
          <a:xfrm>
            <a:off x="850392" y="3438144"/>
            <a:ext cx="201168" cy="201168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9" name="track-4-text"/>
          <p:cNvSpPr txBox="1"/>
          <p:nvPr/>
        </p:nvSpPr>
        <p:spPr>
          <a:xfrm>
            <a:off x="1234440" y="325526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Лучшее использование ассистента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своих скилла: исследование, опыт, ревью</a:t>
            </a:r>
            <a:endParaRPr lang="en-US" sz="1100" dirty="0"/>
          </a:p>
        </p:txBody>
      </p:sp>
      <p:sp>
        <p:nvSpPr>
          <p:cNvPr id="20" name="track-4-where"/>
          <p:cNvSpPr txBox="1"/>
          <p:nvPr/>
        </p:nvSpPr>
        <p:spPr>
          <a:xfrm>
            <a:off x="6949440" y="32552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слайд 17</a:t>
            </a:r>
            <a:endParaRPr lang="en-US" sz="1000" dirty="0"/>
          </a:p>
        </p:txBody>
      </p:sp>
      <p:sp>
        <p:nvSpPr>
          <p:cNvPr id="21" name="track-5-pill"/>
          <p:cNvSpPr/>
          <p:nvPr/>
        </p:nvSpPr>
        <p:spPr>
          <a:xfrm>
            <a:off x="667512" y="3913632"/>
            <a:ext cx="7808976" cy="5669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track-5-done"/>
          <p:cNvSpPr/>
          <p:nvPr/>
        </p:nvSpPr>
        <p:spPr>
          <a:xfrm>
            <a:off x="850392" y="4096512"/>
            <a:ext cx="201168" cy="201168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3" name="track-5-text"/>
          <p:cNvSpPr txBox="1"/>
          <p:nvPr/>
        </p:nvSpPr>
        <p:spPr>
          <a:xfrm>
            <a:off x="1234440" y="3913632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мечты с AI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код, опыты и отчёты сделаны через агентов; цикл разработки и логи</a:t>
            </a:r>
            <a:endParaRPr lang="en-US" sz="1100" dirty="0"/>
          </a:p>
        </p:txBody>
      </p:sp>
      <p:sp>
        <p:nvSpPr>
          <p:cNvPr id="24" name="track-5-where"/>
          <p:cNvSpPr txBox="1"/>
          <p:nvPr/>
        </p:nvSpPr>
        <p:spPr>
          <a:xfrm>
            <a:off x="6949440" y="39136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слайды 18–19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агент: журнал гипотез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одного прогона в Gazebo (сценарий показа): у каждой гипотезы — проверка и итог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sp>
        <p:nvSpPr>
          <p:cNvPr id="6" name="journal-head-1"/>
          <p:cNvSpPr txBox="1"/>
          <p:nvPr/>
        </p:nvSpPr>
        <p:spPr>
          <a:xfrm>
            <a:off x="667512" y="124358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</a:t>
            </a:r>
            <a:endParaRPr lang="en-US" sz="950" dirty="0"/>
          </a:p>
        </p:txBody>
      </p:sp>
      <p:sp>
        <p:nvSpPr>
          <p:cNvPr id="7" name="journal-head-2"/>
          <p:cNvSpPr txBox="1"/>
          <p:nvPr/>
        </p:nvSpPr>
        <p:spPr>
          <a:xfrm>
            <a:off x="1298448" y="12435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робота</a:t>
            </a:r>
            <a:endParaRPr lang="en-US" sz="950" dirty="0"/>
          </a:p>
        </p:txBody>
      </p:sp>
      <p:sp>
        <p:nvSpPr>
          <p:cNvPr id="8" name="journal-head-3"/>
          <p:cNvSpPr txBox="1"/>
          <p:nvPr/>
        </p:nvSpPr>
        <p:spPr>
          <a:xfrm>
            <a:off x="4206240" y="12435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проверил</a:t>
            </a:r>
            <a:endParaRPr lang="en-US" sz="950" dirty="0"/>
          </a:p>
        </p:txBody>
      </p:sp>
      <p:sp>
        <p:nvSpPr>
          <p:cNvPr id="9" name="journal-head-4"/>
          <p:cNvSpPr txBox="1"/>
          <p:nvPr/>
        </p:nvSpPr>
        <p:spPr>
          <a:xfrm>
            <a:off x="6583680" y="124358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</a:t>
            </a:r>
            <a:endParaRPr lang="en-US" sz="950" dirty="0"/>
          </a:p>
        </p:txBody>
      </p:sp>
      <p:sp>
        <p:nvSpPr>
          <p:cNvPr id="10" name="journal-1-rule"/>
          <p:cNvSpPr/>
          <p:nvPr/>
        </p:nvSpPr>
        <p:spPr>
          <a:xfrm>
            <a:off x="667512" y="14996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1" name="journal-1-t"/>
          <p:cNvSpPr txBox="1"/>
          <p:nvPr/>
        </p:nvSpPr>
        <p:spPr>
          <a:xfrm>
            <a:off x="667512" y="14996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с</a:t>
            </a:r>
            <a:endParaRPr lang="en-US" sz="1050" dirty="0"/>
          </a:p>
        </p:txBody>
      </p:sp>
      <p:sp>
        <p:nvSpPr>
          <p:cNvPr id="12" name="journal-1-hyp"/>
          <p:cNvSpPr txBox="1"/>
          <p:nvPr/>
        </p:nvSpPr>
        <p:spPr>
          <a:xfrm>
            <a:off x="1298448" y="14996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образец лежит около (−2,4; 0,5)</a:t>
            </a:r>
            <a:endParaRPr lang="en-US" sz="1000" dirty="0"/>
          </a:p>
        </p:txBody>
      </p:sp>
      <p:sp>
        <p:nvSpPr>
          <p:cNvPr id="13" name="journal-1-test"/>
          <p:cNvSpPr txBox="1"/>
          <p:nvPr/>
        </p:nvSpPr>
        <p:spPr>
          <a:xfrm>
            <a:off x="4206240" y="14996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подъехать вплотную и попробовать собрать</a:t>
            </a:r>
            <a:endParaRPr lang="en-US" sz="1000" dirty="0"/>
          </a:p>
        </p:txBody>
      </p:sp>
      <p:sp>
        <p:nvSpPr>
          <p:cNvPr id="14" name="journal-1-dot"/>
          <p:cNvSpPr/>
          <p:nvPr/>
        </p:nvSpPr>
        <p:spPr>
          <a:xfrm>
            <a:off x="6583680" y="16642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journal-1-verdict"/>
          <p:cNvSpPr txBox="1"/>
          <p:nvPr/>
        </p:nvSpPr>
        <p:spPr>
          <a:xfrm>
            <a:off x="6784848" y="14996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образец собран</a:t>
            </a:r>
            <a:endParaRPr lang="en-US" sz="1000" dirty="0"/>
          </a:p>
        </p:txBody>
      </p:sp>
      <p:sp>
        <p:nvSpPr>
          <p:cNvPr id="16" name="journal-2-rule"/>
          <p:cNvSpPr/>
          <p:nvPr/>
        </p:nvSpPr>
        <p:spPr>
          <a:xfrm>
            <a:off x="667512" y="19568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7" name="journal-2-t"/>
          <p:cNvSpPr txBox="1"/>
          <p:nvPr/>
        </p:nvSpPr>
        <p:spPr>
          <a:xfrm>
            <a:off x="667512" y="19568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с</a:t>
            </a:r>
            <a:endParaRPr lang="en-US" sz="1050" dirty="0"/>
          </a:p>
        </p:txBody>
      </p:sp>
      <p:sp>
        <p:nvSpPr>
          <p:cNvPr id="18" name="journal-2-hyp"/>
          <p:cNvSpPr txBox="1"/>
          <p:nvPr/>
        </p:nvSpPr>
        <p:spPr>
          <a:xfrm>
            <a:off x="1298448" y="19568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вырос: грунт стал дороже, утечка заряда или дорогие повороты?</a:t>
            </a:r>
            <a:endParaRPr lang="en-US" sz="1000" dirty="0"/>
          </a:p>
        </p:txBody>
      </p:sp>
      <p:sp>
        <p:nvSpPr>
          <p:cNvPr id="19" name="journal-2-test"/>
          <p:cNvSpPr txBox="1"/>
          <p:nvPr/>
        </p:nvSpPr>
        <p:spPr>
          <a:xfrm>
            <a:off x="4206240" y="19568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расход</a:t>
            </a:r>
            <a:endParaRPr lang="en-US" sz="1000" dirty="0"/>
          </a:p>
        </p:txBody>
      </p:sp>
      <p:sp>
        <p:nvSpPr>
          <p:cNvPr id="20" name="journal-2-dot"/>
          <p:cNvSpPr/>
          <p:nvPr/>
        </p:nvSpPr>
        <p:spPr>
          <a:xfrm>
            <a:off x="6583680" y="21214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1" name="journal-2-verdict"/>
          <p:cNvSpPr txBox="1"/>
          <p:nvPr/>
        </p:nvSpPr>
        <p:spPr>
          <a:xfrm>
            <a:off x="6784848" y="19568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стал дороже — 99,8%</a:t>
            </a:r>
            <a:endParaRPr lang="en-US" sz="1000" dirty="0"/>
          </a:p>
        </p:txBody>
      </p:sp>
      <p:sp>
        <p:nvSpPr>
          <p:cNvPr id="22" name="journal-3-rule"/>
          <p:cNvSpPr/>
          <p:nvPr/>
        </p:nvSpPr>
        <p:spPr>
          <a:xfrm>
            <a:off x="667512" y="24140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3" name="journal-3-t"/>
          <p:cNvSpPr txBox="1"/>
          <p:nvPr/>
        </p:nvSpPr>
        <p:spPr>
          <a:xfrm>
            <a:off x="667512" y="24140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с</a:t>
            </a:r>
            <a:endParaRPr lang="en-US" sz="1050" dirty="0"/>
          </a:p>
        </p:txBody>
      </p:sp>
      <p:sp>
        <p:nvSpPr>
          <p:cNvPr id="24" name="journal-3-hyp"/>
          <p:cNvSpPr txBox="1"/>
          <p:nvPr/>
        </p:nvSpPr>
        <p:spPr>
          <a:xfrm>
            <a:off x="1298448" y="24140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(0,5; 1,3) грунт дороже обычного в 2,6 раза</a:t>
            </a:r>
            <a:endParaRPr lang="en-US" sz="1000" dirty="0"/>
          </a:p>
        </p:txBody>
      </p:sp>
      <p:sp>
        <p:nvSpPr>
          <p:cNvPr id="25" name="journal-3-test"/>
          <p:cNvSpPr txBox="1"/>
          <p:nvPr/>
        </p:nvSpPr>
        <p:spPr>
          <a:xfrm>
            <a:off x="4206240" y="2414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26" name="journal-3-dot"/>
          <p:cNvSpPr/>
          <p:nvPr/>
        </p:nvSpPr>
        <p:spPr>
          <a:xfrm>
            <a:off x="6583680" y="2578608"/>
            <a:ext cx="128016" cy="128016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7" name="journal-3-verdict"/>
          <p:cNvSpPr txBox="1"/>
          <p:nvPr/>
        </p:nvSpPr>
        <p:spPr>
          <a:xfrm>
            <a:off x="6784848" y="24140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осталась открытой</a:t>
            </a:r>
            <a:endParaRPr lang="en-US" sz="1000" dirty="0"/>
          </a:p>
        </p:txBody>
      </p:sp>
      <p:sp>
        <p:nvSpPr>
          <p:cNvPr id="28" name="journal-4-rule"/>
          <p:cNvSpPr/>
          <p:nvPr/>
        </p:nvSpPr>
        <p:spPr>
          <a:xfrm>
            <a:off x="667512" y="28712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9" name="journal-4-t"/>
          <p:cNvSpPr txBox="1"/>
          <p:nvPr/>
        </p:nvSpPr>
        <p:spPr>
          <a:xfrm>
            <a:off x="667512" y="28712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с</a:t>
            </a:r>
            <a:endParaRPr lang="en-US" sz="1050" dirty="0"/>
          </a:p>
        </p:txBody>
      </p:sp>
      <p:sp>
        <p:nvSpPr>
          <p:cNvPr id="30" name="journal-4-hyp"/>
          <p:cNvSpPr txBox="1"/>
          <p:nvPr/>
        </p:nvSpPr>
        <p:spPr>
          <a:xfrm>
            <a:off x="1298448" y="28712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разброс датчика вырос: шум, залипание или смещение?</a:t>
            </a:r>
            <a:endParaRPr lang="en-US" sz="1000" dirty="0"/>
          </a:p>
        </p:txBody>
      </p:sp>
      <p:sp>
        <p:nvSpPr>
          <p:cNvPr id="31" name="journal-4-test"/>
          <p:cNvSpPr txBox="1"/>
          <p:nvPr/>
        </p:nvSpPr>
        <p:spPr>
          <a:xfrm>
            <a:off x="4206240" y="2871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разброс</a:t>
            </a:r>
            <a:endParaRPr lang="en-US" sz="1000" dirty="0"/>
          </a:p>
        </p:txBody>
      </p:sp>
      <p:sp>
        <p:nvSpPr>
          <p:cNvPr id="32" name="journal-4-dot"/>
          <p:cNvSpPr/>
          <p:nvPr/>
        </p:nvSpPr>
        <p:spPr>
          <a:xfrm>
            <a:off x="6583680" y="30358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3" name="journal-4-verdict"/>
          <p:cNvSpPr txBox="1"/>
          <p:nvPr/>
        </p:nvSpPr>
        <p:spPr>
          <a:xfrm>
            <a:off x="6784848" y="28712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датчика — 96%</a:t>
            </a:r>
            <a:endParaRPr lang="en-US" sz="1000" dirty="0"/>
          </a:p>
        </p:txBody>
      </p:sp>
      <p:sp>
        <p:nvSpPr>
          <p:cNvPr id="34" name="journal-5-rule"/>
          <p:cNvSpPr/>
          <p:nvPr/>
        </p:nvSpPr>
        <p:spPr>
          <a:xfrm>
            <a:off x="667512" y="33284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journal-5-t"/>
          <p:cNvSpPr txBox="1"/>
          <p:nvPr/>
        </p:nvSpPr>
        <p:spPr>
          <a:xfrm>
            <a:off x="667512" y="33284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 с</a:t>
            </a:r>
            <a:endParaRPr lang="en-US" sz="1050" dirty="0"/>
          </a:p>
        </p:txBody>
      </p:sp>
      <p:sp>
        <p:nvSpPr>
          <p:cNvPr id="36" name="journal-5-hyp"/>
          <p:cNvSpPr txBox="1"/>
          <p:nvPr/>
        </p:nvSpPr>
        <p:spPr>
          <a:xfrm>
            <a:off x="1298448" y="33284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(0,9; −1,8) грунт дороже обычного в 2,8 раза</a:t>
            </a:r>
            <a:endParaRPr lang="en-US" sz="1000" dirty="0"/>
          </a:p>
        </p:txBody>
      </p:sp>
      <p:sp>
        <p:nvSpPr>
          <p:cNvPr id="37" name="journal-5-test"/>
          <p:cNvSpPr txBox="1"/>
          <p:nvPr/>
        </p:nvSpPr>
        <p:spPr>
          <a:xfrm>
            <a:off x="4206240" y="33284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38" name="journal-5-dot"/>
          <p:cNvSpPr/>
          <p:nvPr/>
        </p:nvSpPr>
        <p:spPr>
          <a:xfrm>
            <a:off x="6583680" y="34930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9" name="journal-5-verdict"/>
          <p:cNvSpPr txBox="1"/>
          <p:nvPr/>
        </p:nvSpPr>
        <p:spPr>
          <a:xfrm>
            <a:off x="6784848" y="33284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расход ×3,5</a:t>
            </a:r>
            <a:endParaRPr lang="en-US" sz="1000" dirty="0"/>
          </a:p>
        </p:txBody>
      </p:sp>
      <p:sp>
        <p:nvSpPr>
          <p:cNvPr id="40" name="journal-tile-1"/>
          <p:cNvSpPr/>
          <p:nvPr/>
        </p:nvSpPr>
        <p:spPr>
          <a:xfrm>
            <a:off x="66751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1"/>
          </a:solidFill>
          <a:ln/>
        </p:spPr>
      </p:sp>
      <p:sp>
        <p:nvSpPr>
          <p:cNvPr id="41" name="journal-tile-1-value"/>
          <p:cNvSpPr txBox="1"/>
          <p:nvPr/>
        </p:nvSpPr>
        <p:spPr>
          <a:xfrm>
            <a:off x="89611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гипотез за прогон</a:t>
            </a:r>
            <a:endParaRPr lang="en-US" sz="1400" dirty="0"/>
          </a:p>
        </p:txBody>
      </p:sp>
      <p:sp>
        <p:nvSpPr>
          <p:cNvPr id="42" name="journal-tile-1-label"/>
          <p:cNvSpPr txBox="1"/>
          <p:nvPr/>
        </p:nvSpPr>
        <p:spPr>
          <a:xfrm>
            <a:off x="89611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подтверждены, 3 остались открытыми</a:t>
            </a:r>
            <a:endParaRPr lang="en-US" sz="900" dirty="0"/>
          </a:p>
        </p:txBody>
      </p:sp>
      <p:sp>
        <p:nvSpPr>
          <p:cNvPr id="43" name="journal-tile-2"/>
          <p:cNvSpPr/>
          <p:nvPr/>
        </p:nvSpPr>
        <p:spPr>
          <a:xfrm>
            <a:off x="331927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2"/>
          </a:solidFill>
          <a:ln/>
        </p:spPr>
      </p:sp>
      <p:sp>
        <p:nvSpPr>
          <p:cNvPr id="44" name="journal-tile-2-value"/>
          <p:cNvSpPr txBox="1"/>
          <p:nvPr/>
        </p:nvSpPr>
        <p:spPr>
          <a:xfrm>
            <a:off x="354787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расследования</a:t>
            </a:r>
            <a:endParaRPr lang="en-US" sz="1400" dirty="0"/>
          </a:p>
        </p:txBody>
      </p:sp>
      <p:sp>
        <p:nvSpPr>
          <p:cNvPr id="45" name="journal-tile-2-label"/>
          <p:cNvSpPr txBox="1"/>
          <p:nvPr/>
        </p:nvSpPr>
        <p:spPr>
          <a:xfrm>
            <a:off x="354787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 выбран по информации на единицу заряда</a:t>
            </a:r>
            <a:endParaRPr lang="en-US" sz="900" dirty="0"/>
          </a:p>
        </p:txBody>
      </p:sp>
      <p:sp>
        <p:nvSpPr>
          <p:cNvPr id="46" name="journal-tile-3"/>
          <p:cNvSpPr/>
          <p:nvPr/>
        </p:nvSpPr>
        <p:spPr>
          <a:xfrm>
            <a:off x="597103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3"/>
          </a:solidFill>
          <a:ln/>
        </p:spPr>
      </p:sp>
      <p:sp>
        <p:nvSpPr>
          <p:cNvPr id="47" name="journal-tile-3-value"/>
          <p:cNvSpPr txBox="1"/>
          <p:nvPr/>
        </p:nvSpPr>
        <p:spPr>
          <a:xfrm>
            <a:off x="619963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48" name="journal-tile-3-label"/>
          <p:cNvSpPr txBox="1"/>
          <p:nvPr/>
        </p:nvSpPr>
        <p:spPr>
          <a:xfrm>
            <a:off x="619963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гипотез верны по скрытой правде (серии прогонов)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Готовая карта роботу не даётся: он строит её через SLAM Toolbox, едет по ней и выполняет миссию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pic>
        <p:nvPicPr>
          <p:cNvPr id="6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50496"/>
          </a:xfrm>
          <a:prstGeom prst="rect">
            <a:avLst/>
          </a:prstGeom>
        </p:spPr>
      </p:pic>
      <p:sp>
        <p:nvSpPr>
          <p:cNvPr id="7" name="slam-cap"/>
          <p:cNvSpPr txBox="1"/>
          <p:nvPr/>
        </p:nvSpPr>
        <p:spPr>
          <a:xfrm>
            <a:off x="667512" y="3885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Карта, которую построил робот; кружки — места девяти столбов мира</a:t>
            </a:r>
            <a:endParaRPr lang="en-US" sz="950" dirty="0"/>
          </a:p>
        </p:txBody>
      </p:sp>
      <p:sp>
        <p:nvSpPr>
          <p:cNvPr id="8" name="slam-stat-1"/>
          <p:cNvSpPr/>
          <p:nvPr/>
        </p:nvSpPr>
        <p:spPr>
          <a:xfrm>
            <a:off x="3886200" y="1298448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9" name="slam-stat-1-value"/>
          <p:cNvSpPr txBox="1"/>
          <p:nvPr/>
        </p:nvSpPr>
        <p:spPr>
          <a:xfrm>
            <a:off x="4114800" y="129844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95,8–98,7%</a:t>
            </a:r>
            <a:endParaRPr lang="en-US" sz="1700" dirty="0"/>
          </a:p>
        </p:txBody>
      </p:sp>
      <p:sp>
        <p:nvSpPr>
          <p:cNvPr id="10" name="slam-stat-1-label"/>
          <p:cNvSpPr txBox="1"/>
          <p:nvPr/>
        </p:nvSpPr>
        <p:spPr>
          <a:xfrm>
            <a:off x="5760720" y="1298448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клеток карты совпало с готовой</a:t>
            </a:r>
            <a:endParaRPr lang="en-US" sz="1000" dirty="0"/>
          </a:p>
        </p:txBody>
      </p:sp>
      <p:sp>
        <p:nvSpPr>
          <p:cNvPr id="11" name="slam-stat-2"/>
          <p:cNvSpPr/>
          <p:nvPr/>
        </p:nvSpPr>
        <p:spPr>
          <a:xfrm>
            <a:off x="3886200" y="2084832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12" name="slam-stat-2-value"/>
          <p:cNvSpPr txBox="1"/>
          <p:nvPr/>
        </p:nvSpPr>
        <p:spPr>
          <a:xfrm>
            <a:off x="4114800" y="208483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9</a:t>
            </a:r>
            <a:endParaRPr lang="en-US" sz="1700" dirty="0"/>
          </a:p>
        </p:txBody>
      </p:sp>
      <p:sp>
        <p:nvSpPr>
          <p:cNvPr id="13" name="slam-stat-2-label"/>
          <p:cNvSpPr txBox="1"/>
          <p:nvPr/>
        </p:nvSpPr>
        <p:spPr>
          <a:xfrm>
            <a:off x="5760720" y="2084832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столбов найдено; ошибка места в среднем 1,5–5,7 см</a:t>
            </a:r>
            <a:endParaRPr lang="en-US" sz="1000" dirty="0"/>
          </a:p>
        </p:txBody>
      </p:sp>
      <p:sp>
        <p:nvSpPr>
          <p:cNvPr id="14" name="slam-stat-3"/>
          <p:cNvSpPr/>
          <p:nvPr/>
        </p:nvSpPr>
        <p:spPr>
          <a:xfrm>
            <a:off x="3886200" y="2871216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accent3"/>
          </a:solidFill>
          <a:ln/>
        </p:spPr>
      </p:sp>
      <p:sp>
        <p:nvSpPr>
          <p:cNvPr id="15" name="slam-stat-3-value"/>
          <p:cNvSpPr txBox="1"/>
          <p:nvPr/>
        </p:nvSpPr>
        <p:spPr>
          <a:xfrm>
            <a:off x="41148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1,5–5,2 см</a:t>
            </a:r>
            <a:endParaRPr lang="en-US" sz="1700" dirty="0"/>
          </a:p>
        </p:txBody>
      </p:sp>
      <p:sp>
        <p:nvSpPr>
          <p:cNvPr id="16" name="slam-stat-3-label"/>
          <p:cNvSpPr txBox="1"/>
          <p:nvPr/>
        </p:nvSpPr>
        <p:spPr>
          <a:xfrm>
            <a:off x="5760720" y="2871216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сдвиг начала координат относительно мирового; поворот до 1,3°</a:t>
            </a:r>
            <a:endParaRPr lang="en-US" sz="1000" dirty="0"/>
          </a:p>
        </p:txBody>
      </p:sp>
      <p:sp>
        <p:nvSpPr>
          <p:cNvPr id="17" name="slam-note"/>
          <p:cNvSpPr txBox="1"/>
          <p:nvPr/>
        </p:nvSpPr>
        <p:spPr>
          <a:xfrm>
            <a:off x="3886200" y="3712464"/>
            <a:ext cx="4590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Пять прогонов в Gazebo, столкновений нет. Если SLAM замолчал или прислал негодную карту, робот останавливается и пишет причину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Запуск: pixi run demo --slam-map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Мультиагентный: два робота с координацией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каждого своя батарея и датчик; роботы общаются только сообщениями и делят арену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pic>
        <p:nvPicPr>
          <p:cNvPr id="6" name="two_robots" descr="Пути двух роботов на одной арене: все пять образцов соб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30394"/>
          </a:xfrm>
          <a:prstGeom prst="rect">
            <a:avLst/>
          </a:prstGeom>
        </p:spPr>
      </p:pic>
      <p:sp>
        <p:nvSpPr>
          <p:cNvPr id="7" name="team-cap"/>
          <p:cNvSpPr txBox="1"/>
          <p:nvPr/>
        </p:nvSpPr>
        <p:spPr>
          <a:xfrm>
            <a:off x="667512" y="386541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из Gazebo: два TurtleBot3, 5 из 5 образцов, оба вернулись, 187 сообщений</a:t>
            </a:r>
            <a:endParaRPr lang="en-US" sz="950" dirty="0"/>
          </a:p>
        </p:txBody>
      </p:sp>
      <p:sp>
        <p:nvSpPr>
          <p:cNvPr id="8" name="msg-head"/>
          <p:cNvSpPr txBox="1"/>
          <p:nvPr/>
        </p:nvSpPr>
        <p:spPr>
          <a:xfrm>
            <a:off x="3886200" y="12618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Чем обмениваются</a:t>
            </a:r>
            <a:endParaRPr lang="en-US" sz="1050" dirty="0"/>
          </a:p>
        </p:txBody>
      </p:sp>
      <p:sp>
        <p:nvSpPr>
          <p:cNvPr id="9" name="msg-1"/>
          <p:cNvSpPr txBox="1"/>
          <p:nvPr/>
        </p:nvSpPr>
        <p:spPr>
          <a:xfrm>
            <a:off x="3886200" y="1536192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вероятностей</a:t>
            </a:r>
            <a:endParaRPr lang="en-US" sz="1050" dirty="0"/>
          </a:p>
        </p:txBody>
      </p:sp>
      <p:sp>
        <p:nvSpPr>
          <p:cNvPr id="10" name="msg-2"/>
          <p:cNvSpPr txBox="1"/>
          <p:nvPr/>
        </p:nvSpPr>
        <p:spPr>
          <a:xfrm>
            <a:off x="6217920" y="1536192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заявки на цели</a:t>
            </a:r>
            <a:endParaRPr lang="en-US" sz="1050" dirty="0"/>
          </a:p>
        </p:txBody>
      </p:sp>
      <p:sp>
        <p:nvSpPr>
          <p:cNvPr id="11" name="msg-3"/>
          <p:cNvSpPr txBox="1"/>
          <p:nvPr/>
        </p:nvSpPr>
        <p:spPr>
          <a:xfrm>
            <a:off x="3886200" y="1956816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 и опасные зоны</a:t>
            </a:r>
            <a:endParaRPr lang="en-US" sz="1050" dirty="0"/>
          </a:p>
        </p:txBody>
      </p:sp>
      <p:sp>
        <p:nvSpPr>
          <p:cNvPr id="12" name="msg-4"/>
          <p:cNvSpPr txBox="1"/>
          <p:nvPr/>
        </p:nvSpPr>
        <p:spPr>
          <a:xfrm>
            <a:off x="6217920" y="1956816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деление арены</a:t>
            </a:r>
            <a:endParaRPr lang="en-US" sz="1050" dirty="0"/>
          </a:p>
        </p:txBody>
      </p:sp>
      <p:sp>
        <p:nvSpPr>
          <p:cNvPr id="13" name="team-stat-1-value"/>
          <p:cNvSpPr txBox="1"/>
          <p:nvPr/>
        </p:nvSpPr>
        <p:spPr>
          <a:xfrm>
            <a:off x="3886200" y="25786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 с</a:t>
            </a:r>
            <a:endParaRPr lang="en-US" sz="2200" dirty="0"/>
          </a:p>
        </p:txBody>
      </p:sp>
      <p:sp>
        <p:nvSpPr>
          <p:cNvPr id="14" name="team-stat-1-label"/>
          <p:cNvSpPr txBox="1"/>
          <p:nvPr/>
        </p:nvSpPr>
        <p:spPr>
          <a:xfrm>
            <a:off x="3886200" y="3054096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короче: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103,7 → 77,8 с</a:t>
            </a:r>
            <a:endParaRPr lang="en-US" sz="1000" dirty="0"/>
          </a:p>
        </p:txBody>
      </p:sp>
      <p:sp>
        <p:nvSpPr>
          <p:cNvPr id="15" name="team-stat-2-value"/>
          <p:cNvSpPr txBox="1"/>
          <p:nvPr/>
        </p:nvSpPr>
        <p:spPr>
          <a:xfrm>
            <a:off x="5440680" y="25786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−26%</a:t>
            </a:r>
            <a:endParaRPr lang="en-US" sz="2200" dirty="0"/>
          </a:p>
        </p:txBody>
      </p:sp>
      <p:sp>
        <p:nvSpPr>
          <p:cNvPr id="16" name="team-stat-2-label"/>
          <p:cNvSpPr txBox="1"/>
          <p:nvPr/>
        </p:nvSpPr>
        <p:spPr>
          <a:xfrm>
            <a:off x="5440680" y="3054096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заряда: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100,4 → 74,1</a:t>
            </a:r>
            <a:endParaRPr lang="en-US" sz="1000" dirty="0"/>
          </a:p>
        </p:txBody>
      </p:sp>
      <p:sp>
        <p:nvSpPr>
          <p:cNvPr id="17" name="team-stat-3-value"/>
          <p:cNvSpPr txBox="1"/>
          <p:nvPr/>
        </p:nvSpPr>
        <p:spPr>
          <a:xfrm>
            <a:off x="6995160" y="25786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 из 80</a:t>
            </a:r>
            <a:endParaRPr lang="en-US" sz="2200" dirty="0"/>
          </a:p>
        </p:txBody>
      </p:sp>
      <p:sp>
        <p:nvSpPr>
          <p:cNvPr id="18" name="team-stat-3-label"/>
          <p:cNvSpPr txBox="1"/>
          <p:nvPr/>
        </p:nvSpPr>
        <p:spPr>
          <a:xfrm>
            <a:off x="6995160" y="3054096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оба вернулись;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связи — 75</a:t>
            </a:r>
            <a:endParaRPr lang="en-US" sz="1000" dirty="0"/>
          </a:p>
        </p:txBody>
      </p:sp>
      <p:sp>
        <p:nvSpPr>
          <p:cNvPr id="19" name="team-note"/>
          <p:cNvSpPr txBox="1"/>
          <p:nvPr/>
        </p:nvSpPr>
        <p:spPr>
          <a:xfrm>
            <a:off x="3886200" y="3712464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Сравнение с парой роботов без связи: 80 сценариев, быстрый симулятор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Лучшее использование ассистента: свои скиллы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повторялось десятки раз, оформили в скиллы — инструкции, которые агент подгружает сам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sp>
        <p:nvSpPr>
          <p:cNvPr id="6" name="skill-1-card"/>
          <p:cNvSpPr/>
          <p:nvPr/>
        </p:nvSpPr>
        <p:spPr>
          <a:xfrm>
            <a:off x="667512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1"/>
          </a:solidFill>
          <a:ln/>
        </p:spPr>
      </p:sp>
      <p:sp>
        <p:nvSpPr>
          <p:cNvPr id="7" name="skill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did-research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Исследование по источникам</a:t>
            </a:r>
            <a:endParaRPr lang="en-US" sz="1100" dirty="0"/>
          </a:p>
        </p:txBody>
      </p:sp>
      <p:sp>
        <p:nvSpPr>
          <p:cNvPr id="8" name="skill-1-lines"/>
          <p:cNvSpPr txBox="1"/>
          <p:nvPr/>
        </p:nvSpPr>
        <p:spPr>
          <a:xfrm>
            <a:off x="868680" y="2048256"/>
            <a:ext cx="212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статей, документации и похожих проектов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каждой ссылки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перенос на нашего робота и дешёвая пробная проверка</a:t>
            </a:r>
            <a:endParaRPr lang="en-US" sz="950" dirty="0"/>
          </a:p>
        </p:txBody>
      </p:sp>
      <p:sp>
        <p:nvSpPr>
          <p:cNvPr id="9" name="skill-1-out"/>
          <p:cNvSpPr txBox="1"/>
          <p:nvPr/>
        </p:nvSpPr>
        <p:spPr>
          <a:xfrm>
            <a:off x="868680" y="320040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обзор и решение: ставить ли опыт</a:t>
            </a:r>
            <a:endParaRPr lang="en-US" sz="950" dirty="0"/>
          </a:p>
        </p:txBody>
      </p:sp>
      <p:sp>
        <p:nvSpPr>
          <p:cNvPr id="10" name="skill-2-card"/>
          <p:cNvSpPr/>
          <p:nvPr/>
        </p:nvSpPr>
        <p:spPr>
          <a:xfrm>
            <a:off x="3328416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3"/>
          </a:solidFill>
          <a:ln/>
        </p:spPr>
      </p:sp>
      <p:sp>
        <p:nvSpPr>
          <p:cNvPr id="11" name="skill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did-experiment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Постановка опыта</a:t>
            </a:r>
            <a:endParaRPr lang="en-US" sz="1100" dirty="0"/>
          </a:p>
        </p:txBody>
      </p:sp>
      <p:sp>
        <p:nvSpPr>
          <p:cNvPr id="12" name="skill-2-lines"/>
          <p:cNvSpPr txBox="1"/>
          <p:nvPr/>
        </p:nvSpPr>
        <p:spPr>
          <a:xfrm>
            <a:off x="3529584" y="2048256"/>
            <a:ext cx="212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 опыта в файле YAML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варианты агента и отложенные сценарии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парные разности с 95% интервалами</a:t>
            </a:r>
            <a:endParaRPr lang="en-US" sz="950" dirty="0"/>
          </a:p>
        </p:txBody>
      </p:sp>
      <p:sp>
        <p:nvSpPr>
          <p:cNvPr id="13" name="skill-2-out"/>
          <p:cNvSpPr txBox="1"/>
          <p:nvPr/>
        </p:nvSpPr>
        <p:spPr>
          <a:xfrm>
            <a:off x="3529584" y="320040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число, которому можно верить</a:t>
            </a:r>
            <a:endParaRPr lang="en-US" sz="950" dirty="0"/>
          </a:p>
        </p:txBody>
      </p:sp>
      <p:sp>
        <p:nvSpPr>
          <p:cNvPr id="14" name="skill-3-card"/>
          <p:cNvSpPr/>
          <p:nvPr/>
        </p:nvSpPr>
        <p:spPr>
          <a:xfrm>
            <a:off x="5989320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2"/>
          </a:solidFill>
          <a:ln/>
        </p:spPr>
      </p:sp>
      <p:sp>
        <p:nvSpPr>
          <p:cNvPr id="15" name="skill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did-review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 ревью</a:t>
            </a:r>
            <a:endParaRPr lang="en-US" sz="1100" dirty="0"/>
          </a:p>
        </p:txBody>
      </p:sp>
      <p:sp>
        <p:nvSpPr>
          <p:cNvPr id="16" name="skill-3-lines"/>
          <p:cNvSpPr txBox="1"/>
          <p:nvPr/>
        </p:nvSpPr>
        <p:spPr>
          <a:xfrm>
            <a:off x="6190488" y="2048256"/>
            <a:ext cx="212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проверять в коде робота и в измерениях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воспроизвести числа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каком виде вернуть вердикт</a:t>
            </a:r>
            <a:endParaRPr lang="en-US" sz="950" dirty="0"/>
          </a:p>
        </p:txBody>
      </p:sp>
      <p:sp>
        <p:nvSpPr>
          <p:cNvPr id="17" name="skill-3-out"/>
          <p:cNvSpPr txBox="1"/>
          <p:nvPr/>
        </p:nvSpPr>
        <p:spPr>
          <a:xfrm>
            <a:off x="6190488" y="320040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замечания до вливания в общий код</a:t>
            </a:r>
            <a:endParaRPr lang="en-US" sz="950" dirty="0"/>
          </a:p>
        </p:txBody>
      </p:sp>
      <p:sp>
        <p:nvSpPr>
          <p:cNvPr id="18" name="skills-card"/>
          <p:cNvSpPr/>
          <p:nvPr/>
        </p:nvSpPr>
        <p:spPr>
          <a:xfrm>
            <a:off x="667512" y="3840480"/>
            <a:ext cx="7808976" cy="749808"/>
          </a:xfrm>
          <a:prstGeom prst="roundRect">
            <a:avLst>
              <a:gd name="adj" fmla="val 36585"/>
            </a:avLst>
          </a:prstGeom>
          <a:solidFill>
            <a:schemeClr val="bg2"/>
          </a:solidFill>
          <a:ln/>
        </p:spPr>
      </p:sp>
      <p:sp>
        <p:nvSpPr>
          <p:cNvPr id="19" name="skills-text"/>
          <p:cNvSpPr txBox="1"/>
          <p:nvPr/>
        </p:nvSpPr>
        <p:spPr>
          <a:xfrm>
            <a:off x="941832" y="3840480"/>
            <a:ext cx="7260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это дало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сессия агента работает по тем же правилам без пересказа: одно поручение вместо страницы требований. Скиллы собраны из практики 22 работ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мечты с AI: как работали с 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sp>
        <p:nvSpPr>
          <p:cNvPr id="6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8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1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2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5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6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7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20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1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3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317</a:t>
            </a:r>
            <a:endParaRPr lang="en-US" sz="2400" dirty="0"/>
          </a:p>
        </p:txBody>
      </p:sp>
      <p:sp>
        <p:nvSpPr>
          <p:cNvPr id="24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5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</a:t>
            </a:r>
            <a:endParaRPr lang="en-US" sz="2400" dirty="0"/>
          </a:p>
        </p:txBody>
      </p:sp>
      <p:sp>
        <p:nvSpPr>
          <p:cNvPr id="26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7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8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9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из 22</a:t>
            </a:r>
            <a:endParaRPr lang="en-US" sz="2400" dirty="0"/>
          </a:p>
        </p:txBody>
      </p:sp>
      <p:sp>
        <p:nvSpPr>
          <p:cNvPr id="30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1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мечты с AI: логи разработки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строка — одно исследование, каждый значок — шаг: какая модель работала и чем закончилось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pic>
        <p:nvPicPr>
          <p:cNvPr id="6" name="legend-1-chip" descr="legend-1-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52728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86968" y="1225296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— исследователь</a:t>
            </a:r>
            <a:endParaRPr lang="en-US" sz="950" dirty="0"/>
          </a:p>
        </p:txBody>
      </p:sp>
      <p:pic>
        <p:nvPicPr>
          <p:cNvPr id="8" name="legend-2-chip" descr="legend-2-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1252728"/>
            <a:ext cx="155448" cy="155448"/>
          </a:xfrm>
          <a:prstGeom prst="rect">
            <a:avLst/>
          </a:prstGeom>
        </p:spPr>
      </p:pic>
      <p:sp>
        <p:nvSpPr>
          <p:cNvPr id="9" name="legend-2-word"/>
          <p:cNvSpPr txBox="1"/>
          <p:nvPr/>
        </p:nvSpPr>
        <p:spPr>
          <a:xfrm>
            <a:off x="2706624" y="1225296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инженер</a:t>
            </a:r>
            <a:endParaRPr lang="en-US" sz="950" dirty="0"/>
          </a:p>
        </p:txBody>
      </p:sp>
      <p:pic>
        <p:nvPicPr>
          <p:cNvPr id="10" name="legend-3-chip" descr="legend-3-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784" y="1252728"/>
            <a:ext cx="155448" cy="155448"/>
          </a:xfrm>
          <a:prstGeom prst="rect">
            <a:avLst/>
          </a:prstGeom>
        </p:spPr>
      </p:pic>
      <p:sp>
        <p:nvSpPr>
          <p:cNvPr id="11" name="legend-3-word"/>
          <p:cNvSpPr txBox="1"/>
          <p:nvPr/>
        </p:nvSpPr>
        <p:spPr>
          <a:xfrm>
            <a:off x="4206240" y="1225296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— ревьюер</a:t>
            </a:r>
            <a:endParaRPr lang="en-US" sz="950" dirty="0"/>
          </a:p>
        </p:txBody>
      </p:sp>
      <p:sp>
        <p:nvSpPr>
          <p:cNvPr id="12" name="legend-4-chip"/>
          <p:cNvSpPr/>
          <p:nvPr/>
        </p:nvSpPr>
        <p:spPr>
          <a:xfrm>
            <a:off x="5367528" y="127101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" name="legend-4-word"/>
          <p:cNvSpPr txBox="1"/>
          <p:nvPr/>
        </p:nvSpPr>
        <p:spPr>
          <a:xfrm>
            <a:off x="5568696" y="1225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принята</a:t>
            </a:r>
            <a:endParaRPr lang="en-US" sz="950" dirty="0"/>
          </a:p>
        </p:txBody>
      </p:sp>
      <p:sp>
        <p:nvSpPr>
          <p:cNvPr id="14" name="lane-1-rule"/>
          <p:cNvSpPr/>
          <p:nvPr/>
        </p:nvSpPr>
        <p:spPr>
          <a:xfrm>
            <a:off x="667512" y="151790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5" name="lane-1-name"/>
          <p:cNvSpPr txBox="1"/>
          <p:nvPr/>
        </p:nvSpPr>
        <p:spPr>
          <a:xfrm>
            <a:off x="667512" y="151790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R1, R4. Среда и гипотезы</a:t>
            </a:r>
            <a:endParaRPr lang="en-US" sz="950" dirty="0"/>
          </a:p>
        </p:txBody>
      </p:sp>
      <p:pic>
        <p:nvPicPr>
          <p:cNvPr id="16" name="lane-1-step-1" descr="lane-1-step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52651"/>
            <a:ext cx="155448" cy="155448"/>
          </a:xfrm>
          <a:prstGeom prst="rect">
            <a:avLst/>
          </a:prstGeom>
        </p:spPr>
      </p:pic>
      <p:pic>
        <p:nvPicPr>
          <p:cNvPr id="17" name="lane-1-step-2" descr="lane-1-step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6996" y="1552651"/>
            <a:ext cx="155448" cy="155448"/>
          </a:xfrm>
          <a:prstGeom prst="rect">
            <a:avLst/>
          </a:prstGeom>
        </p:spPr>
      </p:pic>
      <p:pic>
        <p:nvPicPr>
          <p:cNvPr id="18" name="lane-1-step-3" descr="lane-1-step-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3592" y="1552651"/>
            <a:ext cx="155448" cy="155448"/>
          </a:xfrm>
          <a:prstGeom prst="rect">
            <a:avLst/>
          </a:prstGeom>
        </p:spPr>
      </p:pic>
      <p:pic>
        <p:nvPicPr>
          <p:cNvPr id="19" name="lane-1-step-4" descr="lane-1-step-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0188" y="1552651"/>
            <a:ext cx="155448" cy="155448"/>
          </a:xfrm>
          <a:prstGeom prst="rect">
            <a:avLst/>
          </a:prstGeom>
        </p:spPr>
      </p:pic>
      <p:pic>
        <p:nvPicPr>
          <p:cNvPr id="20" name="lane-1-step-5" descr="lane-1-step-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6784" y="1552651"/>
            <a:ext cx="155448" cy="155448"/>
          </a:xfrm>
          <a:prstGeom prst="rect">
            <a:avLst/>
          </a:prstGeom>
        </p:spPr>
      </p:pic>
      <p:pic>
        <p:nvPicPr>
          <p:cNvPr id="21" name="lane-1-step-6" descr="lane-1-step-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3380" y="1552651"/>
            <a:ext cx="155448" cy="155448"/>
          </a:xfrm>
          <a:prstGeom prst="rect">
            <a:avLst/>
          </a:prstGeom>
        </p:spPr>
      </p:pic>
      <p:pic>
        <p:nvPicPr>
          <p:cNvPr id="22" name="lane-1-step-7" descr="lane-1-step-7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9976" y="1552651"/>
            <a:ext cx="155448" cy="155448"/>
          </a:xfrm>
          <a:prstGeom prst="rect">
            <a:avLst/>
          </a:prstGeom>
        </p:spPr>
      </p:pic>
      <p:pic>
        <p:nvPicPr>
          <p:cNvPr id="23" name="lane-1-step-8" descr="lane-1-step-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6572" y="1552651"/>
            <a:ext cx="155448" cy="155448"/>
          </a:xfrm>
          <a:prstGeom prst="rect">
            <a:avLst/>
          </a:prstGeom>
        </p:spPr>
      </p:pic>
      <p:pic>
        <p:nvPicPr>
          <p:cNvPr id="24" name="lane-1-step-9" descr="lane-1-step-9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3168" y="1552651"/>
            <a:ext cx="155448" cy="155448"/>
          </a:xfrm>
          <a:prstGeom prst="rect">
            <a:avLst/>
          </a:prstGeom>
        </p:spPr>
      </p:pic>
      <p:sp>
        <p:nvSpPr>
          <p:cNvPr id="25" name="lane-1-step-10"/>
          <p:cNvSpPr/>
          <p:nvPr/>
        </p:nvSpPr>
        <p:spPr>
          <a:xfrm>
            <a:off x="4988052" y="157093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6" name="lane-1-result"/>
          <p:cNvSpPr txBox="1"/>
          <p:nvPr/>
        </p:nvSpPr>
        <p:spPr>
          <a:xfrm>
            <a:off x="5532120" y="151790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ошибок найдено, два вывода перевёрнуты</a:t>
            </a:r>
            <a:endParaRPr lang="en-US" sz="950" dirty="0"/>
          </a:p>
        </p:txBody>
      </p:sp>
      <p:sp>
        <p:nvSpPr>
          <p:cNvPr id="27" name="lane-2-rule"/>
          <p:cNvSpPr/>
          <p:nvPr/>
        </p:nvSpPr>
        <p:spPr>
          <a:xfrm>
            <a:off x="667512" y="174284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28" name="lane-2-name"/>
          <p:cNvSpPr txBox="1"/>
          <p:nvPr/>
        </p:nvSpPr>
        <p:spPr>
          <a:xfrm>
            <a:off x="667512" y="174284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K1–K4. Обзоры литературы</a:t>
            </a:r>
            <a:endParaRPr lang="en-US" sz="950" dirty="0"/>
          </a:p>
        </p:txBody>
      </p:sp>
      <p:pic>
        <p:nvPicPr>
          <p:cNvPr id="29" name="lane-2-step-1" descr="lane-2-step-1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00400" y="1777594"/>
            <a:ext cx="155448" cy="155448"/>
          </a:xfrm>
          <a:prstGeom prst="rect">
            <a:avLst/>
          </a:prstGeom>
        </p:spPr>
      </p:pic>
      <p:pic>
        <p:nvPicPr>
          <p:cNvPr id="30" name="lane-2-step-2" descr="lane-2-step-2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6996" y="1777594"/>
            <a:ext cx="155448" cy="155448"/>
          </a:xfrm>
          <a:prstGeom prst="rect">
            <a:avLst/>
          </a:prstGeom>
        </p:spPr>
      </p:pic>
      <p:pic>
        <p:nvPicPr>
          <p:cNvPr id="31" name="lane-2-step-3" descr="lane-2-step-3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3592" y="1777594"/>
            <a:ext cx="155448" cy="155448"/>
          </a:xfrm>
          <a:prstGeom prst="rect">
            <a:avLst/>
          </a:prstGeom>
        </p:spPr>
      </p:pic>
      <p:pic>
        <p:nvPicPr>
          <p:cNvPr id="32" name="lane-2-step-4" descr="lane-2-step-4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0188" y="1777594"/>
            <a:ext cx="155448" cy="155448"/>
          </a:xfrm>
          <a:prstGeom prst="rect">
            <a:avLst/>
          </a:prstGeom>
        </p:spPr>
      </p:pic>
      <p:pic>
        <p:nvPicPr>
          <p:cNvPr id="33" name="lane-2-step-5" descr="lane-2-step-5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86784" y="1777594"/>
            <a:ext cx="155448" cy="155448"/>
          </a:xfrm>
          <a:prstGeom prst="rect">
            <a:avLst/>
          </a:prstGeom>
        </p:spPr>
      </p:pic>
      <p:sp>
        <p:nvSpPr>
          <p:cNvPr id="34" name="lane-2-step-6"/>
          <p:cNvSpPr/>
          <p:nvPr/>
        </p:nvSpPr>
        <p:spPr>
          <a:xfrm>
            <a:off x="4201668" y="1795882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5" name="lane-2-result"/>
          <p:cNvSpPr txBox="1"/>
          <p:nvPr/>
        </p:nvSpPr>
        <p:spPr>
          <a:xfrm>
            <a:off x="5532120" y="174284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нашла две выдуманные ссылки</a:t>
            </a:r>
            <a:endParaRPr lang="en-US" sz="950" dirty="0"/>
          </a:p>
        </p:txBody>
      </p:sp>
      <p:sp>
        <p:nvSpPr>
          <p:cNvPr id="36" name="lane-3-rule"/>
          <p:cNvSpPr/>
          <p:nvPr/>
        </p:nvSpPr>
        <p:spPr>
          <a:xfrm>
            <a:off x="667512" y="1967789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667512" y="1967789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R13 → L3. Миссия словами</a:t>
            </a:r>
            <a:endParaRPr lang="en-US" sz="950" dirty="0"/>
          </a:p>
        </p:txBody>
      </p:sp>
      <p:pic>
        <p:nvPicPr>
          <p:cNvPr id="38" name="lane-3-step-1" descr="lane-3-step-1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00400" y="2002536"/>
            <a:ext cx="155448" cy="155448"/>
          </a:xfrm>
          <a:prstGeom prst="rect">
            <a:avLst/>
          </a:prstGeom>
        </p:spPr>
      </p:pic>
      <p:pic>
        <p:nvPicPr>
          <p:cNvPr id="39" name="lane-3-step-2" descr="lane-3-step-2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96996" y="2002536"/>
            <a:ext cx="155448" cy="155448"/>
          </a:xfrm>
          <a:prstGeom prst="rect">
            <a:avLst/>
          </a:prstGeom>
        </p:spPr>
      </p:pic>
      <p:pic>
        <p:nvPicPr>
          <p:cNvPr id="40" name="lane-3-step-3" descr="lane-3-step-3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3592" y="2002536"/>
            <a:ext cx="155448" cy="155448"/>
          </a:xfrm>
          <a:prstGeom prst="rect">
            <a:avLst/>
          </a:prstGeom>
        </p:spPr>
      </p:pic>
      <p:pic>
        <p:nvPicPr>
          <p:cNvPr id="41" name="lane-3-step-4" descr="lane-3-step-4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90188" y="2002536"/>
            <a:ext cx="155448" cy="155448"/>
          </a:xfrm>
          <a:prstGeom prst="rect">
            <a:avLst/>
          </a:prstGeom>
        </p:spPr>
      </p:pic>
      <p:sp>
        <p:nvSpPr>
          <p:cNvPr id="42" name="lane-3-step-5"/>
          <p:cNvSpPr/>
          <p:nvPr/>
        </p:nvSpPr>
        <p:spPr>
          <a:xfrm>
            <a:off x="400507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3" name="lane-3-step-6"/>
          <p:cNvSpPr/>
          <p:nvPr/>
        </p:nvSpPr>
        <p:spPr>
          <a:xfrm>
            <a:off x="4192524" y="208026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44" name="lane-3-step-7" descr="lane-3-step-7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79976" y="2002536"/>
            <a:ext cx="155448" cy="155448"/>
          </a:xfrm>
          <a:prstGeom prst="rect">
            <a:avLst/>
          </a:prstGeom>
        </p:spPr>
      </p:pic>
      <p:pic>
        <p:nvPicPr>
          <p:cNvPr id="45" name="lane-3-step-8" descr="lane-3-step-8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6572" y="2002536"/>
            <a:ext cx="155448" cy="155448"/>
          </a:xfrm>
          <a:prstGeom prst="rect">
            <a:avLst/>
          </a:prstGeom>
        </p:spPr>
      </p:pic>
      <p:pic>
        <p:nvPicPr>
          <p:cNvPr id="46" name="lane-3-step-9" descr="lane-3-step-9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73168" y="2002536"/>
            <a:ext cx="155448" cy="155448"/>
          </a:xfrm>
          <a:prstGeom prst="rect">
            <a:avLst/>
          </a:prstGeom>
        </p:spPr>
      </p:pic>
      <p:sp>
        <p:nvSpPr>
          <p:cNvPr id="47" name="lane-3-step-10"/>
          <p:cNvSpPr/>
          <p:nvPr/>
        </p:nvSpPr>
        <p:spPr>
          <a:xfrm>
            <a:off x="498805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8" name="lane-3-result"/>
          <p:cNvSpPr txBox="1"/>
          <p:nvPr/>
        </p:nvSpPr>
        <p:spPr>
          <a:xfrm>
            <a:off x="5532120" y="1967789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— 45–46 из 48 прогонов, правило — 0</a:t>
            </a:r>
            <a:endParaRPr lang="en-US" sz="950" dirty="0"/>
          </a:p>
        </p:txBody>
      </p:sp>
      <p:sp>
        <p:nvSpPr>
          <p:cNvPr id="49" name="lane-4-rule"/>
          <p:cNvSpPr/>
          <p:nvPr/>
        </p:nvSpPr>
        <p:spPr>
          <a:xfrm>
            <a:off x="667512" y="219273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50" name="lane-4-name"/>
          <p:cNvSpPr txBox="1"/>
          <p:nvPr/>
        </p:nvSpPr>
        <p:spPr>
          <a:xfrm>
            <a:off x="667512" y="219273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R16. Ехать, пока модель думает</a:t>
            </a:r>
            <a:endParaRPr lang="en-US" sz="950" dirty="0"/>
          </a:p>
        </p:txBody>
      </p:sp>
      <p:pic>
        <p:nvPicPr>
          <p:cNvPr id="51" name="lane-4-step-1" descr="lane-4-step-1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200400" y="2227478"/>
            <a:ext cx="155448" cy="155448"/>
          </a:xfrm>
          <a:prstGeom prst="rect">
            <a:avLst/>
          </a:prstGeom>
        </p:spPr>
      </p:pic>
      <p:pic>
        <p:nvPicPr>
          <p:cNvPr id="52" name="lane-4-step-2" descr="lane-4-step-2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396996" y="2227478"/>
            <a:ext cx="155448" cy="155448"/>
          </a:xfrm>
          <a:prstGeom prst="rect">
            <a:avLst/>
          </a:prstGeom>
        </p:spPr>
      </p:pic>
      <p:pic>
        <p:nvPicPr>
          <p:cNvPr id="53" name="lane-4-step-3" descr="lane-4-step-3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593592" y="2227478"/>
            <a:ext cx="155448" cy="155448"/>
          </a:xfrm>
          <a:prstGeom prst="rect">
            <a:avLst/>
          </a:prstGeom>
        </p:spPr>
      </p:pic>
      <p:pic>
        <p:nvPicPr>
          <p:cNvPr id="54" name="lane-4-step-4" descr="lane-4-step-4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0188" y="2227478"/>
            <a:ext cx="155448" cy="155448"/>
          </a:xfrm>
          <a:prstGeom prst="rect">
            <a:avLst/>
          </a:prstGeom>
        </p:spPr>
      </p:pic>
      <p:pic>
        <p:nvPicPr>
          <p:cNvPr id="55" name="lane-4-step-5" descr="lane-4-step-5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86784" y="2227478"/>
            <a:ext cx="155448" cy="155448"/>
          </a:xfrm>
          <a:prstGeom prst="rect">
            <a:avLst/>
          </a:prstGeom>
        </p:spPr>
      </p:pic>
      <p:sp>
        <p:nvSpPr>
          <p:cNvPr id="56" name="lane-4-step-6"/>
          <p:cNvSpPr/>
          <p:nvPr/>
        </p:nvSpPr>
        <p:spPr>
          <a:xfrm>
            <a:off x="4201668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57" name="lane-4-step-7"/>
          <p:cNvSpPr/>
          <p:nvPr/>
        </p:nvSpPr>
        <p:spPr>
          <a:xfrm>
            <a:off x="4389120" y="2305202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58" name="lane-4-step-8" descr="lane-4-step-8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6572" y="2227478"/>
            <a:ext cx="155448" cy="155448"/>
          </a:xfrm>
          <a:prstGeom prst="rect">
            <a:avLst/>
          </a:prstGeom>
        </p:spPr>
      </p:pic>
      <p:pic>
        <p:nvPicPr>
          <p:cNvPr id="59" name="lane-4-step-9" descr="lane-4-step-9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73168" y="2227478"/>
            <a:ext cx="155448" cy="155448"/>
          </a:xfrm>
          <a:prstGeom prst="rect">
            <a:avLst/>
          </a:prstGeom>
        </p:spPr>
      </p:pic>
      <p:sp>
        <p:nvSpPr>
          <p:cNvPr id="60" name="lane-4-step-10"/>
          <p:cNvSpPr/>
          <p:nvPr/>
        </p:nvSpPr>
        <p:spPr>
          <a:xfrm>
            <a:off x="4988052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1" name="lane-4-result"/>
          <p:cNvSpPr txBox="1"/>
          <p:nvPr/>
        </p:nvSpPr>
        <p:spPr>
          <a:xfrm>
            <a:off x="5532120" y="219273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модель: стоять 34,7 → ехать 73,2</a:t>
            </a:r>
            <a:endParaRPr lang="en-US" sz="950" dirty="0"/>
          </a:p>
        </p:txBody>
      </p:sp>
      <p:sp>
        <p:nvSpPr>
          <p:cNvPr id="62" name="lane-5-rule"/>
          <p:cNvSpPr/>
          <p:nvPr/>
        </p:nvSpPr>
        <p:spPr>
          <a:xfrm>
            <a:off x="667512" y="241767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63" name="lane-5-name"/>
          <p:cNvSpPr txBox="1"/>
          <p:nvPr/>
        </p:nvSpPr>
        <p:spPr>
          <a:xfrm>
            <a:off x="667512" y="241767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R10. Смена грунта на пути</a:t>
            </a:r>
            <a:endParaRPr lang="en-US" sz="950" dirty="0"/>
          </a:p>
        </p:txBody>
      </p:sp>
      <p:pic>
        <p:nvPicPr>
          <p:cNvPr id="64" name="lane-5-step-1" descr="lane-5-step-1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00400" y="2452421"/>
            <a:ext cx="155448" cy="155448"/>
          </a:xfrm>
          <a:prstGeom prst="rect">
            <a:avLst/>
          </a:prstGeom>
        </p:spPr>
      </p:pic>
      <p:pic>
        <p:nvPicPr>
          <p:cNvPr id="65" name="lane-5-step-2" descr="lane-5-step-2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396996" y="2452421"/>
            <a:ext cx="155448" cy="155448"/>
          </a:xfrm>
          <a:prstGeom prst="rect">
            <a:avLst/>
          </a:prstGeom>
        </p:spPr>
      </p:pic>
      <p:pic>
        <p:nvPicPr>
          <p:cNvPr id="66" name="lane-5-step-3" descr="lane-5-step-3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93592" y="2452421"/>
            <a:ext cx="155448" cy="155448"/>
          </a:xfrm>
          <a:prstGeom prst="rect">
            <a:avLst/>
          </a:prstGeom>
        </p:spPr>
      </p:pic>
      <p:pic>
        <p:nvPicPr>
          <p:cNvPr id="67" name="lane-5-step-4" descr="lane-5-step-4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790188" y="2452421"/>
            <a:ext cx="155448" cy="155448"/>
          </a:xfrm>
          <a:prstGeom prst="rect">
            <a:avLst/>
          </a:prstGeom>
        </p:spPr>
      </p:pic>
      <p:sp>
        <p:nvSpPr>
          <p:cNvPr id="68" name="lane-5-step-5"/>
          <p:cNvSpPr/>
          <p:nvPr/>
        </p:nvSpPr>
        <p:spPr>
          <a:xfrm>
            <a:off x="4005072" y="247070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9" name="lane-5-result"/>
          <p:cNvSpPr txBox="1"/>
          <p:nvPr/>
        </p:nvSpPr>
        <p:spPr>
          <a:xfrm>
            <a:off x="5532120" y="241767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— так и записано</a:t>
            </a:r>
            <a:endParaRPr lang="en-US" sz="950" dirty="0"/>
          </a:p>
        </p:txBody>
      </p:sp>
      <p:sp>
        <p:nvSpPr>
          <p:cNvPr id="70" name="lane-6-rule"/>
          <p:cNvSpPr/>
          <p:nvPr/>
        </p:nvSpPr>
        <p:spPr>
          <a:xfrm>
            <a:off x="667512" y="264261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71" name="lane-6-name"/>
          <p:cNvSpPr txBox="1"/>
          <p:nvPr/>
        </p:nvSpPr>
        <p:spPr>
          <a:xfrm>
            <a:off x="667512" y="264261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 → G3. Положение и сторожа</a:t>
            </a:r>
            <a:endParaRPr lang="en-US" sz="950" dirty="0"/>
          </a:p>
        </p:txBody>
      </p:sp>
      <p:pic>
        <p:nvPicPr>
          <p:cNvPr id="72" name="lane-6-step-1" descr="lane-6-step-1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00400" y="2677363"/>
            <a:ext cx="155448" cy="155448"/>
          </a:xfrm>
          <a:prstGeom prst="rect">
            <a:avLst/>
          </a:prstGeom>
        </p:spPr>
      </p:pic>
      <p:pic>
        <p:nvPicPr>
          <p:cNvPr id="73" name="lane-6-step-2" descr="lane-6-step-2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96996" y="2677363"/>
            <a:ext cx="155448" cy="155448"/>
          </a:xfrm>
          <a:prstGeom prst="rect">
            <a:avLst/>
          </a:prstGeom>
        </p:spPr>
      </p:pic>
      <p:pic>
        <p:nvPicPr>
          <p:cNvPr id="74" name="lane-6-step-3" descr="lane-6-step-3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93592" y="2677363"/>
            <a:ext cx="155448" cy="155448"/>
          </a:xfrm>
          <a:prstGeom prst="rect">
            <a:avLst/>
          </a:prstGeom>
        </p:spPr>
      </p:pic>
      <p:sp>
        <p:nvSpPr>
          <p:cNvPr id="75" name="lane-6-step-4"/>
          <p:cNvSpPr/>
          <p:nvPr/>
        </p:nvSpPr>
        <p:spPr>
          <a:xfrm>
            <a:off x="3808476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6" name="lane-6-step-5"/>
          <p:cNvSpPr/>
          <p:nvPr/>
        </p:nvSpPr>
        <p:spPr>
          <a:xfrm>
            <a:off x="3995928" y="2755087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77" name="lane-6-step-6" descr="lane-6-step-6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83380" y="2677363"/>
            <a:ext cx="155448" cy="155448"/>
          </a:xfrm>
          <a:prstGeom prst="rect">
            <a:avLst/>
          </a:prstGeom>
        </p:spPr>
      </p:pic>
      <p:pic>
        <p:nvPicPr>
          <p:cNvPr id="78" name="lane-6-step-7" descr="lane-6-step-7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79976" y="2677363"/>
            <a:ext cx="155448" cy="155448"/>
          </a:xfrm>
          <a:prstGeom prst="rect">
            <a:avLst/>
          </a:prstGeom>
        </p:spPr>
      </p:pic>
      <p:pic>
        <p:nvPicPr>
          <p:cNvPr id="79" name="lane-6-step-8" descr="lane-6-step-8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76572" y="2677363"/>
            <a:ext cx="155448" cy="155448"/>
          </a:xfrm>
          <a:prstGeom prst="rect">
            <a:avLst/>
          </a:prstGeom>
        </p:spPr>
      </p:pic>
      <p:pic>
        <p:nvPicPr>
          <p:cNvPr id="80" name="lane-6-step-9" descr="lane-6-step-9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73168" y="2677363"/>
            <a:ext cx="155448" cy="155448"/>
          </a:xfrm>
          <a:prstGeom prst="rect">
            <a:avLst/>
          </a:prstGeom>
        </p:spPr>
      </p:pic>
      <p:sp>
        <p:nvSpPr>
          <p:cNvPr id="81" name="lane-6-step-10"/>
          <p:cNvSpPr/>
          <p:nvPr/>
        </p:nvSpPr>
        <p:spPr>
          <a:xfrm>
            <a:off x="4988052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82" name="lane-6-result"/>
          <p:cNvSpPr txBox="1"/>
          <p:nvPr/>
        </p:nvSpPr>
        <p:spPr>
          <a:xfrm>
            <a:off x="5532120" y="264261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возврат на базу в Gazebo: 8 из 9 → 7 из 7</a:t>
            </a:r>
            <a:endParaRPr lang="en-US" sz="950" dirty="0"/>
          </a:p>
        </p:txBody>
      </p:sp>
      <p:sp>
        <p:nvSpPr>
          <p:cNvPr id="83" name="lane-7-rule"/>
          <p:cNvSpPr/>
          <p:nvPr/>
        </p:nvSpPr>
        <p:spPr>
          <a:xfrm>
            <a:off x="667512" y="286755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84" name="lane-7-name"/>
          <p:cNvSpPr txBox="1"/>
          <p:nvPr/>
        </p:nvSpPr>
        <p:spPr>
          <a:xfrm>
            <a:off x="667512" y="286755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→ P2. Где робот теряет очки</a:t>
            </a:r>
            <a:endParaRPr lang="en-US" sz="950" dirty="0"/>
          </a:p>
        </p:txBody>
      </p:sp>
      <p:pic>
        <p:nvPicPr>
          <p:cNvPr id="85" name="lane-7-step-1" descr="lane-7-step-1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200400" y="2902306"/>
            <a:ext cx="155448" cy="155448"/>
          </a:xfrm>
          <a:prstGeom prst="rect">
            <a:avLst/>
          </a:prstGeom>
        </p:spPr>
      </p:pic>
      <p:pic>
        <p:nvPicPr>
          <p:cNvPr id="86" name="lane-7-step-2" descr="lane-7-step-2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96996" y="2902306"/>
            <a:ext cx="155448" cy="155448"/>
          </a:xfrm>
          <a:prstGeom prst="rect">
            <a:avLst/>
          </a:prstGeom>
        </p:spPr>
      </p:pic>
      <p:pic>
        <p:nvPicPr>
          <p:cNvPr id="87" name="lane-7-step-3" descr="lane-7-step-3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593592" y="2902306"/>
            <a:ext cx="155448" cy="155448"/>
          </a:xfrm>
          <a:prstGeom prst="rect">
            <a:avLst/>
          </a:prstGeom>
        </p:spPr>
      </p:pic>
      <p:pic>
        <p:nvPicPr>
          <p:cNvPr id="88" name="lane-7-step-4" descr="lane-7-step-4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90188" y="2902306"/>
            <a:ext cx="155448" cy="155448"/>
          </a:xfrm>
          <a:prstGeom prst="rect">
            <a:avLst/>
          </a:prstGeom>
        </p:spPr>
      </p:pic>
      <p:sp>
        <p:nvSpPr>
          <p:cNvPr id="89" name="lane-7-step-5"/>
          <p:cNvSpPr/>
          <p:nvPr/>
        </p:nvSpPr>
        <p:spPr>
          <a:xfrm>
            <a:off x="400507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0" name="lane-7-step-6"/>
          <p:cNvSpPr/>
          <p:nvPr/>
        </p:nvSpPr>
        <p:spPr>
          <a:xfrm>
            <a:off x="4192524" y="298003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91" name="lane-7-step-7" descr="lane-7-step-7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79976" y="2902306"/>
            <a:ext cx="155448" cy="155448"/>
          </a:xfrm>
          <a:prstGeom prst="rect">
            <a:avLst/>
          </a:prstGeom>
        </p:spPr>
      </p:pic>
      <p:pic>
        <p:nvPicPr>
          <p:cNvPr id="92" name="lane-7-step-8" descr="lane-7-step-8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576572" y="2902306"/>
            <a:ext cx="155448" cy="155448"/>
          </a:xfrm>
          <a:prstGeom prst="rect">
            <a:avLst/>
          </a:prstGeom>
        </p:spPr>
      </p:pic>
      <p:pic>
        <p:nvPicPr>
          <p:cNvPr id="93" name="lane-7-step-9" descr="lane-7-step-9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773168" y="2902306"/>
            <a:ext cx="155448" cy="155448"/>
          </a:xfrm>
          <a:prstGeom prst="rect">
            <a:avLst/>
          </a:prstGeom>
        </p:spPr>
      </p:pic>
      <p:sp>
        <p:nvSpPr>
          <p:cNvPr id="94" name="lane-7-step-10"/>
          <p:cNvSpPr/>
          <p:nvPr/>
        </p:nvSpPr>
        <p:spPr>
          <a:xfrm>
            <a:off x="498805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5" name="lane-7-result"/>
          <p:cNvSpPr txBox="1"/>
          <p:nvPr/>
        </p:nvSpPr>
        <p:spPr>
          <a:xfrm>
            <a:off x="5532120" y="286755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сбой датчика: +6,4; пять правок: не показано</a:t>
            </a:r>
            <a:endParaRPr lang="en-US" sz="950" dirty="0"/>
          </a:p>
        </p:txBody>
      </p:sp>
      <p:sp>
        <p:nvSpPr>
          <p:cNvPr id="96" name="lane-8-rule"/>
          <p:cNvSpPr/>
          <p:nvPr/>
        </p:nvSpPr>
        <p:spPr>
          <a:xfrm>
            <a:off x="667512" y="309250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97" name="lane-8-name"/>
          <p:cNvSpPr txBox="1"/>
          <p:nvPr/>
        </p:nvSpPr>
        <p:spPr>
          <a:xfrm>
            <a:off x="667512" y="309250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A1. Новые схемы агента</a:t>
            </a:r>
            <a:endParaRPr lang="en-US" sz="950" dirty="0"/>
          </a:p>
        </p:txBody>
      </p:sp>
      <p:pic>
        <p:nvPicPr>
          <p:cNvPr id="98" name="lane-8-step-1" descr="lane-8-step-1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00400" y="3127248"/>
            <a:ext cx="155448" cy="155448"/>
          </a:xfrm>
          <a:prstGeom prst="rect">
            <a:avLst/>
          </a:prstGeom>
        </p:spPr>
      </p:pic>
      <p:pic>
        <p:nvPicPr>
          <p:cNvPr id="99" name="lane-8-step-2" descr="lane-8-step-2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396996" y="3127248"/>
            <a:ext cx="155448" cy="155448"/>
          </a:xfrm>
          <a:prstGeom prst="rect">
            <a:avLst/>
          </a:prstGeom>
        </p:spPr>
      </p:pic>
      <p:pic>
        <p:nvPicPr>
          <p:cNvPr id="100" name="lane-8-step-3" descr="lane-8-step-3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593592" y="3127248"/>
            <a:ext cx="155448" cy="155448"/>
          </a:xfrm>
          <a:prstGeom prst="rect">
            <a:avLst/>
          </a:prstGeom>
        </p:spPr>
      </p:pic>
      <p:sp>
        <p:nvSpPr>
          <p:cNvPr id="101" name="lane-8-step-4"/>
          <p:cNvSpPr/>
          <p:nvPr/>
        </p:nvSpPr>
        <p:spPr>
          <a:xfrm>
            <a:off x="3808476" y="314553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2" name="lane-8-result"/>
          <p:cNvSpPr txBox="1"/>
          <p:nvPr/>
        </p:nvSpPr>
        <p:spPr>
          <a:xfrm>
            <a:off x="5532120" y="309250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лучше нынешней</a:t>
            </a:r>
            <a:endParaRPr lang="en-US" sz="950" dirty="0"/>
          </a:p>
        </p:txBody>
      </p:sp>
      <p:sp>
        <p:nvSpPr>
          <p:cNvPr id="103" name="lane-9-rule"/>
          <p:cNvSpPr/>
          <p:nvPr/>
        </p:nvSpPr>
        <p:spPr>
          <a:xfrm>
            <a:off x="667512" y="3317443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04" name="lane-9-name"/>
          <p:cNvSpPr txBox="1"/>
          <p:nvPr/>
        </p:nvSpPr>
        <p:spPr>
          <a:xfrm>
            <a:off x="667512" y="3317443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R12. Выбор опыта с учётом цены</a:t>
            </a:r>
            <a:endParaRPr lang="en-US" sz="950" dirty="0"/>
          </a:p>
        </p:txBody>
      </p:sp>
      <p:pic>
        <p:nvPicPr>
          <p:cNvPr id="105" name="lane-9-step-1" descr="lane-9-step-1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00400" y="3352190"/>
            <a:ext cx="155448" cy="155448"/>
          </a:xfrm>
          <a:prstGeom prst="rect">
            <a:avLst/>
          </a:prstGeom>
        </p:spPr>
      </p:pic>
      <p:pic>
        <p:nvPicPr>
          <p:cNvPr id="106" name="lane-9-step-2" descr="lane-9-step-2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396996" y="3352190"/>
            <a:ext cx="155448" cy="155448"/>
          </a:xfrm>
          <a:prstGeom prst="rect">
            <a:avLst/>
          </a:prstGeom>
        </p:spPr>
      </p:pic>
      <p:pic>
        <p:nvPicPr>
          <p:cNvPr id="107" name="lane-9-step-3" descr="lane-9-step-3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3593592" y="3352190"/>
            <a:ext cx="155448" cy="155448"/>
          </a:xfrm>
          <a:prstGeom prst="rect">
            <a:avLst/>
          </a:prstGeom>
        </p:spPr>
      </p:pic>
      <p:sp>
        <p:nvSpPr>
          <p:cNvPr id="108" name="lane-9-step-4"/>
          <p:cNvSpPr/>
          <p:nvPr/>
        </p:nvSpPr>
        <p:spPr>
          <a:xfrm>
            <a:off x="3808476" y="3370478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9" name="lane-9-result"/>
          <p:cNvSpPr txBox="1"/>
          <p:nvPr/>
        </p:nvSpPr>
        <p:spPr>
          <a:xfrm>
            <a:off x="5532120" y="3317443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расследование: 0,54 → 0,08</a:t>
            </a:r>
            <a:endParaRPr lang="en-US" sz="950" dirty="0"/>
          </a:p>
        </p:txBody>
      </p:sp>
      <p:sp>
        <p:nvSpPr>
          <p:cNvPr id="110" name="lane-10-rule"/>
          <p:cNvSpPr/>
          <p:nvPr/>
        </p:nvSpPr>
        <p:spPr>
          <a:xfrm>
            <a:off x="667512" y="354238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11" name="lane-10-name"/>
          <p:cNvSpPr txBox="1"/>
          <p:nvPr/>
        </p:nvSpPr>
        <p:spPr>
          <a:xfrm>
            <a:off x="667512" y="354238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R14. Самокалибровка датчика</a:t>
            </a:r>
            <a:endParaRPr lang="en-US" sz="950" dirty="0"/>
          </a:p>
        </p:txBody>
      </p:sp>
      <p:pic>
        <p:nvPicPr>
          <p:cNvPr id="112" name="lane-10-step-1" descr="lane-10-step-1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3200400" y="3577133"/>
            <a:ext cx="155448" cy="155448"/>
          </a:xfrm>
          <a:prstGeom prst="rect">
            <a:avLst/>
          </a:prstGeom>
        </p:spPr>
      </p:pic>
      <p:pic>
        <p:nvPicPr>
          <p:cNvPr id="113" name="lane-10-step-2" descr="lane-10-step-2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3396996" y="3577133"/>
            <a:ext cx="155448" cy="155448"/>
          </a:xfrm>
          <a:prstGeom prst="rect">
            <a:avLst/>
          </a:prstGeom>
        </p:spPr>
      </p:pic>
      <p:pic>
        <p:nvPicPr>
          <p:cNvPr id="114" name="lane-10-step-3" descr="lane-10-step-3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593592" y="3577133"/>
            <a:ext cx="155448" cy="155448"/>
          </a:xfrm>
          <a:prstGeom prst="rect">
            <a:avLst/>
          </a:prstGeom>
        </p:spPr>
      </p:pic>
      <p:pic>
        <p:nvPicPr>
          <p:cNvPr id="115" name="lane-10-step-4" descr="lane-10-step-4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790188" y="3577133"/>
            <a:ext cx="155448" cy="155448"/>
          </a:xfrm>
          <a:prstGeom prst="rect">
            <a:avLst/>
          </a:prstGeom>
        </p:spPr>
      </p:pic>
      <p:pic>
        <p:nvPicPr>
          <p:cNvPr id="116" name="lane-10-step-5" descr="lane-10-step-5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986784" y="3577133"/>
            <a:ext cx="155448" cy="155448"/>
          </a:xfrm>
          <a:prstGeom prst="rect">
            <a:avLst/>
          </a:prstGeom>
        </p:spPr>
      </p:pic>
      <p:sp>
        <p:nvSpPr>
          <p:cNvPr id="117" name="lane-10-step-6"/>
          <p:cNvSpPr/>
          <p:nvPr/>
        </p:nvSpPr>
        <p:spPr>
          <a:xfrm>
            <a:off x="4201668" y="359542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8" name="lane-10-result"/>
          <p:cNvSpPr txBox="1"/>
          <p:nvPr/>
        </p:nvSpPr>
        <p:spPr>
          <a:xfrm>
            <a:off x="5532120" y="354238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неверный закон датчика: 1% → 71% образцов</a:t>
            </a:r>
            <a:endParaRPr lang="en-US" sz="950" dirty="0"/>
          </a:p>
        </p:txBody>
      </p:sp>
      <p:sp>
        <p:nvSpPr>
          <p:cNvPr id="119" name="lane-11-rule"/>
          <p:cNvSpPr/>
          <p:nvPr/>
        </p:nvSpPr>
        <p:spPr>
          <a:xfrm>
            <a:off x="667512" y="376732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0" name="lane-11-name"/>
          <p:cNvSpPr txBox="1"/>
          <p:nvPr/>
        </p:nvSpPr>
        <p:spPr>
          <a:xfrm>
            <a:off x="667512" y="376732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M1. Два робота с координацией</a:t>
            </a:r>
            <a:endParaRPr lang="en-US" sz="950" dirty="0"/>
          </a:p>
        </p:txBody>
      </p:sp>
      <p:pic>
        <p:nvPicPr>
          <p:cNvPr id="121" name="lane-11-step-1" descr="lane-11-step-1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200400" y="3802075"/>
            <a:ext cx="155448" cy="155448"/>
          </a:xfrm>
          <a:prstGeom prst="rect">
            <a:avLst/>
          </a:prstGeom>
        </p:spPr>
      </p:pic>
      <p:pic>
        <p:nvPicPr>
          <p:cNvPr id="122" name="lane-11-step-2" descr="lane-11-step-2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396996" y="3802075"/>
            <a:ext cx="155448" cy="155448"/>
          </a:xfrm>
          <a:prstGeom prst="rect">
            <a:avLst/>
          </a:prstGeom>
        </p:spPr>
      </p:pic>
      <p:pic>
        <p:nvPicPr>
          <p:cNvPr id="123" name="lane-11-step-3" descr="lane-11-step-3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593592" y="3802075"/>
            <a:ext cx="155448" cy="155448"/>
          </a:xfrm>
          <a:prstGeom prst="rect">
            <a:avLst/>
          </a:prstGeom>
        </p:spPr>
      </p:pic>
      <p:pic>
        <p:nvPicPr>
          <p:cNvPr id="124" name="lane-11-step-4" descr="lane-11-step-4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790188" y="3802075"/>
            <a:ext cx="155448" cy="155448"/>
          </a:xfrm>
          <a:prstGeom prst="rect">
            <a:avLst/>
          </a:prstGeom>
        </p:spPr>
      </p:pic>
      <p:pic>
        <p:nvPicPr>
          <p:cNvPr id="125" name="lane-11-step-5" descr="lane-11-step-5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3986784" y="3802075"/>
            <a:ext cx="155448" cy="155448"/>
          </a:xfrm>
          <a:prstGeom prst="rect">
            <a:avLst/>
          </a:prstGeom>
        </p:spPr>
      </p:pic>
      <p:sp>
        <p:nvSpPr>
          <p:cNvPr id="126" name="lane-11-step-6"/>
          <p:cNvSpPr/>
          <p:nvPr/>
        </p:nvSpPr>
        <p:spPr>
          <a:xfrm>
            <a:off x="4201668" y="3820363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27" name="lane-11-result"/>
          <p:cNvSpPr txBox="1"/>
          <p:nvPr/>
        </p:nvSpPr>
        <p:spPr>
          <a:xfrm>
            <a:off x="5532120" y="376732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 на 26 с</a:t>
            </a:r>
            <a:endParaRPr lang="en-US" sz="950" dirty="0"/>
          </a:p>
        </p:txBody>
      </p:sp>
      <p:sp>
        <p:nvSpPr>
          <p:cNvPr id="128" name="lane-12-rule"/>
          <p:cNvSpPr/>
          <p:nvPr/>
        </p:nvSpPr>
        <p:spPr>
          <a:xfrm>
            <a:off x="667512" y="3992270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9" name="lane-12-name"/>
          <p:cNvSpPr txBox="1"/>
          <p:nvPr/>
        </p:nvSpPr>
        <p:spPr>
          <a:xfrm>
            <a:off x="667512" y="3992270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F2. SLAM вместо готовой карты</a:t>
            </a:r>
            <a:endParaRPr lang="en-US" sz="950" dirty="0"/>
          </a:p>
        </p:txBody>
      </p:sp>
      <p:pic>
        <p:nvPicPr>
          <p:cNvPr id="130" name="lane-12-step-1" descr="lane-12-step-1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3200400" y="4027018"/>
            <a:ext cx="155448" cy="155448"/>
          </a:xfrm>
          <a:prstGeom prst="rect">
            <a:avLst/>
          </a:prstGeom>
        </p:spPr>
      </p:pic>
      <p:pic>
        <p:nvPicPr>
          <p:cNvPr id="131" name="lane-12-step-2" descr="lane-12-step-2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396996" y="4027018"/>
            <a:ext cx="155448" cy="155448"/>
          </a:xfrm>
          <a:prstGeom prst="rect">
            <a:avLst/>
          </a:prstGeom>
        </p:spPr>
      </p:pic>
      <p:pic>
        <p:nvPicPr>
          <p:cNvPr id="132" name="lane-12-step-3" descr="lane-12-step-3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3593592" y="4027018"/>
            <a:ext cx="155448" cy="155448"/>
          </a:xfrm>
          <a:prstGeom prst="rect">
            <a:avLst/>
          </a:prstGeom>
        </p:spPr>
      </p:pic>
      <p:pic>
        <p:nvPicPr>
          <p:cNvPr id="133" name="lane-12-step-4" descr="lane-12-step-4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3790188" y="4027018"/>
            <a:ext cx="155448" cy="155448"/>
          </a:xfrm>
          <a:prstGeom prst="rect">
            <a:avLst/>
          </a:prstGeom>
        </p:spPr>
      </p:pic>
      <p:pic>
        <p:nvPicPr>
          <p:cNvPr id="134" name="lane-12-step-5" descr="lane-12-step-5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3986784" y="4027018"/>
            <a:ext cx="155448" cy="155448"/>
          </a:xfrm>
          <a:prstGeom prst="rect">
            <a:avLst/>
          </a:prstGeom>
        </p:spPr>
      </p:pic>
      <p:pic>
        <p:nvPicPr>
          <p:cNvPr id="135" name="lane-12-step-6" descr="lane-12-step-6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183380" y="4027018"/>
            <a:ext cx="155448" cy="155448"/>
          </a:xfrm>
          <a:prstGeom prst="rect">
            <a:avLst/>
          </a:prstGeom>
        </p:spPr>
      </p:pic>
      <p:pic>
        <p:nvPicPr>
          <p:cNvPr id="136" name="lane-12-step-7" descr="lane-12-step-7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379976" y="4027018"/>
            <a:ext cx="155448" cy="155448"/>
          </a:xfrm>
          <a:prstGeom prst="rect">
            <a:avLst/>
          </a:prstGeom>
        </p:spPr>
      </p:pic>
      <p:sp>
        <p:nvSpPr>
          <p:cNvPr id="137" name="lane-12-step-8"/>
          <p:cNvSpPr/>
          <p:nvPr/>
        </p:nvSpPr>
        <p:spPr>
          <a:xfrm>
            <a:off x="4594860" y="404530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8" name="lane-12-result"/>
          <p:cNvSpPr txBox="1"/>
          <p:nvPr/>
        </p:nvSpPr>
        <p:spPr>
          <a:xfrm>
            <a:off x="5532120" y="3992270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совпала с готовой на 96–99%</a:t>
            </a:r>
            <a:endParaRPr lang="en-US" sz="950" dirty="0"/>
          </a:p>
        </p:txBody>
      </p:sp>
      <p:sp>
        <p:nvSpPr>
          <p:cNvPr id="139" name="logs-line"/>
          <p:cNvSpPr txBox="1"/>
          <p:nvPr/>
        </p:nvSpPr>
        <p:spPr>
          <a:xfrm>
            <a:off x="667512" y="4308653"/>
            <a:ext cx="7808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в репозитории: research/agenda.yaml (план) · research/PROTOCOL.md (правила) · research/findings/ (отчёты) · Git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1170432" y="1371600"/>
            <a:ext cx="1920240" cy="1920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35331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776472" y="1371600"/>
            <a:ext cx="1920240" cy="1920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95935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382512" y="1371600"/>
            <a:ext cx="1920240" cy="1920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56539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11" name="done-card"/>
          <p:cNvSpPr/>
          <p:nvPr/>
        </p:nvSpPr>
        <p:spPr>
          <a:xfrm>
            <a:off x="667512" y="3611880"/>
            <a:ext cx="7808976" cy="960120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</p:sp>
      <p:sp>
        <p:nvSpPr>
          <p:cNvPr id="12" name="done-text"/>
          <p:cNvSpPr txBox="1"/>
          <p:nvPr/>
        </p:nvSpPr>
        <p:spPr>
          <a:xfrm>
            <a:off x="941832" y="3639312"/>
            <a:ext cx="7260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уровни задания · научный цикл с журналом гипотез · задания словами через языковую модель · своя карта через SLAM · два робота с координацией · память о лаборатории между прогонами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2026-10-09T08:24:11Z</dcterms:created>
  <dcterms:modified xsi:type="dcterms:W3CDTF">2026-10-09T08:24:11Z</dcterms:modified>
</cp:coreProperties>
</file>