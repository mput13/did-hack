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сновной поток" id="{0d590cdc-ee98-2b6c-79e2-c31a8ffa26e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Варианты на выбор" id="{f426419f-9f66-1c68-c9a6-c941075ece17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Запасные слайды" id="{6e7d5c95-50e1-73f2-6aba-b1db73b92505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подорожал</c:v>
                  </c:pt>
                  <c:pt idx="1">
                    <c:v>батарея течёт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47.2</c:v>
                </c:pt>
                <c:pt idx="1">
                  <c:v>22.6</c:v>
                </c:pt>
                <c:pt idx="2">
                  <c:v>11.3</c:v>
                </c:pt>
                <c:pt idx="3">
                  <c:v>18.9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двух замеров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подорожал</c:v>
                  </c:pt>
                  <c:pt idx="1">
                    <c:v>батарея течёт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99.8</c:v>
                </c:pt>
                <c:pt idx="1">
                  <c:v>0</c:v>
                </c:pt>
                <c:pt idx="2">
                  <c:v>0.2</c:v>
                </c:pt>
                <c:pt idx="3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включает ноль. Итог: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Формально это поиск при частичной наблюдаемости с ограничением по энергии. Цель — счёт судьи: десять очков за образец, двадцать за возврат, штрафы за столкновения, ложные сборы и опасные зоны. Робот ведёт карту вероятностей по правилу Байеса, оценивает цену грунта по расходу, строит маршрут с этой ценой и едет к цели, только если хватит заряда на дорогу домой. Сравниваем всегда парно, на одних сценариях, и говорим «лучше» только если интервал выше нуля.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Среда — Gazebo с TurtleBot3; для серий опытов — быстрый симулятор с тем же судьёй. Агент получает по ROS 2 лидар, одометрию, заряд и число датчика и отдаёт скорости. Внутри агента — картина мира, планировщик и исполнитель. Планировщик — правило или языковая модель: она получает текст миссии и сводку наблюдений и возвращает подцели в JSON; скоростями модель не управляет. Судья считает заряд и штрафы, истинное состояние среды от агента скрыто.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Датчик даёт одно число без направления. Одно показание — это кольцо: образец где-то на этом расстоянии, а ближе пусто. Робот отъехал, получил второе показание — кольцо сузилось. К восьмой секунде вероятность одного места — больше половины: это гипотеза «образец здесь». Робот подъезжает, пробует собрать и так её проверяет.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Заряд уходит вдвое быстрее прогноза. Робот не гадает, а выдвигает объяснения: подорожал грунт, течёт батарея, дорогие повороты. И выбирает опыт, который их различит и почти ничего не стоит: постоять две секунды. Стоя заряд не уходит — значит, не утечка. Разворот на месте дешёвый — значит, не повороты. Остаётся грунт: участок попадает в карту стоимости.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Датчик образцов зашумел — тоже без объявления. Слева робот продолжает ехать по шумным показаниям: за это время он проезжает четыре метра и тратит двадцать две единицы заряда из шестидесяти — и на последний образец заряда не хватает. Справа робот распознал сбой и переждал: потратил четыре единицы и собрал все семь. В среднем это даёт шесть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Миссию задаём словами: после первого штрафа — сразу домой. На двадцать седьмой секунде оба робота задевают опасную зону. Правило текста не читает и собирает дальше — миссия нарушена. Языковая модель видит в сводке состояния штраф, сверяет с миссией и возвращает одну подцель: на базу. Это настоящий ответ модели с сервера МАИ. На сорока восьми таких прогонах модель выполняет миссию в сорока пяти — сорока шести,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исследователь против плана заранее — плюс тринадцать. Распознавание сбоя датчика, контроль его исправности и запас на возврат по оценке пути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Девятнадцать работ из двадцати ревью вернуло на доработку — в этом и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Команда — три человека.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Гипотеза из двух частей. Первая: исследователь наберёт больше, чем робот с планом заранее, — подтвердилась. Вторая — за счёт чего: мы ожидали, что выигрыш дают все механизмы, уточняющие знание о среде. Подтвердилось для датчика и запаса на возврат, а для грунта —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Робот, который ведёт себя как исследователь, наберёт больше очков, чем робот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Покажу формулы на числах одного прогона. Датчик показал ноль пятьдесят три — значит, образец в девяноста пяти сантиметрах. Расход пять и семь при прогнозе два и девять — грунт дороже вдвое. Из опытов выбран тот, что даёт больше информации на единицу заряда. И счёт: семь образцов, возврат и остаток заряда — девяносто один и восемь.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Миссию задаём словами: собери ровно два образца и возвращайся. Правило текста не читает и собирает все семь. Языковая модель после второго образца возвращает одну подцель: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Готово всё, что требует условие, и три бонусных трека. Дальше — гипотезы от языковой модели внутри контура, память между прогонами и проверка на настоящем роботе.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Два бонусных трека. Робот сам строит карту через SLAM Toolbox: она совпадает с готовой на девяносто шесть — девяносто девять процентов клеток. И два робота с координацией: они делят арену и обмениваются сообщениями — прогон короче на двадцать шесть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Так это выглядит вживую: слева мир в Gazebo, справа страница показа — карта, заряд, счёт судьи и журнал решений робота.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«исследователь».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счёта включает ноль или лежит ниже нуля.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выше в 29 из 40 сценариев; по возврату на базу разницы нет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Математическая постановка и метрики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при частичной наблюдаемости с бюджетом энергии: среда скрыта, робот её оценивает</a:t>
            </a:r>
            <a:endParaRPr lang="en-US" sz="1150" dirty="0"/>
          </a:p>
        </p:txBody>
      </p:sp>
      <p:sp>
        <p:nvSpPr>
          <p:cNvPr id="5" name="goal-card"/>
          <p:cNvSpPr/>
          <p:nvPr/>
        </p:nvSpPr>
        <p:spPr>
          <a:xfrm>
            <a:off x="667512" y="1243584"/>
            <a:ext cx="7808976" cy="109728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6" name="goal-formula"/>
          <p:cNvSpPr txBox="1"/>
          <p:nvPr/>
        </p:nvSpPr>
        <p:spPr>
          <a:xfrm>
            <a:off x="941832" y="1307592"/>
            <a:ext cx="7260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Цель: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E[ J ],   J = 10·N + 20·R + 0,1·B·R − 2·K − 3·F − 5·H</a:t>
            </a:r>
            <a:endParaRPr lang="en-US" sz="1100" dirty="0"/>
          </a:p>
        </p:txBody>
      </p:sp>
      <p:sp>
        <p:nvSpPr>
          <p:cNvPr id="7" name="goal-legend"/>
          <p:cNvSpPr txBox="1"/>
          <p:nvPr/>
        </p:nvSpPr>
        <p:spPr>
          <a:xfrm>
            <a:off x="941832" y="1618488"/>
            <a:ext cx="7260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— собрано образцов, R — вернулся на базу (0 или 1), B — остаток заряда, K — столкновения, F — ложные сборы, H — заезды в опасную зону</a:t>
            </a:r>
            <a:endParaRPr lang="en-US" sz="1000" dirty="0"/>
          </a:p>
        </p:txBody>
      </p:sp>
      <p:sp>
        <p:nvSpPr>
          <p:cNvPr id="8" name="constraints"/>
          <p:cNvSpPr txBox="1"/>
          <p:nvPr/>
        </p:nvSpPr>
        <p:spPr>
          <a:xfrm>
            <a:off x="941832" y="2011680"/>
            <a:ext cx="7260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Ограничения: 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B₀ = 60,   T ≤ 600 с,   ΔB = 2,5·m(x, y)·Δs + 0,01·Δt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(m — цена грунта)</a:t>
            </a:r>
            <a:endParaRPr lang="en-US" sz="1100" dirty="0"/>
          </a:p>
        </p:txBody>
      </p:sp>
      <p:sp>
        <p:nvSpPr>
          <p:cNvPr id="9" name="math-1-card"/>
          <p:cNvSpPr/>
          <p:nvPr/>
        </p:nvSpPr>
        <p:spPr>
          <a:xfrm>
            <a:off x="667512" y="2468880"/>
            <a:ext cx="2487168" cy="21396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</p:sp>
      <p:sp>
        <p:nvSpPr>
          <p:cNvPr id="10" name="math-1-head"/>
          <p:cNvSpPr txBox="1"/>
          <p:nvPr/>
        </p:nvSpPr>
        <p:spPr>
          <a:xfrm>
            <a:off x="868680" y="256032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оценивает</a:t>
            </a:r>
            <a:endParaRPr lang="en-US" sz="1250" dirty="0"/>
          </a:p>
        </p:txBody>
      </p:sp>
      <p:sp>
        <p:nvSpPr>
          <p:cNvPr id="11" name="math-1-rows"/>
          <p:cNvSpPr txBox="1"/>
          <p:nvPr/>
        </p:nvSpPr>
        <p:spPr>
          <a:xfrm>
            <a:off x="868680" y="290779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образцов, шум σ = 0,05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max(0, 1 − d/2) + ε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вероятностей: правило Байеса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← p·L₁ / (p·L₁ + (1 − p)·L₀)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Цена грунта по расходу на пути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m̂ = ΔB / (2,5·Δs)</a:t>
            </a:r>
            <a:endParaRPr lang="en-US" sz="1100" dirty="0"/>
          </a:p>
        </p:txBody>
      </p:sp>
      <p:sp>
        <p:nvSpPr>
          <p:cNvPr id="12" name="math-2-card"/>
          <p:cNvSpPr/>
          <p:nvPr/>
        </p:nvSpPr>
        <p:spPr>
          <a:xfrm>
            <a:off x="3291840" y="2468880"/>
            <a:ext cx="2724912" cy="21396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/>
        </p:spPr>
      </p:sp>
      <p:sp>
        <p:nvSpPr>
          <p:cNvPr id="13" name="math-2-head"/>
          <p:cNvSpPr txBox="1"/>
          <p:nvPr/>
        </p:nvSpPr>
        <p:spPr>
          <a:xfrm>
            <a:off x="3493008" y="256032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решает</a:t>
            </a:r>
            <a:endParaRPr lang="en-US" sz="1250" dirty="0"/>
          </a:p>
        </p:txBody>
      </p:sp>
      <p:sp>
        <p:nvSpPr>
          <p:cNvPr id="14" name="math-2-rows"/>
          <p:cNvSpPr txBox="1"/>
          <p:nvPr/>
        </p:nvSpPr>
        <p:spPr>
          <a:xfrm>
            <a:off x="3493008" y="2907792"/>
            <a:ext cx="23591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Маршрут: Дейкстра по сетке 5 см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ребра = 2,5·m̂·длина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Запас: C₁ — путь к цели, C₂ — домой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едет, если B − C₁ − 1,1·C₂ − 4 ≥ 0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информация I на заряд c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e* = argmax I(e) / (c(e) + 0,05)</a:t>
            </a:r>
            <a:endParaRPr lang="en-US" sz="1100" dirty="0"/>
          </a:p>
        </p:txBody>
      </p:sp>
      <p:sp>
        <p:nvSpPr>
          <p:cNvPr id="15" name="math-3-card"/>
          <p:cNvSpPr/>
          <p:nvPr/>
        </p:nvSpPr>
        <p:spPr>
          <a:xfrm>
            <a:off x="6153912" y="2468880"/>
            <a:ext cx="2322576" cy="213969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math-3-head"/>
          <p:cNvSpPr txBox="1"/>
          <p:nvPr/>
        </p:nvSpPr>
        <p:spPr>
          <a:xfrm>
            <a:off x="6355080" y="2560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Метрики и почему они</a:t>
            </a:r>
            <a:endParaRPr lang="en-US" sz="1250" dirty="0"/>
          </a:p>
        </p:txBody>
      </p:sp>
      <p:sp>
        <p:nvSpPr>
          <p:cNvPr id="17" name="math-3-rows"/>
          <p:cNvSpPr txBox="1"/>
          <p:nvPr/>
        </p:nvSpPr>
        <p:spPr>
          <a:xfrm>
            <a:off x="6355080" y="2907792"/>
            <a:ext cx="19568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J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и есть цель задачи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возврат, расход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чего сложился счёт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Сравнение на одних сценариях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Δᵢ = J₁(sᵢ) − J₂(sᵢ), 95% интервал: «лучше», если он выше нуля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цикл управления и отдельный уровень планирования — один слайд вместо трёх</a:t>
            </a:r>
            <a:endParaRPr lang="en-US" sz="1150" dirty="0"/>
          </a:p>
        </p:txBody>
      </p:sp>
      <p:sp>
        <p:nvSpPr>
          <p:cNvPr id="5" name="env-circle"/>
          <p:cNvSpPr/>
          <p:nvPr/>
        </p:nvSpPr>
        <p:spPr>
          <a:xfrm>
            <a:off x="667512" y="137160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env-text"/>
          <p:cNvSpPr txBox="1"/>
          <p:nvPr/>
        </p:nvSpPr>
        <p:spPr>
          <a:xfrm>
            <a:off x="896112" y="1783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робот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Burger: лидар, одометрия, колёса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серий — быстрый симулятор</a:t>
            </a:r>
            <a:endParaRPr lang="en-US" sz="1100" dirty="0"/>
          </a:p>
        </p:txBody>
      </p:sp>
      <p:sp>
        <p:nvSpPr>
          <p:cNvPr id="7" name="agent-card"/>
          <p:cNvSpPr/>
          <p:nvPr/>
        </p:nvSpPr>
        <p:spPr>
          <a:xfrm>
            <a:off x="3291840" y="1298448"/>
            <a:ext cx="2788920" cy="2377440"/>
          </a:xfrm>
          <a:prstGeom prst="roundRect">
            <a:avLst>
              <a:gd name="adj" fmla="val 11538"/>
            </a:avLst>
          </a:prstGeom>
          <a:solidFill>
            <a:schemeClr val="accent3"/>
          </a:solidFill>
          <a:ln/>
        </p:spPr>
      </p:sp>
      <p:sp>
        <p:nvSpPr>
          <p:cNvPr id="8" name="agent-head"/>
          <p:cNvSpPr txBox="1"/>
          <p:nvPr/>
        </p:nvSpPr>
        <p:spPr>
          <a:xfrm>
            <a:off x="347472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 · Python + NumPy</a:t>
            </a:r>
            <a:endParaRPr lang="en-US" sz="1300" dirty="0"/>
          </a:p>
        </p:txBody>
      </p:sp>
      <p:sp>
        <p:nvSpPr>
          <p:cNvPr id="9" name="agent-part-1"/>
          <p:cNvSpPr/>
          <p:nvPr/>
        </p:nvSpPr>
        <p:spPr>
          <a:xfrm>
            <a:off x="3456432" y="1737360"/>
            <a:ext cx="2459736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0" name="agent-part-1-text"/>
          <p:cNvSpPr txBox="1"/>
          <p:nvPr/>
        </p:nvSpPr>
        <p:spPr>
          <a:xfrm>
            <a:off x="3593592" y="17373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мира: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вероятности образцов, цены грунта, зоны</a:t>
            </a:r>
            <a:endParaRPr lang="en-US" sz="950" dirty="0"/>
          </a:p>
        </p:txBody>
      </p:sp>
      <p:sp>
        <p:nvSpPr>
          <p:cNvPr id="11" name="agent-part-2"/>
          <p:cNvSpPr/>
          <p:nvPr/>
        </p:nvSpPr>
        <p:spPr>
          <a:xfrm>
            <a:off x="3456432" y="2212848"/>
            <a:ext cx="2459736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2" name="agent-part-2-text"/>
          <p:cNvSpPr txBox="1"/>
          <p:nvPr/>
        </p:nvSpPr>
        <p:spPr>
          <a:xfrm>
            <a:off x="3593592" y="2212848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Положение: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одометрия + лидар, SLAM Toolbox</a:t>
            </a:r>
            <a:endParaRPr lang="en-US" sz="950" dirty="0"/>
          </a:p>
        </p:txBody>
      </p:sp>
      <p:sp>
        <p:nvSpPr>
          <p:cNvPr id="13" name="agent-part-3"/>
          <p:cNvSpPr/>
          <p:nvPr/>
        </p:nvSpPr>
        <p:spPr>
          <a:xfrm>
            <a:off x="3456432" y="2688336"/>
            <a:ext cx="2459736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4" name="agent-part-3-text"/>
          <p:cNvSpPr txBox="1"/>
          <p:nvPr/>
        </p:nvSpPr>
        <p:spPr>
          <a:xfrm>
            <a:off x="3593592" y="268833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Планировщик: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950" dirty="0"/>
          </a:p>
        </p:txBody>
      </p:sp>
      <p:sp>
        <p:nvSpPr>
          <p:cNvPr id="15" name="agent-part-4"/>
          <p:cNvSpPr/>
          <p:nvPr/>
        </p:nvSpPr>
        <p:spPr>
          <a:xfrm>
            <a:off x="3456432" y="3163824"/>
            <a:ext cx="2459736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agent-part-4-text"/>
          <p:cNvSpPr txBox="1"/>
          <p:nvPr/>
        </p:nvSpPr>
        <p:spPr>
          <a:xfrm>
            <a:off x="3593592" y="316382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Исполнитель: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скорости v, ω; запас на возврат</a:t>
            </a:r>
            <a:endParaRPr lang="en-US" sz="950" dirty="0"/>
          </a:p>
        </p:txBody>
      </p:sp>
      <p:sp>
        <p:nvSpPr>
          <p:cNvPr id="17" name="llm-circle"/>
          <p:cNvSpPr/>
          <p:nvPr/>
        </p:nvSpPr>
        <p:spPr>
          <a:xfrm>
            <a:off x="6464808" y="1371600"/>
            <a:ext cx="2011680" cy="2011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llm-text"/>
          <p:cNvSpPr txBox="1"/>
          <p:nvPr/>
        </p:nvSpPr>
        <p:spPr>
          <a:xfrm>
            <a:off x="6675120" y="1783080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текст миссии + сводка наблюдений → план в JSON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</p:txBody>
      </p:sp>
      <p:sp>
        <p:nvSpPr>
          <p:cNvPr id="19" name="arrow-env-agent"/>
          <p:cNvSpPr/>
          <p:nvPr/>
        </p:nvSpPr>
        <p:spPr>
          <a:xfrm>
            <a:off x="2724912" y="2286000"/>
            <a:ext cx="52120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arrow-agent-env"/>
          <p:cNvSpPr/>
          <p:nvPr/>
        </p:nvSpPr>
        <p:spPr>
          <a:xfrm>
            <a:off x="3246120" y="2542032"/>
            <a:ext cx="-52120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ros-label"/>
          <p:cNvSpPr txBox="1"/>
          <p:nvPr/>
        </p:nvSpPr>
        <p:spPr>
          <a:xfrm>
            <a:off x="2615184" y="19933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</a:t>
            </a:r>
            <a:endParaRPr lang="en-US" sz="950" dirty="0"/>
          </a:p>
        </p:txBody>
      </p:sp>
      <p:sp>
        <p:nvSpPr>
          <p:cNvPr id="22" name="ros-sub"/>
          <p:cNvSpPr txBox="1"/>
          <p:nvPr/>
        </p:nvSpPr>
        <p:spPr>
          <a:xfrm>
            <a:off x="2615184" y="265176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← v, ω</a:t>
            </a:r>
            <a:endParaRPr lang="en-US" sz="900" dirty="0"/>
          </a:p>
        </p:txBody>
      </p:sp>
      <p:sp>
        <p:nvSpPr>
          <p:cNvPr id="23" name="arrow-agent-llm"/>
          <p:cNvSpPr/>
          <p:nvPr/>
        </p:nvSpPr>
        <p:spPr>
          <a:xfrm>
            <a:off x="6108192" y="2286000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arrow-llm-agent"/>
          <p:cNvSpPr/>
          <p:nvPr/>
        </p:nvSpPr>
        <p:spPr>
          <a:xfrm>
            <a:off x="6437376" y="2542032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judge-pill"/>
          <p:cNvSpPr/>
          <p:nvPr/>
        </p:nvSpPr>
        <p:spPr>
          <a:xfrm>
            <a:off x="667512" y="3813048"/>
            <a:ext cx="7808976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judge-text"/>
          <p:cNvSpPr txBox="1"/>
          <p:nvPr/>
        </p:nvSpPr>
        <p:spPr>
          <a:xfrm>
            <a:off x="941832" y="3813048"/>
            <a:ext cx="7260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 (узел ROS 2):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выдаёт сигнал образцов, считает заряд, сбор и штрафы. Истинное состояние среды скрыто от агента.</a:t>
            </a:r>
            <a:endParaRPr lang="en-US" sz="1100" dirty="0"/>
          </a:p>
        </p:txBody>
      </p:sp>
      <p:sp>
        <p:nvSpPr>
          <p:cNvPr id="27" name="resources"/>
          <p:cNvSpPr txBox="1"/>
          <p:nvPr/>
        </p:nvSpPr>
        <p:spPr>
          <a:xfrm>
            <a:off x="667512" y="4407408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Ресурсы: один ноутбук · прогон в Gazebo ≈ 2,5 мин · быстрый симулятор: 240 прогонов за 37 с · модели — сервер МАИ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агент ищет образец: из числа — место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прогон, первые девять секунд. Зелёное кольцо — настоящий образец: робот его не видит</a:t>
            </a:r>
            <a:endParaRPr lang="en-US" sz="1150" dirty="0"/>
          </a:p>
        </p:txBody>
      </p:sp>
      <p:pic>
        <p:nvPicPr>
          <p:cNvPr id="5" name="belief" descr="Три карты вероятностей: кольцо после первого показания, суженное кольцо после второго и пик у настоящег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7808976" cy="2358174"/>
          </a:xfrm>
          <a:prstGeom prst="rect">
            <a:avLst/>
          </a:prstGeom>
        </p:spPr>
      </p:pic>
      <p:sp>
        <p:nvSpPr>
          <p:cNvPr id="6" name="bel-1"/>
          <p:cNvSpPr txBox="1"/>
          <p:nvPr/>
        </p:nvSpPr>
        <p:spPr>
          <a:xfrm>
            <a:off x="758952" y="3656622"/>
            <a:ext cx="237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с · z = 0,52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 — кольцо: образец на этом расстоянии, ближе пусто</a:t>
            </a:r>
            <a:endParaRPr lang="en-US" sz="1100" dirty="0"/>
          </a:p>
        </p:txBody>
      </p:sp>
      <p:sp>
        <p:nvSpPr>
          <p:cNvPr id="7" name="bel-2"/>
          <p:cNvSpPr txBox="1"/>
          <p:nvPr/>
        </p:nvSpPr>
        <p:spPr>
          <a:xfrm>
            <a:off x="3361944" y="3656622"/>
            <a:ext cx="237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с · z = 0,61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показание с другого места: кольцо сузилось</a:t>
            </a:r>
            <a:endParaRPr lang="en-US" sz="1100" dirty="0"/>
          </a:p>
        </p:txBody>
      </p:sp>
      <p:sp>
        <p:nvSpPr>
          <p:cNvPr id="8" name="bel-3"/>
          <p:cNvSpPr txBox="1"/>
          <p:nvPr/>
        </p:nvSpPr>
        <p:spPr>
          <a:xfrm>
            <a:off x="5964936" y="3656622"/>
            <a:ext cx="237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с · вероятность 51%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подъезд → сбор на 9-й секунде</a:t>
            </a:r>
            <a:endParaRPr lang="en-US" sz="1100" dirty="0"/>
          </a:p>
        </p:txBody>
      </p:sp>
      <p:sp>
        <p:nvSpPr>
          <p:cNvPr id="9" name="chain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0" name="chain-text"/>
          <p:cNvSpPr txBox="1"/>
          <p:nvPr/>
        </p:nvSpPr>
        <p:spPr>
          <a:xfrm>
            <a:off x="941832" y="4224528"/>
            <a:ext cx="7260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показание z → карта вероятностей → кандидат → маршрут с ценой грунта → проверка запаса на возврат → скорости v, 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цель — гипотеза «образец здесь»: подъехал, собрал, подтвердил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судья сделал грунт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5,7 ед/м при прогнозе 2,9 → опыт «постоять 2 с» → вывод: грунт; участок внесён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зашумел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«сбой датчика»; ждёт 36 с: стоять стоит 0,01 ед/с, ехать вслепую — около 0,23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1. План заранее против исследователя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разницы нет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2. Расход вырос вдвое — робот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31-я секунда того же прогона: судья сделал грунт дороже и роботу об этом не сказал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step-1-text"/>
          <p:cNvSpPr txBox="1"/>
          <p:nvPr/>
        </p:nvSpPr>
        <p:spPr>
          <a:xfrm>
            <a:off x="1069848" y="12984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Странность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5,7 ед/м при прогнозе 2,9</a:t>
            </a:r>
            <a:endParaRPr lang="en-US" sz="1100" dirty="0"/>
          </a:p>
        </p:txBody>
      </p:sp>
      <p:sp>
        <p:nvSpPr>
          <p:cNvPr id="8" name="step-2-dot"/>
          <p:cNvSpPr/>
          <p:nvPr/>
        </p:nvSpPr>
        <p:spPr>
          <a:xfrm>
            <a:off x="667512" y="1892808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tep-2-n"/>
          <p:cNvSpPr txBox="1"/>
          <p:nvPr/>
        </p:nvSpPr>
        <p:spPr>
          <a:xfrm>
            <a:off x="667512" y="1892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tep-2-text"/>
          <p:cNvSpPr txBox="1"/>
          <p:nvPr/>
        </p:nvSpPr>
        <p:spPr>
          <a:xfrm>
            <a:off x="1069848" y="1865376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Объяснения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подорожал · батарея течёт · дорогие повороты · другая причина</a:t>
            </a:r>
            <a:endParaRPr lang="en-US" sz="1100" dirty="0"/>
          </a:p>
        </p:txBody>
      </p:sp>
      <p:sp>
        <p:nvSpPr>
          <p:cNvPr id="11" name="step-3-dot"/>
          <p:cNvSpPr/>
          <p:nvPr/>
        </p:nvSpPr>
        <p:spPr>
          <a:xfrm>
            <a:off x="667512" y="2459736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step-3-n"/>
          <p:cNvSpPr txBox="1"/>
          <p:nvPr/>
        </p:nvSpPr>
        <p:spPr>
          <a:xfrm>
            <a:off x="667512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tep-3-text"/>
          <p:cNvSpPr txBox="1"/>
          <p:nvPr/>
        </p:nvSpPr>
        <p:spPr>
          <a:xfrm>
            <a:off x="1069848" y="243230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постоять 2 с: 1,07 бит за 0,02 ед. заряда. Проехать 0,3 м дало бы 0,50 бит за 1,4 ед. — не выбран</a:t>
            </a:r>
            <a:endParaRPr lang="en-US" sz="1100" dirty="0"/>
          </a:p>
        </p:txBody>
      </p:sp>
      <p:sp>
        <p:nvSpPr>
          <p:cNvPr id="14" name="step-4-dot"/>
          <p:cNvSpPr/>
          <p:nvPr/>
        </p:nvSpPr>
        <p:spPr>
          <a:xfrm>
            <a:off x="667512" y="3026664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tep-4-n"/>
          <p:cNvSpPr txBox="1"/>
          <p:nvPr/>
        </p:nvSpPr>
        <p:spPr>
          <a:xfrm>
            <a:off x="667512" y="30266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tep-4-text"/>
          <p:cNvSpPr txBox="1"/>
          <p:nvPr/>
        </p:nvSpPr>
        <p:spPr>
          <a:xfrm>
            <a:off x="1069848" y="29992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стоя — 0,01 ед/с: утечки нет; разворот — 0,06 ед/рад: повороты дешёвые</a:t>
            </a:r>
            <a:endParaRPr lang="en-US" sz="1100" dirty="0"/>
          </a:p>
        </p:txBody>
      </p:sp>
      <p:sp>
        <p:nvSpPr>
          <p:cNvPr id="17" name="step-5-dot"/>
          <p:cNvSpPr/>
          <p:nvPr/>
        </p:nvSpPr>
        <p:spPr>
          <a:xfrm>
            <a:off x="667512" y="3593592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step-5-n"/>
          <p:cNvSpPr txBox="1"/>
          <p:nvPr/>
        </p:nvSpPr>
        <p:spPr>
          <a:xfrm>
            <a:off x="667512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tep-5-text"/>
          <p:cNvSpPr txBox="1"/>
          <p:nvPr/>
        </p:nvSpPr>
        <p:spPr>
          <a:xfrm>
            <a:off x="1069848" y="356616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дороже в 2,1 раза; участок внесён в карту стоимости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709160" y="1298448"/>
            <a:ext cx="3767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Вероятность объяснений до опытов и после них</a:t>
            </a:r>
            <a:endParaRPr lang="en-US" sz="1100" dirty="0"/>
          </a:p>
        </p:txBody>
      </p:sp>
      <p:graphicFrame>
        <p:nvGraphicFramePr>
          <p:cNvPr id="21" name="inquiry-chart" descr="Вероятности четырёх объяснений до опытов и после двух замеров: «грунт подорожал» — с 47 до 99,8 процента"/>
          <p:cNvGraphicFramePr/>
          <p:nvPr/>
        </p:nvGraphicFramePr>
        <p:xfrm>
          <a:off x="4617720" y="1517904"/>
          <a:ext cx="3858768" cy="2542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сериях 9 из 10 подтверждённых гипотез верны по скрытой правде. Выигрыш в очках от реакции на грунт не показан: +1,0 [−3,6; +5,4]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3. Датчик зашумел: ехать или ждать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№8024: сбой датчика с 60-й по 96-ю секунду — оранжевый участок пути</a:t>
            </a:r>
            <a:endParaRPr lang="en-US" sz="1150" dirty="0"/>
          </a:p>
        </p:txBody>
      </p:sp>
      <p:pic>
        <p:nvPicPr>
          <p:cNvPr id="5" name="pair_sensor_fault" descr="Две карты одного сценария: робот, который едет во время сбоя датчика, и робот, который пережидает сб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распознавания сбоя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37 с шума: 4,2 м пути и 22 ед. заряда · 6 из 7 · счёт 80,4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0,6 м пути и 4 ед. заряда · 7 из 7 · счёт 90,6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[2,9; 9,8]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новых трудных сценариев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Расчёт робота: стоять — 0,01 ед/с, ехать по шумным показаниям — около 0,23 ед/с впустую. Поэтому он ждёт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4. LLM читает миссию и меняет план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Одна карта, один агент; различается только то, кто выбирает подцели: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 словами: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«После первого же штрафа немедленно возвращайся на базу»</a:t>
            </a:r>
            <a:endParaRPr lang="en-US" sz="1150" dirty="0"/>
          </a:p>
        </p:txBody>
      </p:sp>
      <p:pic>
        <p:nvPicPr>
          <p:cNvPr id="7" name="pair_llm_m4" descr="Две карты одного сценария: после штрафа робот с правилом продолжает собирать, робот с языковой моделью едет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4114800" cy="1870592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3626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штрафа собрал ещё 4 образца: миссия нарушена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2798064" y="36262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· qwen3.8-flash-next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сразу повернул домой, на базе на 40-й с: выполнена</a:t>
            </a:r>
            <a:endParaRPr lang="en-US" sz="1100" dirty="0"/>
          </a:p>
        </p:txBody>
      </p:sp>
      <p:sp>
        <p:nvSpPr>
          <p:cNvPr id="10" name="quote-card"/>
          <p:cNvSpPr/>
          <p:nvPr/>
        </p:nvSpPr>
        <p:spPr>
          <a:xfrm>
            <a:off x="4983480" y="1700784"/>
            <a:ext cx="3493008" cy="1517904"/>
          </a:xfrm>
          <a:prstGeom prst="roundRect">
            <a:avLst>
              <a:gd name="adj" fmla="val 13253"/>
            </a:avLst>
          </a:prstGeom>
          <a:solidFill>
            <a:schemeClr val="bg2"/>
          </a:solidFill>
          <a:ln/>
        </p:spPr>
      </p:sp>
      <p:sp>
        <p:nvSpPr>
          <p:cNvPr id="11" name="quote-head"/>
          <p:cNvSpPr txBox="1"/>
          <p:nvPr/>
        </p:nvSpPr>
        <p:spPr>
          <a:xfrm>
            <a:off x="5184648" y="17739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модели на 27-й секунде, дословно</a:t>
            </a:r>
            <a:endParaRPr lang="en-US" sz="950" dirty="0"/>
          </a:p>
        </p:txBody>
      </p:sp>
      <p:sp>
        <p:nvSpPr>
          <p:cNvPr id="12" name="quote-text"/>
          <p:cNvSpPr txBox="1"/>
          <p:nvPr/>
        </p:nvSpPr>
        <p:spPr>
          <a:xfrm>
            <a:off x="5184648" y="2011680"/>
            <a:ext cx="31272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i="1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«Миссия: после первого штрафа немедленно на базу. Штраф получен (hazard_hit=1, total=1). Заряд 45,7, возврат 6,9 — запас достаточен. 3 из 7 образцов собрано, но миссия требует остановки. Возврат.»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подцели: [ return_base ]</a:t>
            </a:r>
            <a:endParaRPr lang="en-US" sz="1100" dirty="0"/>
          </a:p>
        </p:txBody>
      </p:sp>
      <p:sp>
        <p:nvSpPr>
          <p:cNvPr id="13" name="llm-value"/>
          <p:cNvSpPr txBox="1"/>
          <p:nvPr/>
        </p:nvSpPr>
        <p:spPr>
          <a:xfrm>
            <a:off x="4983480" y="3310128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2400" dirty="0"/>
          </a:p>
        </p:txBody>
      </p:sp>
      <p:sp>
        <p:nvSpPr>
          <p:cNvPr id="14" name="llm-label"/>
          <p:cNvSpPr txBox="1"/>
          <p:nvPr/>
        </p:nvSpPr>
        <p:spPr>
          <a:xfrm>
            <a:off x="4983480" y="370332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выполняет каждая из трёх моделей МАИ; правило — 0 из 48</a:t>
            </a:r>
            <a:endParaRPr lang="en-US" sz="1000" dirty="0"/>
          </a:p>
        </p:txBody>
      </p:sp>
      <p:sp>
        <p:nvSpPr>
          <p:cNvPr id="15" name="llm-note"/>
          <p:cNvSpPr txBox="1"/>
          <p:nvPr/>
        </p:nvSpPr>
        <p:spPr>
          <a:xfrm>
            <a:off x="667512" y="4297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в этом опыте не учитывается. На обычной миссии модель выбирает то же, что правило; ответ идёт 15–25 с, поэтому на показе решает правило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98448"/>
            <a:ext cx="0" cy="224028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5661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98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9844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58468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99032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618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Распознаёт сбой датчика и пережидает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6184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61848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78508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719072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938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9385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93852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98548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2039112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258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25856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418588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359152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5786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57860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57860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5817779" y="2738628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246266" y="2679192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898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8986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89864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dot"/>
          <p:cNvSpPr/>
          <p:nvPr/>
        </p:nvSpPr>
        <p:spPr>
          <a:xfrm>
            <a:off x="6142317" y="2999232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res-7-label"/>
          <p:cNvSpPr txBox="1"/>
          <p:nvPr/>
        </p:nvSpPr>
        <p:spPr>
          <a:xfrm>
            <a:off x="667512" y="32186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2" name="res-7-value"/>
          <p:cNvSpPr txBox="1"/>
          <p:nvPr/>
        </p:nvSpPr>
        <p:spPr>
          <a:xfrm>
            <a:off x="3611880" y="32186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3" name="res-7-mark"/>
          <p:cNvSpPr txBox="1"/>
          <p:nvPr/>
        </p:nvSpPr>
        <p:spPr>
          <a:xfrm>
            <a:off x="5029200" y="3218688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4" name="res-7-ci"/>
          <p:cNvSpPr/>
          <p:nvPr/>
        </p:nvSpPr>
        <p:spPr>
          <a:xfrm>
            <a:off x="5913242" y="3378708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5" name="res-7-dot"/>
          <p:cNvSpPr/>
          <p:nvPr/>
        </p:nvSpPr>
        <p:spPr>
          <a:xfrm>
            <a:off x="6097768" y="3319272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note"/>
          <p:cNvSpPr txBox="1"/>
          <p:nvPr/>
        </p:nvSpPr>
        <p:spPr>
          <a:xfrm>
            <a:off x="667512" y="357530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Числа из разных опытов (E1, P1, E2, R10, A1): между собой не складываются</a:t>
            </a:r>
            <a:endParaRPr lang="en-US" sz="950" dirty="0"/>
          </a:p>
        </p:txBody>
      </p:sp>
      <p:sp>
        <p:nvSpPr>
          <p:cNvPr id="47" name="tile-1"/>
          <p:cNvSpPr/>
          <p:nvPr/>
        </p:nvSpPr>
        <p:spPr>
          <a:xfrm>
            <a:off x="667512" y="3858768"/>
            <a:ext cx="2505456" cy="749808"/>
          </a:xfrm>
          <a:prstGeom prst="roundRect">
            <a:avLst>
              <a:gd name="adj" fmla="val 36585"/>
            </a:avLst>
          </a:prstGeom>
          <a:solidFill>
            <a:schemeClr val="accent1"/>
          </a:solidFill>
          <a:ln/>
        </p:spPr>
      </p:sp>
      <p:sp>
        <p:nvSpPr>
          <p:cNvPr id="48" name="tile-1-value"/>
          <p:cNvSpPr txBox="1"/>
          <p:nvPr/>
        </p:nvSpPr>
        <p:spPr>
          <a:xfrm>
            <a:off x="896112" y="3895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</a:t>
            </a:r>
            <a:endParaRPr lang="en-US" sz="1500" dirty="0"/>
          </a:p>
        </p:txBody>
      </p:sp>
      <p:sp>
        <p:nvSpPr>
          <p:cNvPr id="49" name="tile-1-label"/>
          <p:cNvSpPr txBox="1"/>
          <p:nvPr/>
        </p:nvSpPr>
        <p:spPr>
          <a:xfrm>
            <a:off x="896112" y="41879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показа в Gazebo: 7 из 7 образцов, без штрафов</a:t>
            </a:r>
            <a:endParaRPr lang="en-US" sz="900" dirty="0"/>
          </a:p>
        </p:txBody>
      </p:sp>
      <p:sp>
        <p:nvSpPr>
          <p:cNvPr id="50" name="tile-2"/>
          <p:cNvSpPr/>
          <p:nvPr/>
        </p:nvSpPr>
        <p:spPr>
          <a:xfrm>
            <a:off x="3319272" y="3858768"/>
            <a:ext cx="2505456" cy="749808"/>
          </a:xfrm>
          <a:prstGeom prst="roundRect">
            <a:avLst>
              <a:gd name="adj" fmla="val 36585"/>
            </a:avLst>
          </a:prstGeom>
          <a:solidFill>
            <a:schemeClr val="accent2"/>
          </a:solidFill>
          <a:ln/>
        </p:spPr>
      </p:sp>
      <p:sp>
        <p:nvSpPr>
          <p:cNvPr id="51" name="tile-2-value"/>
          <p:cNvSpPr txBox="1"/>
          <p:nvPr/>
        </p:nvSpPr>
        <p:spPr>
          <a:xfrm>
            <a:off x="3547872" y="3895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500" dirty="0"/>
          </a:p>
        </p:txBody>
      </p:sp>
      <p:sp>
        <p:nvSpPr>
          <p:cNvPr id="52" name="tile-2-label"/>
          <p:cNvSpPr txBox="1"/>
          <p:nvPr/>
        </p:nvSpPr>
        <p:spPr>
          <a:xfrm>
            <a:off x="3547872" y="41879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3" name="tile-3"/>
          <p:cNvSpPr/>
          <p:nvPr/>
        </p:nvSpPr>
        <p:spPr>
          <a:xfrm>
            <a:off x="5971032" y="3858768"/>
            <a:ext cx="2505456" cy="749808"/>
          </a:xfrm>
          <a:prstGeom prst="roundRect">
            <a:avLst>
              <a:gd name="adj" fmla="val 36585"/>
            </a:avLst>
          </a:prstGeom>
          <a:solidFill>
            <a:schemeClr val="accent3"/>
          </a:solidFill>
          <a:ln/>
        </p:spPr>
      </p:sp>
      <p:sp>
        <p:nvSpPr>
          <p:cNvPr id="54" name="tile-3-value"/>
          <p:cNvSpPr txBox="1"/>
          <p:nvPr/>
        </p:nvSpPr>
        <p:spPr>
          <a:xfrm>
            <a:off x="6199632" y="3895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500" dirty="0"/>
          </a:p>
        </p:txBody>
      </p:sp>
      <p:sp>
        <p:nvSpPr>
          <p:cNvPr id="55" name="tile-3-label"/>
          <p:cNvSpPr txBox="1"/>
          <p:nvPr/>
        </p:nvSpPr>
        <p:spPr>
          <a:xfrm>
            <a:off x="6199632" y="41879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отмеченных роботом как подтверждённые, верны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использовали ИИ при разработке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7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0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1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4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5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6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19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0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1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2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282</a:t>
            </a:r>
            <a:endParaRPr lang="en-US" sz="2400" dirty="0"/>
          </a:p>
        </p:txBody>
      </p:sp>
      <p:sp>
        <p:nvSpPr>
          <p:cNvPr id="23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4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1022</a:t>
            </a:r>
            <a:endParaRPr lang="en-US" sz="2400" dirty="0"/>
          </a:p>
        </p:txBody>
      </p:sp>
      <p:sp>
        <p:nvSpPr>
          <p:cNvPr id="25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6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7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8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из 20</a:t>
            </a:r>
            <a:endParaRPr lang="en-US" sz="2400" dirty="0"/>
          </a:p>
        </p:txBody>
      </p:sp>
      <p:sp>
        <p:nvSpPr>
          <p:cNvPr id="29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0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ссылки. Инструменты: Claude Code, Codex, Antigravity; модели робота — сервер МАИ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896112" y="1600200"/>
            <a:ext cx="2148840" cy="2148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078992" y="210312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502152" y="1600200"/>
            <a:ext cx="2148840" cy="21488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685032" y="210312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108192" y="1600200"/>
            <a:ext cx="2148840" cy="21488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291072" y="210312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гипотеза: что и за счёт чего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Две части: главное утверждение и механизм. Вторая часть подтвердилась не целиком</a:t>
            </a:r>
            <a:endParaRPr lang="en-US" sz="1150" dirty="0"/>
          </a:p>
        </p:txBody>
      </p:sp>
      <p:sp>
        <p:nvSpPr>
          <p:cNvPr id="5" name="variant-tag"/>
          <p:cNvSpPr txBox="1"/>
          <p:nvPr/>
        </p:nvSpPr>
        <p:spPr>
          <a:xfrm>
            <a:off x="5989320" y="109728"/>
            <a:ext cx="2487168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Б · вместо слайда 3</a:t>
            </a:r>
            <a:endParaRPr lang="en-US" sz="900" dirty="0"/>
          </a:p>
        </p:txBody>
      </p:sp>
      <p:sp>
        <p:nvSpPr>
          <p:cNvPr id="6" name="h1-card"/>
          <p:cNvSpPr/>
          <p:nvPr/>
        </p:nvSpPr>
        <p:spPr>
          <a:xfrm>
            <a:off x="667512" y="1261872"/>
            <a:ext cx="3749040" cy="1371600"/>
          </a:xfrm>
          <a:prstGeom prst="roundRect">
            <a:avLst>
              <a:gd name="adj" fmla="val 18667"/>
            </a:avLst>
          </a:prstGeom>
          <a:solidFill>
            <a:schemeClr val="accent1"/>
          </a:solidFill>
          <a:ln/>
        </p:spPr>
      </p:sp>
      <p:sp>
        <p:nvSpPr>
          <p:cNvPr id="7" name="h1-text"/>
          <p:cNvSpPr txBox="1"/>
          <p:nvPr/>
        </p:nvSpPr>
        <p:spPr>
          <a:xfrm>
            <a:off x="896112" y="1335024"/>
            <a:ext cx="3291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Г1. Что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сверяет ожидания с датчиком и расходом батареи и перестраивает поиск, наберёт больше очков, чем робот с планом заранее.</a:t>
            </a:r>
            <a:endParaRPr lang="en-US" sz="1100" dirty="0"/>
          </a:p>
        </p:txBody>
      </p:sp>
      <p:sp>
        <p:nvSpPr>
          <p:cNvPr id="8" name="h2-card"/>
          <p:cNvSpPr/>
          <p:nvPr/>
        </p:nvSpPr>
        <p:spPr>
          <a:xfrm>
            <a:off x="667512" y="2761488"/>
            <a:ext cx="3749040" cy="1371600"/>
          </a:xfrm>
          <a:prstGeom prst="roundRect">
            <a:avLst>
              <a:gd name="adj" fmla="val 18667"/>
            </a:avLst>
          </a:prstGeom>
          <a:solidFill>
            <a:schemeClr val="accent2"/>
          </a:solidFill>
          <a:ln/>
        </p:spPr>
      </p:sp>
      <p:sp>
        <p:nvSpPr>
          <p:cNvPr id="9" name="h2-text"/>
          <p:cNvSpPr txBox="1"/>
          <p:nvPr/>
        </p:nvSpPr>
        <p:spPr>
          <a:xfrm>
            <a:off x="896112" y="2834640"/>
            <a:ext cx="3291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Г2. За счёт чего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дают механизмы, которые уточняют знание робота о среде и о себе: исправность датчика, запас на возврат, цена грунта.</a:t>
            </a:r>
            <a:endParaRPr lang="en-US" sz="1100" dirty="0"/>
          </a:p>
        </p:txBody>
      </p:sp>
      <p:sp>
        <p:nvSpPr>
          <p:cNvPr id="10" name="refute"/>
          <p:cNvSpPr txBox="1"/>
          <p:nvPr/>
        </p:nvSpPr>
        <p:spPr>
          <a:xfrm>
            <a:off x="667512" y="4261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Опровергает: 95% интервал разности включает ноль</a:t>
            </a:r>
            <a:endParaRPr lang="en-US" sz="1000" dirty="0"/>
          </a:p>
        </p:txBody>
      </p:sp>
      <p:sp>
        <p:nvSpPr>
          <p:cNvPr id="11" name="hv-axis-zero"/>
          <p:cNvSpPr/>
          <p:nvPr/>
        </p:nvSpPr>
        <p:spPr>
          <a:xfrm>
            <a:off x="7342632" y="1371600"/>
            <a:ext cx="0" cy="2523744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12" name="hv-axis-tick-0"/>
          <p:cNvSpPr txBox="1"/>
          <p:nvPr/>
        </p:nvSpPr>
        <p:spPr>
          <a:xfrm>
            <a:off x="7068312" y="39227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13" name="hv-axis-tick-10"/>
          <p:cNvSpPr txBox="1"/>
          <p:nvPr/>
        </p:nvSpPr>
        <p:spPr>
          <a:xfrm>
            <a:off x="7580376" y="39227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4" name="hv-axis-tick-20"/>
          <p:cNvSpPr txBox="1"/>
          <p:nvPr/>
        </p:nvSpPr>
        <p:spPr>
          <a:xfrm>
            <a:off x="8092440" y="39227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5" name="hv-1-label"/>
          <p:cNvSpPr txBox="1"/>
          <p:nvPr/>
        </p:nvSpPr>
        <p:spPr>
          <a:xfrm>
            <a:off x="4663440" y="137160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Г1 · против плана заранее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100" dirty="0"/>
          </a:p>
        </p:txBody>
      </p:sp>
      <p:sp>
        <p:nvSpPr>
          <p:cNvPr id="16" name="hv-1-ci"/>
          <p:cNvSpPr/>
          <p:nvPr/>
        </p:nvSpPr>
        <p:spPr>
          <a:xfrm>
            <a:off x="7721559" y="1581912"/>
            <a:ext cx="593994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7" name="hv-1-dot"/>
          <p:cNvSpPr/>
          <p:nvPr/>
        </p:nvSpPr>
        <p:spPr>
          <a:xfrm>
            <a:off x="7964241" y="1522476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hv-2-label"/>
          <p:cNvSpPr txBox="1"/>
          <p:nvPr/>
        </p:nvSpPr>
        <p:spPr>
          <a:xfrm>
            <a:off x="4663440" y="17922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 · пережидание сбоя датчика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100" dirty="0"/>
          </a:p>
        </p:txBody>
      </p:sp>
      <p:sp>
        <p:nvSpPr>
          <p:cNvPr id="19" name="hv-2-ci"/>
          <p:cNvSpPr/>
          <p:nvPr/>
        </p:nvSpPr>
        <p:spPr>
          <a:xfrm>
            <a:off x="7491131" y="2002536"/>
            <a:ext cx="353324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0" name="hv-2-dot"/>
          <p:cNvSpPr/>
          <p:nvPr/>
        </p:nvSpPr>
        <p:spPr>
          <a:xfrm>
            <a:off x="7610917" y="1943100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hv-3-label"/>
          <p:cNvSpPr txBox="1"/>
          <p:nvPr/>
        </p:nvSpPr>
        <p:spPr>
          <a:xfrm>
            <a:off x="4663440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 · исправность датчика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100" dirty="0"/>
          </a:p>
        </p:txBody>
      </p:sp>
      <p:sp>
        <p:nvSpPr>
          <p:cNvPr id="22" name="hv-3-ci"/>
          <p:cNvSpPr/>
          <p:nvPr/>
        </p:nvSpPr>
        <p:spPr>
          <a:xfrm>
            <a:off x="7429683" y="2423160"/>
            <a:ext cx="33284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3" name="hv-3-dot"/>
          <p:cNvSpPr/>
          <p:nvPr/>
        </p:nvSpPr>
        <p:spPr>
          <a:xfrm>
            <a:off x="7534107" y="236372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hv-4-label"/>
          <p:cNvSpPr txBox="1"/>
          <p:nvPr/>
        </p:nvSpPr>
        <p:spPr>
          <a:xfrm>
            <a:off x="4663440" y="263347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 · запас на возврат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100" dirty="0"/>
          </a:p>
        </p:txBody>
      </p:sp>
      <p:sp>
        <p:nvSpPr>
          <p:cNvPr id="25" name="hv-4-ci"/>
          <p:cNvSpPr/>
          <p:nvPr/>
        </p:nvSpPr>
        <p:spPr>
          <a:xfrm>
            <a:off x="7424562" y="2843784"/>
            <a:ext cx="20482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hv-4-dot"/>
          <p:cNvSpPr/>
          <p:nvPr/>
        </p:nvSpPr>
        <p:spPr>
          <a:xfrm>
            <a:off x="7467539" y="278434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hv-5-label"/>
          <p:cNvSpPr txBox="1"/>
          <p:nvPr/>
        </p:nvSpPr>
        <p:spPr>
          <a:xfrm>
            <a:off x="4663440" y="30540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 · цена грунта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 · не показано</a:t>
            </a:r>
            <a:endParaRPr lang="en-US" sz="1100" dirty="0"/>
          </a:p>
        </p:txBody>
      </p:sp>
      <p:sp>
        <p:nvSpPr>
          <p:cNvPr id="28" name="hv-5-ci"/>
          <p:cNvSpPr/>
          <p:nvPr/>
        </p:nvSpPr>
        <p:spPr>
          <a:xfrm>
            <a:off x="7158289" y="3264408"/>
            <a:ext cx="460858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29" name="hv-5-dot"/>
          <p:cNvSpPr/>
          <p:nvPr/>
        </p:nvSpPr>
        <p:spPr>
          <a:xfrm>
            <a:off x="7334402" y="3204972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hv-6-label"/>
          <p:cNvSpPr txBox="1"/>
          <p:nvPr/>
        </p:nvSpPr>
        <p:spPr>
          <a:xfrm>
            <a:off x="4663440" y="34747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Г2 · смена грунта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 · не показано</a:t>
            </a:r>
            <a:endParaRPr lang="en-US" sz="1100" dirty="0"/>
          </a:p>
        </p:txBody>
      </p:sp>
      <p:sp>
        <p:nvSpPr>
          <p:cNvPr id="31" name="hv-6-dot"/>
          <p:cNvSpPr/>
          <p:nvPr/>
        </p:nvSpPr>
        <p:spPr>
          <a:xfrm>
            <a:off x="7284220" y="3625596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hv-result"/>
          <p:cNvSpPr txBox="1"/>
          <p:nvPr/>
        </p:nvSpPr>
        <p:spPr>
          <a:xfrm>
            <a:off x="4663440" y="4114800"/>
            <a:ext cx="3813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Г1 подтверждена; Г2 — для датчика и запаса на возврат, для грунта не подтверждена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Формулировка из колоды команды, сокращённая до одного предложения</a:t>
            </a:r>
            <a:endParaRPr lang="en-US" sz="1150" dirty="0"/>
          </a:p>
        </p:txBody>
      </p:sp>
      <p:sp>
        <p:nvSpPr>
          <p:cNvPr id="5" name="variant-tag"/>
          <p:cNvSpPr txBox="1"/>
          <p:nvPr/>
        </p:nvSpPr>
        <p:spPr>
          <a:xfrm>
            <a:off x="5989320" y="109728"/>
            <a:ext cx="2487168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В · вместо слайда 3</a:t>
            </a:r>
            <a:endParaRPr lang="en-US" sz="900" dirty="0"/>
          </a:p>
        </p:txBody>
      </p:sp>
      <p:sp>
        <p:nvSpPr>
          <p:cNvPr id="6" name="hyp-text"/>
          <p:cNvSpPr txBox="1"/>
          <p:nvPr/>
        </p:nvSpPr>
        <p:spPr>
          <a:xfrm>
            <a:off x="667512" y="12984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ведёт себя как исследователь — сам замечает, что среда или датчик изменились, выдвигает объяснения, проверяет их действием и по результату перестраивает план, —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hyp-circle"/>
          <p:cNvSpPr/>
          <p:nvPr/>
        </p:nvSpPr>
        <p:spPr>
          <a:xfrm>
            <a:off x="6263640" y="118872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hyp-stat"/>
          <p:cNvSpPr txBox="1"/>
          <p:nvPr/>
        </p:nvSpPr>
        <p:spPr>
          <a:xfrm>
            <a:off x="6263640" y="162763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[7,4; 19,0]</a:t>
            </a:r>
            <a:endParaRPr lang="en-US" sz="1100" dirty="0"/>
          </a:p>
        </p:txBody>
      </p:sp>
      <p:sp>
        <p:nvSpPr>
          <p:cNvPr id="9" name="hyp-note"/>
          <p:cNvSpPr txBox="1"/>
          <p:nvPr/>
        </p:nvSpPr>
        <p:spPr>
          <a:xfrm>
            <a:off x="667512" y="272491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испытанных вариантах знание о среде весит больше порядка обхода: подсказка мест образцов дала +14,5 очка, замена порядка обхода при известных местах — +1,6</a:t>
            </a:r>
            <a:endParaRPr lang="en-US" sz="1000" dirty="0"/>
          </a:p>
        </p:txBody>
      </p:sp>
      <p:sp>
        <p:nvSpPr>
          <p:cNvPr id="10" name="check-1-dot"/>
          <p:cNvSpPr/>
          <p:nvPr/>
        </p:nvSpPr>
        <p:spPr>
          <a:xfrm>
            <a:off x="667512" y="336499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heck-1-head"/>
          <p:cNvSpPr txBox="1"/>
          <p:nvPr/>
        </p:nvSpPr>
        <p:spPr>
          <a:xfrm>
            <a:off x="1088136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12" name="check-1-body"/>
          <p:cNvSpPr txBox="1"/>
          <p:nvPr/>
        </p:nvSpPr>
        <p:spPr>
          <a:xfrm>
            <a:off x="667512" y="377647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«исследователь». Разность счёта — на каждом сценарии.</a:t>
            </a:r>
            <a:endParaRPr lang="en-US" sz="1050" dirty="0"/>
          </a:p>
        </p:txBody>
      </p:sp>
      <p:sp>
        <p:nvSpPr>
          <p:cNvPr id="13" name="check-2-dot"/>
          <p:cNvSpPr/>
          <p:nvPr/>
        </p:nvSpPr>
        <p:spPr>
          <a:xfrm>
            <a:off x="3319272" y="336499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check-2-head"/>
          <p:cNvSpPr txBox="1"/>
          <p:nvPr/>
        </p:nvSpPr>
        <p:spPr>
          <a:xfrm>
            <a:off x="3739896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5" name="check-2-body"/>
          <p:cNvSpPr txBox="1"/>
          <p:nvPr/>
        </p:nvSpPr>
        <p:spPr>
          <a:xfrm>
            <a:off x="3319272" y="377647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6" name="check-3-dot"/>
          <p:cNvSpPr/>
          <p:nvPr/>
        </p:nvSpPr>
        <p:spPr>
          <a:xfrm>
            <a:off x="5971032" y="336499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check-3-head"/>
          <p:cNvSpPr txBox="1"/>
          <p:nvPr/>
        </p:nvSpPr>
        <p:spPr>
          <a:xfrm>
            <a:off x="6391656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8" name="check-3-body"/>
          <p:cNvSpPr txBox="1"/>
          <p:nvPr/>
        </p:nvSpPr>
        <p:spPr>
          <a:xfrm>
            <a:off x="5971032" y="377647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счёта включает ноль или лежит ниже нуля.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 на одном прогоне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 же формулы, подставлены числа из прогона в Gazebo (трудный уровень, сценарий 2)</a:t>
            </a:r>
            <a:endParaRPr lang="en-US" sz="1150" dirty="0"/>
          </a:p>
        </p:txBody>
      </p:sp>
      <p:sp>
        <p:nvSpPr>
          <p:cNvPr id="5" name="variant-tag"/>
          <p:cNvSpPr txBox="1"/>
          <p:nvPr/>
        </p:nvSpPr>
        <p:spPr>
          <a:xfrm>
            <a:off x="5989320" y="109728"/>
            <a:ext cx="2487168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Б · вместо слайда 4</a:t>
            </a:r>
            <a:endParaRPr lang="en-US" sz="900" dirty="0"/>
          </a:p>
        </p:txBody>
      </p:sp>
      <p:pic>
        <p:nvPicPr>
          <p:cNvPr id="6" name="scenario" descr="Карта прогона в Gazebo с пятью отмеченными событиям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61872"/>
            <a:ext cx="3246120" cy="2992380"/>
          </a:xfrm>
          <a:prstGeom prst="rect">
            <a:avLst/>
          </a:prstGeom>
        </p:spPr>
      </p:pic>
      <p:sp>
        <p:nvSpPr>
          <p:cNvPr id="7" name="math-cap"/>
          <p:cNvSpPr txBox="1"/>
          <p:nvPr/>
        </p:nvSpPr>
        <p:spPr>
          <a:xfrm>
            <a:off x="667512" y="429997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в Gazebo, из записи которого взяты числа: ② — перерасход на 31-й секунде, ⑤ — финиш</a:t>
            </a:r>
            <a:endParaRPr lang="en-US" sz="950" dirty="0"/>
          </a:p>
        </p:txBody>
      </p:sp>
      <p:sp>
        <p:nvSpPr>
          <p:cNvPr id="8" name="mstep-1-dot"/>
          <p:cNvSpPr/>
          <p:nvPr/>
        </p:nvSpPr>
        <p:spPr>
          <a:xfrm>
            <a:off x="4206240" y="1335024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mstep-1-n"/>
          <p:cNvSpPr txBox="1"/>
          <p:nvPr/>
        </p:nvSpPr>
        <p:spPr>
          <a:xfrm>
            <a:off x="4206240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mstep-1-text"/>
          <p:cNvSpPr txBox="1"/>
          <p:nvPr/>
        </p:nvSpPr>
        <p:spPr>
          <a:xfrm>
            <a:off x="4599432" y="1298448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→ расстояние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0,53  →  d = (1 − 0,53)·2 = 0,95 м: образец на кольце</a:t>
            </a:r>
            <a:endParaRPr lang="en-US" sz="1100" dirty="0"/>
          </a:p>
        </p:txBody>
      </p:sp>
      <p:sp>
        <p:nvSpPr>
          <p:cNvPr id="11" name="mstep-2-dot"/>
          <p:cNvSpPr/>
          <p:nvPr/>
        </p:nvSpPr>
        <p:spPr>
          <a:xfrm>
            <a:off x="4206240" y="1975104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mstep-2-n"/>
          <p:cNvSpPr txBox="1"/>
          <p:nvPr/>
        </p:nvSpPr>
        <p:spPr>
          <a:xfrm>
            <a:off x="4206240" y="1975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mstep-2-text"/>
          <p:cNvSpPr txBox="1"/>
          <p:nvPr/>
        </p:nvSpPr>
        <p:spPr>
          <a:xfrm>
            <a:off x="4599432" y="1938528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→ цена грунта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m̂ = ΔB / (2,5·Δs)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 ед/м при прогнозе 2,9  →  грунт дороже в 2,1 раза</a:t>
            </a:r>
            <a:endParaRPr lang="en-US" sz="1100" dirty="0"/>
          </a:p>
        </p:txBody>
      </p:sp>
      <p:sp>
        <p:nvSpPr>
          <p:cNvPr id="14" name="mstep-3-dot"/>
          <p:cNvSpPr/>
          <p:nvPr/>
        </p:nvSpPr>
        <p:spPr>
          <a:xfrm>
            <a:off x="4206240" y="2615184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mstep-3-n"/>
          <p:cNvSpPr txBox="1"/>
          <p:nvPr/>
        </p:nvSpPr>
        <p:spPr>
          <a:xfrm>
            <a:off x="4206240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mstep-3-text"/>
          <p:cNvSpPr txBox="1"/>
          <p:nvPr/>
        </p:nvSpPr>
        <p:spPr>
          <a:xfrm>
            <a:off x="4599432" y="2578608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Выбор опыта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I(e) / (c(e) + 0,05)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постоять 2 с: 1,07/0,07 = 15,3; проехать 0,3 м: 0,50/1,45 = 0,34</a:t>
            </a:r>
            <a:endParaRPr lang="en-US" sz="1100" dirty="0"/>
          </a:p>
        </p:txBody>
      </p:sp>
      <p:sp>
        <p:nvSpPr>
          <p:cNvPr id="17" name="mstep-4-dot"/>
          <p:cNvSpPr/>
          <p:nvPr/>
        </p:nvSpPr>
        <p:spPr>
          <a:xfrm>
            <a:off x="4206240" y="3255264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mstep-4-n"/>
          <p:cNvSpPr txBox="1"/>
          <p:nvPr/>
        </p:nvSpPr>
        <p:spPr>
          <a:xfrm>
            <a:off x="420624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mstep-4-text"/>
          <p:cNvSpPr txBox="1"/>
          <p:nvPr/>
        </p:nvSpPr>
        <p:spPr>
          <a:xfrm>
            <a:off x="4599432" y="3218688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− C(туда) − 1,1·C(домой) − 4 ≥ 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едет, только если потом хватит на дорогу домой</a:t>
            </a:r>
            <a:endParaRPr lang="en-US" sz="1100" dirty="0"/>
          </a:p>
        </p:txBody>
      </p:sp>
      <p:sp>
        <p:nvSpPr>
          <p:cNvPr id="20" name="mstep-5-dot"/>
          <p:cNvSpPr/>
          <p:nvPr/>
        </p:nvSpPr>
        <p:spPr>
          <a:xfrm>
            <a:off x="4206240" y="3895344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mstep-5-n"/>
          <p:cNvSpPr txBox="1"/>
          <p:nvPr/>
        </p:nvSpPr>
        <p:spPr>
          <a:xfrm>
            <a:off x="420624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mstep-5-text"/>
          <p:cNvSpPr txBox="1"/>
          <p:nvPr/>
        </p:nvSpPr>
        <p:spPr>
          <a:xfrm>
            <a:off x="4599432" y="3858768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10·N + 20·R + 0,1·B·R − штрафы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10·7 + 20 + 0,1·18,3 = 91,8</a:t>
            </a:r>
            <a:endParaRPr lang="en-US" sz="1100" dirty="0"/>
          </a:p>
        </p:txBody>
      </p:sp>
      <p:sp>
        <p:nvSpPr>
          <p:cNvPr id="23" name="math-note"/>
          <p:cNvSpPr txBox="1"/>
          <p:nvPr/>
        </p:nvSpPr>
        <p:spPr>
          <a:xfrm>
            <a:off x="4206240" y="4443984"/>
            <a:ext cx="4270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Сравнение вариантов — разность счёта на одних сценариях, 95% интервал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4. LLM читает миссию и меняет план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Одна карта, один агент; различается только то, кто выбирает подцели: правило или языковая модель</a:t>
            </a:r>
            <a:endParaRPr lang="en-US" sz="1150" dirty="0"/>
          </a:p>
        </p:txBody>
      </p:sp>
      <p:sp>
        <p:nvSpPr>
          <p:cNvPr id="5" name="variant-tag"/>
          <p:cNvSpPr txBox="1"/>
          <p:nvPr/>
        </p:nvSpPr>
        <p:spPr>
          <a:xfrm>
            <a:off x="5989320" y="109728"/>
            <a:ext cx="2487168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Б · вместо слайда 11</a:t>
            </a:r>
            <a:endParaRPr lang="en-US" sz="900" dirty="0"/>
          </a:p>
        </p:txBody>
      </p:sp>
      <p:sp>
        <p:nvSpPr>
          <p:cNvPr id="6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7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 словами: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 и сразу возвращайся на базу»</a:t>
            </a:r>
            <a:endParaRPr lang="en-US" sz="1150" dirty="0"/>
          </a:p>
        </p:txBody>
      </p:sp>
      <p:pic>
        <p:nvPicPr>
          <p:cNvPr id="8" name="pair_llm_m1" descr="Две карты одного сценария: робот с правилом собирает все образцы, робот с языковой моделью собирает два и едет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4114800" cy="1870592"/>
          </a:xfrm>
          <a:prstGeom prst="rect">
            <a:avLst/>
          </a:prstGeom>
        </p:spPr>
      </p:pic>
      <p:sp>
        <p:nvSpPr>
          <p:cNvPr id="9" name="cap-left"/>
          <p:cNvSpPr txBox="1"/>
          <p:nvPr/>
        </p:nvSpPr>
        <p:spPr>
          <a:xfrm>
            <a:off x="713232" y="3626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7 из 7: миссия нарушена</a:t>
            </a:r>
            <a:endParaRPr lang="en-US" sz="1100" dirty="0"/>
          </a:p>
        </p:txBody>
      </p:sp>
      <p:sp>
        <p:nvSpPr>
          <p:cNvPr id="10" name="cap-right"/>
          <p:cNvSpPr txBox="1"/>
          <p:nvPr/>
        </p:nvSpPr>
        <p:spPr>
          <a:xfrm>
            <a:off x="2798064" y="362624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· qwen3.8-flash-next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2, на базе на 46-й с: выполнена</a:t>
            </a:r>
            <a:endParaRPr lang="en-US" sz="1100" dirty="0"/>
          </a:p>
        </p:txBody>
      </p:sp>
      <p:sp>
        <p:nvSpPr>
          <p:cNvPr id="11" name="quote-card"/>
          <p:cNvSpPr/>
          <p:nvPr/>
        </p:nvSpPr>
        <p:spPr>
          <a:xfrm>
            <a:off x="4983480" y="1700784"/>
            <a:ext cx="3493008" cy="1517904"/>
          </a:xfrm>
          <a:prstGeom prst="roundRect">
            <a:avLst>
              <a:gd name="adj" fmla="val 13253"/>
            </a:avLst>
          </a:prstGeom>
          <a:solidFill>
            <a:schemeClr val="bg2"/>
          </a:solidFill>
          <a:ln/>
        </p:spPr>
      </p:sp>
      <p:sp>
        <p:nvSpPr>
          <p:cNvPr id="12" name="quote-head"/>
          <p:cNvSpPr txBox="1"/>
          <p:nvPr/>
        </p:nvSpPr>
        <p:spPr>
          <a:xfrm>
            <a:off x="5184648" y="17739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модели после второго образца, дословно</a:t>
            </a:r>
            <a:endParaRPr lang="en-US" sz="950" dirty="0"/>
          </a:p>
        </p:txBody>
      </p:sp>
      <p:sp>
        <p:nvSpPr>
          <p:cNvPr id="13" name="quote-text"/>
          <p:cNvSpPr txBox="1"/>
          <p:nvPr/>
        </p:nvSpPr>
        <p:spPr>
          <a:xfrm>
            <a:off x="5184648" y="2011680"/>
            <a:ext cx="31272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i="1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«Миссия: ровно 2 образца и возврат. Собрано 2 из требуемых 2 — цель выполнена. Заряд 44,3, возврат 12,5, запас 31,8. Время 27,5 из 600. Возвращаюсь на базу.»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подцели: [ return_base ]</a:t>
            </a:r>
            <a:endParaRPr lang="en-US" sz="1100" dirty="0"/>
          </a:p>
        </p:txBody>
      </p:sp>
      <p:sp>
        <p:nvSpPr>
          <p:cNvPr id="14" name="llm-value"/>
          <p:cNvSpPr txBox="1"/>
          <p:nvPr/>
        </p:nvSpPr>
        <p:spPr>
          <a:xfrm>
            <a:off x="4983480" y="3310128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2400" dirty="0"/>
          </a:p>
        </p:txBody>
      </p:sp>
      <p:sp>
        <p:nvSpPr>
          <p:cNvPr id="15" name="llm-label"/>
          <p:cNvSpPr txBox="1"/>
          <p:nvPr/>
        </p:nvSpPr>
        <p:spPr>
          <a:xfrm>
            <a:off x="4983480" y="370332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выполняет каждая из трёх моделей МАИ; правило — 0 из 48</a:t>
            </a:r>
            <a:endParaRPr lang="en-US" sz="1000" dirty="0"/>
          </a:p>
        </p:txBody>
      </p:sp>
      <p:sp>
        <p:nvSpPr>
          <p:cNvPr id="16" name="llm-note"/>
          <p:cNvSpPr txBox="1"/>
          <p:nvPr/>
        </p:nvSpPr>
        <p:spPr>
          <a:xfrm>
            <a:off x="667512" y="4297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в этом опыте не учитывается. На обычной миссии модель выбирает то же, что правило; ответ идёт 15–25 с, поэтому на показе решает правило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готово и что дальше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вёрстке исходного слайда «Что готово / что в работе», с нынешним состоянием</a:t>
            </a:r>
            <a:endParaRPr lang="en-US" sz="1150" dirty="0"/>
          </a:p>
        </p:txBody>
      </p:sp>
      <p:sp>
        <p:nvSpPr>
          <p:cNvPr id="5" name="variant-tag"/>
          <p:cNvSpPr txBox="1"/>
          <p:nvPr/>
        </p:nvSpPr>
        <p:spPr>
          <a:xfrm>
            <a:off x="5989320" y="109728"/>
            <a:ext cx="2487168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Б · вместо слайда 12</a:t>
            </a:r>
            <a:endParaRPr lang="en-US" sz="900" dirty="0"/>
          </a:p>
        </p:txBody>
      </p:sp>
      <p:sp>
        <p:nvSpPr>
          <p:cNvPr id="6" name="done-circle"/>
          <p:cNvSpPr/>
          <p:nvPr/>
        </p:nvSpPr>
        <p:spPr>
          <a:xfrm>
            <a:off x="868680" y="1261872"/>
            <a:ext cx="3291840" cy="32918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done-text"/>
          <p:cNvSpPr txBox="1"/>
          <p:nvPr/>
        </p:nvSpPr>
        <p:spPr>
          <a:xfrm>
            <a:off x="1280160" y="1664208"/>
            <a:ext cx="2468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+ Gazebo, карта и движение по точкам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адаптация: +13,3 очка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цикл: гипотезы, опыты, журнал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LLM-планировщик: миссии словами 45–46 из 48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SLAM-карта и два робота с координацией</a:t>
            </a:r>
            <a:endParaRPr lang="en-US" sz="11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1022 автоматические проверки</a:t>
            </a:r>
            <a:endParaRPr lang="en-US" sz="1100" dirty="0"/>
          </a:p>
        </p:txBody>
      </p:sp>
      <p:sp>
        <p:nvSpPr>
          <p:cNvPr id="8" name="next-circle"/>
          <p:cNvSpPr/>
          <p:nvPr/>
        </p:nvSpPr>
        <p:spPr>
          <a:xfrm>
            <a:off x="4983480" y="1261872"/>
            <a:ext cx="3291840" cy="32918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next-text"/>
          <p:cNvSpPr txBox="1"/>
          <p:nvPr/>
        </p:nvSpPr>
        <p:spPr>
          <a:xfrm>
            <a:off x="544068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Дальше</a:t>
            </a:r>
            <a:endParaRPr lang="en-US" sz="11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от LLM внутри контура: сейчас их выдвигает программа</a:t>
            </a:r>
            <a:endParaRPr lang="en-US" sz="11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между прогонами</a:t>
            </a:r>
            <a:endParaRPr lang="en-US" sz="11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стоять, пока модель думает: режим есть, по умолчанию выключен</a:t>
            </a:r>
            <a:endParaRPr lang="en-US" sz="11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 настоящем роботе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7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8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Бонусные треки: своя карта и два робота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измерен в Gazebo, координация — в быстром симуляторе; запись двух роботов — из Gazebo</a:t>
            </a:r>
            <a:endParaRPr lang="en-US" sz="1150" dirty="0"/>
          </a:p>
        </p:txBody>
      </p:sp>
      <p:pic>
        <p:nvPicPr>
          <p:cNvPr id="5" name="slam-map" descr="Карта, построенная роботом через SLAM Toolbox, с отмеченными местами столб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98448"/>
            <a:ext cx="2514600" cy="2337955"/>
          </a:xfrm>
          <a:prstGeom prst="rect">
            <a:avLst/>
          </a:prstGeom>
        </p:spPr>
      </p:pic>
      <p:sp>
        <p:nvSpPr>
          <p:cNvPr id="6" name="slam-cap"/>
          <p:cNvSpPr txBox="1"/>
          <p:nvPr/>
        </p:nvSpPr>
        <p:spPr>
          <a:xfrm>
            <a:off x="667512" y="3709555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совпала с готовой на 95,8–98,7% клеток; найдены 9 столбов из 9; начало координат сдвинуто на 1,5–5,2 см (5 прогонов Gazebo)</a:t>
            </a:r>
            <a:endParaRPr lang="en-US" sz="1100" dirty="0"/>
          </a:p>
        </p:txBody>
      </p:sp>
      <p:sp>
        <p:nvSpPr>
          <p:cNvPr id="7" name="slam-stat"/>
          <p:cNvSpPr txBox="1"/>
          <p:nvPr/>
        </p:nvSpPr>
        <p:spPr>
          <a:xfrm>
            <a:off x="3310128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500" dirty="0"/>
          </a:p>
        </p:txBody>
      </p:sp>
      <p:pic>
        <p:nvPicPr>
          <p:cNvPr id="8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98448"/>
            <a:ext cx="2514600" cy="2319528"/>
          </a:xfrm>
          <a:prstGeom prst="rect">
            <a:avLst/>
          </a:prstGeom>
        </p:spPr>
      </p:pic>
      <p:sp>
        <p:nvSpPr>
          <p:cNvPr id="9" name="team-cap"/>
          <p:cNvSpPr txBox="1"/>
          <p:nvPr/>
        </p:nvSpPr>
        <p:spPr>
          <a:xfrm>
            <a:off x="4754880" y="3691128"/>
            <a:ext cx="3721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прогон 103,7 → 77,8 с, заряда на четверть меньше, оба вернулись в 80 прогонах из 80 против 75 (80 сценариев)</a:t>
            </a:r>
            <a:endParaRPr lang="en-US" sz="1100" dirty="0"/>
          </a:p>
        </p:txBody>
      </p:sp>
      <p:sp>
        <p:nvSpPr>
          <p:cNvPr id="10" name="team-stat"/>
          <p:cNvSpPr txBox="1"/>
          <p:nvPr/>
        </p:nvSpPr>
        <p:spPr>
          <a:xfrm>
            <a:off x="7388352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Реальная реализация: Gazebo и страница показа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Одна команда поднимает мир, робота, судью и страницу показа</a:t>
            </a:r>
            <a:endParaRPr lang="en-US" sz="1150" dirty="0"/>
          </a:p>
        </p:txBody>
      </p:sp>
      <p:pic>
        <p:nvPicPr>
          <p:cNvPr id="5" name="gazebo" descr="Окно Gazebo: арена turtlebot3_world с робот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98448"/>
            <a:ext cx="3200400" cy="2415396"/>
          </a:xfrm>
          <a:prstGeom prst="rect">
            <a:avLst/>
          </a:prstGeom>
        </p:spPr>
      </p:pic>
      <p:sp>
        <p:nvSpPr>
          <p:cNvPr id="6" name="gz-cap"/>
          <p:cNvSpPr txBox="1"/>
          <p:nvPr/>
        </p:nvSpPr>
        <p:spPr>
          <a:xfrm>
            <a:off x="667512" y="378699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Sim + TurtleBot3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мир turtlebot3_world без изменений; метки на полу — подсказка зрителю</a:t>
            </a:r>
            <a:endParaRPr lang="en-US" sz="1100" dirty="0"/>
          </a:p>
        </p:txBody>
      </p:sp>
      <p:sp>
        <p:nvSpPr>
          <p:cNvPr id="7" name="command"/>
          <p:cNvSpPr txBox="1"/>
          <p:nvPr/>
        </p:nvSpPr>
        <p:spPr>
          <a:xfrm>
            <a:off x="667512" y="4370832"/>
            <a:ext cx="7808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run demo --level hard --seed 2 --agent scientist_v2 --open</a:t>
            </a:r>
            <a:endParaRPr lang="en-US" sz="1000" dirty="0"/>
          </a:p>
        </p:txBody>
      </p:sp>
      <p:pic>
        <p:nvPicPr>
          <p:cNvPr id="8" name="lab_mission" descr="Страница показа во время миссии: карта с путём робота, заряд, счёт судьи и журнал решени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298448"/>
            <a:ext cx="4361688" cy="2521601"/>
          </a:xfrm>
          <a:prstGeom prst="rect">
            <a:avLst/>
          </a:prstGeom>
        </p:spPr>
      </p:pic>
      <p:sp>
        <p:nvSpPr>
          <p:cNvPr id="9" name="lab-cap"/>
          <p:cNvSpPr txBox="1"/>
          <p:nvPr/>
        </p:nvSpPr>
        <p:spPr>
          <a:xfrm>
            <a:off x="4114800" y="3893201"/>
            <a:ext cx="4361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робота, заряд, счёт судьи и последние решения агента — в реальном времени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2026-10-09T01:41:33Z</dcterms:created>
  <dcterms:modified xsi:type="dcterms:W3CDTF">2026-10-09T01:41:33Z</dcterms:modified>
</cp:coreProperties>
</file>