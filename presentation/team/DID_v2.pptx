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embeddedFontLst>
    <p:embeddedFont>
      <p:font typeface="Inter"/>
      <p:regular r:id="rIdFontInter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сновной поток" id="{1677f077-5e89-0c75-1d4a-713d04ba005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Варианты на выбор" id="{3e01c494-ad4b-6e50-8575-08e403fc0db1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Запасные слайды" id="{a6fe1754-6fd1-d9c5-ea9d-6a3bb2522224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FontInter" Type="http://schemas.openxmlformats.org/officeDocument/2006/relationships/font" Target="fonts/inter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опытов</c:v>
                </c:pt>
              </c:strCache>
            </c:strRef>
          </c:tx>
          <c:spPr>
            <a:solidFill>
              <a:srgbClr val="B7C0C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82B45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грунт подорожал</c:v>
                  </c:pt>
                  <c:pt idx="1">
                    <c:v>батарея течёт</c:v>
                  </c:pt>
                  <c:pt idx="2">
                    <c:v>дорогие повороты</c:v>
                  </c:pt>
                  <c:pt idx="3">
                    <c:v>другая причина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47.2</c:v>
                </c:pt>
                <c:pt idx="1">
                  <c:v>22.6</c:v>
                </c:pt>
                <c:pt idx="2">
                  <c:v>11.3</c:v>
                </c:pt>
                <c:pt idx="3">
                  <c:v>18.9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двух замеров</c:v>
                </c:pt>
              </c:strCache>
            </c:strRef>
          </c:tx>
          <c:spPr>
            <a:solidFill>
              <a:srgbClr val="3D63D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82B45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грунт подорожал</c:v>
                  </c:pt>
                  <c:pt idx="1">
                    <c:v>батарея течёт</c:v>
                  </c:pt>
                  <c:pt idx="2">
                    <c:v>дорогие повороты</c:v>
                  </c:pt>
                  <c:pt idx="3">
                    <c:v>другая причина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99.8</c:v>
                </c:pt>
                <c:pt idx="1">
                  <c:v>0</c:v>
                </c:pt>
                <c:pt idx="2">
                  <c:v>0.2</c:v>
                </c:pt>
                <c:pt idx="3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82B45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82B4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0536B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10 с. Мы сделали робота, который ищет скрытые образцы, сам замечает, что среда изменилась, и возвращается на базу до разрядки.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Слева — как арена устроена на самом деле: семь образцов, участки дорогого грунта, опасная зона. Справа — всё, что знает робот: стены по лидару и одно число датчика близости. По одному числу можно сказать только, что образец где-то на кольце. Заряда хватает примерно на 24 метра, а среда по ходу прогона меняется без объявления.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Гипотеза одна и проверяемая: робот, который по ходу прогона сверяет ожидания с данными и перестраивает поиск, наберёт больше очков, чем робот с планом, составленным заранее. Проверяем на одних и тех же сорока сценариях, смотрим разность счёта. Опровержение — если интервал разности целиком ниже нуля; если он включает ноль, выигрыш не показан. Итог в быстром симуляторе: плюс тринадцать очков, интервал от семи до девятнадцати.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40 с. Формально это поиск при частичной наблюдаемости с ограничением по энергии. Цель — счёт судьи: десять очков за образец, двадцать за возврат, штрафы за столкновения, ложные сборы и опасные зоны. Робот ведёт карту вероятностей по правилу Байеса, оценивает цену грунта по расходу, строит маршрут с этой ценой и едет к цели, только если хватит заряда на дорогу домой. Сравниваем всегда парно, на одних сценариях, и говорим «лучше» только если интервал выше нуля.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с. Среда — Gazebo с TurtleBot3; для серий опытов — быстрый симулятор с тем же судьёй. Агент получает по ROS 2 лидар, одометрию, заряд и число датчика и отдаёт скорости. Внутри агента — картина мира, планировщик и исполнитель. Планировщик — правило или языковая модель: она получает текст миссии и сводку наблюдений и возвращает подцели в JSON; скоростями модель не управляет. Судья считает заряд и штрафы, истинное состояние среды от агента скрыто.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с. Датчик даёт одно число без направления. Одно показание — это кольцо: образец где-то на этом расстоянии, а ближе пусто. Робот отъехал, получил второе показание — кольцо сузилось. К восьмой секунде вероятность одного места — больше половины: это гипотеза «образец здесь». Робот подъезжает, пробует собрать и так её проверяет.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45 с. Это запись прогона в Gazebo. За первые полминуты робот собирает три образца. На тридцать первой секунде судья делает грунт дороже — робот замечает перерасход и ставит опыт. На сорок второй шумит датчик — робот делает вывод «сбой» и ждёт тридцать шесть секунд, потому что стоять дешевле, чем ехать вслепую. Потом собирает ещё четыре образца и возвращается: семь из семи, без штрафов.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25 с. Один и тот же сценарий. Слева робот едет по маршруту, составленному до старта, и берёт только то, что оказалось по пути: четыре образца из семи. Справа — наш робот: он едет туда, где образец вероятнее, и собирает шесть. В среднем по сорока сценариям разница — тринадцать очков.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с. Заряд уходит вдвое быстрее прогноза. Робот не гадает, а выдвигает объяснения: подорожал грунт, течёт батарея, дорогие повороты. И выбирает опыт, который их различит и почти ничего не стоит: постоять две секунды. Стоя заряд не уходит — значит, не утечка. Разворот на месте дешёвый — значит, не повороты. Остаётся грунт: участок попадает в карту стоимости.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25 с. Датчик образцов зашумел — тоже без объявления. Слева робот продолжает ехать по шумным показаниям: за это время он проезжает четыре метра и тратит двадцать две единицы заряда из шестидесяти — и на последний образец заряда не хватает. Справа робот сбой переждал: потратил четыре единицы и собрал все семь. Сбой замечают оба — различие в том, что делать дальше. В среднем это даёт шесть очков.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40 с. Миссию задаём словами: после первого штрафа — сразу домой. На двадцать седьмой секунде оба робота задевают опасную зону. Правило текста не читает и собирает дальше — миссия нарушена. Языковая модель видит в сводке состояния штраф, сверяет с миссией и возвращает одну подцель: на базу. Это настоящий ответ модели с сервера МАИ. Всего по четырём типам миссий модель выполняет сорок пять — сорок шесть прогонов из сорока восьми, правило — ни одного. Выигрыш здесь — выполненная миссия, а не очки судьи.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Сводим всё на одну шкалу. Главное подтвердилось: робот с адаптацией против плана заранее — плюс тринадцать. Пережидание сбоя датчика, контроль его исправности, запас на возврат по оценке пути и память о лаборатории между прогонами — тоже в плюсе. А учёт дорогого грунта и реакция на его смену выигрыша не показали: интервалы включают ноль, и мы это говорим прямо. В Gazebo показной сценарий пройден шесть раз из шести засчитанных.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С агентами мы работали как в лаборатории. Человек задаёт цель, роли и ограничения. Ведущий агент ведёт план и сводит код. Исследователи читают литературу, инженеры пишут код и ставят опыты, а независимая модель проверяет каждую работу. Почти все работы — двадцать одну из двадцати двух — ревью вернуло на доработку, и в этом смысл: качество держится на процессе, а не на вере в один ответ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10 с. Команда — три человека. Дальше покажем робота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с. Гипотеза из двух частей. Первая: робот с адаптацией наберёт больше, чем робот с планом заранее, — подтвердилась. Вторая — за счёт чего: мы ожидали, что выигрыш дают все механизмы, уточняющие знание о среде. Подтвердилось для датчика и запаса на возврат; для грунта выигрыш не показан.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Робот, который ведёт себя как исследователь, наберёт больше очков, чем робот с планом, составленным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40 с. Покажу формулы на числах одного прогона. Датчик показал ноль пятьдесят три — значит, образец примерно в девяноста пяти сантиметрах. Расход пять и семь при прогнозе два и девять — грунт дороже вдвое. Из опытов выбран тот, что даёт больше информации на единицу заряда. И счёт: семь образцов, возврат и остаток заряда — девяносто один и восемь.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40 с. Миссию задаём словами: собери ровно два образца и возвращайся. Правило текста не читает и собирает все семь. Языковая модель после второго образца возвращает одну подцель: на базу.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25 с. Готово всё, что требует условие, бонусные треки и память о лаборатории между прогонами. Дальше — гипотезы от языковой модели внутри контура и проверка на настоящем роботе.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10 с. Мы сделали робота, который ищет скрытые образцы, сам замечает, что среда изменилась, и возвращается на базу до разрядки.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Два бонусных трека. Робот сам строит карту через SLAM Toolbox: она совпадает с готовой на девяносто шесть — девяносто девять процентов клеток. И два робота с координацией: они делят арену и обмениваются сообщениями — прогон короче на двадцать шесть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20 с. Так это выглядит вживую: слева мир в Gazebo, справа страница показа — карта, заряд, счёт судьи и журнал решений робота.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4" name="Text 0"/>
          <p:cNvSpPr/>
          <p:nvPr/>
        </p:nvSpPr>
        <p:spPr>
          <a:xfrm>
            <a:off x="667512" y="4773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Hack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lavender"/>
          <p:cNvSpPr/>
          <p:nvPr/>
        </p:nvSpPr>
        <p:spPr>
          <a:xfrm>
            <a:off x="5230368" y="36576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circle-mint"/>
          <p:cNvSpPr/>
          <p:nvPr/>
        </p:nvSpPr>
        <p:spPr>
          <a:xfrm>
            <a:off x="7973568" y="457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circle-blue"/>
          <p:cNvSpPr/>
          <p:nvPr/>
        </p:nvSpPr>
        <p:spPr>
          <a:xfrm>
            <a:off x="5669280" y="1005840"/>
            <a:ext cx="3017520" cy="3017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itle-map" descr="Карта арены с путём робота: семь образцов собраны, робот вернулся на баз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527048"/>
            <a:ext cx="2066544" cy="1903984"/>
          </a:xfrm>
          <a:prstGeom prst="rect">
            <a:avLst/>
          </a:prstGeom>
        </p:spPr>
      </p:pic>
      <p:sp>
        <p:nvSpPr>
          <p:cNvPr id="6" name="title"/>
          <p:cNvSpPr txBox="1"/>
          <p:nvPr/>
        </p:nvSpPr>
        <p:spPr>
          <a:xfrm>
            <a:off x="822960" y="1051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Автономный ИИ-исследователь</a:t>
            </a:r>
            <a:endParaRPr lang="en-US" sz="3400" dirty="0"/>
          </a:p>
        </p:txBody>
      </p:sp>
      <p:sp>
        <p:nvSpPr>
          <p:cNvPr id="7" name="subtitle"/>
          <p:cNvSpPr txBox="1"/>
          <p:nvPr/>
        </p:nvSpPr>
        <p:spPr>
          <a:xfrm>
            <a:off x="82296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образцов и исследование среды с ограниченным запасом энергии</a:t>
            </a:r>
            <a:endParaRPr lang="en-US" sz="1400" dirty="0"/>
          </a:p>
        </p:txBody>
      </p:sp>
      <p:sp>
        <p:nvSpPr>
          <p:cNvPr id="8" name="team"/>
          <p:cNvSpPr txBox="1"/>
          <p:nvPr/>
        </p:nvSpPr>
        <p:spPr>
          <a:xfrm>
            <a:off x="822960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Ефремова Анастасия · Путиловский Михаил · Журавлева Полина</a:t>
            </a:r>
            <a:endParaRPr lang="en-US" sz="1050" dirty="0"/>
          </a:p>
        </p:txBody>
      </p:sp>
      <p:sp>
        <p:nvSpPr>
          <p:cNvPr id="9" name="event"/>
          <p:cNvSpPr txBox="1"/>
          <p:nvPr/>
        </p:nvSpPr>
        <p:spPr>
          <a:xfrm>
            <a:off x="822960" y="4370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Hack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Задача: найти скрытое и успеть вернуться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Скрытые образцы, неизвестные затраты и ограниченный запас энергии</a:t>
            </a:r>
            <a:endParaRPr lang="en-US" sz="1150" dirty="0"/>
          </a:p>
        </p:txBody>
      </p:sp>
      <p:pic>
        <p:nvPicPr>
          <p:cNvPr id="5" name="truth_vs_robot" descr="Две карты арены: слева скрытая правда с образцами, грунтами и опасной зоной, справа то, что видит робот, — стены и кольцо возможных мест образц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4526280" cy="2057651"/>
          </a:xfrm>
          <a:prstGeom prst="rect">
            <a:avLst/>
          </a:prstGeom>
        </p:spPr>
      </p:pic>
      <p:sp>
        <p:nvSpPr>
          <p:cNvPr id="6" name="cap-truth"/>
          <p:cNvSpPr txBox="1"/>
          <p:nvPr/>
        </p:nvSpPr>
        <p:spPr>
          <a:xfrm>
            <a:off x="667512" y="3392675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на самом деле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образцов, дорогой грунт (×2…×4), опасная зона</a:t>
            </a:r>
            <a:endParaRPr lang="en-US" sz="1100" dirty="0"/>
          </a:p>
        </p:txBody>
      </p:sp>
      <p:sp>
        <p:nvSpPr>
          <p:cNvPr id="7" name="cap-robot"/>
          <p:cNvSpPr txBox="1"/>
          <p:nvPr/>
        </p:nvSpPr>
        <p:spPr>
          <a:xfrm>
            <a:off x="2953512" y="3392675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видит робот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стены по лидару и одно число: z = 0,53 — образец на кольце радиусом 0,95 м</a:t>
            </a:r>
            <a:endParaRPr lang="en-US" sz="1100" dirty="0"/>
          </a:p>
        </p:txBody>
      </p:sp>
      <p:sp>
        <p:nvSpPr>
          <p:cNvPr id="8" name="task-1-pill"/>
          <p:cNvSpPr/>
          <p:nvPr/>
        </p:nvSpPr>
        <p:spPr>
          <a:xfrm>
            <a:off x="5669280" y="1298448"/>
            <a:ext cx="2807208" cy="6583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task-1-text"/>
          <p:cNvSpPr txBox="1"/>
          <p:nvPr/>
        </p:nvSpPr>
        <p:spPr>
          <a:xfrm>
            <a:off x="5897880" y="138074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Найти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сигнал близости без координат и направления</a:t>
            </a:r>
            <a:endParaRPr lang="en-US" sz="1100" dirty="0"/>
          </a:p>
        </p:txBody>
      </p:sp>
      <p:sp>
        <p:nvSpPr>
          <p:cNvPr id="10" name="task-2-pill"/>
          <p:cNvSpPr/>
          <p:nvPr/>
        </p:nvSpPr>
        <p:spPr>
          <a:xfrm>
            <a:off x="5669280" y="2066544"/>
            <a:ext cx="2807208" cy="6583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ask-2-text"/>
          <p:cNvSpPr txBox="1"/>
          <p:nvPr/>
        </p:nvSpPr>
        <p:spPr>
          <a:xfrm>
            <a:off x="5897880" y="214884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Изучить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 на разных грунтах и опасные зоны</a:t>
            </a:r>
            <a:endParaRPr lang="en-US" sz="1100" dirty="0"/>
          </a:p>
        </p:txBody>
      </p:sp>
      <p:sp>
        <p:nvSpPr>
          <p:cNvPr id="12" name="task-3-pill"/>
          <p:cNvSpPr/>
          <p:nvPr/>
        </p:nvSpPr>
        <p:spPr>
          <a:xfrm>
            <a:off x="5669280" y="2834640"/>
            <a:ext cx="2807208" cy="65836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3" name="task-3-text"/>
          <p:cNvSpPr txBox="1"/>
          <p:nvPr/>
        </p:nvSpPr>
        <p:spPr>
          <a:xfrm>
            <a:off x="5897880" y="291693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Вернуться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образцами, пока хватает заряда: 60 единиц ≈ 24 м</a:t>
            </a:r>
            <a:endParaRPr lang="en-US" sz="1100" dirty="0"/>
          </a:p>
        </p:txBody>
      </p:sp>
      <p:sp>
        <p:nvSpPr>
          <p:cNvPr id="14" name="idea-pill"/>
          <p:cNvSpPr/>
          <p:nvPr/>
        </p:nvSpPr>
        <p:spPr>
          <a:xfrm>
            <a:off x="667512" y="4005072"/>
            <a:ext cx="7808976" cy="6035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idea-text"/>
          <p:cNvSpPr txBox="1"/>
          <p:nvPr/>
        </p:nvSpPr>
        <p:spPr>
          <a:xfrm>
            <a:off x="941832" y="4059936"/>
            <a:ext cx="7260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Наша идея — действовать по проверяемой модели среды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Наблюдение → гипотеза → короткая проверка → новая оценка → новый маршрут. Среда меняется без объявления — робот пересматривает прежние знания.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Исследовательская гипотеза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утверждаем, как проверяем и что считаем опровержением</a:t>
            </a:r>
            <a:endParaRPr lang="en-US" sz="1150" dirty="0"/>
          </a:p>
        </p:txBody>
      </p:sp>
      <p:sp>
        <p:nvSpPr>
          <p:cNvPr id="5" name="hyp-card"/>
          <p:cNvSpPr/>
          <p:nvPr/>
        </p:nvSpPr>
        <p:spPr>
          <a:xfrm>
            <a:off x="667512" y="1280160"/>
            <a:ext cx="7808976" cy="1024128"/>
          </a:xfrm>
          <a:prstGeom prst="roundRect">
            <a:avLst>
              <a:gd name="adj" fmla="val 26786"/>
            </a:avLst>
          </a:prstGeom>
          <a:solidFill>
            <a:schemeClr val="accent1"/>
          </a:solidFill>
          <a:ln/>
        </p:spPr>
      </p:sp>
      <p:sp>
        <p:nvSpPr>
          <p:cNvPr id="6" name="hyp-text"/>
          <p:cNvSpPr txBox="1"/>
          <p:nvPr/>
        </p:nvSpPr>
        <p:spPr>
          <a:xfrm>
            <a:off x="960120" y="1344168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Робот, который по ходу прогона сверяет свои ожидания с показаниями датчика и расходом батареи и по расхождению меняет поиск и запас на возврат, наберёт больше очков, чем робот с планом, составленным заранее.</a:t>
            </a:r>
            <a:endParaRPr lang="en-US" sz="1350" dirty="0"/>
          </a:p>
        </p:txBody>
      </p:sp>
      <p:sp>
        <p:nvSpPr>
          <p:cNvPr id="7" name="check-1-dot"/>
          <p:cNvSpPr/>
          <p:nvPr/>
        </p:nvSpPr>
        <p:spPr>
          <a:xfrm>
            <a:off x="667512" y="25420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check-1-head"/>
          <p:cNvSpPr txBox="1"/>
          <p:nvPr/>
        </p:nvSpPr>
        <p:spPr>
          <a:xfrm>
            <a:off x="1088136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проверяем</a:t>
            </a:r>
            <a:endParaRPr lang="en-US" sz="1250" dirty="0"/>
          </a:p>
        </p:txBody>
      </p:sp>
      <p:sp>
        <p:nvSpPr>
          <p:cNvPr id="9" name="check-1-body"/>
          <p:cNvSpPr txBox="1"/>
          <p:nvPr/>
        </p:nvSpPr>
        <p:spPr>
          <a:xfrm>
            <a:off x="667512" y="295351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робота на одних и тех же 40 сценариях трудного уровня: «план заранее» и «с адаптацией». Разность счёта — на каждом сценарии.</a:t>
            </a:r>
            <a:endParaRPr lang="en-US" sz="1050" dirty="0"/>
          </a:p>
        </p:txBody>
      </p:sp>
      <p:sp>
        <p:nvSpPr>
          <p:cNvPr id="10" name="check-2-dot"/>
          <p:cNvSpPr/>
          <p:nvPr/>
        </p:nvSpPr>
        <p:spPr>
          <a:xfrm>
            <a:off x="3319272" y="254203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check-2-head"/>
          <p:cNvSpPr txBox="1"/>
          <p:nvPr/>
        </p:nvSpPr>
        <p:spPr>
          <a:xfrm>
            <a:off x="3739896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измеряем</a:t>
            </a:r>
            <a:endParaRPr lang="en-US" sz="1250" dirty="0"/>
          </a:p>
        </p:txBody>
      </p:sp>
      <p:sp>
        <p:nvSpPr>
          <p:cNvPr id="12" name="check-2-body"/>
          <p:cNvSpPr txBox="1"/>
          <p:nvPr/>
        </p:nvSpPr>
        <p:spPr>
          <a:xfrm>
            <a:off x="3319272" y="295351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Счёт судьи — главная метрика. Рядом: собранные образцы, возврат на базу, расход батареи.</a:t>
            </a:r>
            <a:endParaRPr lang="en-US" sz="1050" dirty="0"/>
          </a:p>
        </p:txBody>
      </p:sp>
      <p:sp>
        <p:nvSpPr>
          <p:cNvPr id="13" name="check-3-dot"/>
          <p:cNvSpPr/>
          <p:nvPr/>
        </p:nvSpPr>
        <p:spPr>
          <a:xfrm>
            <a:off x="5971032" y="254203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check-3-head"/>
          <p:cNvSpPr txBox="1"/>
          <p:nvPr/>
        </p:nvSpPr>
        <p:spPr>
          <a:xfrm>
            <a:off x="6391656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её опровергнет</a:t>
            </a:r>
            <a:endParaRPr lang="en-US" sz="1250" dirty="0"/>
          </a:p>
        </p:txBody>
      </p:sp>
      <p:sp>
        <p:nvSpPr>
          <p:cNvPr id="15" name="check-3-body"/>
          <p:cNvSpPr txBox="1"/>
          <p:nvPr/>
        </p:nvSpPr>
        <p:spPr>
          <a:xfrm>
            <a:off x="5971032" y="295351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интервал разности целиком ниже нуля. Если он включает ноль — выигрыш не показан.</a:t>
            </a:r>
            <a:endParaRPr lang="en-US" sz="1050" dirty="0"/>
          </a:p>
        </p:txBody>
      </p:sp>
      <p:sp>
        <p:nvSpPr>
          <p:cNvPr id="16" name="result-card"/>
          <p:cNvSpPr/>
          <p:nvPr/>
        </p:nvSpPr>
        <p:spPr>
          <a:xfrm>
            <a:off x="667512" y="3886200"/>
            <a:ext cx="7808976" cy="713232"/>
          </a:xfrm>
          <a:prstGeom prst="roundRect">
            <a:avLst>
              <a:gd name="adj" fmla="val 38462"/>
            </a:avLst>
          </a:prstGeom>
          <a:solidFill>
            <a:schemeClr val="bg2"/>
          </a:solidFill>
          <a:ln/>
        </p:spPr>
      </p:sp>
      <p:sp>
        <p:nvSpPr>
          <p:cNvPr id="17" name="result-text"/>
          <p:cNvSpPr txBox="1"/>
          <p:nvPr/>
        </p:nvSpPr>
        <p:spPr>
          <a:xfrm>
            <a:off x="960120" y="39319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Итог: 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+13,3 очка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[7,4; 19,0] — подтвердилась</a:t>
            </a:r>
            <a:endParaRPr lang="en-US" sz="1300" dirty="0"/>
          </a:p>
        </p:txBody>
      </p:sp>
      <p:sp>
        <p:nvSpPr>
          <p:cNvPr id="18" name="result-note"/>
          <p:cNvSpPr txBox="1"/>
          <p:nvPr/>
        </p:nvSpPr>
        <p:spPr>
          <a:xfrm>
            <a:off x="960120" y="4261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симулятор; выше в 29 из 40 сценариев</a:t>
            </a:r>
            <a:endParaRPr lang="en-US" sz="1000" dirty="0"/>
          </a:p>
        </p:txBody>
      </p:sp>
      <p:sp>
        <p:nvSpPr>
          <p:cNvPr id="19" name="hyp-axis-zero"/>
          <p:cNvSpPr/>
          <p:nvPr/>
        </p:nvSpPr>
        <p:spPr>
          <a:xfrm>
            <a:off x="5810596" y="3986784"/>
            <a:ext cx="0" cy="36576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0" name="hyp-axis-tick-0"/>
          <p:cNvSpPr txBox="1"/>
          <p:nvPr/>
        </p:nvSpPr>
        <p:spPr>
          <a:xfrm>
            <a:off x="5536276" y="43799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hyp-axis-tick-10"/>
          <p:cNvSpPr txBox="1"/>
          <p:nvPr/>
        </p:nvSpPr>
        <p:spPr>
          <a:xfrm>
            <a:off x="6700058" y="43799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</a:t>
            </a:r>
            <a:endParaRPr lang="en-US" sz="900" dirty="0"/>
          </a:p>
        </p:txBody>
      </p:sp>
      <p:sp>
        <p:nvSpPr>
          <p:cNvPr id="22" name="hyp-axis-tick-20"/>
          <p:cNvSpPr txBox="1"/>
          <p:nvPr/>
        </p:nvSpPr>
        <p:spPr>
          <a:xfrm>
            <a:off x="7863840" y="43799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</a:t>
            </a:r>
            <a:endParaRPr lang="en-US" sz="900" dirty="0"/>
          </a:p>
        </p:txBody>
      </p:sp>
      <p:sp>
        <p:nvSpPr>
          <p:cNvPr id="23" name="hyp-e1-ci"/>
          <p:cNvSpPr/>
          <p:nvPr/>
        </p:nvSpPr>
        <p:spPr>
          <a:xfrm>
            <a:off x="6671795" y="4169664"/>
            <a:ext cx="1349987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4" name="hyp-e1-dot"/>
          <p:cNvSpPr/>
          <p:nvPr/>
        </p:nvSpPr>
        <p:spPr>
          <a:xfrm>
            <a:off x="7298990" y="4110228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Математическая постановка и метрики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при частичной наблюдаемости с бюджетом энергии: среда скрыта, робот её оценивает</a:t>
            </a:r>
            <a:endParaRPr lang="en-US" sz="1150" dirty="0"/>
          </a:p>
        </p:txBody>
      </p:sp>
      <p:sp>
        <p:nvSpPr>
          <p:cNvPr id="5" name="goal-card"/>
          <p:cNvSpPr/>
          <p:nvPr/>
        </p:nvSpPr>
        <p:spPr>
          <a:xfrm>
            <a:off x="667512" y="1243584"/>
            <a:ext cx="7808976" cy="10972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goal-formula"/>
          <p:cNvSpPr txBox="1"/>
          <p:nvPr/>
        </p:nvSpPr>
        <p:spPr>
          <a:xfrm>
            <a:off x="941832" y="1307592"/>
            <a:ext cx="7260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Цель: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E[ J ],   J = 10·N + 20·R + 0,1·B·R − 2·K − 3·F − 5·H</a:t>
            </a:r>
            <a:endParaRPr lang="en-US" sz="1100" dirty="0"/>
          </a:p>
        </p:txBody>
      </p:sp>
      <p:sp>
        <p:nvSpPr>
          <p:cNvPr id="7" name="goal-legend"/>
          <p:cNvSpPr txBox="1"/>
          <p:nvPr/>
        </p:nvSpPr>
        <p:spPr>
          <a:xfrm>
            <a:off x="941832" y="1618488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— собрано образцов, R — вернулся на базу (0 или 1), B — остаток заряда, K — столкновения, F — ложные сборы, H — заезды в опасную зону</a:t>
            </a:r>
            <a:endParaRPr lang="en-US" sz="1000" dirty="0"/>
          </a:p>
        </p:txBody>
      </p:sp>
      <p:sp>
        <p:nvSpPr>
          <p:cNvPr id="8" name="constraints"/>
          <p:cNvSpPr txBox="1"/>
          <p:nvPr/>
        </p:nvSpPr>
        <p:spPr>
          <a:xfrm>
            <a:off x="941832" y="2011680"/>
            <a:ext cx="7260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Ограничения: 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B₀ = 60,   T ≤ 600 с,   ΔB = 2,5·m(x, y)·Δs + 0,01·Δt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(m — цена грунта; зоны — отдельно)</a:t>
            </a:r>
            <a:endParaRPr lang="en-US" sz="1100" dirty="0"/>
          </a:p>
        </p:txBody>
      </p:sp>
      <p:sp>
        <p:nvSpPr>
          <p:cNvPr id="9" name="math-1-card"/>
          <p:cNvSpPr/>
          <p:nvPr/>
        </p:nvSpPr>
        <p:spPr>
          <a:xfrm>
            <a:off x="667512" y="2468880"/>
            <a:ext cx="2743200" cy="2139696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10" name="math-1-head"/>
          <p:cNvSpPr txBox="1"/>
          <p:nvPr/>
        </p:nvSpPr>
        <p:spPr>
          <a:xfrm>
            <a:off x="868680" y="25603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робот оценивает</a:t>
            </a:r>
            <a:endParaRPr lang="en-US" sz="1250" dirty="0"/>
          </a:p>
        </p:txBody>
      </p:sp>
      <p:sp>
        <p:nvSpPr>
          <p:cNvPr id="11" name="math-1-rows"/>
          <p:cNvSpPr txBox="1"/>
          <p:nvPr/>
        </p:nvSpPr>
        <p:spPr>
          <a:xfrm>
            <a:off x="868680" y="2889504"/>
            <a:ext cx="23774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Датчик: d — до ближайшего образца, шум σ = 0,05, z обрезан до [0; 1]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= max(0, 1 − d/2) + ε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вероятностей: Байес по клеткам (схема), учтён ближайший образец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← p·L₁ / (p·L₁ + (1 − p)·L₀)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Цена грунта: оценка на участке пути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m̂ ≈ (ΔB − 0,01·Δt) / (2,5·Δs)</a:t>
            </a:r>
            <a:endParaRPr lang="en-US" sz="1100" dirty="0"/>
          </a:p>
        </p:txBody>
      </p:sp>
      <p:sp>
        <p:nvSpPr>
          <p:cNvPr id="12" name="math-2-card"/>
          <p:cNvSpPr/>
          <p:nvPr/>
        </p:nvSpPr>
        <p:spPr>
          <a:xfrm>
            <a:off x="3547872" y="2468880"/>
            <a:ext cx="2743200" cy="2139696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</p:sp>
      <p:sp>
        <p:nvSpPr>
          <p:cNvPr id="13" name="math-2-head"/>
          <p:cNvSpPr txBox="1"/>
          <p:nvPr/>
        </p:nvSpPr>
        <p:spPr>
          <a:xfrm>
            <a:off x="3749040" y="25603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решает</a:t>
            </a:r>
            <a:endParaRPr lang="en-US" sz="1250" dirty="0"/>
          </a:p>
        </p:txBody>
      </p:sp>
      <p:sp>
        <p:nvSpPr>
          <p:cNvPr id="14" name="math-2-rows"/>
          <p:cNvSpPr txBox="1"/>
          <p:nvPr/>
        </p:nvSpPr>
        <p:spPr>
          <a:xfrm>
            <a:off x="3749040" y="2889504"/>
            <a:ext cx="23774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Маршрут: Дейкстра по сетке 5 см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вес ребра = длина × цена клеток m̂, плюс запас у стен и зон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Запас: C₁ — путь к цели, C₂ — домой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едет, если B − C₁ − 1,1·C₂ − 4 ≥ 0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Опыт: информация I на заряд c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e* = argmax I(e) / (c(e) + 0,05)</a:t>
            </a:r>
            <a:endParaRPr lang="en-US" sz="1100" dirty="0"/>
          </a:p>
        </p:txBody>
      </p:sp>
      <p:sp>
        <p:nvSpPr>
          <p:cNvPr id="15" name="math-3-card"/>
          <p:cNvSpPr/>
          <p:nvPr/>
        </p:nvSpPr>
        <p:spPr>
          <a:xfrm>
            <a:off x="6428232" y="2468880"/>
            <a:ext cx="2048256" cy="2139696"/>
          </a:xfrm>
          <a:prstGeom prst="roundRect">
            <a:avLst>
              <a:gd name="adj" fmla="val 11607"/>
            </a:avLst>
          </a:prstGeom>
          <a:solidFill>
            <a:schemeClr val="bg2"/>
          </a:solidFill>
          <a:ln/>
        </p:spPr>
      </p:sp>
      <p:sp>
        <p:nvSpPr>
          <p:cNvPr id="16" name="math-3-head"/>
          <p:cNvSpPr txBox="1"/>
          <p:nvPr/>
        </p:nvSpPr>
        <p:spPr>
          <a:xfrm>
            <a:off x="662940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эти метрики</a:t>
            </a:r>
            <a:endParaRPr lang="en-US" sz="1250" dirty="0"/>
          </a:p>
        </p:txBody>
      </p:sp>
      <p:sp>
        <p:nvSpPr>
          <p:cNvPr id="17" name="math-3-rows"/>
          <p:cNvSpPr txBox="1"/>
          <p:nvPr/>
        </p:nvSpPr>
        <p:spPr>
          <a:xfrm>
            <a:off x="6629400" y="2889504"/>
            <a:ext cx="16824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Счёт судьи J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и есть цель задачи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Образцы, возврат, расход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чего сложился счёт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Сравнение на одних сценариях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Δᵢ = J₁(sᵢ) − J₂(sᵢ), 95% интервал; «лучше» — если он выше нуля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 и инструменты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цикл управления и отдельный уровень планирования — один слайд вместо трёх</a:t>
            </a:r>
            <a:endParaRPr lang="en-US" sz="1150" dirty="0"/>
          </a:p>
        </p:txBody>
      </p:sp>
      <p:sp>
        <p:nvSpPr>
          <p:cNvPr id="5" name="env-circle"/>
          <p:cNvSpPr/>
          <p:nvPr/>
        </p:nvSpPr>
        <p:spPr>
          <a:xfrm>
            <a:off x="667512" y="137160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env-text"/>
          <p:cNvSpPr txBox="1"/>
          <p:nvPr/>
        </p:nvSpPr>
        <p:spPr>
          <a:xfrm>
            <a:off x="896112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Gazebo + робот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TurtleBot3 Burger: лидар, одометрия, колёса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серий — быстрый симулятор</a:t>
            </a:r>
            <a:endParaRPr lang="en-US" sz="1100" dirty="0"/>
          </a:p>
        </p:txBody>
      </p:sp>
      <p:sp>
        <p:nvSpPr>
          <p:cNvPr id="7" name="agent-card"/>
          <p:cNvSpPr/>
          <p:nvPr/>
        </p:nvSpPr>
        <p:spPr>
          <a:xfrm>
            <a:off x="3291840" y="1298448"/>
            <a:ext cx="2788920" cy="2377440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/>
        </p:spPr>
      </p:sp>
      <p:sp>
        <p:nvSpPr>
          <p:cNvPr id="8" name="agent-head"/>
          <p:cNvSpPr txBox="1"/>
          <p:nvPr/>
        </p:nvSpPr>
        <p:spPr>
          <a:xfrm>
            <a:off x="347472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Агент · Python + NumPy</a:t>
            </a:r>
            <a:endParaRPr lang="en-US" sz="1300" dirty="0"/>
          </a:p>
        </p:txBody>
      </p:sp>
      <p:sp>
        <p:nvSpPr>
          <p:cNvPr id="9" name="agent-part-1"/>
          <p:cNvSpPr/>
          <p:nvPr/>
        </p:nvSpPr>
        <p:spPr>
          <a:xfrm>
            <a:off x="3456432" y="1737360"/>
            <a:ext cx="245973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agent-part-1-text"/>
          <p:cNvSpPr txBox="1"/>
          <p:nvPr/>
        </p:nvSpPr>
        <p:spPr>
          <a:xfrm>
            <a:off x="3593592" y="173736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Картина мира: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вероятности образцов, цены грунта, зоны</a:t>
            </a:r>
            <a:endParaRPr lang="en-US" sz="950" dirty="0"/>
          </a:p>
        </p:txBody>
      </p:sp>
      <p:sp>
        <p:nvSpPr>
          <p:cNvPr id="11" name="agent-part-2"/>
          <p:cNvSpPr/>
          <p:nvPr/>
        </p:nvSpPr>
        <p:spPr>
          <a:xfrm>
            <a:off x="3456432" y="2212848"/>
            <a:ext cx="245973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2" name="agent-part-2-text"/>
          <p:cNvSpPr txBox="1"/>
          <p:nvPr/>
        </p:nvSpPr>
        <p:spPr>
          <a:xfrm>
            <a:off x="3593592" y="2212848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Положение: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одометрия + лидар, SLAM Toolbox</a:t>
            </a:r>
            <a:endParaRPr lang="en-US" sz="950" dirty="0"/>
          </a:p>
        </p:txBody>
      </p:sp>
      <p:sp>
        <p:nvSpPr>
          <p:cNvPr id="13" name="agent-part-3"/>
          <p:cNvSpPr/>
          <p:nvPr/>
        </p:nvSpPr>
        <p:spPr>
          <a:xfrm>
            <a:off x="3456432" y="2688336"/>
            <a:ext cx="245973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agent-part-3-text"/>
          <p:cNvSpPr txBox="1"/>
          <p:nvPr/>
        </p:nvSpPr>
        <p:spPr>
          <a:xfrm>
            <a:off x="3593592" y="268833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Планировщик: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или LLM → подцели</a:t>
            </a:r>
            <a:endParaRPr lang="en-US" sz="950" dirty="0"/>
          </a:p>
        </p:txBody>
      </p:sp>
      <p:sp>
        <p:nvSpPr>
          <p:cNvPr id="15" name="agent-part-4"/>
          <p:cNvSpPr/>
          <p:nvPr/>
        </p:nvSpPr>
        <p:spPr>
          <a:xfrm>
            <a:off x="3456432" y="3163824"/>
            <a:ext cx="245973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6" name="agent-part-4-text"/>
          <p:cNvSpPr txBox="1"/>
          <p:nvPr/>
        </p:nvSpPr>
        <p:spPr>
          <a:xfrm>
            <a:off x="3593592" y="316382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Исполнитель: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Дейкстра → скорости v, ω; запас на возврат</a:t>
            </a:r>
            <a:endParaRPr lang="en-US" sz="950" dirty="0"/>
          </a:p>
        </p:txBody>
      </p:sp>
      <p:sp>
        <p:nvSpPr>
          <p:cNvPr id="17" name="llm-circle"/>
          <p:cNvSpPr/>
          <p:nvPr/>
        </p:nvSpPr>
        <p:spPr>
          <a:xfrm>
            <a:off x="6464808" y="1371600"/>
            <a:ext cx="2011680" cy="2011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llm-text"/>
          <p:cNvSpPr txBox="1"/>
          <p:nvPr/>
        </p:nvSpPr>
        <p:spPr>
          <a:xfrm>
            <a:off x="6675120" y="1783080"/>
            <a:ext cx="1591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 миссии + сводка наблюдений → план в JSON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 МАИ: QWEN, DeepSeek</a:t>
            </a:r>
            <a:endParaRPr lang="en-US" sz="1100" dirty="0"/>
          </a:p>
        </p:txBody>
      </p:sp>
      <p:sp>
        <p:nvSpPr>
          <p:cNvPr id="19" name="arrow-env-agent"/>
          <p:cNvSpPr/>
          <p:nvPr/>
        </p:nvSpPr>
        <p:spPr>
          <a:xfrm>
            <a:off x="2724912" y="2286000"/>
            <a:ext cx="52120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arrow-agent-env"/>
          <p:cNvSpPr/>
          <p:nvPr/>
        </p:nvSpPr>
        <p:spPr>
          <a:xfrm>
            <a:off x="3246120" y="2542032"/>
            <a:ext cx="-52120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ros-label"/>
          <p:cNvSpPr txBox="1"/>
          <p:nvPr/>
        </p:nvSpPr>
        <p:spPr>
          <a:xfrm>
            <a:off x="2615184" y="19933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 2</a:t>
            </a:r>
            <a:endParaRPr lang="en-US" sz="950" dirty="0"/>
          </a:p>
        </p:txBody>
      </p:sp>
      <p:sp>
        <p:nvSpPr>
          <p:cNvPr id="22" name="ros-sub"/>
          <p:cNvSpPr txBox="1"/>
          <p:nvPr/>
        </p:nvSpPr>
        <p:spPr>
          <a:xfrm>
            <a:off x="2615184" y="26517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датчики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v, ω</a:t>
            </a:r>
            <a:endParaRPr lang="en-US" sz="900" dirty="0"/>
          </a:p>
        </p:txBody>
      </p:sp>
      <p:sp>
        <p:nvSpPr>
          <p:cNvPr id="23" name="arrow-agent-llm"/>
          <p:cNvSpPr/>
          <p:nvPr/>
        </p:nvSpPr>
        <p:spPr>
          <a:xfrm>
            <a:off x="6108192" y="2286000"/>
            <a:ext cx="329184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arrow-llm-agent"/>
          <p:cNvSpPr/>
          <p:nvPr/>
        </p:nvSpPr>
        <p:spPr>
          <a:xfrm>
            <a:off x="6437376" y="2542032"/>
            <a:ext cx="-329184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judge-pill"/>
          <p:cNvSpPr/>
          <p:nvPr/>
        </p:nvSpPr>
        <p:spPr>
          <a:xfrm>
            <a:off x="667512" y="3813048"/>
            <a:ext cx="7808976" cy="51206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judge-text"/>
          <p:cNvSpPr txBox="1"/>
          <p:nvPr/>
        </p:nvSpPr>
        <p:spPr>
          <a:xfrm>
            <a:off x="941832" y="3813048"/>
            <a:ext cx="7260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Судья (узел ROS 2):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выдаёт сигнал образцов, считает заряд, сбор и штрафы. Истинное состояние среды скрыто от агента.</a:t>
            </a:r>
            <a:endParaRPr lang="en-US" sz="1100" dirty="0"/>
          </a:p>
        </p:txBody>
      </p:sp>
      <p:sp>
        <p:nvSpPr>
          <p:cNvPr id="27" name="resources"/>
          <p:cNvSpPr txBox="1"/>
          <p:nvPr/>
        </p:nvSpPr>
        <p:spPr>
          <a:xfrm>
            <a:off x="667512" y="4407408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Ресурсы: один ноутбук · прогон показа в Gazebo ≈ 2,5 мин · быстрый симулятор: 240 прогонов за 37 с · модели — сервер МАИ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агент ищет образец: из числа — место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Тот же прогон, первые девять секунд. Зелёное кольцо — настоящий образец: робот его не видит</a:t>
            </a:r>
            <a:endParaRPr lang="en-US" sz="1150" dirty="0"/>
          </a:p>
        </p:txBody>
      </p:sp>
      <p:pic>
        <p:nvPicPr>
          <p:cNvPr id="5" name="belief" descr="Три карты вероятностей: кольцо после первого показания, суженное кольцо после второго и пик у настоящего образц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43584"/>
            <a:ext cx="7808976" cy="2358174"/>
          </a:xfrm>
          <a:prstGeom prst="rect">
            <a:avLst/>
          </a:prstGeom>
        </p:spPr>
      </p:pic>
      <p:sp>
        <p:nvSpPr>
          <p:cNvPr id="6" name="bel-1"/>
          <p:cNvSpPr txBox="1"/>
          <p:nvPr/>
        </p:nvSpPr>
        <p:spPr>
          <a:xfrm>
            <a:off x="758952" y="3656622"/>
            <a:ext cx="237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с · z = 0,52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одно показание — кольцо: образец на этом расстоянии, ближе пусто</a:t>
            </a:r>
            <a:endParaRPr lang="en-US" sz="1100" dirty="0"/>
          </a:p>
        </p:txBody>
      </p:sp>
      <p:sp>
        <p:nvSpPr>
          <p:cNvPr id="7" name="bel-2"/>
          <p:cNvSpPr txBox="1"/>
          <p:nvPr/>
        </p:nvSpPr>
        <p:spPr>
          <a:xfrm>
            <a:off x="3361944" y="3656622"/>
            <a:ext cx="237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с · z = 0,61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показание с другого места: кольцо сузилось</a:t>
            </a:r>
            <a:endParaRPr lang="en-US" sz="1100" dirty="0"/>
          </a:p>
        </p:txBody>
      </p:sp>
      <p:sp>
        <p:nvSpPr>
          <p:cNvPr id="8" name="bel-3"/>
          <p:cNvSpPr txBox="1"/>
          <p:nvPr/>
        </p:nvSpPr>
        <p:spPr>
          <a:xfrm>
            <a:off x="5964936" y="3656622"/>
            <a:ext cx="237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с · вероятность 51%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гипотеза «образец здесь» → подъезд → сбор на 9-й секунде</a:t>
            </a:r>
            <a:endParaRPr lang="en-US" sz="1100" dirty="0"/>
          </a:p>
        </p:txBody>
      </p:sp>
      <p:sp>
        <p:nvSpPr>
          <p:cNvPr id="9" name="chain-pill"/>
          <p:cNvSpPr/>
          <p:nvPr/>
        </p:nvSpPr>
        <p:spPr>
          <a:xfrm>
            <a:off x="667512" y="4224528"/>
            <a:ext cx="7808976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0" name="chain-text"/>
          <p:cNvSpPr txBox="1"/>
          <p:nvPr/>
        </p:nvSpPr>
        <p:spPr>
          <a:xfrm>
            <a:off x="941832" y="4224528"/>
            <a:ext cx="7260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показание z → карта вероятностей → кандидат → маршрут с ценой грунта → проверка запаса на возврат → скорости v, 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на карте: один прогон в Gazebo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Трудный уровень, сценарий 2 — его же показываем вживую. Скрытое нарисовано для зрителя</a:t>
            </a:r>
            <a:endParaRPr lang="en-US" sz="1150" dirty="0"/>
          </a:p>
        </p:txBody>
      </p:sp>
      <p:pic>
        <p:nvPicPr>
          <p:cNvPr id="5" name="scenario" descr="Карта арены с путём робота и пятью отмеченными событиями прогон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43584"/>
            <a:ext cx="3639312" cy="3354837"/>
          </a:xfrm>
          <a:prstGeom prst="rect">
            <a:avLst/>
          </a:prstGeom>
        </p:spPr>
      </p:pic>
      <p:sp>
        <p:nvSpPr>
          <p:cNvPr id="6" name="event-1-badge"/>
          <p:cNvSpPr txBox="1"/>
          <p:nvPr/>
        </p:nvSpPr>
        <p:spPr>
          <a:xfrm>
            <a:off x="4572000" y="1298448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event-1-text"/>
          <p:cNvSpPr txBox="1"/>
          <p:nvPr/>
        </p:nvSpPr>
        <p:spPr>
          <a:xfrm>
            <a:off x="4956048" y="12801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0–30 с · три образца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цель — гипотеза «образец здесь»: подъехал, собрал, подтвердил</a:t>
            </a:r>
            <a:endParaRPr lang="en-US" sz="1100" dirty="0"/>
          </a:p>
        </p:txBody>
      </p:sp>
      <p:sp>
        <p:nvSpPr>
          <p:cNvPr id="8" name="event-2-badge"/>
          <p:cNvSpPr txBox="1"/>
          <p:nvPr/>
        </p:nvSpPr>
        <p:spPr>
          <a:xfrm>
            <a:off x="4572000" y="1901952"/>
            <a:ext cx="256032" cy="256032"/>
          </a:xfrm>
          <a:prstGeom prst="ellipse">
            <a:avLst/>
          </a:prstGeom>
          <a:solidFill>
            <a:srgbClr val="C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event-2-text"/>
          <p:cNvSpPr txBox="1"/>
          <p:nvPr/>
        </p:nvSpPr>
        <p:spPr>
          <a:xfrm>
            <a:off x="4956048" y="18836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с · судья сделал грунт дороже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 5,7 ед/м при прогнозе 2,9 → опыт «постоять 2 с» → вывод: грунт; участок внесён в карту стоимости</a:t>
            </a:r>
            <a:endParaRPr lang="en-US" sz="1100" dirty="0"/>
          </a:p>
        </p:txBody>
      </p:sp>
      <p:sp>
        <p:nvSpPr>
          <p:cNvPr id="10" name="event-3-badge"/>
          <p:cNvSpPr txBox="1"/>
          <p:nvPr/>
        </p:nvSpPr>
        <p:spPr>
          <a:xfrm>
            <a:off x="4572000" y="2505456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event-3-text"/>
          <p:cNvSpPr txBox="1"/>
          <p:nvPr/>
        </p:nvSpPr>
        <p:spPr>
          <a:xfrm>
            <a:off x="4956048" y="248716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с · датчик зашумел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 «сбой датчика»; ждёт 36 с: стоять стоит 0,01 ед/с, ехать вслепую — около 0,22</a:t>
            </a:r>
            <a:endParaRPr lang="en-US" sz="1100" dirty="0"/>
          </a:p>
        </p:txBody>
      </p:sp>
      <p:sp>
        <p:nvSpPr>
          <p:cNvPr id="12" name="event-4-badge"/>
          <p:cNvSpPr txBox="1"/>
          <p:nvPr/>
        </p:nvSpPr>
        <p:spPr>
          <a:xfrm>
            <a:off x="4572000" y="3108960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event-4-text"/>
          <p:cNvSpPr txBox="1"/>
          <p:nvPr/>
        </p:nvSpPr>
        <p:spPr>
          <a:xfrm>
            <a:off x="4956048" y="30906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82–134 с · ещё четыре образца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шум спал — поиск продолжается</a:t>
            </a:r>
            <a:endParaRPr lang="en-US" sz="1100" dirty="0"/>
          </a:p>
        </p:txBody>
      </p:sp>
      <p:sp>
        <p:nvSpPr>
          <p:cNvPr id="14" name="event-5-badge"/>
          <p:cNvSpPr txBox="1"/>
          <p:nvPr/>
        </p:nvSpPr>
        <p:spPr>
          <a:xfrm>
            <a:off x="4572000" y="3712464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event-5-text"/>
          <p:cNvSpPr txBox="1"/>
          <p:nvPr/>
        </p:nvSpPr>
        <p:spPr>
          <a:xfrm>
            <a:off x="4956048" y="36941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142 с · на базе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из 7 образцов, счёт судьи 91,8, без штрафов</a:t>
            </a:r>
            <a:endParaRPr lang="en-US" sz="1100" dirty="0"/>
          </a:p>
        </p:txBody>
      </p:sp>
      <p:sp>
        <p:nvSpPr>
          <p:cNvPr id="16" name="legend"/>
          <p:cNvSpPr txBox="1"/>
          <p:nvPr/>
        </p:nvSpPr>
        <p:spPr>
          <a:xfrm>
            <a:off x="4572000" y="433425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Зелёные точки — образцы, жёлтое — дорогой грунт (×N), красное — опасные зоны, синяя линия — путь робота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1. План заранее против робота с адаптацией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сценарий (№1026): слева маршрут составлен заранее, справа — поиск по карте вероятностей</a:t>
            </a:r>
            <a:endParaRPr lang="en-US" sz="1150" dirty="0"/>
          </a:p>
        </p:txBody>
      </p:sp>
      <p:pic>
        <p:nvPicPr>
          <p:cNvPr id="5" name="pair_fixed_adaptive" descr="Две карты одного сценария: путь робота с планом заранее и путь робота-исследовател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5074920" cy="2307063"/>
          </a:xfrm>
          <a:prstGeom prst="rect">
            <a:avLst/>
          </a:prstGeom>
        </p:spPr>
      </p:pic>
      <p:sp>
        <p:nvSpPr>
          <p:cNvPr id="6" name="cap-left"/>
          <p:cNvSpPr txBox="1"/>
          <p:nvPr/>
        </p:nvSpPr>
        <p:spPr>
          <a:xfrm>
            <a:off x="713232" y="3651231"/>
            <a:ext cx="2354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заранее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из 7 образцов · счёт 61,1</a:t>
            </a:r>
            <a:endParaRPr lang="en-US" sz="1100" dirty="0"/>
          </a:p>
        </p:txBody>
      </p:sp>
      <p:sp>
        <p:nvSpPr>
          <p:cNvPr id="7" name="cap-right"/>
          <p:cNvSpPr txBox="1"/>
          <p:nvPr/>
        </p:nvSpPr>
        <p:spPr>
          <a:xfrm>
            <a:off x="3296412" y="3651231"/>
            <a:ext cx="2354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адаптацией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из 7 образцов · счёт 75,1</a:t>
            </a:r>
            <a:endParaRPr lang="en-US" sz="1100" dirty="0"/>
          </a:p>
        </p:txBody>
      </p:sp>
      <p:sp>
        <p:nvSpPr>
          <p:cNvPr id="8" name="stat-circle"/>
          <p:cNvSpPr/>
          <p:nvPr/>
        </p:nvSpPr>
        <p:spPr>
          <a:xfrm>
            <a:off x="6053328" y="1353312"/>
            <a:ext cx="2286000" cy="22860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at-value"/>
          <p:cNvSpPr txBox="1"/>
          <p:nvPr/>
        </p:nvSpPr>
        <p:spPr>
          <a:xfrm>
            <a:off x="6053328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+13,3</a:t>
            </a:r>
            <a:endParaRPr lang="en-US" sz="3400" dirty="0"/>
          </a:p>
        </p:txBody>
      </p:sp>
      <p:sp>
        <p:nvSpPr>
          <p:cNvPr id="10" name="stat-lines"/>
          <p:cNvSpPr txBox="1"/>
          <p:nvPr/>
        </p:nvSpPr>
        <p:spPr>
          <a:xfrm>
            <a:off x="6190488" y="241401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очка в среднем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интервал [7,4; 19,0]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трудных сценариев,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</a:t>
            </a:r>
            <a:endParaRPr lang="en-US" sz="1000" dirty="0"/>
          </a:p>
        </p:txBody>
      </p:sp>
      <p:sp>
        <p:nvSpPr>
          <p:cNvPr id="11" name="takeaway-pill"/>
          <p:cNvSpPr/>
          <p:nvPr/>
        </p:nvSpPr>
        <p:spPr>
          <a:xfrm>
            <a:off x="667512" y="4206240"/>
            <a:ext cx="7808976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takeaway-text"/>
          <p:cNvSpPr txBox="1"/>
          <p:nvPr/>
        </p:nvSpPr>
        <p:spPr>
          <a:xfrm>
            <a:off x="941832" y="4206240"/>
            <a:ext cx="7260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Тот же заряд, та же арена — больше образцов: выше в 29 из 40 сценариев. По возврату на базу различие не показано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2. Расход вырос вдвое — робот ставит опыт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31-я секунда того же прогона: судья сделал грунт дороже и роботу об этом не сказал</a:t>
            </a:r>
            <a:endParaRPr lang="en-US" sz="1150" dirty="0"/>
          </a:p>
        </p:txBody>
      </p:sp>
      <p:sp>
        <p:nvSpPr>
          <p:cNvPr id="5" name="step-1-dot"/>
          <p:cNvSpPr/>
          <p:nvPr/>
        </p:nvSpPr>
        <p:spPr>
          <a:xfrm>
            <a:off x="667512" y="132588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-1-n"/>
          <p:cNvSpPr txBox="1"/>
          <p:nvPr/>
        </p:nvSpPr>
        <p:spPr>
          <a:xfrm>
            <a:off x="667512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tep-1-text"/>
          <p:cNvSpPr txBox="1"/>
          <p:nvPr/>
        </p:nvSpPr>
        <p:spPr>
          <a:xfrm>
            <a:off x="1069848" y="12984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Странность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 5,7 ед/м при прогнозе 2,9</a:t>
            </a:r>
            <a:endParaRPr lang="en-US" sz="1100" dirty="0"/>
          </a:p>
        </p:txBody>
      </p:sp>
      <p:sp>
        <p:nvSpPr>
          <p:cNvPr id="8" name="step-2-dot"/>
          <p:cNvSpPr/>
          <p:nvPr/>
        </p:nvSpPr>
        <p:spPr>
          <a:xfrm>
            <a:off x="667512" y="189280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tep-2-n"/>
          <p:cNvSpPr txBox="1"/>
          <p:nvPr/>
        </p:nvSpPr>
        <p:spPr>
          <a:xfrm>
            <a:off x="667512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tep-2-text"/>
          <p:cNvSpPr txBox="1"/>
          <p:nvPr/>
        </p:nvSpPr>
        <p:spPr>
          <a:xfrm>
            <a:off x="1069848" y="18653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Объяснения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грунт подорожал · батарея течёт · дорогие повороты · другая причина</a:t>
            </a:r>
            <a:endParaRPr lang="en-US" sz="1100" dirty="0"/>
          </a:p>
        </p:txBody>
      </p:sp>
      <p:sp>
        <p:nvSpPr>
          <p:cNvPr id="11" name="step-3-dot"/>
          <p:cNvSpPr/>
          <p:nvPr/>
        </p:nvSpPr>
        <p:spPr>
          <a:xfrm>
            <a:off x="667512" y="245973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step-3-n"/>
          <p:cNvSpPr txBox="1"/>
          <p:nvPr/>
        </p:nvSpPr>
        <p:spPr>
          <a:xfrm>
            <a:off x="667512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tep-3-text"/>
          <p:cNvSpPr txBox="1"/>
          <p:nvPr/>
        </p:nvSpPr>
        <p:spPr>
          <a:xfrm>
            <a:off x="1069848" y="243230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постоять 2 с: 1,07 бит за 0,02 ед. заряда. Проехать 0,3 м дало бы 0,50 бит за 1,4 ед. — не выбран</a:t>
            </a:r>
            <a:endParaRPr lang="en-US" sz="1100" dirty="0"/>
          </a:p>
        </p:txBody>
      </p:sp>
      <p:sp>
        <p:nvSpPr>
          <p:cNvPr id="14" name="step-4-dot"/>
          <p:cNvSpPr/>
          <p:nvPr/>
        </p:nvSpPr>
        <p:spPr>
          <a:xfrm>
            <a:off x="667512" y="30266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-4-n"/>
          <p:cNvSpPr txBox="1"/>
          <p:nvPr/>
        </p:nvSpPr>
        <p:spPr>
          <a:xfrm>
            <a:off x="667512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tep-4-text"/>
          <p:cNvSpPr txBox="1"/>
          <p:nvPr/>
        </p:nvSpPr>
        <p:spPr>
          <a:xfrm>
            <a:off x="1069848" y="29992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Измерено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стоя — 0,01 ед/с: утечки нет; разворот — 0,06 ед/рад: повороты дешёвые</a:t>
            </a:r>
            <a:endParaRPr lang="en-US" sz="1100" dirty="0"/>
          </a:p>
        </p:txBody>
      </p:sp>
      <p:sp>
        <p:nvSpPr>
          <p:cNvPr id="17" name="step-5-dot"/>
          <p:cNvSpPr/>
          <p:nvPr/>
        </p:nvSpPr>
        <p:spPr>
          <a:xfrm>
            <a:off x="667512" y="359359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step-5-n"/>
          <p:cNvSpPr txBox="1"/>
          <p:nvPr/>
        </p:nvSpPr>
        <p:spPr>
          <a:xfrm>
            <a:off x="667512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tep-5-text"/>
          <p:cNvSpPr txBox="1"/>
          <p:nvPr/>
        </p:nvSpPr>
        <p:spPr>
          <a:xfrm>
            <a:off x="1069848" y="3566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 и действие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грунт дороже в 2,1 раза; участок внесён в карту стоимости</a:t>
            </a:r>
            <a:endParaRPr lang="en-US" sz="1100" dirty="0"/>
          </a:p>
        </p:txBody>
      </p:sp>
      <p:sp>
        <p:nvSpPr>
          <p:cNvPr id="20" name="chart-title"/>
          <p:cNvSpPr txBox="1"/>
          <p:nvPr/>
        </p:nvSpPr>
        <p:spPr>
          <a:xfrm>
            <a:off x="4709160" y="12984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Вероятность объяснений до опытов и после них</a:t>
            </a:r>
            <a:endParaRPr lang="en-US" sz="1100" dirty="0"/>
          </a:p>
        </p:txBody>
      </p:sp>
      <p:graphicFrame>
        <p:nvGraphicFramePr>
          <p:cNvPr id="21" name="inquiry-chart" descr="Вероятности четырёх объяснений до опытов и после двух замеров: «грунт подорожал» — с 47 до 99,8 процента"/>
          <p:cNvGraphicFramePr/>
          <p:nvPr/>
        </p:nvGraphicFramePr>
        <p:xfrm>
          <a:off x="4617720" y="1517904"/>
          <a:ext cx="3858768" cy="2542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akeaway-pill"/>
          <p:cNvSpPr/>
          <p:nvPr/>
        </p:nvSpPr>
        <p:spPr>
          <a:xfrm>
            <a:off x="667512" y="4206240"/>
            <a:ext cx="7808976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akeaway-text"/>
          <p:cNvSpPr txBox="1"/>
          <p:nvPr/>
        </p:nvSpPr>
        <p:spPr>
          <a:xfrm>
            <a:off x="941832" y="4206240"/>
            <a:ext cx="7260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сериях 9 из 10 подтверждённых гипотез верны по скрытой правде. Выигрыш в очках от учёта грунта не показан: +1,0 [−3,6; +5,4]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3. Датчик зашумел: ехать или ждать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№8024: сбой датчика с 60-й по 96-ю секунду — оранжевый участок пути</a:t>
            </a:r>
            <a:endParaRPr lang="en-US" sz="1150" dirty="0"/>
          </a:p>
        </p:txBody>
      </p:sp>
      <p:pic>
        <p:nvPicPr>
          <p:cNvPr id="5" name="pair_sensor_fault" descr="Две карты одного сценария: робот, который едет во время сбоя датчика, и робот, который пережидает сбо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5074920" cy="2307063"/>
          </a:xfrm>
          <a:prstGeom prst="rect">
            <a:avLst/>
          </a:prstGeom>
        </p:spPr>
      </p:pic>
      <p:sp>
        <p:nvSpPr>
          <p:cNvPr id="6" name="cap-left"/>
          <p:cNvSpPr txBox="1"/>
          <p:nvPr/>
        </p:nvSpPr>
        <p:spPr>
          <a:xfrm>
            <a:off x="713232" y="3651231"/>
            <a:ext cx="2354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пережидания сбоя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37 с шума: 4,2 м пути и 22 ед. заряда · 6 из 7 · счёт 80,4</a:t>
            </a:r>
            <a:endParaRPr lang="en-US" sz="1100" dirty="0"/>
          </a:p>
        </p:txBody>
      </p:sp>
      <p:sp>
        <p:nvSpPr>
          <p:cNvPr id="7" name="cap-right"/>
          <p:cNvSpPr txBox="1"/>
          <p:nvPr/>
        </p:nvSpPr>
        <p:spPr>
          <a:xfrm>
            <a:off x="3296412" y="3651231"/>
            <a:ext cx="2354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Пережидает сбой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0,6 м пути и 4 ед. заряда · 7 из 7 · счёт 90,6</a:t>
            </a:r>
            <a:endParaRPr lang="en-US" sz="1100" dirty="0"/>
          </a:p>
        </p:txBody>
      </p:sp>
      <p:sp>
        <p:nvSpPr>
          <p:cNvPr id="8" name="stat-circle"/>
          <p:cNvSpPr/>
          <p:nvPr/>
        </p:nvSpPr>
        <p:spPr>
          <a:xfrm>
            <a:off x="6053328" y="1353312"/>
            <a:ext cx="2286000" cy="22860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at-value"/>
          <p:cNvSpPr txBox="1"/>
          <p:nvPr/>
        </p:nvSpPr>
        <p:spPr>
          <a:xfrm>
            <a:off x="6053328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+6,4</a:t>
            </a:r>
            <a:endParaRPr lang="en-US" sz="3400" dirty="0"/>
          </a:p>
        </p:txBody>
      </p:sp>
      <p:sp>
        <p:nvSpPr>
          <p:cNvPr id="10" name="stat-lines"/>
          <p:cNvSpPr txBox="1"/>
          <p:nvPr/>
        </p:nvSpPr>
        <p:spPr>
          <a:xfrm>
            <a:off x="6190488" y="241401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очка в среднем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интервал [2,9; 9,8]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новых сценариев,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</a:t>
            </a:r>
            <a:endParaRPr lang="en-US" sz="1000" dirty="0"/>
          </a:p>
        </p:txBody>
      </p:sp>
      <p:sp>
        <p:nvSpPr>
          <p:cNvPr id="11" name="takeaway-pill"/>
          <p:cNvSpPr/>
          <p:nvPr/>
        </p:nvSpPr>
        <p:spPr>
          <a:xfrm>
            <a:off x="667512" y="4206240"/>
            <a:ext cx="7808976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takeaway-text"/>
          <p:cNvSpPr txBox="1"/>
          <p:nvPr/>
        </p:nvSpPr>
        <p:spPr>
          <a:xfrm>
            <a:off x="941832" y="4206240"/>
            <a:ext cx="7260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 робота в этом прогоне: стоять — 0,01 ед/с, ехать по шумным показаниям — около 0,28 ед/с впустую. Поэтому он ждёт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4. LLM читает миссию и меняет план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исполнитель; подцели выбирает правило (текст миссии не читает) или языковая модель</a:t>
            </a:r>
            <a:endParaRPr lang="en-US" sz="1150" dirty="0"/>
          </a:p>
        </p:txBody>
      </p:sp>
      <p:sp>
        <p:nvSpPr>
          <p:cNvPr id="5" name="mission-pill"/>
          <p:cNvSpPr/>
          <p:nvPr/>
        </p:nvSpPr>
        <p:spPr>
          <a:xfrm>
            <a:off x="667512" y="1225296"/>
            <a:ext cx="7808976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mission-text"/>
          <p:cNvSpPr txBox="1"/>
          <p:nvPr/>
        </p:nvSpPr>
        <p:spPr>
          <a:xfrm>
            <a:off x="923544" y="1225296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Миссия словами: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«После первого же штрафа немедленно возвращайся на базу»</a:t>
            </a:r>
            <a:endParaRPr lang="en-US" sz="1150" dirty="0"/>
          </a:p>
        </p:txBody>
      </p:sp>
      <p:pic>
        <p:nvPicPr>
          <p:cNvPr id="7" name="pair_llm_m4" descr="Две карты одного сценария: после штрафа робот с правилом продолжает собирать, робот с языковой моделью едет на баз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0784"/>
            <a:ext cx="4114800" cy="1870592"/>
          </a:xfrm>
          <a:prstGeom prst="rect">
            <a:avLst/>
          </a:prstGeom>
        </p:spPr>
      </p:pic>
      <p:sp>
        <p:nvSpPr>
          <p:cNvPr id="8" name="cap-left"/>
          <p:cNvSpPr txBox="1"/>
          <p:nvPr/>
        </p:nvSpPr>
        <p:spPr>
          <a:xfrm>
            <a:off x="713232" y="3626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Правило: текст не читает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штрафа собрал ещё 4 образца: миссия нарушена</a:t>
            </a:r>
            <a:endParaRPr lang="en-US" sz="1100" dirty="0"/>
          </a:p>
        </p:txBody>
      </p:sp>
      <p:sp>
        <p:nvSpPr>
          <p:cNvPr id="9" name="cap-right"/>
          <p:cNvSpPr txBox="1"/>
          <p:nvPr/>
        </p:nvSpPr>
        <p:spPr>
          <a:xfrm>
            <a:off x="2798064" y="3626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· qwen3.8-flash-next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сразу повернул домой, на базе на 40-й с: выполнена</a:t>
            </a:r>
            <a:endParaRPr lang="en-US" sz="1100" dirty="0"/>
          </a:p>
        </p:txBody>
      </p:sp>
      <p:sp>
        <p:nvSpPr>
          <p:cNvPr id="10" name="quote-card"/>
          <p:cNvSpPr/>
          <p:nvPr/>
        </p:nvSpPr>
        <p:spPr>
          <a:xfrm>
            <a:off x="4983480" y="1700784"/>
            <a:ext cx="3493008" cy="1517904"/>
          </a:xfrm>
          <a:prstGeom prst="roundRect">
            <a:avLst>
              <a:gd name="adj" fmla="val 13253"/>
            </a:avLst>
          </a:prstGeom>
          <a:solidFill>
            <a:schemeClr val="bg2"/>
          </a:solidFill>
          <a:ln/>
        </p:spPr>
      </p:sp>
      <p:sp>
        <p:nvSpPr>
          <p:cNvPr id="11" name="quote-head"/>
          <p:cNvSpPr txBox="1"/>
          <p:nvPr/>
        </p:nvSpPr>
        <p:spPr>
          <a:xfrm>
            <a:off x="5184648" y="1773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 модели на 27-й секунде, дословно</a:t>
            </a:r>
            <a:endParaRPr lang="en-US" sz="950" dirty="0"/>
          </a:p>
        </p:txBody>
      </p:sp>
      <p:sp>
        <p:nvSpPr>
          <p:cNvPr id="12" name="quote-text"/>
          <p:cNvSpPr txBox="1"/>
          <p:nvPr/>
        </p:nvSpPr>
        <p:spPr>
          <a:xfrm>
            <a:off x="5184648" y="2011680"/>
            <a:ext cx="31272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«Миссия: после первого штрафа немедленно на базу. Штраф получен (hazard_hit=1, total=1). Заряд 45,7, возврат 6,9 — запас достаточен. 3 из 7 образцов собрано, но миссия требует остановки. Возврат.»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C5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подцели: [ return_base ]</a:t>
            </a:r>
            <a:endParaRPr lang="en-US" sz="1100" dirty="0"/>
          </a:p>
        </p:txBody>
      </p:sp>
      <p:sp>
        <p:nvSpPr>
          <p:cNvPr id="13" name="llm-value"/>
          <p:cNvSpPr txBox="1"/>
          <p:nvPr/>
        </p:nvSpPr>
        <p:spPr>
          <a:xfrm>
            <a:off x="4983480" y="33101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C5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45–46 из 48</a:t>
            </a:r>
            <a:endParaRPr lang="en-US" sz="2400" dirty="0"/>
          </a:p>
        </p:txBody>
      </p:sp>
      <p:sp>
        <p:nvSpPr>
          <p:cNvPr id="14" name="llm-label"/>
          <p:cNvSpPr txBox="1"/>
          <p:nvPr/>
        </p:nvSpPr>
        <p:spPr>
          <a:xfrm>
            <a:off x="4983480" y="370332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прогонов по четырём миссиям выполняет каждая из трёх моделей МАИ; правило — 0 из 48</a:t>
            </a:r>
            <a:endParaRPr lang="en-US" sz="1000" dirty="0"/>
          </a:p>
        </p:txBody>
      </p:sp>
      <p:sp>
        <p:nvSpPr>
          <p:cNvPr id="15" name="llm-note"/>
          <p:cNvSpPr txBox="1"/>
          <p:nvPr/>
        </p:nvSpPr>
        <p:spPr>
          <a:xfrm>
            <a:off x="667512" y="4297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симулятор; время ответа модели не учитывается. Модель получает текст миссии и сводку состояния со счётчиком штрафов. На обычной миссии модель выбирает то же, что правило; ответ идёт 15–25 с, поэтому на показе решает правило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Итоги: что подтвердилось, а что нет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Разность счёта на одних и тех же трудных сценариях, быстрый симулятор; отрезок — 95% интервал</a:t>
            </a:r>
            <a:endParaRPr lang="en-US" sz="1150" dirty="0"/>
          </a:p>
        </p:txBody>
      </p:sp>
      <p:sp>
        <p:nvSpPr>
          <p:cNvPr id="5" name="res-axis-zero"/>
          <p:cNvSpPr/>
          <p:nvPr/>
        </p:nvSpPr>
        <p:spPr>
          <a:xfrm>
            <a:off x="6199632" y="1280160"/>
            <a:ext cx="0" cy="237744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6" name="res-axis-tick--5"/>
          <p:cNvSpPr txBox="1"/>
          <p:nvPr/>
        </p:nvSpPr>
        <p:spPr>
          <a:xfrm>
            <a:off x="5394960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</a:t>
            </a:r>
            <a:endParaRPr lang="en-US" sz="900" dirty="0"/>
          </a:p>
        </p:txBody>
      </p:sp>
      <p:sp>
        <p:nvSpPr>
          <p:cNvPr id="7" name="res-axis-tick-0"/>
          <p:cNvSpPr txBox="1"/>
          <p:nvPr/>
        </p:nvSpPr>
        <p:spPr>
          <a:xfrm>
            <a:off x="5925312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res-axis-tick-5"/>
          <p:cNvSpPr txBox="1"/>
          <p:nvPr/>
        </p:nvSpPr>
        <p:spPr>
          <a:xfrm>
            <a:off x="6455664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</a:t>
            </a:r>
            <a:endParaRPr lang="en-US" sz="900" dirty="0"/>
          </a:p>
        </p:txBody>
      </p:sp>
      <p:sp>
        <p:nvSpPr>
          <p:cNvPr id="9" name="res-axis-tick-10"/>
          <p:cNvSpPr txBox="1"/>
          <p:nvPr/>
        </p:nvSpPr>
        <p:spPr>
          <a:xfrm>
            <a:off x="6986016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</a:t>
            </a:r>
            <a:endParaRPr lang="en-US" sz="900" dirty="0"/>
          </a:p>
        </p:txBody>
      </p:sp>
      <p:sp>
        <p:nvSpPr>
          <p:cNvPr id="10" name="res-axis-tick-15"/>
          <p:cNvSpPr txBox="1"/>
          <p:nvPr/>
        </p:nvSpPr>
        <p:spPr>
          <a:xfrm>
            <a:off x="7516368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</a:t>
            </a:r>
            <a:endParaRPr lang="en-US" sz="900" dirty="0"/>
          </a:p>
        </p:txBody>
      </p:sp>
      <p:sp>
        <p:nvSpPr>
          <p:cNvPr id="11" name="res-axis-tick-20"/>
          <p:cNvSpPr txBox="1"/>
          <p:nvPr/>
        </p:nvSpPr>
        <p:spPr>
          <a:xfrm>
            <a:off x="8046720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</a:t>
            </a:r>
            <a:endParaRPr lang="en-US" sz="900" dirty="0"/>
          </a:p>
        </p:txBody>
      </p:sp>
      <p:sp>
        <p:nvSpPr>
          <p:cNvPr id="12" name="res-1-label"/>
          <p:cNvSpPr txBox="1"/>
          <p:nvPr/>
        </p:nvSpPr>
        <p:spPr>
          <a:xfrm>
            <a:off x="667512" y="128016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адаптацией против плана заранее</a:t>
            </a:r>
            <a:endParaRPr lang="en-US" sz="1100" dirty="0"/>
          </a:p>
        </p:txBody>
      </p:sp>
      <p:sp>
        <p:nvSpPr>
          <p:cNvPr id="13" name="res-1-value"/>
          <p:cNvSpPr txBox="1"/>
          <p:nvPr/>
        </p:nvSpPr>
        <p:spPr>
          <a:xfrm>
            <a:off x="3611880" y="128016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+13,3 [+7,4; +19,0]</a:t>
            </a:r>
            <a:endParaRPr lang="en-US" sz="1000" dirty="0"/>
          </a:p>
        </p:txBody>
      </p:sp>
      <p:sp>
        <p:nvSpPr>
          <p:cNvPr id="14" name="res-1-mark"/>
          <p:cNvSpPr txBox="1"/>
          <p:nvPr/>
        </p:nvSpPr>
        <p:spPr>
          <a:xfrm>
            <a:off x="5029200" y="128016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res-1-ci"/>
          <p:cNvSpPr/>
          <p:nvPr/>
        </p:nvSpPr>
        <p:spPr>
          <a:xfrm>
            <a:off x="6984553" y="1428750"/>
            <a:ext cx="1230417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16" name="res-1-dot"/>
          <p:cNvSpPr/>
          <p:nvPr/>
        </p:nvSpPr>
        <p:spPr>
          <a:xfrm>
            <a:off x="7550932" y="136931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res-2-label"/>
          <p:cNvSpPr txBox="1"/>
          <p:nvPr/>
        </p:nvSpPr>
        <p:spPr>
          <a:xfrm>
            <a:off x="667512" y="157734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Пережидает сбой датчика</a:t>
            </a:r>
            <a:endParaRPr lang="en-US" sz="1100" dirty="0"/>
          </a:p>
        </p:txBody>
      </p:sp>
      <p:sp>
        <p:nvSpPr>
          <p:cNvPr id="18" name="res-2-value"/>
          <p:cNvSpPr txBox="1"/>
          <p:nvPr/>
        </p:nvSpPr>
        <p:spPr>
          <a:xfrm>
            <a:off x="3611880" y="157734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+6,4 [+2,9; +9,8]</a:t>
            </a:r>
            <a:endParaRPr lang="en-US" sz="1000" dirty="0"/>
          </a:p>
        </p:txBody>
      </p:sp>
      <p:sp>
        <p:nvSpPr>
          <p:cNvPr id="19" name="res-2-mark"/>
          <p:cNvSpPr txBox="1"/>
          <p:nvPr/>
        </p:nvSpPr>
        <p:spPr>
          <a:xfrm>
            <a:off x="5029200" y="157734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res-2-ci"/>
          <p:cNvSpPr/>
          <p:nvPr/>
        </p:nvSpPr>
        <p:spPr>
          <a:xfrm>
            <a:off x="6507236" y="1725930"/>
            <a:ext cx="731886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1" name="res-2-dot"/>
          <p:cNvSpPr/>
          <p:nvPr/>
        </p:nvSpPr>
        <p:spPr>
          <a:xfrm>
            <a:off x="6819047" y="166649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res-3-label"/>
          <p:cNvSpPr txBox="1"/>
          <p:nvPr/>
        </p:nvSpPr>
        <p:spPr>
          <a:xfrm>
            <a:off x="667512" y="18745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Следит за исправностью датчика</a:t>
            </a:r>
            <a:endParaRPr lang="en-US" sz="1100" dirty="0"/>
          </a:p>
        </p:txBody>
      </p:sp>
      <p:sp>
        <p:nvSpPr>
          <p:cNvPr id="23" name="res-3-value"/>
          <p:cNvSpPr txBox="1"/>
          <p:nvPr/>
        </p:nvSpPr>
        <p:spPr>
          <a:xfrm>
            <a:off x="3611880" y="187452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+4,9 [+1,7; +8,2]</a:t>
            </a:r>
            <a:endParaRPr lang="en-US" sz="1000" dirty="0"/>
          </a:p>
        </p:txBody>
      </p:sp>
      <p:sp>
        <p:nvSpPr>
          <p:cNvPr id="24" name="res-3-mark"/>
          <p:cNvSpPr txBox="1"/>
          <p:nvPr/>
        </p:nvSpPr>
        <p:spPr>
          <a:xfrm>
            <a:off x="5029200" y="187452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res-3-ci"/>
          <p:cNvSpPr/>
          <p:nvPr/>
        </p:nvSpPr>
        <p:spPr>
          <a:xfrm>
            <a:off x="6379952" y="2023110"/>
            <a:ext cx="689458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6" name="res-3-dot"/>
          <p:cNvSpPr/>
          <p:nvPr/>
        </p:nvSpPr>
        <p:spPr>
          <a:xfrm>
            <a:off x="6659941" y="196367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res-4-label"/>
          <p:cNvSpPr txBox="1"/>
          <p:nvPr/>
        </p:nvSpPr>
        <p:spPr>
          <a:xfrm>
            <a:off x="667512" y="217170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Запас на возврат по оценке пути домой</a:t>
            </a:r>
            <a:endParaRPr lang="en-US" sz="1100" dirty="0"/>
          </a:p>
        </p:txBody>
      </p:sp>
      <p:sp>
        <p:nvSpPr>
          <p:cNvPr id="28" name="res-4-value"/>
          <p:cNvSpPr txBox="1"/>
          <p:nvPr/>
        </p:nvSpPr>
        <p:spPr>
          <a:xfrm>
            <a:off x="3611880" y="217170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+3,6 [+1,6; +5,6]</a:t>
            </a:r>
            <a:endParaRPr lang="en-US" sz="1000" dirty="0"/>
          </a:p>
        </p:txBody>
      </p:sp>
      <p:sp>
        <p:nvSpPr>
          <p:cNvPr id="29" name="res-4-mark"/>
          <p:cNvSpPr txBox="1"/>
          <p:nvPr/>
        </p:nvSpPr>
        <p:spPr>
          <a:xfrm>
            <a:off x="5029200" y="217170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res-4-ci"/>
          <p:cNvSpPr/>
          <p:nvPr/>
        </p:nvSpPr>
        <p:spPr>
          <a:xfrm>
            <a:off x="6369345" y="2320290"/>
            <a:ext cx="424282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31" name="res-4-dot"/>
          <p:cNvSpPr/>
          <p:nvPr/>
        </p:nvSpPr>
        <p:spPr>
          <a:xfrm>
            <a:off x="6522049" y="226085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res-5-label"/>
          <p:cNvSpPr txBox="1"/>
          <p:nvPr/>
        </p:nvSpPr>
        <p:spPr>
          <a:xfrm>
            <a:off x="667512" y="246888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Помнит лабораторию: второй прогон</a:t>
            </a:r>
            <a:endParaRPr lang="en-US" sz="1100" dirty="0"/>
          </a:p>
        </p:txBody>
      </p:sp>
      <p:sp>
        <p:nvSpPr>
          <p:cNvPr id="33" name="res-5-value"/>
          <p:cNvSpPr txBox="1"/>
          <p:nvPr/>
        </p:nvSpPr>
        <p:spPr>
          <a:xfrm>
            <a:off x="3611880" y="246888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+4,3 [+2,4; +6,3]</a:t>
            </a:r>
            <a:endParaRPr lang="en-US" sz="1000" dirty="0"/>
          </a:p>
        </p:txBody>
      </p:sp>
      <p:sp>
        <p:nvSpPr>
          <p:cNvPr id="34" name="res-5-mark"/>
          <p:cNvSpPr txBox="1"/>
          <p:nvPr/>
        </p:nvSpPr>
        <p:spPr>
          <a:xfrm>
            <a:off x="5029200" y="246888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res-5-ci"/>
          <p:cNvSpPr/>
          <p:nvPr/>
        </p:nvSpPr>
        <p:spPr>
          <a:xfrm>
            <a:off x="6454201" y="2617470"/>
            <a:ext cx="413675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36" name="res-5-dot"/>
          <p:cNvSpPr/>
          <p:nvPr/>
        </p:nvSpPr>
        <p:spPr>
          <a:xfrm>
            <a:off x="6596299" y="255803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res-6-label"/>
          <p:cNvSpPr txBox="1"/>
          <p:nvPr/>
        </p:nvSpPr>
        <p:spPr>
          <a:xfrm>
            <a:off x="667512" y="276606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Учитывает дорогой грунт</a:t>
            </a:r>
            <a:endParaRPr lang="en-US" sz="1100" dirty="0"/>
          </a:p>
        </p:txBody>
      </p:sp>
      <p:sp>
        <p:nvSpPr>
          <p:cNvPr id="38" name="res-6-value"/>
          <p:cNvSpPr txBox="1"/>
          <p:nvPr/>
        </p:nvSpPr>
        <p:spPr>
          <a:xfrm>
            <a:off x="3611880" y="276606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+1,0 [−3,6; +5,4]</a:t>
            </a:r>
            <a:endParaRPr lang="en-US" sz="1000" dirty="0"/>
          </a:p>
        </p:txBody>
      </p:sp>
      <p:sp>
        <p:nvSpPr>
          <p:cNvPr id="39" name="res-6-mark"/>
          <p:cNvSpPr txBox="1"/>
          <p:nvPr/>
        </p:nvSpPr>
        <p:spPr>
          <a:xfrm>
            <a:off x="5029200" y="276606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показано</a:t>
            </a:r>
            <a:endParaRPr lang="en-US" sz="900" dirty="0"/>
          </a:p>
        </p:txBody>
      </p:sp>
      <p:sp>
        <p:nvSpPr>
          <p:cNvPr id="40" name="res-6-ci"/>
          <p:cNvSpPr/>
          <p:nvPr/>
        </p:nvSpPr>
        <p:spPr>
          <a:xfrm>
            <a:off x="5817779" y="2914650"/>
            <a:ext cx="954634" cy="0"/>
          </a:xfrm>
          <a:prstGeom prst="line">
            <a:avLst/>
          </a:prstGeom>
          <a:noFill/>
          <a:ln w="38100">
            <a:solidFill>
              <a:srgbClr val="8A94A6"/>
            </a:solidFill>
            <a:prstDash val="solid"/>
          </a:ln>
        </p:spPr>
      </p:sp>
      <p:sp>
        <p:nvSpPr>
          <p:cNvPr id="41" name="res-6-dot"/>
          <p:cNvSpPr/>
          <p:nvPr/>
        </p:nvSpPr>
        <p:spPr>
          <a:xfrm>
            <a:off x="6246266" y="2855214"/>
            <a:ext cx="118872" cy="11887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res-7-label"/>
          <p:cNvSpPr txBox="1"/>
          <p:nvPr/>
        </p:nvSpPr>
        <p:spPr>
          <a:xfrm>
            <a:off x="667512" y="306324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Замечает смену грунта на пути</a:t>
            </a:r>
            <a:endParaRPr lang="en-US" sz="1100" dirty="0"/>
          </a:p>
        </p:txBody>
      </p:sp>
      <p:sp>
        <p:nvSpPr>
          <p:cNvPr id="43" name="res-7-value"/>
          <p:cNvSpPr txBox="1"/>
          <p:nvPr/>
        </p:nvSpPr>
        <p:spPr>
          <a:xfrm>
            <a:off x="3611880" y="306324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+0,02 [−0,03; +0,07]</a:t>
            </a:r>
            <a:endParaRPr lang="en-US" sz="1000" dirty="0"/>
          </a:p>
        </p:txBody>
      </p:sp>
      <p:sp>
        <p:nvSpPr>
          <p:cNvPr id="44" name="res-7-mark"/>
          <p:cNvSpPr txBox="1"/>
          <p:nvPr/>
        </p:nvSpPr>
        <p:spPr>
          <a:xfrm>
            <a:off x="5029200" y="306324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показано</a:t>
            </a:r>
            <a:endParaRPr lang="en-US" sz="900" dirty="0"/>
          </a:p>
        </p:txBody>
      </p:sp>
      <p:sp>
        <p:nvSpPr>
          <p:cNvPr id="45" name="res-7-dot"/>
          <p:cNvSpPr/>
          <p:nvPr/>
        </p:nvSpPr>
        <p:spPr>
          <a:xfrm>
            <a:off x="6142317" y="3152394"/>
            <a:ext cx="118872" cy="11887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res-8-label"/>
          <p:cNvSpPr txBox="1"/>
          <p:nvPr/>
        </p:nvSpPr>
        <p:spPr>
          <a:xfrm>
            <a:off x="667512" y="33604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схемы планирования</a:t>
            </a:r>
            <a:endParaRPr lang="en-US" sz="1100" dirty="0"/>
          </a:p>
        </p:txBody>
      </p:sp>
      <p:sp>
        <p:nvSpPr>
          <p:cNvPr id="47" name="res-8-value"/>
          <p:cNvSpPr txBox="1"/>
          <p:nvPr/>
        </p:nvSpPr>
        <p:spPr>
          <a:xfrm>
            <a:off x="3611880" y="336042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−0,4 [−2,7; +1,9]</a:t>
            </a:r>
            <a:endParaRPr lang="en-US" sz="1000" dirty="0"/>
          </a:p>
        </p:txBody>
      </p:sp>
      <p:sp>
        <p:nvSpPr>
          <p:cNvPr id="48" name="res-8-mark"/>
          <p:cNvSpPr txBox="1"/>
          <p:nvPr/>
        </p:nvSpPr>
        <p:spPr>
          <a:xfrm>
            <a:off x="5029200" y="336042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показано</a:t>
            </a:r>
            <a:endParaRPr lang="en-US" sz="900" dirty="0"/>
          </a:p>
        </p:txBody>
      </p:sp>
      <p:sp>
        <p:nvSpPr>
          <p:cNvPr id="49" name="res-8-ci"/>
          <p:cNvSpPr/>
          <p:nvPr/>
        </p:nvSpPr>
        <p:spPr>
          <a:xfrm>
            <a:off x="5913242" y="3509010"/>
            <a:ext cx="487924" cy="0"/>
          </a:xfrm>
          <a:prstGeom prst="line">
            <a:avLst/>
          </a:prstGeom>
          <a:noFill/>
          <a:ln w="38100">
            <a:solidFill>
              <a:srgbClr val="8A94A6"/>
            </a:solidFill>
            <a:prstDash val="solid"/>
          </a:ln>
        </p:spPr>
      </p:sp>
      <p:sp>
        <p:nvSpPr>
          <p:cNvPr id="50" name="res-8-dot"/>
          <p:cNvSpPr/>
          <p:nvPr/>
        </p:nvSpPr>
        <p:spPr>
          <a:xfrm>
            <a:off x="6097768" y="3449574"/>
            <a:ext cx="118872" cy="11887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res-note"/>
          <p:cNvSpPr txBox="1"/>
          <p:nvPr/>
        </p:nvSpPr>
        <p:spPr>
          <a:xfrm>
            <a:off x="667512" y="36850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Опыты разные: числа не складывать. Смена грунта — разность разностей</a:t>
            </a:r>
            <a:endParaRPr lang="en-US" sz="950" dirty="0"/>
          </a:p>
        </p:txBody>
      </p:sp>
      <p:sp>
        <p:nvSpPr>
          <p:cNvPr id="52" name="tile-1"/>
          <p:cNvSpPr/>
          <p:nvPr/>
        </p:nvSpPr>
        <p:spPr>
          <a:xfrm>
            <a:off x="667512" y="3931920"/>
            <a:ext cx="2505456" cy="6858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</p:sp>
      <p:sp>
        <p:nvSpPr>
          <p:cNvPr id="53" name="tile-1-value"/>
          <p:cNvSpPr txBox="1"/>
          <p:nvPr/>
        </p:nvSpPr>
        <p:spPr>
          <a:xfrm>
            <a:off x="896112" y="3959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из 6 · Gazebo</a:t>
            </a:r>
            <a:endParaRPr lang="en-US" sz="1400" dirty="0"/>
          </a:p>
        </p:txBody>
      </p:sp>
      <p:sp>
        <p:nvSpPr>
          <p:cNvPr id="54" name="tile-1-label"/>
          <p:cNvSpPr txBox="1"/>
          <p:nvPr/>
        </p:nvSpPr>
        <p:spPr>
          <a:xfrm>
            <a:off x="896112" y="4224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засчитанных прогонов показа: 7 из 7 образцов, без штрафов</a:t>
            </a:r>
            <a:endParaRPr lang="en-US" sz="900" dirty="0"/>
          </a:p>
        </p:txBody>
      </p:sp>
      <p:sp>
        <p:nvSpPr>
          <p:cNvPr id="55" name="tile-2"/>
          <p:cNvSpPr/>
          <p:nvPr/>
        </p:nvSpPr>
        <p:spPr>
          <a:xfrm>
            <a:off x="3319272" y="3931920"/>
            <a:ext cx="2505456" cy="6858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</p:sp>
      <p:sp>
        <p:nvSpPr>
          <p:cNvPr id="56" name="tile-2-value"/>
          <p:cNvSpPr txBox="1"/>
          <p:nvPr/>
        </p:nvSpPr>
        <p:spPr>
          <a:xfrm>
            <a:off x="3547872" y="3959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45–46 из 48</a:t>
            </a:r>
            <a:endParaRPr lang="en-US" sz="1400" dirty="0"/>
          </a:p>
        </p:txBody>
      </p:sp>
      <p:sp>
        <p:nvSpPr>
          <p:cNvPr id="57" name="tile-2-label"/>
          <p:cNvSpPr txBox="1"/>
          <p:nvPr/>
        </p:nvSpPr>
        <p:spPr>
          <a:xfrm>
            <a:off x="3547872" y="4224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миссий словами выполняет LLM; правило — ни одной</a:t>
            </a:r>
            <a:endParaRPr lang="en-US" sz="900" dirty="0"/>
          </a:p>
        </p:txBody>
      </p:sp>
      <p:sp>
        <p:nvSpPr>
          <p:cNvPr id="58" name="tile-3"/>
          <p:cNvSpPr/>
          <p:nvPr/>
        </p:nvSpPr>
        <p:spPr>
          <a:xfrm>
            <a:off x="5971032" y="3931920"/>
            <a:ext cx="2505456" cy="68580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  <a:ln/>
        </p:spPr>
      </p:sp>
      <p:sp>
        <p:nvSpPr>
          <p:cNvPr id="59" name="tile-3-value"/>
          <p:cNvSpPr txBox="1"/>
          <p:nvPr/>
        </p:nvSpPr>
        <p:spPr>
          <a:xfrm>
            <a:off x="6199632" y="3959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из 10</a:t>
            </a:r>
            <a:endParaRPr lang="en-US" sz="1400" dirty="0"/>
          </a:p>
        </p:txBody>
      </p:sp>
      <p:sp>
        <p:nvSpPr>
          <p:cNvPr id="60" name="tile-3-label"/>
          <p:cNvSpPr txBox="1"/>
          <p:nvPr/>
        </p:nvSpPr>
        <p:spPr>
          <a:xfrm>
            <a:off x="6199632" y="4224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подтверждённых роботом гипотез верны (базовые правила)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использовали ИИ при разработке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Человек задавал направление; агенты исследовали, писали код и проверяли друг друга</a:t>
            </a:r>
            <a:endParaRPr lang="en-US" sz="1150" dirty="0"/>
          </a:p>
        </p:txBody>
      </p:sp>
      <p:sp>
        <p:nvSpPr>
          <p:cNvPr id="5" name="role-1-circle"/>
          <p:cNvSpPr/>
          <p:nvPr/>
        </p:nvSpPr>
        <p:spPr>
          <a:xfrm>
            <a:off x="667512" y="1207008"/>
            <a:ext cx="1481328" cy="1481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role-1-text"/>
          <p:cNvSpPr txBox="1"/>
          <p:nvPr/>
        </p:nvSpPr>
        <p:spPr>
          <a:xfrm>
            <a:off x="758952" y="1426464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Человек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роли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ограничения</a:t>
            </a:r>
            <a:endParaRPr lang="en-US" sz="1100" dirty="0"/>
          </a:p>
        </p:txBody>
      </p:sp>
      <p:sp>
        <p:nvSpPr>
          <p:cNvPr id="7" name="role-1-arrow"/>
          <p:cNvSpPr/>
          <p:nvPr/>
        </p:nvSpPr>
        <p:spPr>
          <a:xfrm>
            <a:off x="2258568" y="1947672"/>
            <a:ext cx="4084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role-2-circle"/>
          <p:cNvSpPr/>
          <p:nvPr/>
        </p:nvSpPr>
        <p:spPr>
          <a:xfrm>
            <a:off x="2776728" y="1207008"/>
            <a:ext cx="1481328" cy="14813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role-2-text"/>
          <p:cNvSpPr txBox="1"/>
          <p:nvPr/>
        </p:nvSpPr>
        <p:spPr>
          <a:xfrm>
            <a:off x="2868168" y="1426464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Ведущий агент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план, задания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сведение кода</a:t>
            </a:r>
            <a:endParaRPr lang="en-US" sz="1100" dirty="0"/>
          </a:p>
        </p:txBody>
      </p:sp>
      <p:pic>
        <p:nvPicPr>
          <p:cNvPr id="10" name="role-2-logo-Claude Opus" descr="role-2-logo-Claude Op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5952" y="2350008"/>
            <a:ext cx="182880" cy="182880"/>
          </a:xfrm>
          <a:prstGeom prst="rect">
            <a:avLst/>
          </a:prstGeom>
        </p:spPr>
      </p:pic>
      <p:sp>
        <p:nvSpPr>
          <p:cNvPr id="11" name="role-2-arrow"/>
          <p:cNvSpPr/>
          <p:nvPr/>
        </p:nvSpPr>
        <p:spPr>
          <a:xfrm>
            <a:off x="4367784" y="1947672"/>
            <a:ext cx="4084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role-3-circle"/>
          <p:cNvSpPr/>
          <p:nvPr/>
        </p:nvSpPr>
        <p:spPr>
          <a:xfrm>
            <a:off x="4885944" y="1207008"/>
            <a:ext cx="1481328" cy="14813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role-3-text"/>
          <p:cNvSpPr txBox="1"/>
          <p:nvPr/>
        </p:nvSpPr>
        <p:spPr>
          <a:xfrm>
            <a:off x="4977384" y="1426464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Исследователи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инженеры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литература;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и опыты</a:t>
            </a:r>
            <a:endParaRPr lang="en-US" sz="1100" dirty="0"/>
          </a:p>
        </p:txBody>
      </p:sp>
      <p:pic>
        <p:nvPicPr>
          <p:cNvPr id="14" name="role-3-logo-Gemini" descr="role-3-logo-Gemin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296" y="2350008"/>
            <a:ext cx="182880" cy="182880"/>
          </a:xfrm>
          <a:prstGeom prst="rect">
            <a:avLst/>
          </a:prstGeom>
        </p:spPr>
      </p:pic>
      <p:pic>
        <p:nvPicPr>
          <p:cNvPr id="15" name="role-3-logo-Claude" descr="role-3-logo-Clau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040" y="2350008"/>
            <a:ext cx="182880" cy="182880"/>
          </a:xfrm>
          <a:prstGeom prst="rect">
            <a:avLst/>
          </a:prstGeom>
        </p:spPr>
      </p:pic>
      <p:sp>
        <p:nvSpPr>
          <p:cNvPr id="16" name="role-3-arrow"/>
          <p:cNvSpPr/>
          <p:nvPr/>
        </p:nvSpPr>
        <p:spPr>
          <a:xfrm>
            <a:off x="6477000" y="1947672"/>
            <a:ext cx="4084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role-4-circle"/>
          <p:cNvSpPr/>
          <p:nvPr/>
        </p:nvSpPr>
        <p:spPr>
          <a:xfrm>
            <a:off x="6995160" y="1207008"/>
            <a:ext cx="1481328" cy="1481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role-4-text"/>
          <p:cNvSpPr txBox="1"/>
          <p:nvPr/>
        </p:nvSpPr>
        <p:spPr>
          <a:xfrm>
            <a:off x="7086600" y="1426464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Независимое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ревью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ошибки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исправления</a:t>
            </a:r>
            <a:endParaRPr lang="en-US" sz="1100" dirty="0"/>
          </a:p>
        </p:txBody>
      </p:sp>
      <p:pic>
        <p:nvPicPr>
          <p:cNvPr id="19" name="role-4-logo-GPT Sol" descr="role-4-logo-GPT S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350008"/>
            <a:ext cx="182880" cy="182880"/>
          </a:xfrm>
          <a:prstGeom prst="rect">
            <a:avLst/>
          </a:prstGeom>
        </p:spPr>
      </p:pic>
      <p:sp>
        <p:nvSpPr>
          <p:cNvPr id="20" name="cycle-pill"/>
          <p:cNvSpPr/>
          <p:nvPr/>
        </p:nvSpPr>
        <p:spPr>
          <a:xfrm>
            <a:off x="667512" y="2798064"/>
            <a:ext cx="7808976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cycle-text"/>
          <p:cNvSpPr txBox="1"/>
          <p:nvPr/>
        </p:nvSpPr>
        <p:spPr>
          <a:xfrm>
            <a:off x="667512" y="2798064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Гипотеза → код и опыт → ревью → исправления → принятие</a:t>
            </a:r>
            <a:endParaRPr lang="en-US" sz="1150" dirty="0"/>
          </a:p>
        </p:txBody>
      </p:sp>
      <p:sp>
        <p:nvSpPr>
          <p:cNvPr id="22" name="num-1-value"/>
          <p:cNvSpPr txBox="1"/>
          <p:nvPr/>
        </p:nvSpPr>
        <p:spPr>
          <a:xfrm>
            <a:off x="667512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304</a:t>
            </a:r>
            <a:endParaRPr lang="en-US" sz="2400" dirty="0"/>
          </a:p>
        </p:txBody>
      </p:sp>
      <p:sp>
        <p:nvSpPr>
          <p:cNvPr id="23" name="num-1-label"/>
          <p:cNvSpPr txBox="1"/>
          <p:nvPr/>
        </p:nvSpPr>
        <p:spPr>
          <a:xfrm>
            <a:off x="667512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правок в Git</a:t>
            </a:r>
            <a:endParaRPr lang="en-US" sz="1100" dirty="0"/>
          </a:p>
        </p:txBody>
      </p:sp>
      <p:sp>
        <p:nvSpPr>
          <p:cNvPr id="24" name="num-2-value"/>
          <p:cNvSpPr txBox="1"/>
          <p:nvPr/>
        </p:nvSpPr>
        <p:spPr>
          <a:xfrm>
            <a:off x="2679192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1000+</a:t>
            </a:r>
            <a:endParaRPr lang="en-US" sz="2400" dirty="0"/>
          </a:p>
        </p:txBody>
      </p:sp>
      <p:sp>
        <p:nvSpPr>
          <p:cNvPr id="25" name="num-2-label"/>
          <p:cNvSpPr txBox="1"/>
          <p:nvPr/>
        </p:nvSpPr>
        <p:spPr>
          <a:xfrm>
            <a:off x="2679192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автоматических проверок</a:t>
            </a:r>
            <a:endParaRPr lang="en-US" sz="1100" dirty="0"/>
          </a:p>
        </p:txBody>
      </p:sp>
      <p:sp>
        <p:nvSpPr>
          <p:cNvPr id="26" name="num-3-value"/>
          <p:cNvSpPr txBox="1"/>
          <p:nvPr/>
        </p:nvSpPr>
        <p:spPr>
          <a:xfrm>
            <a:off x="4690872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30 000+</a:t>
            </a:r>
            <a:endParaRPr lang="en-US" sz="2400" dirty="0"/>
          </a:p>
        </p:txBody>
      </p:sp>
      <p:sp>
        <p:nvSpPr>
          <p:cNvPr id="27" name="num-3-label"/>
          <p:cNvSpPr txBox="1"/>
          <p:nvPr/>
        </p:nvSpPr>
        <p:spPr>
          <a:xfrm>
            <a:off x="4690872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записанных прогонов</a:t>
            </a:r>
            <a:endParaRPr lang="en-US" sz="1100" dirty="0"/>
          </a:p>
        </p:txBody>
      </p:sp>
      <p:sp>
        <p:nvSpPr>
          <p:cNvPr id="28" name="num-4-value"/>
          <p:cNvSpPr txBox="1"/>
          <p:nvPr/>
        </p:nvSpPr>
        <p:spPr>
          <a:xfrm>
            <a:off x="6702552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из 22</a:t>
            </a:r>
            <a:endParaRPr lang="en-US" sz="2400" dirty="0"/>
          </a:p>
        </p:txBody>
      </p:sp>
      <p:sp>
        <p:nvSpPr>
          <p:cNvPr id="29" name="num-4-label"/>
          <p:cNvSpPr txBox="1"/>
          <p:nvPr/>
        </p:nvSpPr>
        <p:spPr>
          <a:xfrm>
            <a:off x="6702552" y="38221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 ревью вернуло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доработку</a:t>
            </a:r>
            <a:endParaRPr lang="en-US" sz="1100" dirty="0"/>
          </a:p>
        </p:txBody>
      </p:sp>
      <p:sp>
        <p:nvSpPr>
          <p:cNvPr id="30" name="ai-note"/>
          <p:cNvSpPr txBox="1"/>
          <p:nvPr/>
        </p:nvSpPr>
        <p:spPr>
          <a:xfrm>
            <a:off x="667512" y="4279392"/>
            <a:ext cx="7808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Ревью нашло 7 ошибок в первых исследованиях: исправлены 2 вывода, отклонены 2 выдуманные ссылки. Инструменты: Claude Code, Codex, Antigravity; модели робота — сервер МАИ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и роли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Спасибо! Дальше — живой показ и вопросы</a:t>
            </a:r>
            <a:endParaRPr lang="en-US" sz="1150" dirty="0"/>
          </a:p>
        </p:txBody>
      </p:sp>
      <p:sp>
        <p:nvSpPr>
          <p:cNvPr id="5" name="member-1-circle"/>
          <p:cNvSpPr/>
          <p:nvPr/>
        </p:nvSpPr>
        <p:spPr>
          <a:xfrm>
            <a:off x="896112" y="1600200"/>
            <a:ext cx="2148840" cy="2148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member-1-text"/>
          <p:cNvSpPr txBox="1"/>
          <p:nvPr/>
        </p:nvSpPr>
        <p:spPr>
          <a:xfrm>
            <a:off x="1078992" y="21031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Ефремова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Анастасия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(LLM)</a:t>
            </a:r>
            <a:endParaRPr lang="en-US" sz="1100" dirty="0"/>
          </a:p>
        </p:txBody>
      </p:sp>
      <p:sp>
        <p:nvSpPr>
          <p:cNvPr id="7" name="member-2-circle"/>
          <p:cNvSpPr/>
          <p:nvPr/>
        </p:nvSpPr>
        <p:spPr>
          <a:xfrm>
            <a:off x="3502152" y="1600200"/>
            <a:ext cx="2148840" cy="2148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member-2-text"/>
          <p:cNvSpPr txBox="1"/>
          <p:nvPr/>
        </p:nvSpPr>
        <p:spPr>
          <a:xfrm>
            <a:off x="3685032" y="21031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Путиловский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Михаил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аналитик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(исследователь)</a:t>
            </a:r>
            <a:endParaRPr lang="en-US" sz="1100" dirty="0"/>
          </a:p>
        </p:txBody>
      </p:sp>
      <p:sp>
        <p:nvSpPr>
          <p:cNvPr id="9" name="member-3-circle"/>
          <p:cNvSpPr/>
          <p:nvPr/>
        </p:nvSpPr>
        <p:spPr>
          <a:xfrm>
            <a:off x="6108192" y="1600200"/>
            <a:ext cx="2148840" cy="21488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member-3-text"/>
          <p:cNvSpPr txBox="1"/>
          <p:nvPr/>
        </p:nvSpPr>
        <p:spPr>
          <a:xfrm>
            <a:off x="6291072" y="21031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Журавлева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Полина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разработчик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(Back/ROS)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Исследовательская гипотеза: что и за счёт чего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Главное утверждение и механизм; вторая часть подтвердилась не целиком (быстрый симулятор)</a:t>
            </a:r>
            <a:endParaRPr lang="en-US" sz="1150" dirty="0"/>
          </a:p>
        </p:txBody>
      </p:sp>
      <p:sp>
        <p:nvSpPr>
          <p:cNvPr id="5" name="variant-tag"/>
          <p:cNvSpPr txBox="1"/>
          <p:nvPr/>
        </p:nvSpPr>
        <p:spPr>
          <a:xfrm>
            <a:off x="5989320" y="155448"/>
            <a:ext cx="2487168" cy="219456"/>
          </a:xfrm>
          <a:prstGeom prst="roundRect">
            <a:avLst>
              <a:gd name="adj" fmla="val 541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Вариант Б · вместо слайда 3</a:t>
            </a:r>
            <a:endParaRPr lang="en-US" sz="900" dirty="0"/>
          </a:p>
        </p:txBody>
      </p:sp>
      <p:sp>
        <p:nvSpPr>
          <p:cNvPr id="6" name="h1-card"/>
          <p:cNvSpPr/>
          <p:nvPr/>
        </p:nvSpPr>
        <p:spPr>
          <a:xfrm>
            <a:off x="667512" y="1261872"/>
            <a:ext cx="3749040" cy="1371600"/>
          </a:xfrm>
          <a:prstGeom prst="roundRect">
            <a:avLst>
              <a:gd name="adj" fmla="val 18667"/>
            </a:avLst>
          </a:prstGeom>
          <a:solidFill>
            <a:schemeClr val="accent1"/>
          </a:solidFill>
          <a:ln/>
        </p:spPr>
      </p:sp>
      <p:sp>
        <p:nvSpPr>
          <p:cNvPr id="7" name="h1-text"/>
          <p:cNvSpPr txBox="1"/>
          <p:nvPr/>
        </p:nvSpPr>
        <p:spPr>
          <a:xfrm>
            <a:off x="896112" y="1335024"/>
            <a:ext cx="3291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Г1. Что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Робот, который сверяет ожидания с датчиком и расходом батареи и перестраивает поиск, наберёт больше очков, чем робот с планом заранее.</a:t>
            </a:r>
            <a:endParaRPr lang="en-US" sz="1100" dirty="0"/>
          </a:p>
        </p:txBody>
      </p:sp>
      <p:sp>
        <p:nvSpPr>
          <p:cNvPr id="8" name="h2-card"/>
          <p:cNvSpPr/>
          <p:nvPr/>
        </p:nvSpPr>
        <p:spPr>
          <a:xfrm>
            <a:off x="667512" y="2761488"/>
            <a:ext cx="3749040" cy="1371600"/>
          </a:xfrm>
          <a:prstGeom prst="roundRect">
            <a:avLst>
              <a:gd name="adj" fmla="val 18667"/>
            </a:avLst>
          </a:prstGeom>
          <a:solidFill>
            <a:schemeClr val="accent2"/>
          </a:solidFill>
          <a:ln/>
        </p:spPr>
      </p:sp>
      <p:sp>
        <p:nvSpPr>
          <p:cNvPr id="9" name="h2-text"/>
          <p:cNvSpPr txBox="1"/>
          <p:nvPr/>
        </p:nvSpPr>
        <p:spPr>
          <a:xfrm>
            <a:off x="896112" y="2834640"/>
            <a:ext cx="3291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Г2. За счёт чего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Выигрыш дают механизмы, которые уточняют знание робота о среде и о себе: исправность датчика, запас на возврат, цена грунта.</a:t>
            </a:r>
            <a:endParaRPr lang="en-US" sz="1100" dirty="0"/>
          </a:p>
        </p:txBody>
      </p:sp>
      <p:sp>
        <p:nvSpPr>
          <p:cNvPr id="10" name="refute"/>
          <p:cNvSpPr txBox="1"/>
          <p:nvPr/>
        </p:nvSpPr>
        <p:spPr>
          <a:xfrm>
            <a:off x="667512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Интервал целиком ниже нуля — опровергнута; включает ноль — выигрыш не показан</a:t>
            </a:r>
            <a:endParaRPr lang="en-US" sz="1000" dirty="0"/>
          </a:p>
        </p:txBody>
      </p:sp>
      <p:sp>
        <p:nvSpPr>
          <p:cNvPr id="11" name="hv-axis-zero"/>
          <p:cNvSpPr/>
          <p:nvPr/>
        </p:nvSpPr>
        <p:spPr>
          <a:xfrm>
            <a:off x="7342632" y="1371600"/>
            <a:ext cx="0" cy="2523744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2" name="hv-axis-tick-0"/>
          <p:cNvSpPr txBox="1"/>
          <p:nvPr/>
        </p:nvSpPr>
        <p:spPr>
          <a:xfrm>
            <a:off x="7068312" y="39227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hv-axis-tick-10"/>
          <p:cNvSpPr txBox="1"/>
          <p:nvPr/>
        </p:nvSpPr>
        <p:spPr>
          <a:xfrm>
            <a:off x="7580376" y="39227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</a:t>
            </a:r>
            <a:endParaRPr lang="en-US" sz="900" dirty="0"/>
          </a:p>
        </p:txBody>
      </p:sp>
      <p:sp>
        <p:nvSpPr>
          <p:cNvPr id="14" name="hv-axis-tick-20"/>
          <p:cNvSpPr txBox="1"/>
          <p:nvPr/>
        </p:nvSpPr>
        <p:spPr>
          <a:xfrm>
            <a:off x="8092440" y="39227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</a:t>
            </a:r>
            <a:endParaRPr lang="en-US" sz="900" dirty="0"/>
          </a:p>
        </p:txBody>
      </p:sp>
      <p:sp>
        <p:nvSpPr>
          <p:cNvPr id="15" name="hv-1-label"/>
          <p:cNvSpPr txBox="1"/>
          <p:nvPr/>
        </p:nvSpPr>
        <p:spPr>
          <a:xfrm>
            <a:off x="4663440" y="13716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Г1 · против плана заранее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+13,3 [+7,4; +19,0]</a:t>
            </a:r>
            <a:endParaRPr lang="en-US" sz="1100" dirty="0"/>
          </a:p>
        </p:txBody>
      </p:sp>
      <p:sp>
        <p:nvSpPr>
          <p:cNvPr id="16" name="hv-1-ci"/>
          <p:cNvSpPr/>
          <p:nvPr/>
        </p:nvSpPr>
        <p:spPr>
          <a:xfrm>
            <a:off x="7721559" y="1581912"/>
            <a:ext cx="593994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17" name="hv-1-dot"/>
          <p:cNvSpPr/>
          <p:nvPr/>
        </p:nvSpPr>
        <p:spPr>
          <a:xfrm>
            <a:off x="7964241" y="1522476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hv-2-label"/>
          <p:cNvSpPr txBox="1"/>
          <p:nvPr/>
        </p:nvSpPr>
        <p:spPr>
          <a:xfrm>
            <a:off x="466344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Г2 · пережидание сбоя датчика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+6,4 [+2,9; +9,8]</a:t>
            </a:r>
            <a:endParaRPr lang="en-US" sz="1100" dirty="0"/>
          </a:p>
        </p:txBody>
      </p:sp>
      <p:sp>
        <p:nvSpPr>
          <p:cNvPr id="19" name="hv-2-ci"/>
          <p:cNvSpPr/>
          <p:nvPr/>
        </p:nvSpPr>
        <p:spPr>
          <a:xfrm>
            <a:off x="7491131" y="2002536"/>
            <a:ext cx="353324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0" name="hv-2-dot"/>
          <p:cNvSpPr/>
          <p:nvPr/>
        </p:nvSpPr>
        <p:spPr>
          <a:xfrm>
            <a:off x="7610917" y="194310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hv-3-label"/>
          <p:cNvSpPr txBox="1"/>
          <p:nvPr/>
        </p:nvSpPr>
        <p:spPr>
          <a:xfrm>
            <a:off x="4663440" y="22128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Г2 · исправность датчика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+4,9 [+1,7; +8,2]</a:t>
            </a:r>
            <a:endParaRPr lang="en-US" sz="1100" dirty="0"/>
          </a:p>
        </p:txBody>
      </p:sp>
      <p:sp>
        <p:nvSpPr>
          <p:cNvPr id="22" name="hv-3-ci"/>
          <p:cNvSpPr/>
          <p:nvPr/>
        </p:nvSpPr>
        <p:spPr>
          <a:xfrm>
            <a:off x="7429683" y="2423160"/>
            <a:ext cx="332842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3" name="hv-3-dot"/>
          <p:cNvSpPr/>
          <p:nvPr/>
        </p:nvSpPr>
        <p:spPr>
          <a:xfrm>
            <a:off x="7534107" y="236372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hv-4-label"/>
          <p:cNvSpPr txBox="1"/>
          <p:nvPr/>
        </p:nvSpPr>
        <p:spPr>
          <a:xfrm>
            <a:off x="4663440" y="263347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Г2 · запас на возврат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+3,6 [+1,6; +5,6]</a:t>
            </a:r>
            <a:endParaRPr lang="en-US" sz="1100" dirty="0"/>
          </a:p>
        </p:txBody>
      </p:sp>
      <p:sp>
        <p:nvSpPr>
          <p:cNvPr id="25" name="hv-4-ci"/>
          <p:cNvSpPr/>
          <p:nvPr/>
        </p:nvSpPr>
        <p:spPr>
          <a:xfrm>
            <a:off x="7424562" y="2843784"/>
            <a:ext cx="204826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6" name="hv-4-dot"/>
          <p:cNvSpPr/>
          <p:nvPr/>
        </p:nvSpPr>
        <p:spPr>
          <a:xfrm>
            <a:off x="7467539" y="2784348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hv-5-label"/>
          <p:cNvSpPr txBox="1"/>
          <p:nvPr/>
        </p:nvSpPr>
        <p:spPr>
          <a:xfrm>
            <a:off x="4663440" y="30540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Г2 · учёт цены грунта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+1,0 [−3,6; +5,4] · не показано</a:t>
            </a:r>
            <a:endParaRPr lang="en-US" sz="1100" dirty="0"/>
          </a:p>
        </p:txBody>
      </p:sp>
      <p:sp>
        <p:nvSpPr>
          <p:cNvPr id="28" name="hv-5-ci"/>
          <p:cNvSpPr/>
          <p:nvPr/>
        </p:nvSpPr>
        <p:spPr>
          <a:xfrm>
            <a:off x="7158289" y="3264408"/>
            <a:ext cx="460858" cy="0"/>
          </a:xfrm>
          <a:prstGeom prst="line">
            <a:avLst/>
          </a:prstGeom>
          <a:noFill/>
          <a:ln w="38100">
            <a:solidFill>
              <a:srgbClr val="8A94A6"/>
            </a:solidFill>
            <a:prstDash val="solid"/>
          </a:ln>
        </p:spPr>
      </p:sp>
      <p:sp>
        <p:nvSpPr>
          <p:cNvPr id="29" name="hv-5-dot"/>
          <p:cNvSpPr/>
          <p:nvPr/>
        </p:nvSpPr>
        <p:spPr>
          <a:xfrm>
            <a:off x="7334402" y="3204972"/>
            <a:ext cx="118872" cy="11887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hv-6-label"/>
          <p:cNvSpPr txBox="1"/>
          <p:nvPr/>
        </p:nvSpPr>
        <p:spPr>
          <a:xfrm>
            <a:off x="4663440" y="34747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Г2 · смена грунта (эффект смены)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+0,02 [−0,03; +0,07] · не показано</a:t>
            </a:r>
            <a:endParaRPr lang="en-US" sz="1100" dirty="0"/>
          </a:p>
        </p:txBody>
      </p:sp>
      <p:sp>
        <p:nvSpPr>
          <p:cNvPr id="31" name="hv-6-dot"/>
          <p:cNvSpPr/>
          <p:nvPr/>
        </p:nvSpPr>
        <p:spPr>
          <a:xfrm>
            <a:off x="7284220" y="3625596"/>
            <a:ext cx="118872" cy="11887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hv-result"/>
          <p:cNvSpPr txBox="1"/>
          <p:nvPr/>
        </p:nvSpPr>
        <p:spPr>
          <a:xfrm>
            <a:off x="4663440" y="4114800"/>
            <a:ext cx="3813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Итог: Г1 подтверждена; Г2 — для датчика и запаса на возврат; для грунта выигрыш не показан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Исследовательская гипотеза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Формулировка из колоды команды, сокращённая до одного предложения</a:t>
            </a:r>
            <a:endParaRPr lang="en-US" sz="1150" dirty="0"/>
          </a:p>
        </p:txBody>
      </p:sp>
      <p:sp>
        <p:nvSpPr>
          <p:cNvPr id="5" name="variant-tag"/>
          <p:cNvSpPr txBox="1"/>
          <p:nvPr/>
        </p:nvSpPr>
        <p:spPr>
          <a:xfrm>
            <a:off x="5989320" y="155448"/>
            <a:ext cx="2487168" cy="219456"/>
          </a:xfrm>
          <a:prstGeom prst="roundRect">
            <a:avLst>
              <a:gd name="adj" fmla="val 541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Вариант В · вместо слайда 3</a:t>
            </a:r>
            <a:endParaRPr lang="en-US" sz="900" dirty="0"/>
          </a:p>
        </p:txBody>
      </p:sp>
      <p:sp>
        <p:nvSpPr>
          <p:cNvPr id="6" name="hyp-text"/>
          <p:cNvSpPr txBox="1"/>
          <p:nvPr/>
        </p:nvSpPr>
        <p:spPr>
          <a:xfrm>
            <a:off x="667512" y="12984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Робот, который ведёт себя как исследователь — сам замечает, что среда или датчик изменились, выдвигает объяснения, проверяет их действием и по результату перестраивает план, — наберёт больше очков, чем робот с планом, составленным заранее.</a:t>
            </a:r>
            <a:endParaRPr lang="en-US" sz="1350" dirty="0"/>
          </a:p>
        </p:txBody>
      </p:sp>
      <p:sp>
        <p:nvSpPr>
          <p:cNvPr id="7" name="hyp-circle"/>
          <p:cNvSpPr/>
          <p:nvPr/>
        </p:nvSpPr>
        <p:spPr>
          <a:xfrm>
            <a:off x="6263640" y="118872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hyp-stat"/>
          <p:cNvSpPr txBox="1"/>
          <p:nvPr/>
        </p:nvSpPr>
        <p:spPr>
          <a:xfrm>
            <a:off x="6263640" y="157276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+13,3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очка [7,4; 19,0]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</a:t>
            </a:r>
            <a:endParaRPr lang="en-US" sz="1100" dirty="0"/>
          </a:p>
        </p:txBody>
      </p:sp>
      <p:sp>
        <p:nvSpPr>
          <p:cNvPr id="9" name="hyp-note"/>
          <p:cNvSpPr txBox="1"/>
          <p:nvPr/>
        </p:nvSpPr>
        <p:spPr>
          <a:xfrm>
            <a:off x="667512" y="2724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Число измерено для робота, который обновляет карту и перестраивает поиск; расследования с опытами показаны отдельным прогоном (пример 2)</a:t>
            </a:r>
            <a:endParaRPr lang="en-US" sz="1000" dirty="0"/>
          </a:p>
        </p:txBody>
      </p:sp>
      <p:sp>
        <p:nvSpPr>
          <p:cNvPr id="10" name="check-1-dot"/>
          <p:cNvSpPr/>
          <p:nvPr/>
        </p:nvSpPr>
        <p:spPr>
          <a:xfrm>
            <a:off x="667512" y="33649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heck-1-head"/>
          <p:cNvSpPr txBox="1"/>
          <p:nvPr/>
        </p:nvSpPr>
        <p:spPr>
          <a:xfrm>
            <a:off x="1088136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проверяем</a:t>
            </a:r>
            <a:endParaRPr lang="en-US" sz="1250" dirty="0"/>
          </a:p>
        </p:txBody>
      </p:sp>
      <p:sp>
        <p:nvSpPr>
          <p:cNvPr id="12" name="check-1-body"/>
          <p:cNvSpPr txBox="1"/>
          <p:nvPr/>
        </p:nvSpPr>
        <p:spPr>
          <a:xfrm>
            <a:off x="667512" y="377647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робота на одних и тех же 40 сценариях трудного уровня: «план заранее» и «с адаптацией». Разность счёта — на каждом сценарии.</a:t>
            </a:r>
            <a:endParaRPr lang="en-US" sz="1050" dirty="0"/>
          </a:p>
        </p:txBody>
      </p:sp>
      <p:sp>
        <p:nvSpPr>
          <p:cNvPr id="13" name="check-2-dot"/>
          <p:cNvSpPr/>
          <p:nvPr/>
        </p:nvSpPr>
        <p:spPr>
          <a:xfrm>
            <a:off x="3319272" y="336499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check-2-head"/>
          <p:cNvSpPr txBox="1"/>
          <p:nvPr/>
        </p:nvSpPr>
        <p:spPr>
          <a:xfrm>
            <a:off x="3739896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измеряем</a:t>
            </a:r>
            <a:endParaRPr lang="en-US" sz="1250" dirty="0"/>
          </a:p>
        </p:txBody>
      </p:sp>
      <p:sp>
        <p:nvSpPr>
          <p:cNvPr id="15" name="check-2-body"/>
          <p:cNvSpPr txBox="1"/>
          <p:nvPr/>
        </p:nvSpPr>
        <p:spPr>
          <a:xfrm>
            <a:off x="3319272" y="377647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Счёт судьи — главная метрика. Рядом: собранные образцы, возврат на базу, расход батареи.</a:t>
            </a:r>
            <a:endParaRPr lang="en-US" sz="1050" dirty="0"/>
          </a:p>
        </p:txBody>
      </p:sp>
      <p:sp>
        <p:nvSpPr>
          <p:cNvPr id="16" name="check-3-dot"/>
          <p:cNvSpPr/>
          <p:nvPr/>
        </p:nvSpPr>
        <p:spPr>
          <a:xfrm>
            <a:off x="5971032" y="336499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check-3-head"/>
          <p:cNvSpPr txBox="1"/>
          <p:nvPr/>
        </p:nvSpPr>
        <p:spPr>
          <a:xfrm>
            <a:off x="6391656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её опровергнет</a:t>
            </a:r>
            <a:endParaRPr lang="en-US" sz="1250" dirty="0"/>
          </a:p>
        </p:txBody>
      </p:sp>
      <p:sp>
        <p:nvSpPr>
          <p:cNvPr id="18" name="check-3-body"/>
          <p:cNvSpPr txBox="1"/>
          <p:nvPr/>
        </p:nvSpPr>
        <p:spPr>
          <a:xfrm>
            <a:off x="5971032" y="377647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интервал разности целиком ниже нуля. Если он включает ноль — выигрыш не показан.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Математика на одном прогоне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 же формулы, подставлены числа из прогона в Gazebo (трудный уровень, сценарий 2)</a:t>
            </a:r>
            <a:endParaRPr lang="en-US" sz="1150" dirty="0"/>
          </a:p>
        </p:txBody>
      </p:sp>
      <p:sp>
        <p:nvSpPr>
          <p:cNvPr id="5" name="variant-tag"/>
          <p:cNvSpPr txBox="1"/>
          <p:nvPr/>
        </p:nvSpPr>
        <p:spPr>
          <a:xfrm>
            <a:off x="5989320" y="155448"/>
            <a:ext cx="2487168" cy="219456"/>
          </a:xfrm>
          <a:prstGeom prst="roundRect">
            <a:avLst>
              <a:gd name="adj" fmla="val 541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Вариант Б · вместо слайда 4</a:t>
            </a:r>
            <a:endParaRPr lang="en-US" sz="900" dirty="0"/>
          </a:p>
        </p:txBody>
      </p:sp>
      <p:pic>
        <p:nvPicPr>
          <p:cNvPr id="6" name="scenario" descr="Карта прогона в Gazebo с пятью отмеченными события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61872"/>
            <a:ext cx="3246120" cy="2992380"/>
          </a:xfrm>
          <a:prstGeom prst="rect">
            <a:avLst/>
          </a:prstGeom>
        </p:spPr>
      </p:pic>
      <p:sp>
        <p:nvSpPr>
          <p:cNvPr id="7" name="math-cap"/>
          <p:cNvSpPr txBox="1"/>
          <p:nvPr/>
        </p:nvSpPr>
        <p:spPr>
          <a:xfrm>
            <a:off x="667512" y="42999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 в Gazebo, из записи которого взяты числа: ② — перерасход на 31-й секунде, ⑤ — финиш</a:t>
            </a:r>
            <a:endParaRPr lang="en-US" sz="950" dirty="0"/>
          </a:p>
        </p:txBody>
      </p:sp>
      <p:sp>
        <p:nvSpPr>
          <p:cNvPr id="8" name="mstep-1-dot"/>
          <p:cNvSpPr/>
          <p:nvPr/>
        </p:nvSpPr>
        <p:spPr>
          <a:xfrm>
            <a:off x="4206240" y="133502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mstep-1-n"/>
          <p:cNvSpPr txBox="1"/>
          <p:nvPr/>
        </p:nvSpPr>
        <p:spPr>
          <a:xfrm>
            <a:off x="4206240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mstep-1-text"/>
          <p:cNvSpPr txBox="1"/>
          <p:nvPr/>
        </p:nvSpPr>
        <p:spPr>
          <a:xfrm>
            <a:off x="4599432" y="129844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Датчик → расстояние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= 1 − d/2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= 0,53  →  d ≈ (1 − 0,53)·2 = 0,95 м: образец на кольце</a:t>
            </a:r>
            <a:endParaRPr lang="en-US" sz="1100" dirty="0"/>
          </a:p>
        </p:txBody>
      </p:sp>
      <p:sp>
        <p:nvSpPr>
          <p:cNvPr id="11" name="mstep-2-dot"/>
          <p:cNvSpPr/>
          <p:nvPr/>
        </p:nvSpPr>
        <p:spPr>
          <a:xfrm>
            <a:off x="4206240" y="197510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mstep-2-n"/>
          <p:cNvSpPr txBox="1"/>
          <p:nvPr/>
        </p:nvSpPr>
        <p:spPr>
          <a:xfrm>
            <a:off x="420624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mstep-2-text"/>
          <p:cNvSpPr txBox="1"/>
          <p:nvPr/>
        </p:nvSpPr>
        <p:spPr>
          <a:xfrm>
            <a:off x="4599432" y="193852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 → цена грунта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m̂ ≈ (ΔB − 0,01·Δt) / (2,5·Δs)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5,7 ед/м при прогнозе 2,9  →  грунт дороже в 2,1 раза</a:t>
            </a:r>
            <a:endParaRPr lang="en-US" sz="1100" dirty="0"/>
          </a:p>
        </p:txBody>
      </p:sp>
      <p:sp>
        <p:nvSpPr>
          <p:cNvPr id="14" name="mstep-3-dot"/>
          <p:cNvSpPr/>
          <p:nvPr/>
        </p:nvSpPr>
        <p:spPr>
          <a:xfrm>
            <a:off x="4206240" y="2615184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mstep-3-n"/>
          <p:cNvSpPr txBox="1"/>
          <p:nvPr/>
        </p:nvSpPr>
        <p:spPr>
          <a:xfrm>
            <a:off x="42062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mstep-3-text"/>
          <p:cNvSpPr txBox="1"/>
          <p:nvPr/>
        </p:nvSpPr>
        <p:spPr>
          <a:xfrm>
            <a:off x="4599432" y="257860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опыта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I(e) / (c(e) + 0,05)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постоять 2 с: 1,07/0,07 = 15,3; проехать 0,3 м: 0,50/1,45 = 0,34</a:t>
            </a:r>
            <a:endParaRPr lang="en-US" sz="1100" dirty="0"/>
          </a:p>
        </p:txBody>
      </p:sp>
      <p:sp>
        <p:nvSpPr>
          <p:cNvPr id="17" name="mstep-4-dot"/>
          <p:cNvSpPr/>
          <p:nvPr/>
        </p:nvSpPr>
        <p:spPr>
          <a:xfrm>
            <a:off x="4206240" y="32552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mstep-4-n"/>
          <p:cNvSpPr txBox="1"/>
          <p:nvPr/>
        </p:nvSpPr>
        <p:spPr>
          <a:xfrm>
            <a:off x="420624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mstep-4-text"/>
          <p:cNvSpPr txBox="1"/>
          <p:nvPr/>
        </p:nvSpPr>
        <p:spPr>
          <a:xfrm>
            <a:off x="4599432" y="321868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Запас на возврат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− C(туда) − 1,1·C(домой) − 4 ≥ 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цели едет, только если потом хватит на дорогу домой</a:t>
            </a:r>
            <a:endParaRPr lang="en-US" sz="1100" dirty="0"/>
          </a:p>
        </p:txBody>
      </p:sp>
      <p:sp>
        <p:nvSpPr>
          <p:cNvPr id="20" name="mstep-5-dot"/>
          <p:cNvSpPr/>
          <p:nvPr/>
        </p:nvSpPr>
        <p:spPr>
          <a:xfrm>
            <a:off x="4206240" y="389534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mstep-5-n"/>
          <p:cNvSpPr txBox="1"/>
          <p:nvPr/>
        </p:nvSpPr>
        <p:spPr>
          <a:xfrm>
            <a:off x="420624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mstep-5-text"/>
          <p:cNvSpPr txBox="1"/>
          <p:nvPr/>
        </p:nvSpPr>
        <p:spPr>
          <a:xfrm>
            <a:off x="4599432" y="385876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Счёт судьи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 = 10·N + 20·R + 0,1·B·R − штрафы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10·7 + 20 + 0,1·18,3 = 91,8</a:t>
            </a:r>
            <a:endParaRPr lang="en-US" sz="1100" dirty="0"/>
          </a:p>
        </p:txBody>
      </p:sp>
      <p:sp>
        <p:nvSpPr>
          <p:cNvPr id="23" name="math-note"/>
          <p:cNvSpPr txBox="1"/>
          <p:nvPr/>
        </p:nvSpPr>
        <p:spPr>
          <a:xfrm>
            <a:off x="4206240" y="4443984"/>
            <a:ext cx="4270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Сравнение вариантов — разность счёта на одних сценариях, 95% интервал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4. LLM читает миссию и меняет план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исполнитель; подцели выбирает правило (текст миссии не читает) или языковая модель</a:t>
            </a:r>
            <a:endParaRPr lang="en-US" sz="1150" dirty="0"/>
          </a:p>
        </p:txBody>
      </p:sp>
      <p:sp>
        <p:nvSpPr>
          <p:cNvPr id="5" name="variant-tag"/>
          <p:cNvSpPr txBox="1"/>
          <p:nvPr/>
        </p:nvSpPr>
        <p:spPr>
          <a:xfrm>
            <a:off x="5989320" y="155448"/>
            <a:ext cx="2487168" cy="219456"/>
          </a:xfrm>
          <a:prstGeom prst="roundRect">
            <a:avLst>
              <a:gd name="adj" fmla="val 541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Вариант Б · вместо слайда 11</a:t>
            </a:r>
            <a:endParaRPr lang="en-US" sz="900" dirty="0"/>
          </a:p>
        </p:txBody>
      </p:sp>
      <p:sp>
        <p:nvSpPr>
          <p:cNvPr id="6" name="mission-pill"/>
          <p:cNvSpPr/>
          <p:nvPr/>
        </p:nvSpPr>
        <p:spPr>
          <a:xfrm>
            <a:off x="667512" y="1225296"/>
            <a:ext cx="7808976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7" name="mission-text"/>
          <p:cNvSpPr txBox="1"/>
          <p:nvPr/>
        </p:nvSpPr>
        <p:spPr>
          <a:xfrm>
            <a:off x="923544" y="1225296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Миссия словами: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«Собери ровно два образца и сразу возвращайся на базу»</a:t>
            </a:r>
            <a:endParaRPr lang="en-US" sz="1150" dirty="0"/>
          </a:p>
        </p:txBody>
      </p:sp>
      <p:pic>
        <p:nvPicPr>
          <p:cNvPr id="8" name="pair_llm_m1" descr="Две карты одного сценария: робот с правилом собирает все образцы, робот с языковой моделью собирает два и едет на баз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0784"/>
            <a:ext cx="4114800" cy="1870592"/>
          </a:xfrm>
          <a:prstGeom prst="rect">
            <a:avLst/>
          </a:prstGeom>
        </p:spPr>
      </p:pic>
      <p:sp>
        <p:nvSpPr>
          <p:cNvPr id="9" name="cap-left"/>
          <p:cNvSpPr txBox="1"/>
          <p:nvPr/>
        </p:nvSpPr>
        <p:spPr>
          <a:xfrm>
            <a:off x="713232" y="3626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Правило: текст не читает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собрал 7 из 7: миссия нарушена</a:t>
            </a:r>
            <a:endParaRPr lang="en-US" sz="1100" dirty="0"/>
          </a:p>
        </p:txBody>
      </p:sp>
      <p:sp>
        <p:nvSpPr>
          <p:cNvPr id="10" name="cap-right"/>
          <p:cNvSpPr txBox="1"/>
          <p:nvPr/>
        </p:nvSpPr>
        <p:spPr>
          <a:xfrm>
            <a:off x="2798064" y="3626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· qwen3.8-flash-next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собрал 2, на базе на 46-й с: выполнена</a:t>
            </a:r>
            <a:endParaRPr lang="en-US" sz="1100" dirty="0"/>
          </a:p>
        </p:txBody>
      </p:sp>
      <p:sp>
        <p:nvSpPr>
          <p:cNvPr id="11" name="quote-card"/>
          <p:cNvSpPr/>
          <p:nvPr/>
        </p:nvSpPr>
        <p:spPr>
          <a:xfrm>
            <a:off x="4983480" y="1700784"/>
            <a:ext cx="3493008" cy="1517904"/>
          </a:xfrm>
          <a:prstGeom prst="roundRect">
            <a:avLst>
              <a:gd name="adj" fmla="val 13253"/>
            </a:avLst>
          </a:prstGeom>
          <a:solidFill>
            <a:schemeClr val="bg2"/>
          </a:solidFill>
          <a:ln/>
        </p:spPr>
      </p:sp>
      <p:sp>
        <p:nvSpPr>
          <p:cNvPr id="12" name="quote-head"/>
          <p:cNvSpPr txBox="1"/>
          <p:nvPr/>
        </p:nvSpPr>
        <p:spPr>
          <a:xfrm>
            <a:off x="5184648" y="1773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 модели после второго образца, дословно</a:t>
            </a:r>
            <a:endParaRPr lang="en-US" sz="950" dirty="0"/>
          </a:p>
        </p:txBody>
      </p:sp>
      <p:sp>
        <p:nvSpPr>
          <p:cNvPr id="13" name="quote-text"/>
          <p:cNvSpPr txBox="1"/>
          <p:nvPr/>
        </p:nvSpPr>
        <p:spPr>
          <a:xfrm>
            <a:off x="5184648" y="2011680"/>
            <a:ext cx="31272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«Миссия: ровно 2 образца и возврат. Собрано 2 из требуемых 2 — цель выполнена. Заряд 44,3, возврат 12,5, запас 31,8. Время 27,5 из 600. Возвращаюсь на базу.»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C5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подцели: [ return_base ]</a:t>
            </a:r>
            <a:endParaRPr lang="en-US" sz="1100" dirty="0"/>
          </a:p>
        </p:txBody>
      </p:sp>
      <p:sp>
        <p:nvSpPr>
          <p:cNvPr id="14" name="llm-value"/>
          <p:cNvSpPr txBox="1"/>
          <p:nvPr/>
        </p:nvSpPr>
        <p:spPr>
          <a:xfrm>
            <a:off x="4983480" y="33101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C5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45–46 из 48</a:t>
            </a:r>
            <a:endParaRPr lang="en-US" sz="2400" dirty="0"/>
          </a:p>
        </p:txBody>
      </p:sp>
      <p:sp>
        <p:nvSpPr>
          <p:cNvPr id="15" name="llm-label"/>
          <p:cNvSpPr txBox="1"/>
          <p:nvPr/>
        </p:nvSpPr>
        <p:spPr>
          <a:xfrm>
            <a:off x="4983480" y="370332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прогонов по четырём миссиям выполняет каждая из трёх моделей МАИ; правило — 0 из 48</a:t>
            </a:r>
            <a:endParaRPr lang="en-US" sz="1000" dirty="0"/>
          </a:p>
        </p:txBody>
      </p:sp>
      <p:sp>
        <p:nvSpPr>
          <p:cNvPr id="16" name="llm-note"/>
          <p:cNvSpPr txBox="1"/>
          <p:nvPr/>
        </p:nvSpPr>
        <p:spPr>
          <a:xfrm>
            <a:off x="667512" y="4297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симулятор; время ответа модели не учитывается. Модель получает текст миссии и сводку состояния. На обычной миссии модель выбирает то же, что правило; ответ идёт 15–25 с, поэтому на показе решает правило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готово и что дальше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вёрстке исходного слайда «Что готово / что в работе», с нынешним состоянием</a:t>
            </a:r>
            <a:endParaRPr lang="en-US" sz="1150" dirty="0"/>
          </a:p>
        </p:txBody>
      </p:sp>
      <p:sp>
        <p:nvSpPr>
          <p:cNvPr id="5" name="variant-tag"/>
          <p:cNvSpPr txBox="1"/>
          <p:nvPr/>
        </p:nvSpPr>
        <p:spPr>
          <a:xfrm>
            <a:off x="5989320" y="155448"/>
            <a:ext cx="2487168" cy="219456"/>
          </a:xfrm>
          <a:prstGeom prst="roundRect">
            <a:avLst>
              <a:gd name="adj" fmla="val 541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Вариант Б · вместо слайда 12</a:t>
            </a:r>
            <a:endParaRPr lang="en-US" sz="900" dirty="0"/>
          </a:p>
        </p:txBody>
      </p:sp>
      <p:sp>
        <p:nvSpPr>
          <p:cNvPr id="6" name="done-circle"/>
          <p:cNvSpPr/>
          <p:nvPr/>
        </p:nvSpPr>
        <p:spPr>
          <a:xfrm>
            <a:off x="868680" y="1261872"/>
            <a:ext cx="3291840" cy="32918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done-text"/>
          <p:cNvSpPr txBox="1"/>
          <p:nvPr/>
        </p:nvSpPr>
        <p:spPr>
          <a:xfrm>
            <a:off x="1280160" y="1664208"/>
            <a:ext cx="2468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</a:t>
            </a:r>
            <a:endParaRPr lang="en-US" sz="11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 2 + Gazebo, карта и движение по точкам</a:t>
            </a:r>
            <a:endParaRPr lang="en-US" sz="11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образцов и адаптация: +13,3 очка (быстрый симулятор)</a:t>
            </a:r>
            <a:endParaRPr lang="en-US" sz="11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Научный цикл: гипотезы, опыты, журнал</a:t>
            </a:r>
            <a:endParaRPr lang="en-US" sz="11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читает миссии словами: 45–46 из 48</a:t>
            </a:r>
            <a:endParaRPr lang="en-US" sz="11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Память о лаборатории между прогонами: +4,3</a:t>
            </a:r>
            <a:endParaRPr lang="en-US" sz="11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SLAM-карта и два робота с координацией</a:t>
            </a:r>
            <a:endParaRPr lang="en-US" sz="1100" dirty="0"/>
          </a:p>
        </p:txBody>
      </p:sp>
      <p:sp>
        <p:nvSpPr>
          <p:cNvPr id="8" name="next-circle"/>
          <p:cNvSpPr/>
          <p:nvPr/>
        </p:nvSpPr>
        <p:spPr>
          <a:xfrm>
            <a:off x="4983480" y="1261872"/>
            <a:ext cx="3291840" cy="3291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next-text"/>
          <p:cNvSpPr txBox="1"/>
          <p:nvPr/>
        </p:nvSpPr>
        <p:spPr>
          <a:xfrm>
            <a:off x="544068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Дальше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Гипотезы от LLM внутри контура: сейчас их выдвигает программа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Память при другом расписании событий лаборатории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стоять, пока модель думает: режим есть, по умолчанию выключен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на настоящем роботе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lavender"/>
          <p:cNvSpPr/>
          <p:nvPr/>
        </p:nvSpPr>
        <p:spPr>
          <a:xfrm>
            <a:off x="5230368" y="36576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circle-mint"/>
          <p:cNvSpPr/>
          <p:nvPr/>
        </p:nvSpPr>
        <p:spPr>
          <a:xfrm>
            <a:off x="7973568" y="457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circle-blue"/>
          <p:cNvSpPr/>
          <p:nvPr/>
        </p:nvSpPr>
        <p:spPr>
          <a:xfrm>
            <a:off x="5669280" y="1005840"/>
            <a:ext cx="3017520" cy="3017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822960" y="1051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Автономный ИИ-исследователь</a:t>
            </a:r>
            <a:endParaRPr lang="en-US" sz="3400" dirty="0"/>
          </a:p>
        </p:txBody>
      </p:sp>
      <p:sp>
        <p:nvSpPr>
          <p:cNvPr id="6" name="subtitle"/>
          <p:cNvSpPr txBox="1"/>
          <p:nvPr/>
        </p:nvSpPr>
        <p:spPr>
          <a:xfrm>
            <a:off x="82296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образцов и исследование среды с ограниченным запасом энергии</a:t>
            </a:r>
            <a:endParaRPr lang="en-US" sz="1400" dirty="0"/>
          </a:p>
        </p:txBody>
      </p:sp>
      <p:sp>
        <p:nvSpPr>
          <p:cNvPr id="7" name="team"/>
          <p:cNvSpPr txBox="1"/>
          <p:nvPr/>
        </p:nvSpPr>
        <p:spPr>
          <a:xfrm>
            <a:off x="822960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Ефремова Анастасия · Путиловский Михаил · Журавлева Полина</a:t>
            </a:r>
            <a:endParaRPr lang="en-US" sz="1050" dirty="0"/>
          </a:p>
        </p:txBody>
      </p:sp>
      <p:sp>
        <p:nvSpPr>
          <p:cNvPr id="8" name="event"/>
          <p:cNvSpPr txBox="1"/>
          <p:nvPr/>
        </p:nvSpPr>
        <p:spPr>
          <a:xfrm>
            <a:off x="822960" y="4370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Hack 2026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Бонусные треки: своя карта и два робота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SLAM измерен в Gazebo, координация — в быстром симуляторе; запись двух роботов — из Gazebo</a:t>
            </a:r>
            <a:endParaRPr lang="en-US" sz="1150" dirty="0"/>
          </a:p>
        </p:txBody>
      </p:sp>
      <p:pic>
        <p:nvPicPr>
          <p:cNvPr id="5" name="slam-map" descr="Карта, построенная роботом через SLAM Toolbox, с отмеченными местами столб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98448"/>
            <a:ext cx="2514600" cy="2337955"/>
          </a:xfrm>
          <a:prstGeom prst="rect">
            <a:avLst/>
          </a:prstGeom>
        </p:spPr>
      </p:pic>
      <p:sp>
        <p:nvSpPr>
          <p:cNvPr id="6" name="slam-cap"/>
          <p:cNvSpPr txBox="1"/>
          <p:nvPr/>
        </p:nvSpPr>
        <p:spPr>
          <a:xfrm>
            <a:off x="667512" y="3709555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SLAM вместо готовой карты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совпала с готовой на 95,8–98,7% клеток; найдены 9 столбов из 9; начало координат сдвинуто на 1,5–5,2 см (5 прогонов Gazebo)</a:t>
            </a:r>
            <a:endParaRPr lang="en-US" sz="1100" dirty="0"/>
          </a:p>
        </p:txBody>
      </p:sp>
      <p:sp>
        <p:nvSpPr>
          <p:cNvPr id="7" name="slam-stat"/>
          <p:cNvSpPr txBox="1"/>
          <p:nvPr/>
        </p:nvSpPr>
        <p:spPr>
          <a:xfrm>
            <a:off x="3310128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95,8–98,7%</a:t>
            </a:r>
            <a:endParaRPr lang="en-US" sz="1500" dirty="0"/>
          </a:p>
        </p:txBody>
      </p:sp>
      <p:pic>
        <p:nvPicPr>
          <p:cNvPr id="8" name="two_robots" descr="Пути двух роботов на одной арене: все пять образцов собран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98448"/>
            <a:ext cx="2514600" cy="2319528"/>
          </a:xfrm>
          <a:prstGeom prst="rect">
            <a:avLst/>
          </a:prstGeom>
        </p:spPr>
      </p:pic>
      <p:sp>
        <p:nvSpPr>
          <p:cNvPr id="9" name="team-cap"/>
          <p:cNvSpPr txBox="1"/>
          <p:nvPr/>
        </p:nvSpPr>
        <p:spPr>
          <a:xfrm>
            <a:off x="4754880" y="3691128"/>
            <a:ext cx="3721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робота с координацией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против пары без связи: прогон 103,7 → 77,8 с, заряда на четверть меньше, оба вернулись в 80 прогонах из 80 против 75 (80 сценариев)</a:t>
            </a:r>
            <a:endParaRPr lang="en-US" sz="1100" dirty="0"/>
          </a:p>
        </p:txBody>
      </p:sp>
      <p:sp>
        <p:nvSpPr>
          <p:cNvPr id="10" name="team-stat"/>
          <p:cNvSpPr txBox="1"/>
          <p:nvPr/>
        </p:nvSpPr>
        <p:spPr>
          <a:xfrm>
            <a:off x="7388352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−26 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Реальная реализация: Gazebo и страница показа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команда поднимает мир, робота, судью и страницу показа</a:t>
            </a:r>
            <a:endParaRPr lang="en-US" sz="1150" dirty="0"/>
          </a:p>
        </p:txBody>
      </p:sp>
      <p:pic>
        <p:nvPicPr>
          <p:cNvPr id="5" name="gazebo" descr="Окно Gazebo: арена turtlebot3_world с робот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98448"/>
            <a:ext cx="3200400" cy="2415396"/>
          </a:xfrm>
          <a:prstGeom prst="rect">
            <a:avLst/>
          </a:prstGeom>
        </p:spPr>
      </p:pic>
      <p:sp>
        <p:nvSpPr>
          <p:cNvPr id="6" name="gz-cap"/>
          <p:cNvSpPr txBox="1"/>
          <p:nvPr/>
        </p:nvSpPr>
        <p:spPr>
          <a:xfrm>
            <a:off x="667512" y="37869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Gazebo Sim + TurtleBot3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мир turtlebot3_world без изменений; метки на полу — подсказка зрителю</a:t>
            </a:r>
            <a:endParaRPr lang="en-US" sz="1100" dirty="0"/>
          </a:p>
        </p:txBody>
      </p:sp>
      <p:sp>
        <p:nvSpPr>
          <p:cNvPr id="7" name="command"/>
          <p:cNvSpPr txBox="1"/>
          <p:nvPr/>
        </p:nvSpPr>
        <p:spPr>
          <a:xfrm>
            <a:off x="667512" y="4370832"/>
            <a:ext cx="7808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pixi run demo --level hard --seed 2 --agent scientist_v2 --open</a:t>
            </a:r>
            <a:endParaRPr lang="en-US" sz="1000" dirty="0"/>
          </a:p>
        </p:txBody>
      </p:sp>
      <p:pic>
        <p:nvPicPr>
          <p:cNvPr id="8" name="lab_mission" descr="Страница показа во время миссии: карта с путём робота, заряд, счёт судьи и журнал решени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98448"/>
            <a:ext cx="4361688" cy="2521601"/>
          </a:xfrm>
          <a:prstGeom prst="rect">
            <a:avLst/>
          </a:prstGeom>
        </p:spPr>
      </p:pic>
      <p:sp>
        <p:nvSpPr>
          <p:cNvPr id="9" name="lab-cap"/>
          <p:cNvSpPr txBox="1"/>
          <p:nvPr/>
        </p:nvSpPr>
        <p:spPr>
          <a:xfrm>
            <a:off x="4114800" y="3893201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Страница показа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путь робота, заряд, счёт судьи и последние решения агента — в реальном времени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D Hack — команда">
  <a:themeElements>
    <a:clrScheme name="DID Hack — команда">
      <a:dk1>
        <a:srgbClr val="182B45"/>
      </a:dk1>
      <a:lt1>
        <a:srgbClr val="F8F9FC"/>
      </a:lt1>
      <a:dk2>
        <a:srgbClr val="40536B"/>
      </a:dk2>
      <a:lt2>
        <a:srgbClr val="FFFFFF"/>
      </a:lt2>
      <a:accent1>
        <a:srgbClr val="DCE8FF"/>
      </a:accent1>
      <a:accent2>
        <a:srgbClr val="E7DFF6"/>
      </a:accent2>
      <a:accent3>
        <a:srgbClr val="D9EEE7"/>
      </a:accent3>
      <a:accent4>
        <a:srgbClr val="3D63DD"/>
      </a:accent4>
      <a:accent5>
        <a:srgbClr val="7C5CD6"/>
      </a:accent5>
      <a:accent6>
        <a:srgbClr val="2E9E73"/>
      </a:accent6>
      <a:hlink>
        <a:srgbClr val="3D63DD"/>
      </a:hlink>
      <a:folHlink>
        <a:srgbClr val="7C5CD6"/>
      </a:folHlink>
    </a:clrScheme>
    <a:fontScheme name="DID Hack — команда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Автономный ИИ-исследователь</dc:title>
  <dc:subject>PptxGenJS Presentation</dc:subject>
  <dc:creator>Команда DID Hack</dc:creator>
  <cp:lastModifiedBy>Команда DID Hack</cp:lastModifiedBy>
  <cp:revision>1</cp:revision>
  <dcterms:created xsi:type="dcterms:W3CDTF">2026-10-09T07:47:58Z</dcterms:created>
  <dcterms:modified xsi:type="dcterms:W3CDTF">2026-10-09T07:47:58Z</dcterms:modified>
</cp:coreProperties>
</file>